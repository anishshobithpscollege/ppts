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5143500" cy="9144000"/>
  <p:defaultTextStyle>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 (ends 0:20) · Source: RFC 10008
SAY: Good morning. My seminar is on the HTTP QUERY method, published as RFC 10008 in June 2026, so it is only a few months old. I'll build up from HTTP basics to what QUERY is. Most of my time goes on the security and deployment questions it raises, and I'll finish with the literature.
NEXT → Here is the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 (ends 0:40)
SAY: The talk follows the seminar format. The Introduction covers the HTTP fundamentals and ends with the problem: the gap between GET and POST. Then my objectives, and a literature review of the standards and the peer-reviewed work. The Description is the core: what QUERY is, how it compares with GET and POST, and its security implications across caches, browsers, signatures and deployment. Then the conclusion.
NEXT → Let's start with the most basic question: why does HTTP have methods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1:30) · Sources: RFC 9110 §9.1, §9.2.1, §9.2.2
SAY: HTTP could have used one generic "send this" operation. It doesn't, because the method tells every party on the path what the client intends: the browser, the cache, the proxy and the server. RFC 9110 calls the method "the primary source of request semantics". What matters is not the list of methods but two properties behind it.
[click] First, safe. GET, HEAD and OPTIONS are safe: the client is not asking for any state change, so a cache, a prefetcher or a crawler can send them without asking anyone.
[click] Second, idempotent. PUT, DELETE, and every safe method are idempotent. Sending the request twice has the same intended effect as once, so a client can retry after a dropped connection.
[click] POST and PATCH are neither. RFC 9110 says a proxy MUST NOT retry non-idempotent requests automatically.
CLARIFY: Safe methods are a subset of idempotent methods, which is why the Safe box sits inside the Idempotent box. TRACE is also safe but rarely enabled.
NOTICE: Where a method sits in this picture decides what intermediaries may do with it. QUERY will end up inside the Safe box.
NEXT → What one of these requests looks like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1:30) · Sources: RFC 9110 §9.1, §9.2.1, §9.2.2
SAY: HTTP could have used one generic "send this" operation. It doesn't, because the method tells every party on the path what the client intends: the browser, the cache, the proxy and the server. RFC 9110 calls the method "the primary source of request semantics". What matters is not the list of methods but two properties behind it.
[click] First, safe. GET, HEAD and OPTIONS are safe: the client is not asking for any state change, so a cache, a prefetcher or a crawler can send them without asking anyone.
[click] Second, idempotent. PUT, DELETE, and every safe method are idempotent. Sending the request twice has the same intended effect as once, so a client can retry after a dropped connection.
[click] POST and PATCH are neither. RFC 9110 says a proxy MUST NOT retry non-idempotent requests automatically.
CLARIFY: Safe methods are a subset of idempotent methods, which is why the Safe box sits inside the Idempotent box. TRACE is also safe but rarely enabled.
NOTICE: Where a method sits in this picture decides what intermediaries may do with it. QUERY will end up inside the Safe box.
NEXT → What one of these requests looks like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1:30) · Sources: RFC 9110 §9.1, §9.2.1, §9.2.2
SAY: HTTP could have used one generic "send this" operation. It doesn't, because the method tells every party on the path what the client intends: the browser, the cache, the proxy and the server. RFC 9110 calls the method "the primary source of request semantics". What matters is not the list of methods but two properties behind it.
[click] First, safe. GET, HEAD and OPTIONS are safe: the client is not asking for any state change, so a cache, a prefetcher or a crawler can send them without asking anyone.
[click] Second, idempotent. PUT, DELETE, and every safe method are idempotent. Sending the request twice has the same intended effect as once, so a client can retry after a dropped connection.
[click] POST and PATCH are neither. RFC 9110 says a proxy MUST NOT retry non-idempotent requests automatically.
CLARIFY: Safe methods are a subset of idempotent methods, which is why the Safe box sits inside the Idempotent box. TRACE is also safe but rarely enabled.
NOTICE: Where a method sits in this picture decides what intermediaries may do with it. QUERY will end up inside the Safe box.
NEXT → What one of these requests looks like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1:30) · Sources: RFC 9110 §9.1, §9.2.1, §9.2.2
SAY: HTTP could have used one generic "send this" operation. It doesn't, because the method tells every party on the path what the client intends: the browser, the cache, the proxy and the server. RFC 9110 calls the method "the primary source of request semantics". What matters is not the list of methods but two properties behind it.
[click] First, safe. GET, HEAD and OPTIONS are safe: the client is not asking for any state change, so a cache, a prefetcher or a crawler can send them without asking anyone.
[click] Second, idempotent. PUT, DELETE, and every safe method are idempotent. Sending the request twice has the same intended effect as once, so a client can retry after a dropped connection.
[click] POST and PATCH are neither. RFC 9110 says a proxy MUST NOT retry non-idempotent requests automatically.
CLARIFY: Safe methods are a subset of idempotent methods, which is why the Safe box sits inside the Idempotent box. TRACE is also safe but rarely enabled.
NOTICE: Where a method sits in this picture decides what intermediaries may do with it. QUERY will end up inside the Safe box.
NEXT → What one of these requests looks like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2:20) · Sources: RFC 9110 §3, §9.3.1
SAY: This is a complete HTTP/1.1 exchange. I'll go through it piece by piece, because QUERY changes exactly one of these pieces.
[click] One: the method, GET, which carries the intent.
[click] Two: the target, /products?category=laptop. The query parameter is part of the target, and therefore part of the URI.
[click] Three: headers. Host, the formats the client accepts, and credentials; here a bearer token.
[click] Four: the content, or body. A GET normally has none. RFC 9110 says content in a GET has no generally defined semantics, and some implementations reject it because of request-smuggling risk. So "just put a body on GET" is not a real option.
[click] Five: the response status line, 200 OK.
[click] Six: the response headers and content, the actual result.
[click] The complete exchange.
NOTICE: In GET, all the query input lives in the target URI; the body slot is empty. That is the problem this talk is about.
NEXT → Let's zoom in on the 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3:05) · Sources: RFC 3986 §3, §3.4, §3.5; RFC 10008 §1.1
SAY: A URI has five parts, defined in RFC 3986.
[click] The scheme, the authority (host and port), and the path.
[click] Then the query component, everything after the question mark. RFC 3986 is precise: the query is data that, together with the path, identifies a resource. It is part of the name of the thing.
[click] The fragment, after the hash, is handled by the browser and never sent to the server.
[click] The most important distinction in this talk: the URI query component and the HTTP QUERY method are different things that happen to share a word. The query component is part of an identifier. QUERY is a request method whose query input travels in the request content. RFC 10008 names them differently: "URI query parameters" versus "query content".
NOTICE: From now on, "QUERY" in capitals means the method.
NEXT → Why move the query out of the URI? Because URIs do not scale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3:05) · Sources: RFC 3986 §3, §3.4, §3.5; RFC 10008 §1.1
SAY: A URI has five parts, defined in RFC 3986.
[click] The scheme, the authority (host and port), and the path.
[click] Then the query component, everything after the question mark. RFC 3986 is precise: the query is data that, together with the path, identifies a resource. It is part of the name of the thing.
[click] The fragment, after the hash, is handled by the browser and never sent to the server.
[click] The most important distinction in this talk: the URI query component and the HTTP QUERY method are different things that happen to share a word. The query component is part of an identifier. QUERY is a request method whose query input travels in the request content. RFC 10008 names them differently: "URI query parameters" versus "query content".
NOTICE: From now on, "QUERY" in capitals means the method.
NEXT → Why move the query out of the URI? Because URIs do not scale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3:05) · Sources: RFC 3986 §3, §3.4, §3.5; RFC 10008 §1.1
SAY: A URI has five parts, defined in RFC 3986.
[click] The scheme, the authority (host and port), and the path.
[click] Then the query component, everything after the question mark. RFC 3986 is precise: the query is data that, together with the path, identifies a resource. It is part of the name of the thing.
[click] The fragment, after the hash, is handled by the browser and never sent to the server.
[click] The most important distinction in this talk: the URI query component and the HTTP QUERY method are different things that happen to share a word. The query component is part of an identifier. QUERY is a request method whose query input travels in the request content. RFC 10008 names them differently: "URI query parameters" versus "query content".
NOTICE: From now on, "QUERY" in capitals means the method.
NEXT → Why move the query out of the URI? Because URIs do not scale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3:05) · Sources: RFC 3986 §3, §3.4, §3.5; RFC 10008 §1.1
SAY: A URI has five parts, defined in RFC 3986.
[click] The scheme, the authority (host and port), and the path.
[click] Then the query component, everything after the question mark. RFC 3986 is precise: the query is data that, together with the path, identifies a resource. It is part of the name of the thing.
[click] The fragment, after the hash, is handled by the browser and never sent to the server.
[click] The most important distinction in this talk: the URI query component and the HTTP QUERY method are different things that happen to share a word. The query component is part of an identifier. QUERY is a request method whose query input travels in the request content. RFC 10008 names them differently: "URI query parameters" versus "query content".
NOTICE: From now on, "QUERY" in capitals means the method.
NEXT → Why move the query out of the URI? Because URIs do not scale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3:05) · Sources: RFC 3986 §3, §3.4, §3.5; RFC 10008 §1.1
SAY: A URI has five parts, defined in RFC 3986.
[click] The scheme, the authority (host and port), and the path.
[click] Then the query component, everything after the question mark. RFC 3986 is precise: the query is data that, together with the path, identifies a resource. It is part of the name of the thing.
[click] The fragment, after the hash, is handled by the browser and never sent to the server.
[click] The most important distinction in this talk: the URI query component and the HTTP QUERY method are different things that happen to share a word. The query component is part of an identifier. QUERY is a request method whose query input travels in the request content. RFC 10008 names them differently: "URI query parameters" versus "query content".
NOTICE: From now on, "QUERY" in capitals means the method.
NEXT → Why move the query out of the URI? Because URIs do not scale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3:55) · Sources: RFC 9110 §4.1, §15.5.15; RFC 10008 §1; RFC 9205 §4.5.1
SAY: Query parameters are a good design for small inputs: filtering, search, sorting, pagination. The problem starts when the query grows.
[click] Add a category and a few brands. Still fine.
[click] Add price ranges and RAM. First fact people get wrong: HTTP does not define one maximum URL length. RFC 9110 only recommends supporting at least 8000 octets.
[click] Add location, radius, sort and page. RFC 10008 explains the real problem: the actual limits are unknown ahead of time, because the request crosses many uncoordinated systems. A server that won't accept it answers 414 URI Too Long.
[click] Now a structured JSON filter. It must be percent-encoded: a 30-character JSON object becomes 54 characters of this. RFC 9205 calls this out as a reason GET becomes unwieldy.
[click] And RFC 10008 notes URIs are more likely to be logged than content, and end up in bookmarks. The natural fix is structured request content, on the right.
CLARIFY: URLs don't "break" at a magic length; the honest statement is that the limits aren't known ahead of time.
NEXT → Logging is a security question, so let's follow this URI through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3:55) · Sources: RFC 9110 §4.1, §15.5.15; RFC 10008 §1; RFC 9205 §4.5.1
SAY: Query parameters are a good design for small inputs: filtering, search, sorting, pagination. The problem starts when the query grows.
[click] Add a category and a few brands. Still fine.
[click] Add price ranges and RAM. First fact people get wrong: HTTP does not define one maximum URL length. RFC 9110 only recommends supporting at least 8000 octets.
[click] Add location, radius, sort and page. RFC 10008 explains the real problem: the actual limits are unknown ahead of time, because the request crosses many uncoordinated systems. A server that won't accept it answers 414 URI Too Long.
[click] Now a structured JSON filter. It must be percent-encoded: a 30-character JSON object becomes 54 characters of this. RFC 9205 calls this out as a reason GET becomes unwieldy.
[click] And RFC 10008 notes URIs are more likely to be logged than content, and end up in bookmarks. The natural fix is structured request content, on the right.
CLARIFY: URLs don't "break" at a magic length; the honest statement is that the limits aren't known ahead of time.
NEXT → Logging is a security question, so let's follow this URI through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3:55) · Sources: RFC 9110 §4.1, §15.5.15; RFC 10008 §1; RFC 9205 §4.5.1
SAY: Query parameters are a good design for small inputs: filtering, search, sorting, pagination. The problem starts when the query grows.
[click] Add a category and a few brands. Still fine.
[click] Add price ranges and RAM. First fact people get wrong: HTTP does not define one maximum URL length. RFC 9110 only recommends supporting at least 8000 octets.
[click] Add location, radius, sort and page. RFC 10008 explains the real problem: the actual limits are unknown ahead of time, because the request crosses many uncoordinated systems. A server that won't accept it answers 414 URI Too Long.
[click] Now a structured JSON filter. It must be percent-encoded: a 30-character JSON object becomes 54 characters of this. RFC 9205 calls this out as a reason GET becomes unwieldy.
[click] And RFC 10008 notes URIs are more likely to be logged than content, and end up in bookmarks. The natural fix is structured request content, on the right.
CLARIFY: URLs don't "break" at a magic length; the honest statement is that the limits aren't known ahead of time.
NEXT → Logging is a security question, so let's follow this URI through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3:55) · Sources: RFC 9110 §4.1, §15.5.15; RFC 10008 §1; RFC 9205 §4.5.1
SAY: Query parameters are a good design for small inputs: filtering, search, sorting, pagination. The problem starts when the query grows.
[click] Add a category and a few brands. Still fine.
[click] Add price ranges and RAM. First fact people get wrong: HTTP does not define one maximum URL length. RFC 9110 only recommends supporting at least 8000 octets.
[click] Add location, radius, sort and page. RFC 10008 explains the real problem: the actual limits are unknown ahead of time, because the request crosses many uncoordinated systems. A server that won't accept it answers 414 URI Too Long.
[click] Now a structured JSON filter. It must be percent-encoded: a 30-character JSON object becomes 54 characters of this. RFC 9205 calls this out as a reason GET becomes unwieldy.
[click] And RFC 10008 notes URIs are more likely to be logged than content, and end up in bookmarks. The natural fix is structured request content, on the right.
CLARIFY: URLs don't "break" at a magic length; the honest statement is that the limits aren't known ahead of time.
NEXT → Logging is a security question, so let's follow this URI through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3:55) · Sources: RFC 9110 §4.1, §15.5.15; RFC 10008 §1; RFC 9205 §4.5.1
SAY: Query parameters are a good design for small inputs: filtering, search, sorting, pagination. The problem starts when the query grows.
[click] Add a category and a few brands. Still fine.
[click] Add price ranges and RAM. First fact people get wrong: HTTP does not define one maximum URL length. RFC 9110 only recommends supporting at least 8000 octets.
[click] Add location, radius, sort and page. RFC 10008 explains the real problem: the actual limits are unknown ahead of time, because the request crosses many uncoordinated systems. A server that won't accept it answers 414 URI Too Long.
[click] Now a structured JSON filter. It must be percent-encoded: a 30-character JSON object becomes 54 characters of this. RFC 9205 calls this out as a reason GET becomes unwieldy.
[click] And RFC 10008 notes URIs are more likely to be logged than content, and end up in bookmarks. The natural fix is structured request content, on the right.
CLARIFY: URLs don't "break" at a magic length; the honest statement is that the limits aren't known ahead of time.
NEXT → Logging is a security question, so let's follow this URI through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3:55) · Sources: RFC 9110 §4.1, §15.5.15; RFC 10008 §1; RFC 9205 §4.5.1
SAY: Query parameters are a good design for small inputs: filtering, search, sorting, pagination. The problem starts when the query grows.
[click] Add a category and a few brands. Still fine.
[click] Add price ranges and RAM. First fact people get wrong: HTTP does not define one maximum URL length. RFC 9110 only recommends supporting at least 8000 octets.
[click] Add location, radius, sort and page. RFC 10008 explains the real problem: the actual limits are unknown ahead of time, because the request crosses many uncoordinated systems. A server that won't accept it answers 414 URI Too Long.
[click] Now a structured JSON filter. It must be percent-encoded: a 30-character JSON object becomes 54 characters of this. RFC 9205 calls this out as a reason GET becomes unwieldy.
[click] And RFC 10008 notes URIs are more likely to be logged than content, and end up in bookmarks. The natural fix is structured request content, on the right.
CLARIFY: URLs don't "break" at a magic length; the honest statement is that the limits aren't known ahead of time.
NEXT → Logging is a security question, so let's follow this URI through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4:55) · Sources: RFC 9110 §17.9; RFC 10008 §1, §4; W3C Referrer Policy
SAY: A realistic request: an admin searching users by email. The email address is in the query component. Let's follow it through a normal production path.
[click] It starts in the browser: history, possibly bookmarks.
[click] It passes a CDN or proxy and a WAF; both commonly log the request line.
[click] The reverse proxy and web server write it to their access log. Default access-log formats record the request line, which contains the URI. The application and APM or analytics tools may record it again.
[click] Finally it lands in a SIEM, indexed and retained. One email address, six places.
[click] The nuance: this does NOT mean "GET is insecure". RFC 9110 §17.9 says URIs are meant to be shared, not secured. Putting sensitive data in a URI multiplies where it can be recorded. The Referer header is weaker than it was: the W3C default policy now sends only the origin cross-origin, but same-origin requests, or relaxed policies, still send the full URL.
The right-hand box matters as much. Moving data into content reduces exposure but does not remove it: bodies can be logged, inspected, and seen by anything that terminates TLS. RFC 10008 says URIs are more likely to be logged. More likely, not always.
NEXT → So developers move the query out of the URI, and that opens a semantic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4:55) · Sources: RFC 9110 §17.9; RFC 10008 §1, §4; W3C Referrer Policy
SAY: A realistic request: an admin searching users by email. The email address is in the query component. Let's follow it through a normal production path.
[click] It starts in the browser: history, possibly bookmarks.
[click] It passes a CDN or proxy and a WAF; both commonly log the request line.
[click] The reverse proxy and web server write it to their access log. Default access-log formats record the request line, which contains the URI. The application and APM or analytics tools may record it again.
[click] Finally it lands in a SIEM, indexed and retained. One email address, six places.
[click] The nuance: this does NOT mean "GET is insecure". RFC 9110 §17.9 says URIs are meant to be shared, not secured. Putting sensitive data in a URI multiplies where it can be recorded. The Referer header is weaker than it was: the W3C default policy now sends only the origin cross-origin, but same-origin requests, or relaxed policies, still send the full URL.
The right-hand box matters as much. Moving data into content reduces exposure but does not remove it: bodies can be logged, inspected, and seen by anything that terminates TLS. RFC 10008 says URIs are more likely to be logged. More likely, not always.
NEXT → So developers move the query out of the URI, and that opens a semantic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4:55) · Sources: RFC 9110 §17.9; RFC 10008 §1, §4; W3C Referrer Policy
SAY: A realistic request: an admin searching users by email. The email address is in the query component. Let's follow it through a normal production path.
[click] It starts in the browser: history, possibly bookmarks.
[click] It passes a CDN or proxy and a WAF; both commonly log the request line.
[click] The reverse proxy and web server write it to their access log. Default access-log formats record the request line, which contains the URI. The application and APM or analytics tools may record it again.
[click] Finally it lands in a SIEM, indexed and retained. One email address, six places.
[click] The nuance: this does NOT mean "GET is insecure". RFC 9110 §17.9 says URIs are meant to be shared, not secured. Putting sensitive data in a URI multiplies where it can be recorded. The Referer header is weaker than it was: the W3C default policy now sends only the origin cross-origin, but same-origin requests, or relaxed policies, still send the full URL.
The right-hand box matters as much. Moving data into content reduces exposure but does not remove it: bodies can be logged, inspected, and seen by anything that terminates TLS. RFC 10008 says URIs are more likely to be logged. More likely, not always.
NEXT → So developers move the query out of the URI, and that opens a semantic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4:55) · Sources: RFC 9110 §17.9; RFC 10008 §1, §4; W3C Referrer Policy
SAY: A realistic request: an admin searching users by email. The email address is in the query component. Let's follow it through a normal production path.
[click] It starts in the browser: history, possibly bookmarks.
[click] It passes a CDN or proxy and a WAF; both commonly log the request line.
[click] The reverse proxy and web server write it to their access log. Default access-log formats record the request line, which contains the URI. The application and APM or analytics tools may record it again.
[click] Finally it lands in a SIEM, indexed and retained. One email address, six places.
[click] The nuance: this does NOT mean "GET is insecure". RFC 9110 §17.9 says URIs are meant to be shared, not secured. Putting sensitive data in a URI multiplies where it can be recorded. The Referer header is weaker than it was: the W3C default policy now sends only the origin cross-origin, but same-origin requests, or relaxed policies, still send the full URL.
The right-hand box matters as much. Moving data into content reduces exposure but does not remove it: bodies can be logged, inspected, and seen by anything that terminates TLS. RFC 10008 says URIs are more likely to be logged. More likely, not always.
NEXT → So developers move the query out of the URI, and that opens a semantic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4:55) · Sources: RFC 9110 §17.9; RFC 10008 §1, §4; W3C Referrer Policy
SAY: A realistic request: an admin searching users by email. The email address is in the query component. Let's follow it through a normal production path.
[click] It starts in the browser: history, possibly bookmarks.
[click] It passes a CDN or proxy and a WAF; both commonly log the request line.
[click] The reverse proxy and web server write it to their access log. Default access-log formats record the request line, which contains the URI. The application and APM or analytics tools may record it again.
[click] Finally it lands in a SIEM, indexed and retained. One email address, six places.
[click] The nuance: this does NOT mean "GET is insecure". RFC 9110 §17.9 says URIs are meant to be shared, not secured. Putting sensitive data in a URI multiplies where it can be recorded. The Referer header is weaker than it was: the W3C default policy now sends only the origin cross-origin, but same-origin requests, or relaxed policies, still send the full URL.
The right-hand box matters as much. Moving data into content reduces exposure but does not remove it: bodies can be logged, inspected, and seen by anything that terminates TLS. RFC 10008 says URIs are more likely to be logged. More likely, not always.
NEXT → So developers move the query out of the URI, and that opens a semantic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4:55) · Sources: RFC 9110 §17.9; RFC 10008 §1, §4; W3C Referrer Policy
SAY: A realistic request: an admin searching users by email. The email address is in the query component. Let's follow it through a normal production path.
[click] It starts in the browser: history, possibly bookmarks.
[click] It passes a CDN or proxy and a WAF; both commonly log the request line.
[click] The reverse proxy and web server write it to their access log. Default access-log formats record the request line, which contains the URI. The application and APM or analytics tools may record it again.
[click] Finally it lands in a SIEM, indexed and retained. One email address, six places.
[click] The nuance: this does NOT mean "GET is insecure". RFC 9110 §17.9 says URIs are meant to be shared, not secured. Putting sensitive data in a URI multiplies where it can be recorded. The Referer header is weaker than it was: the W3C default policy now sends only the origin cross-origin, but same-origin requests, or relaxed policies, still send the full URL.
The right-hand box matters as much. Moving data into content reduces exposure but does not remove it: bodies can be logged, inspected, and seen by anything that terminates TLS. RFC 10008 says URIs are more likely to be logged. More likely, not always.
NEXT → So developers move the query out of the URI, and that opens a semantic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5:40) · Sources: RFC 9110 §9.2.1, §9.3.3, §17.9; RFC 10008 §2
SAY: This is the open issue the Introduction leads to. The columns ask where the query input lives: URI or content. The rows ask what the method promises: safe and idempotent, or general processing.
GET is top-left and POST bottom-right. Bottom-left is an anti-pattern: an action like "delete" behind a safe method, which RFC 9110 says the owner MUST disallow. Top-right was empty: there was no standard way to say "this is a safe, idempotent query, with the input in the body". RFC 9110 itself admits this in §17.9, quoted on the right.
[click] QUERY fills exactly that cell.
[click] So QUERY is not a replacement for GET or POST. If your query fits in a URL, use GET. If you're changing state, use POST.
NEXT → That gives me the objectives of this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5:40) · Sources: RFC 9110 §9.2.1, §9.3.3, §17.9; RFC 10008 §2
SAY: This is the open issue the Introduction leads to. The columns ask where the query input lives: URI or content. The rows ask what the method promises: safe and idempotent, or general processing.
GET is top-left and POST bottom-right. Bottom-left is an anti-pattern: an action like "delete" behind a safe method, which RFC 9110 says the owner MUST disallow. Top-right was empty: there was no standard way to say "this is a safe, idempotent query, with the input in the body". RFC 9110 itself admits this in §17.9, quoted on the right.
[click] QUERY fills exactly that cell.
[click] So QUERY is not a replacement for GET or POST. If your query fits in a URL, use GET. If you're changing state, use POST.
NEXT → That gives me the objectives of this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5:40) · Sources: RFC 9110 §9.2.1, §9.3.3, §17.9; RFC 10008 §2
SAY: This is the open issue the Introduction leads to. The columns ask where the query input lives: URI or content. The rows ask what the method promises: safe and idempotent, or general processing.
GET is top-left and POST bottom-right. Bottom-left is an anti-pattern: an action like "delete" behind a safe method, which RFC 9110 says the owner MUST disallow. Top-right was empty: there was no standard way to say "this is a safe, idempotent query, with the input in the body". RFC 9110 itself admits this in §17.9, quoted on the right.
[click] QUERY fills exactly that cell.
[click] So QUERY is not a replacement for GET or POST. If your query fits in a URL, use GET. If you're changing state, use POST.
NEXT → That gives me the objectives of this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6:10)
SAY: My objectives follow from that gap. First, the fundamentals: why methods and their properties matter, and why URI-based queries break down. Then the core: what RFC 10008 actually specifies, and how QUERY compares with GET and POST. The security objective is the main one: what changes for browsers, caches, WAFs, gateways and applications. Finally, I survey the literature and end with a recommendation on when to use each method.
NEXT → The literature review, starting with the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6:55) · Sources: RFC 10008; RFC 9110; RFC 9205; RFC 9421
SAY: The primary sources are standards. RFC 10008 defines QUERY: Content-Type is mandatory, responses are cacheable but the cache key must include the content, there is a new Accept-Query header, the server can mint URIs for later GETs, and browsers need a CORS preflight. RFC 9110 defines the semantics I've been using: safe and idempotent describe client intent, URIs are not secured, and POST for queries is an admitted compromise. RFC 9205 is the IETF's best-practice guide; it says GET queries can become unwieldy, and POST queries lose caching and linking. RFC 9421 matters for security: signing the URI query protects nothing when the query is in the body.
CLARIFY: The "Dataset" column is the template's; for a standard it describes what kind of document it is.
NEXT → The peer-reviewed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7:40) · Sources: Starov et al. 2016; Nguyen et al. 2019; Mirheidari et al. 2020
SAY: I searched Crossref and the web for peer-reviewed work on RFC 10008 itself and found none, which is expected for a standard published in June 2026. So these are studies of the mechanisms QUERY depends on.
Starov and colleagues, PoPETs 2016, measured the top 100,000 sites and found contact-form PII leaking to third parties, including through the Referer header. That's the URI-exposure problem measured in the wild; note it predates today's stricter default referrer policy.
Nguyen and colleagues, CCS 2019, introduced cache-poisoned denial of service. Of 15 caching systems, one proxy cache and five CDNs could be made to cache an error page. When cache and origin disagree, attackers exploit it.
Mirheidari and colleagues, USENIX Security 2020, found web cache deception on high-profile sites, leaking private data and tokens. That's the same class of risk as QUERY's cache-key normalisation problem.
NEXT → Three more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8:25) · Sources: Jabiyev et al. 2021; Chen et al. 2018; Cha et al. 2020; Hartig &amp; Pérez 2018
SAY: Jabiyev and colleagues, CCS 2021, used differential fuzzing on ten popular servers, proxies and CDNs and found request-smuggling discrepancies. A new method with a body is a new input for exactly these bugs.
Chen and colleagues, USENIX Security 2018, studied CORS in practice and found widespread misconfiguration. QUERY always needs a cross-origin preflight, so CORS configuration is on the critical path.
The last two are about cost. Cha and colleagues, FSE 2020, bound the cost of a GraphQL query before running it, and Hartig and Pérez, WWW 2018, proved GraphQL responses can be very large. Both matter when the request content is itself a query language, which is exactly what QUERY carries.
NEXT → With that background, the Description: what QUERY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9:20) · Sources: RFC 9110 §9.2, §9.3.3, §17.9; RFC 10008 §1, §2
SAY: The same query in three forms. Start with GET: the query data, highlighted, sits in the URI. The strip below shows GET is safe and idempotent, but not body-oriented.
[click] The usual workaround is POST. Watch the query data move out of the URI into the request content as JSON. No URI size problem, natural structure, nothing in the request line. But POST is not safe and not idempotent by definition, so nothing tells a cache, proxy or retrying client this is a harmless read. RFC 9110 §17.9 says this workaround "uses an unsafe method for what would otherwise be a safe request."
[click] QUERY keeps exactly the same content and changes only the method.
[click] Because RFC 10008 defines it as safe,
[click] and idempotent,
[click] while the query stays in the content.
CLARIFY: The data didn't change between POST and QUERY, only what the method promises. Semantics are a contract with every intermediary.
NEXT → What RFC 10008 actually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9:20) · Sources: RFC 9110 §9.2, §9.3.3, §17.9; RFC 10008 §1, §2
SAY: The same query in three forms. Start with GET: the query data, highlighted, sits in the URI. The strip below shows GET is safe and idempotent, but not body-oriented.
[click] The usual workaround is POST. Watch the query data move out of the URI into the request content as JSON. No URI size problem, natural structure, nothing in the request line. But POST is not safe and not idempotent by definition, so nothing tells a cache, proxy or retrying client this is a harmless read. RFC 9110 §17.9 says this workaround "uses an unsafe method for what would otherwise be a safe request."
[click] QUERY keeps exactly the same content and changes only the method.
[click] Because RFC 10008 defines it as safe,
[click] and idempotent,
[click] while the query stays in the content.
CLARIFY: The data didn't change between POST and QUERY, only what the method promises. Semantics are a contract with every intermediary.
NEXT → What RFC 10008 actually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9:20) · Sources: RFC 9110 §9.2, §9.3.3, §17.9; RFC 10008 §1, §2
SAY: The same query in three forms. Start with GET: the query data, highlighted, sits in the URI. The strip below shows GET is safe and idempotent, but not body-oriented.
[click] The usual workaround is POST. Watch the query data move out of the URI into the request content as JSON. No URI size problem, natural structure, nothing in the request line. But POST is not safe and not idempotent by definition, so nothing tells a cache, proxy or retrying client this is a harmless read. RFC 9110 §17.9 says this workaround "uses an unsafe method for what would otherwise be a safe request."
[click] QUERY keeps exactly the same content and changes only the method.
[click] Because RFC 10008 defines it as safe,
[click] and idempotent,
[click] while the query stays in the content.
CLARIFY: The data didn't change between POST and QUERY, only what the method promises. Semantics are a contract with every intermediary.
NEXT → What RFC 10008 actually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9:20) · Sources: RFC 9110 §9.2, §9.3.3, §17.9; RFC 10008 §1, §2
SAY: The same query in three forms. Start with GET: the query data, highlighted, sits in the URI. The strip below shows GET is safe and idempotent, but not body-oriented.
[click] The usual workaround is POST. Watch the query data move out of the URI into the request content as JSON. No URI size problem, natural structure, nothing in the request line. But POST is not safe and not idempotent by definition, so nothing tells a cache, proxy or retrying client this is a harmless read. RFC 9110 §17.9 says this workaround "uses an unsafe method for what would otherwise be a safe request."
[click] QUERY keeps exactly the same content and changes only the method.
[click] Because RFC 10008 defines it as safe,
[click] and idempotent,
[click] while the query stays in the content.
CLARIFY: The data didn't change between POST and QUERY, only what the method promises. Semantics are a contract with every intermediary.
NEXT → What RFC 10008 actually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9:20) · Sources: RFC 9110 §9.2, §9.3.3, §17.9; RFC 10008 §1, §2
SAY: The same query in three forms. Start with GET: the query data, highlighted, sits in the URI. The strip below shows GET is safe and idempotent, but not body-oriented.
[click] The usual workaround is POST. Watch the query data move out of the URI into the request content as JSON. No URI size problem, natural structure, nothing in the request line. But POST is not safe and not idempotent by definition, so nothing tells a cache, proxy or retrying client this is a harmless read. RFC 9110 §17.9 says this workaround "uses an unsafe method for what would otherwise be a safe request."
[click] QUERY keeps exactly the same content and changes only the method.
[click] Because RFC 10008 defines it as safe,
[click] and idempotent,
[click] while the query stays in the content.
CLARIFY: The data didn't change between POST and QUERY, only what the method promises. Semantics are a contract with every intermediary.
NEXT → What RFC 10008 actually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9:20) · Sources: RFC 9110 §9.2, §9.3.3, §17.9; RFC 10008 §1, §2
SAY: The same query in three forms. Start with GET: the query data, highlighted, sits in the URI. The strip below shows GET is safe and idempotent, but not body-oriented.
[click] The usual workaround is POST. Watch the query data move out of the URI into the request content as JSON. No URI size problem, natural structure, nothing in the request line. But POST is not safe and not idempotent by definition, so nothing tells a cache, proxy or retrying client this is a harmless read. RFC 9110 §17.9 says this workaround "uses an unsafe method for what would otherwise be a safe request."
[click] QUERY keeps exactly the same content and changes only the method.
[click] Because RFC 10008 defines it as safe,
[click] and idempotent,
[click] while the query stays in the content.
CLARIFY: The data didn't change between POST and QUERY, only what the method promises. Semantics are a contract with every intermediary.
NEXT → What RFC 10008 actually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10:20) · Sources: RFC 10008 §2, §2.1–2.5, §3, §5.1; IANA HTTP Method Registry
SAY: A QUERY exchange in the style of the RFC's own examples.
[click] One: the method, registered with IANA as safe and idempotent, on the same list as GET.
[click] Two: the target, /feed. The target resource determines the scope of the query.
[click] Three: Content-Type. The server MUST fail the request if Content-Type is missing or inconsistent with the content, and may not sniff the type. The RFC suggests 400 for missing or inconsistent, 415 for an unsupported format, and 422 for a well-formed query that can't be processed.
[click] Four: the content is the query itself, "query content". Here JSON; it could be SQL, JSONPath or form encoding.
[click] On the response, five: the new Accept-Query header, a Structured Field list of the query formats this resource accepts.
[click] Six and seven: the server can mint URIs for later GETs. Location repeats this query; Content-Location returns this particular result. If the query contains sensitive data, those URIs SHOULD NOT include it (§4); otherwise the data goes straight back into a URI.
[click] The full exchange. Also: 301, 302, 307 and 308 redirects keep the QUERY method, unlike the old POST-to-GET exception, while 303 tells the client to switch to GET.
NEXT → GET, POST and QUERY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11:05) · Sources: RFC 10008 §1 (Table 1); RFC 9110 §9.2, §9.2.3; RFC 9111 §2
SAY: This follows Table 1 of RFC 10008 plus deployment rows. GET puts the input in the URI, is safe and idempotent, and has mature caching keyed on method plus URI. POST carries the input in content but makes no safety promise; HTTP does define POST caching, but RFC 9110 notes most caches only support GET and HEAD.
[click] QUERY: body-based like POST, safe and idempotent like GET. Responses are cacheable, but the cache key MUST include the content, so a cache must read the whole body first. A URI for the query is optional, via Location. Ecosystem support is emerging.
CLARIFY: "Not by definition" rather than "never" for POST: a particular POST endpoint may behave safely, but the method guarantees nothing, which is the problem.
NEXT → What "safe" means for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11:05) · Sources: RFC 10008 §1 (Table 1); RFC 9110 §9.2, §9.2.3; RFC 9111 §2
SAY: This follows Table 1 of RFC 10008 plus deployment rows. GET puts the input in the URI, is safe and idempotent, and has mature caching keyed on method plus URI. POST carries the input in content but makes no safety promise; HTTP does define POST caching, but RFC 9110 notes most caches only support GET and HEAD.
[click] QUERY: body-based like POST, safe and idempotent like GET. Responses are cacheable, but the cache key MUST include the content, so a cache must read the whole body first. A URI for the query is optional, via Location. Ecosystem support is emerging.
CLARIFY: "Not by definition" rather than "never" for POST: a particular POST endpoint may behave safely, but the method guarantees nothing, which is the problem.
NEXT → What "safe" means for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11:50) · Sources: RFC 9110 §9.2.1, §9.2.2; Cha et al. 2020
SAY: The most important security distinction in the talk: safe does not mean secure, and idempotent does not mean harmless. Both describe what the client intends, not how the server is protected. RFC 9110 says so directly.
[click] Resource exhaustion: query content can be deeply nested or high-cardinality; the GraphQL literature shows a short query can be very expensive.
[click] Information disclosure: a safe request can return data the caller should never see.
[click] Broken authorisation: an admin-role user search is read-only, and still sensitive.
[click] Injection: query content is untrusted input wherever it ends up. Moving it from URI to body changes nothing.
[click] Automated repetition: idempotent requests are designed to be retried, so rate limits still matter.
NEXT → Cacheability brings its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11:50) · Sources: RFC 9110 §9.2.1, §9.2.2; Cha et al. 2020
SAY: The most important security distinction in the talk: safe does not mean secure, and idempotent does not mean harmless. Both describe what the client intends, not how the server is protected. RFC 9110 says so directly.
[click] Resource exhaustion: query content can be deeply nested or high-cardinality; the GraphQL literature shows a short query can be very expensive.
[click] Information disclosure: a safe request can return data the caller should never see.
[click] Broken authorisation: an admin-role user search is read-only, and still sensitive.
[click] Injection: query content is untrusted input wherever it ends up. Moving it from URI to body changes nothing.
[click] Automated repetition: idempotent requests are designed to be retried, so rate limits still matter.
NEXT → Cacheability brings its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11:50) · Sources: RFC 9110 §9.2.1, §9.2.2; Cha et al. 2020
SAY: The most important security distinction in the talk: safe does not mean secure, and idempotent does not mean harmless. Both describe what the client intends, not how the server is protected. RFC 9110 says so directly.
[click] Resource exhaustion: query content can be deeply nested or high-cardinality; the GraphQL literature shows a short query can be very expensive.
[click] Information disclosure: a safe request can return data the caller should never see.
[click] Broken authorisation: an admin-role user search is read-only, and still sensitive.
[click] Injection: query content is untrusted input wherever it ends up. Moving it from URI to body changes nothing.
[click] Automated repetition: idempotent requests are designed to be retried, so rate limits still matter.
NEXT → Cacheability brings its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11:50) · Sources: RFC 9110 §9.2.1, §9.2.2; Cha et al. 2020
SAY: The most important security distinction in the talk: safe does not mean secure, and idempotent does not mean harmless. Both describe what the client intends, not how the server is protected. RFC 9110 says so directly.
[click] Resource exhaustion: query content can be deeply nested or high-cardinality; the GraphQL literature shows a short query can be very expensive.
[click] Information disclosure: a safe request can return data the caller should never see.
[click] Broken authorisation: an admin-role user search is read-only, and still sensitive.
[click] Injection: query content is untrusted input wherever it ends up. Moving it from URI to body changes nothing.
[click] Automated repetition: idempotent requests are designed to be retried, so rate limits still matter.
NEXT → Cacheability brings its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11:50) · Sources: RFC 9110 §9.2.1, §9.2.2; Cha et al. 2020
SAY: The most important security distinction in the talk: safe does not mean secure, and idempotent does not mean harmless. Both describe what the client intends, not how the server is protected. RFC 9110 says so directly.
[click] Resource exhaustion: query content can be deeply nested or high-cardinality; the GraphQL literature shows a short query can be very expensive.
[click] Information disclosure: a safe request can return data the caller should never see.
[click] Broken authorisation: an admin-role user search is read-only, and still sensitive.
[click] Injection: query content is untrusted input wherever it ends up. Moving it from URI to body changes nothing.
[click] Automated repetition: idempotent requests are designed to be retried, so rate limits still matter.
NEXT → Cacheability brings its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11:50) · Sources: RFC 9110 §9.2.1, §9.2.2; Cha et al. 2020
SAY: The most important security distinction in the talk: safe does not mean secure, and idempotent does not mean harmless. Both describe what the client intends, not how the server is protected. RFC 9110 says so directly.
[click] Resource exhaustion: query content can be deeply nested or high-cardinality; the GraphQL literature shows a short query can be very expensive.
[click] Information disclosure: a safe request can return data the caller should never see.
[click] Broken authorisation: an admin-role user search is read-only, and still sensitive.
[click] Injection: query content is untrusted input wherever it ends up. Moving it from URI to body changes nothing.
[click] Automated repetition: idempotent requests are designed to be retried, so rate limits still matter.
NEXT → Cacheability brings its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12:40) · Sources: RFC 10008 §2.7, §4; RFC 9111 §2; Nguyen et al. 2019; Mirheidari et al. 2020
SAY: QUERY responses are cacheable, which is a selling point and also the biggest new attack surface. RFC 10008 says the cache key MUST include the request content and related metadata such as Content-Type. But RFC 9111 notes many caches only cache GET, and so key on the URI alone.
[click] Done correctly, two QUERY requests to the same URI with different content get different keys, K1 and K2, and different responses.
[click] The failure case: the cache ignores the content, or normalises too aggressively and drops "role". The second request maps to K1 and the admin response is served to the wrong query: a data leak or cache poisoning, depending on who warmed the cache.
[click] The RFC allows normalisation, like removing content encoding, to improve hit rates, and warns that normalisation which disagrees with the origin returns incorrect responses. The cache-poisoning and cache-deception papers show this disagreement is exploitable.
CLARIFY: I'm not claiming a specific CDN behaves this way; QUERY caching is harder than GET caching, and new code paths are where bugs live.
NEXT → Browsers, and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12:40) · Sources: RFC 10008 §2.7, §4; RFC 9111 §2; Nguyen et al. 2019; Mirheidari et al. 2020
SAY: QUERY responses are cacheable, which is a selling point and also the biggest new attack surface. RFC 10008 says the cache key MUST include the request content and related metadata such as Content-Type. But RFC 9111 notes many caches only cache GET, and so key on the URI alone.
[click] Done correctly, two QUERY requests to the same URI with different content get different keys, K1 and K2, and different responses.
[click] The failure case: the cache ignores the content, or normalises too aggressively and drops "role". The second request maps to K1 and the admin response is served to the wrong query: a data leak or cache poisoning, depending on who warmed the cache.
[click] The RFC allows normalisation, like removing content encoding, to improve hit rates, and warns that normalisation which disagrees with the origin returns incorrect responses. The cache-poisoning and cache-deception papers show this disagreement is exploitable.
CLARIFY: I'm not claiming a specific CDN behaves this way; QUERY caching is harder than GET caching, and new code paths are where bugs live.
NEXT → Browsers, and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12:40) · Sources: RFC 10008 §2.7, §4; RFC 9111 §2; Nguyen et al. 2019; Mirheidari et al. 2020
SAY: QUERY responses are cacheable, which is a selling point and also the biggest new attack surface. RFC 10008 says the cache key MUST include the request content and related metadata such as Content-Type. But RFC 9111 notes many caches only cache GET, and so key on the URI alone.
[click] Done correctly, two QUERY requests to the same URI with different content get different keys, K1 and K2, and different responses.
[click] The failure case: the cache ignores the content, or normalises too aggressively and drops "role". The second request maps to K1 and the admin response is served to the wrong query: a data leak or cache poisoning, depending on who warmed the cache.
[click] The RFC allows normalisation, like removing content encoding, to improve hit rates, and warns that normalisation which disagrees with the origin returns incorrect responses. The cache-poisoning and cache-deception papers show this disagreement is exploitable.
CLARIFY: I'm not claiming a specific CDN behaves this way; QUERY caching is harder than GET caching, and new code paths are where bugs live.
NEXT → Browsers, and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12:40) · Sources: RFC 10008 §2.7, §4; RFC 9111 §2; Nguyen et al. 2019; Mirheidari et al. 2020
SAY: QUERY responses are cacheable, which is a selling point and also the biggest new attack surface. RFC 10008 says the cache key MUST include the request content and related metadata such as Content-Type. But RFC 9111 notes many caches only cache GET, and so key on the URI alone.
[click] Done correctly, two QUERY requests to the same URI with different content get different keys, K1 and K2, and different responses.
[click] The failure case: the cache ignores the content, or normalises too aggressively and drops "role". The second request maps to K1 and the admin response is served to the wrong query: a data leak or cache poisoning, depending on who warmed the cache.
[click] The RFC allows normalisation, like removing content encoding, to improve hit rates, and warns that normalisation which disagrees with the origin returns incorrect responses. The cache-poisoning and cache-deception papers show this disagreement is exploitable.
CLARIFY: I'm not claiming a specific CDN behaves this way; QUERY caching is harder than GET caching, and new code paths are where bugs live.
NEXT → Browsers, and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13:25) · Sources: WHATWG Fetch §2.2.1, CORS protocol; RFC 10008 §4; WHATWG HTML (form method); Chen et al. 2018
SAY: Browsers add a layer. When JavaScript on one origin sends QUERY to another, the browser first sends a preflight: an OPTIONS request asking whether the server accepts QUERY from this origin. It's needed because Fetch lists only GET, HEAD and POST as CORS-safelisted methods, and RFC 10008's security considerations say the same.
[click] The server must answer Access-Control-Allow-Methods: QUERY; the browser can cache this for Max-Age.
[click] Only then is the real QUERY sent, and the response exposed only if the origin is allowed.
Be precise: same-origin requests don't involve CORS, and curl or service-to-service calls aren't browsers.
[click] Security consequence: forms only submit GET or POST, and fetch's no-cors mode rejects non-safelisted methods, so a malicious page cannot fire QUERY at your API without your server agreeing in a preflight. That's stronger than POST. But Chen et al. showed CORS is often misconfigured; a permissive, credentialed policy could still leak QUERY results.
NEXT → For service-to-service integrity: HTTP Message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13:25) · Sources: WHATWG Fetch §2.2.1, CORS protocol; RFC 10008 §4; WHATWG HTML (form method); Chen et al. 2018
SAY: Browsers add a layer. When JavaScript on one origin sends QUERY to another, the browser first sends a preflight: an OPTIONS request asking whether the server accepts QUERY from this origin. It's needed because Fetch lists only GET, HEAD and POST as CORS-safelisted methods, and RFC 10008's security considerations say the same.
[click] The server must answer Access-Control-Allow-Methods: QUERY; the browser can cache this for Max-Age.
[click] Only then is the real QUERY sent, and the response exposed only if the origin is allowed.
Be precise: same-origin requests don't involve CORS, and curl or service-to-service calls aren't browsers.
[click] Security consequence: forms only submit GET or POST, and fetch's no-cors mode rejects non-safelisted methods, so a malicious page cannot fire QUERY at your API without your server agreeing in a preflight. That's stronger than POST. But Chen et al. showed CORS is often misconfigured; a permissive, credentialed policy could still leak QUERY results.
NEXT → For service-to-service integrity: HTTP Message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13:25) · Sources: WHATWG Fetch §2.2.1, CORS protocol; RFC 10008 §4; WHATWG HTML (form method); Chen et al. 2018
SAY: Browsers add a layer. When JavaScript on one origin sends QUERY to another, the browser first sends a preflight: an OPTIONS request asking whether the server accepts QUERY from this origin. It's needed because Fetch lists only GET, HEAD and POST as CORS-safelisted methods, and RFC 10008's security considerations say the same.
[click] The server must answer Access-Control-Allow-Methods: QUERY; the browser can cache this for Max-Age.
[click] Only then is the real QUERY sent, and the response exposed only if the origin is allowed.
Be precise: same-origin requests don't involve CORS, and curl or service-to-service calls aren't browsers.
[click] Security consequence: forms only submit GET or POST, and fetch's no-cors mode rejects non-safelisted methods, so a malicious page cannot fire QUERY at your API without your server agreeing in a preflight. That's stronger than POST. But Chen et al. showed CORS is often misconfigured; a permissive, credentialed policy could still leak QUERY results.
NEXT → For service-to-service integrity: HTTP Message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13:25) · Sources: WHATWG Fetch §2.2.1, CORS protocol; RFC 10008 §4; WHATWG HTML (form method); Chen et al. 2018
SAY: Browsers add a layer. When JavaScript on one origin sends QUERY to another, the browser first sends a preflight: an OPTIONS request asking whether the server accepts QUERY from this origin. It's needed because Fetch lists only GET, HEAD and POST as CORS-safelisted methods, and RFC 10008's security considerations say the same.
[click] The server must answer Access-Control-Allow-Methods: QUERY; the browser can cache this for Max-Age.
[click] Only then is the real QUERY sent, and the response exposed only if the origin is allowed.
Be precise: same-origin requests don't involve CORS, and curl or service-to-service calls aren't browsers.
[click] Security consequence: forms only submit GET or POST, and fetch's no-cors mode rejects non-safelisted methods, so a malicious page cannot fire QUERY at your API without your server agreeing in a preflight. That's stronger than POST. But Chen et al. showed CORS is often misconfigured; a permissive, credentialed policy could still leak QUERY results.
NEXT → For service-to-service integrity: HTTP Message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14:10) · Sources: RFC 9421 §1, §2.2.7, §2.2.8, §7.2.8, §7.5.8; RFC 9530
SAY: RFC 9421 lets a sender sign selected parts of a request so another service can detect tampering. It defines derived components such as @method, @target-uri, @query and @query-param.
Look at the @query rows. For GET, signing @query protects the search terms. For QUERY, the terms are no longer in the URI, so @query is usually a bare question mark and @query-param covers nothing. Port a GET signing policy to QUERY unchanged, and the signature protects everything except the query.
[click] RFC 9421 does not sign content directly: add a Content-Digest header from RFC 9530 and sign that, and the verifier must recompute the digest over the content it received.
[click] Section 7.5.8 describes parameter shadowing: frameworks merge URI and form-encoded body parameters, and QUERY content can be form-encoded.
[click] Intermediaries that change content encoding change the digest, so they must re-sign.
[click] And signatures give integrity and origin authentication only; not authorisation, validation or confidentiality.
NEXT → All the layers in one threat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14:10) · Sources: RFC 9421 §1, §2.2.7, §2.2.8, §7.2.8, §7.5.8; RFC 9530
SAY: RFC 9421 lets a sender sign selected parts of a request so another service can detect tampering. It defines derived components such as @method, @target-uri, @query and @query-param.
Look at the @query rows. For GET, signing @query protects the search terms. For QUERY, the terms are no longer in the URI, so @query is usually a bare question mark and @query-param covers nothing. Port a GET signing policy to QUERY unchanged, and the signature protects everything except the query.
[click] RFC 9421 does not sign content directly: add a Content-Digest header from RFC 9530 and sign that, and the verifier must recompute the digest over the content it received.
[click] Section 7.5.8 describes parameter shadowing: frameworks merge URI and form-encoded body parameters, and QUERY content can be form-encoded.
[click] Intermediaries that change content encoding change the digest, so they must re-sign.
[click] And signatures give integrity and origin authentication only; not authorisation, validation or confidentiality.
NEXT → All the layers in one threat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14:10) · Sources: RFC 9421 §1, §2.2.7, §2.2.8, §7.2.8, §7.5.8; RFC 9530
SAY: RFC 9421 lets a sender sign selected parts of a request so another service can detect tampering. It defines derived components such as @method, @target-uri, @query and @query-param.
Look at the @query rows. For GET, signing @query protects the search terms. For QUERY, the terms are no longer in the URI, so @query is usually a bare question mark and @query-param covers nothing. Port a GET signing policy to QUERY unchanged, and the signature protects everything except the query.
[click] RFC 9421 does not sign content directly: add a Content-Digest header from RFC 9530 and sign that, and the verifier must recompute the digest over the content it received.
[click] Section 7.5.8 describes parameter shadowing: frameworks merge URI and form-encoded body parameters, and QUERY content can be form-encoded.
[click] Intermediaries that change content encoding change the digest, so they must re-sign.
[click] And signatures give integrity and origin authentication only; not authorisation, validation or confidentiality.
NEXT → All the layers in one threat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14:10) · Sources: RFC 9421 §1, §2.2.7, §2.2.8, §7.2.8, §7.5.8; RFC 9530
SAY: RFC 9421 lets a sender sign selected parts of a request so another service can detect tampering. It defines derived components such as @method, @target-uri, @query and @query-param.
Look at the @query rows. For GET, signing @query protects the search terms. For QUERY, the terms are no longer in the URI, so @query is usually a bare question mark and @query-param covers nothing. Port a GET signing policy to QUERY unchanged, and the signature protects everything except the query.
[click] RFC 9421 does not sign content directly: add a Content-Digest header from RFC 9530 and sign that, and the verifier must recompute the digest over the content it received.
[click] Section 7.5.8 describes parameter shadowing: frameworks merge URI and form-encoded body parameters, and QUERY content can be form-encoded.
[click] Intermediaries that change content encoding change the digest, so they must re-sign.
[click] And signatures give integrity and origin authentication only; not authorisation, validation or confidentiality.
NEXT → All the layers in one threat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14:10) · Sources: RFC 9421 §1, §2.2.7, §2.2.8, §7.2.8, §7.5.8; RFC 9530
SAY: RFC 9421 lets a sender sign selected parts of a request so another service can detect tampering. It defines derived components such as @method, @target-uri, @query and @query-param.
Look at the @query rows. For GET, signing @query protects the search terms. For QUERY, the terms are no longer in the URI, so @query is usually a bare question mark and @query-param covers nothing. Port a GET signing policy to QUERY unchanged, and the signature protects everything except the query.
[click] RFC 9421 does not sign content directly: add a Content-Digest header from RFC 9530 and sign that, and the verifier must recompute the digest over the content it received.
[click] Section 7.5.8 describes parameter shadowing: frameworks merge URI and form-encoded body parameters, and QUERY content can be form-encoded.
[click] Intermediaries that change content encoding change the digest, so they must re-sign.
[click] And signatures give integrity and origin authentication only; not authorisation, validation or confidentiality.
NEXT → All the layers in one threat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15:05) · Sources: RFC 10008 §2.1, §2.7, §4; Fetch; RFC 9112 §6; Jabiyev et al. 2021; Chen et al. 2016; OWASP WSTG-CONF-06
SAY: The threat model, layer by layer.
[click] Browser: the CORS preflight and allowed origins, the credentials mode, and one trap: fetch() only uppercases the six classic method names, so lowercase "query" is sent as a different, case-sensitive method.
[click] CDN and cache: the key must include content and type, normalisation must be safe; poisoning and deception are the attacks.
[click] WAF: QUERY must be on the allowlist, and rules written for "GET parameters" and "POST bodies" must also inspect QUERY bodies, or QUERY becomes a way around them. OWASP's HTTP-method test case covers bypassing access controls with another or unknown method.
[click] Gateway and reverse proxy: RFC 9112 says framing is independent of the method, so a conforming proxy can forward a QUERY body. But T-Reqs showed parsing discrepancies between hops are common and lead to request smuggling; "Host of Troubles" showed the same class of ambiguity for Host headers. Unsupported methods need consistent 405 or 501 answers.
[click] Application: authentication and per-query authorisation, strict Content-Type checks as RFC 10008 requires, validation, cost limits, care with body logging.
[click] Database: parameterised queries, timeouts, result-size caps.
NOTICE: Little of this is new; what's new is that every layer must recognise QUERY and treat its body correctly.
NEXT → One concrete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15:45) · Sources: RFC 10008 §4; RFC 9110 §17.9
SAY: An admin API that searches users by email and role, written three ways. The top three rows are where the methods differ. GET puts the email in the URI. POST and QUERY keep it out. Only GET and QUERY tell caches and retrying clients this is a safe read. For POST and QUERY the body can still be logged or inspected: exposure moves rather than disappears.
[click] The bottom three rows are identical: authorisation, validation and injection defences, and rate and cost limits. The method changes none of these.
[click] My core claim: QUERY changes semantics and where the data travels; it is not a security control in itself.
NEXT → And deployment is where a new method runs into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15:45) · Sources: RFC 10008 §4; RFC 9110 §17.9
SAY: An admin API that searches users by email and role, written three ways. The top three rows are where the methods differ. GET puts the email in the URI. POST and QUERY keep it out. Only GET and QUERY tell caches and retrying clients this is a safe read. For POST and QUERY the body can still be logged or inspected: exposure moves rather than disappears.
[click] The bottom three rows are identical: authorisation, validation and injection defences, and rate and cost limits. The method changes none of these.
[click] My core claim: QUERY changes semantics and where the data travels; it is not a security control in itself.
NEXT → And deployment is where a new method runs into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15:45) · Sources: RFC 10008 §4; RFC 9110 §17.9
SAY: An admin API that searches users by email and role, written three ways. The top three rows are where the methods differ. GET puts the email in the URI. POST and QUERY keep it out. Only GET and QUERY tell caches and retrying clients this is a safe read. For POST and QUERY the body can still be logged or inspected: exposure moves rather than disappears.
[click] The bottom three rows are identical: authorisation, validation and injection defences, and rate and cost limits. The method changes none of these.
[click] My core claim: QUERY changes semantics and where the data travels; it is not a security control in itself.
NEXT → And deployment is where a new method runs into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16:25) · Sources: RFC 10008; RFC 9110 §9.1; Fetch §2.2.1; OpenAPI 3.2.0
SAY: Publishing an RFC and making it work in production are separate problems. On the left, what RFC 10008 fixes at the protocol level; all settled. On the right, what every hop decides for itself: method allowlists, where RFC 9110 says an unknown method gets 501 and a disallowed one 405; forwarding and caching; framework routing and body parsing; CORS; client libraries, since fetch() won't uppercase "query"; and logging and SIEM parsers. On the positive side, OpenAPI 3.2, released September 2025, already has a "query" operation.
[click] So the whole chain matters: one unsupported hop breaks QUERY, and a hop that passes it through without its GET and POST controls turns it into a bypass.
NEXT → My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16:25) · Sources: RFC 10008; RFC 9110 §9.1; Fetch §2.2.1; OpenAPI 3.2.0
SAY: Publishing an RFC and making it work in production are separate problems. On the left, what RFC 10008 fixes at the protocol level; all settled. On the right, what every hop decides for itself: method allowlists, where RFC 9110 says an unknown method gets 501 and a disallowed one 405; forwarding and caching; framework routing and body parsing; CORS; client libraries, since fetch() won't uppercase "query"; and logging and SIEM parsers. On the positive side, OpenAPI 3.2, released September 2025, already has a "query" operation.
[click] So the whole chain matters: one unsupported hop breaks QUERY, and a hop that passes it through without its GET and POST controls turns it into a bypass.
NEXT → My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17:10)
SAY: To conclude, this isn't a contest with a winner. Use GET when the query fits naturally in a URI and you want links, bookmarks and mature caching. Use QUERY when the operation really is a safe, idempotent query with large or structured input, and every hop supports it. Use POST when the operation isn't safe.
[click] First takeaway: QUERY is not a replacement for GET or POST; it fills the semantic gap between them.
[click] Second, the cybersecurity takeaway: the method doesn't provide security by itself. Its value depends on how clients, intermediaries, caches, gateways, applications and logging implement it, so security teams need to be involved from the start of adoption.
NEXT → References,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17:10)
SAY: To conclude, this isn't a contest with a winner. Use GET when the query fits naturally in a URI and you want links, bookmarks and mature caching. Use QUERY when the operation really is a safe, idempotent query with large or structured input, and every hop supports it. Use POST when the operation isn't safe.
[click] First takeaway: QUERY is not a replacement for GET or POST; it fills the semantic gap between them.
[click] Second, the cybersecurity takeaway: the method doesn't provide security by itself. Its value depends on how clients, intermediaries, caches, gateways, applications and logging implement it, so security teams need to be involved from the start of adoption.
NEXT → References,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17:10)
SAY: To conclude, this isn't a contest with a winner. Use GET when the query fits naturally in a URI and you want links, bookmarks and mature caching. Use QUERY when the operation really is a safe, idempotent query with large or structured input, and every hop supports it. Use POST when the operation isn't safe.
[click] First takeaway: QUERY is not a replacement for GET or POST; it fills the semantic gap between them.
[click] Second, the cybersecurity takeaway: the method doesn't provide security by itself. Its value depends on how clients, intermediaries, caches, gateways, applications and logging implement it, so security teams need to be involved from the start of adoption.
NEXT → References,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Titles link to the official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DOIs and page ranges verified against Crossref; USENIX papers link to the official proceedings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Q&amp;A (2–3 min)
Likely questions and short answers:
• "Why not just send a body with GET?" RFC 9110 §9.3.1: GET content has no generally defined semantics and some implementations reject it (request-smuggling risk). RFC 9205 §4.5.1: generic HTTP software will ignore or reject it.
• "Why a new method instead of SEARCH, REPORT or PROPFIND?" RFC 10008 Appendix B: those come from WebDAV and depend on a generic XML media type; "QUERY" maps onto the URI's query component. Early drafts did use SEARCH.
• "Is QUERY more secure than GET?" Not inherently. It avoids URI exposure, but bodies can be logged, it adds cache-key complexity, and it needs support at every hop.
• "Can browsers send it?" Yes, with fetch(); cross-origin always triggers a preflight. HTML forms can't send it.
• "Does QUERY help against CSRF?" It is safe, so it shouldn't change state; cross-site pages can't send it without a preflight, but a misconfigured CORS policy can still leak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1219200" rtl="0" eaLnBrk="1" latinLnBrk="0" hangingPunct="1">
        <a:spcBef>
          <a:spcPct val="0"/>
        </a:spcBef>
        <a:buNone/>
        <a:defRPr sz="5867" kern="16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itchFamily="34" charset="0"/>
        <a:buChar char="•"/>
        <a:defRPr sz="4267" kern="1600">
          <a:solidFill>
            <a:schemeClr val="tx1"/>
          </a:solidFill>
          <a:latin typeface="+mn-lt"/>
          <a:ea typeface="+mn-ea"/>
          <a:cs typeface="+mn-cs"/>
        </a:defRPr>
      </a:lvl1pPr>
      <a:lvl2pPr marL="990600" indent="-381000" algn="l" defTabSz="1219200" rtl="0" eaLnBrk="1" latinLnBrk="0" hangingPunct="1">
        <a:spcBef>
          <a:spcPct val="20000"/>
        </a:spcBef>
        <a:buFont typeface="Arial" pitchFamily="34" charset="0"/>
        <a:buChar char="–"/>
        <a:defRPr sz="3733" kern="1600">
          <a:solidFill>
            <a:schemeClr val="tx1"/>
          </a:solidFill>
          <a:latin typeface="+mn-lt"/>
          <a:ea typeface="+mn-ea"/>
          <a:cs typeface="+mn-cs"/>
        </a:defRPr>
      </a:lvl2pPr>
      <a:lvl3pPr marL="1524000" indent="-304800" algn="l" defTabSz="1219200" rtl="0" eaLnBrk="1" latinLnBrk="0" hangingPunct="1">
        <a:spcBef>
          <a:spcPct val="20000"/>
        </a:spcBef>
        <a:buFont typeface="Arial" pitchFamily="34" charset="0"/>
        <a:buChar char="•"/>
        <a:defRPr sz="3200" kern="1600">
          <a:solidFill>
            <a:schemeClr val="tx1"/>
          </a:solidFill>
          <a:latin typeface="+mn-lt"/>
          <a:ea typeface="+mn-ea"/>
          <a:cs typeface="+mn-cs"/>
        </a:defRPr>
      </a:lvl3pPr>
      <a:lvl4pPr marL="2133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4pPr>
      <a:lvl5pPr marL="27432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6pPr>
      <a:lvl7pPr marL="39624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7pPr>
      <a:lvl8pPr marL="45720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8pPr>
      <a:lvl9pPr marL="5181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9pPr>
    </p:bodyStyle>
    <p:otherStyle>
      <a:defPPr>
        <a:defRPr lang="en-US"/>
      </a:defPPr>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rfc-editor.org/rfc/rfc9110.html#section-9.1" TargetMode="External"/><Relationship Id="rId1" Type="http://schemas.openxmlformats.org/officeDocument/2006/relationships/image" Target="../media/image-3-1.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rfc-editor.org/rfc/rfc9110.html#section-9.1" TargetMode="External"/><Relationship Id="rId3" Type="http://schemas.openxmlformats.org/officeDocument/2006/relationships/hyperlink" Target="https://www.rfc-editor.org/rfc/rfc9110.html#section-9.2.1" TargetMode="External"/><Relationship Id="rId1" Type="http://schemas.openxmlformats.org/officeDocument/2006/relationships/image" Target="../media/image-4-1.jpe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rfc-editor.org/rfc/rfc9110.html#section-9.1" TargetMode="External"/><Relationship Id="rId3" Type="http://schemas.openxmlformats.org/officeDocument/2006/relationships/hyperlink" Target="https://www.rfc-editor.org/rfc/rfc9110.html#section-9.2.1" TargetMode="External"/><Relationship Id="rId4" Type="http://schemas.openxmlformats.org/officeDocument/2006/relationships/hyperlink" Target="https://www.rfc-editor.org/rfc/rfc9110.html#section-9.2.2" TargetMode="External"/><Relationship Id="rId1" Type="http://schemas.openxmlformats.org/officeDocument/2006/relationships/image" Target="../media/image-5-1.jpe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rfc-editor.org/rfc/rfc9110.html#section-9.1" TargetMode="External"/><Relationship Id="rId3" Type="http://schemas.openxmlformats.org/officeDocument/2006/relationships/hyperlink" Target="https://www.rfc-editor.org/rfc/rfc9110.html#section-9.2.1" TargetMode="External"/><Relationship Id="rId4" Type="http://schemas.openxmlformats.org/officeDocument/2006/relationships/hyperlink" Target="https://www.rfc-editor.org/rfc/rfc9110.html#section-9.2.2" TargetMode="External"/><Relationship Id="rId5" Type="http://schemas.openxmlformats.org/officeDocument/2006/relationships/hyperlink" Target="https://www.rfc-editor.org/rfc/rfc9110.html#section-9.2.2" TargetMode="External"/><Relationship Id="rId1" Type="http://schemas.openxmlformats.org/officeDocument/2006/relationships/image" Target="../media/image-6-1.jpe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rfc-editor.org/rfc/rfc9110.html#section-9.3.1" TargetMode="External"/><Relationship Id="rId1" Type="http://schemas.openxmlformats.org/officeDocument/2006/relationships/image" Target="../media/image-11-1.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rfc-editor.org/rfc/rfc9110.html#section-9.3.1" TargetMode="External"/><Relationship Id="rId1" Type="http://schemas.openxmlformats.org/officeDocument/2006/relationships/image" Target="../media/image-12-1.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rfc-editor.org/rfc/rfc9110.html#section-9.3.1" TargetMode="External"/><Relationship Id="rId1" Type="http://schemas.openxmlformats.org/officeDocument/2006/relationships/image" Target="../media/image-13-1.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rfc-editor.org/rfc/rfc9110.html#section-9.3.1" TargetMode="External"/><Relationship Id="rId1" Type="http://schemas.openxmlformats.org/officeDocument/2006/relationships/image" Target="../media/image-14-1.jpe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6" Type="http://schemas.openxmlformats.org/officeDocument/2006/relationships/hyperlink" Target="https://www.rfc-editor.org/rfc/rfc3986.html#section-3.4" TargetMode="External"/><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hyperlink" Target="https://www.rfc-editor.org/rfc/rfc3986.html#section-3.4" TargetMode="External"/><Relationship Id="rId8" Type="http://schemas.openxmlformats.org/officeDocument/2006/relationships/hyperlink" Target="https://www.rfc-editor.org/rfc/rfc3986.html#section-3.5" TargetMode="External"/><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7" Type="http://schemas.openxmlformats.org/officeDocument/2006/relationships/hyperlink" Target="https://www.rfc-editor.org/rfc/rfc3986.html#section-3.4" TargetMode="External"/><Relationship Id="rId8" Type="http://schemas.openxmlformats.org/officeDocument/2006/relationships/hyperlink" Target="https://www.rfc-editor.org/rfc/rfc3986.html#section-3.5" TargetMode="External"/><Relationship Id="rId9" Type="http://schemas.openxmlformats.org/officeDocument/2006/relationships/hyperlink" Target="https://www.rfc-editor.org/rfc/rfc3986.html#section-3.4" TargetMode="External"/><Relationship Id="rId10" Type="http://schemas.openxmlformats.org/officeDocument/2006/relationships/hyperlink" Target="https://www.rfc-editor.org/rfc/rfc10008.html#section-1.1" TargetMode="External"/><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rfc-editor.org/rfc/rfc9110.html#section-4.1" TargetMode="External"/><Relationship Id="rId1" Type="http://schemas.openxmlformats.org/officeDocument/2006/relationships/image" Target="../media/image-22-1.jpe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www.rfc-editor.org/rfc/rfc9110.html#section-4.1" TargetMode="External"/><Relationship Id="rId3" Type="http://schemas.openxmlformats.org/officeDocument/2006/relationships/hyperlink" Target="https://www.rfc-editor.org/rfc/rfc10008.html#section-1" TargetMode="External"/><Relationship Id="rId4" Type="http://schemas.openxmlformats.org/officeDocument/2006/relationships/hyperlink" Target="https://www.rfc-editor.org/rfc/rfc9110.html#section-15.5.15" TargetMode="External"/><Relationship Id="rId1" Type="http://schemas.openxmlformats.org/officeDocument/2006/relationships/image" Target="../media/image-23-1.jpe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www.rfc-editor.org/rfc/rfc9110.html#section-4.1" TargetMode="External"/><Relationship Id="rId3" Type="http://schemas.openxmlformats.org/officeDocument/2006/relationships/hyperlink" Target="https://www.rfc-editor.org/rfc/rfc10008.html#section-1" TargetMode="External"/><Relationship Id="rId4" Type="http://schemas.openxmlformats.org/officeDocument/2006/relationships/hyperlink" Target="https://www.rfc-editor.org/rfc/rfc9110.html#section-15.5.15" TargetMode="External"/><Relationship Id="rId5" Type="http://schemas.openxmlformats.org/officeDocument/2006/relationships/hyperlink" Target="https://www.rfc-editor.org/rfc/rfc9205.html#section-4.5.1" TargetMode="External"/><Relationship Id="rId1" Type="http://schemas.openxmlformats.org/officeDocument/2006/relationships/image" Target="../media/image-24-1.jpe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rfc-editor.org/rfc/rfc9110.html#section-4.1" TargetMode="External"/><Relationship Id="rId3" Type="http://schemas.openxmlformats.org/officeDocument/2006/relationships/hyperlink" Target="https://www.rfc-editor.org/rfc/rfc10008.html#section-1" TargetMode="External"/><Relationship Id="rId4" Type="http://schemas.openxmlformats.org/officeDocument/2006/relationships/hyperlink" Target="https://www.rfc-editor.org/rfc/rfc9110.html#section-15.5.15" TargetMode="External"/><Relationship Id="rId5" Type="http://schemas.openxmlformats.org/officeDocument/2006/relationships/hyperlink" Target="https://www.rfc-editor.org/rfc/rfc9205.html#section-4.5.1" TargetMode="External"/><Relationship Id="rId6" Type="http://schemas.openxmlformats.org/officeDocument/2006/relationships/hyperlink" Target="https://www.rfc-editor.org/rfc/rfc10008.html#section-1" TargetMode="External"/><Relationship Id="rId1" Type="http://schemas.openxmlformats.org/officeDocument/2006/relationships/image" Target="../media/image-25-1.jpe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8" Type="http://schemas.openxmlformats.org/officeDocument/2006/relationships/hyperlink" Target="https://www.rfc-editor.org/rfc/rfc9110.html#section-17.9" TargetMode="External"/><Relationship Id="rId9" Type="http://schemas.openxmlformats.org/officeDocument/2006/relationships/hyperlink" Target="https://www.w3.org/TR/referrer-policy/" TargetMode="External"/><Relationship Id="rId10" Type="http://schemas.openxmlformats.org/officeDocument/2006/relationships/hyperlink" Target="https://www.rfc-editor.org/rfc/rfc10008.html#section-4" TargetMode="External"/><Relationship Id="rId1" Type="http://schemas.openxmlformats.org/officeDocument/2006/relationships/image" Target="../media/image-31-1.jpe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3.3" TargetMode="External"/><Relationship Id="rId4" Type="http://schemas.openxmlformats.org/officeDocument/2006/relationships/hyperlink" Target="https://www.rfc-editor.org/rfc/rfc9110.html#section-17.9" TargetMode="External"/><Relationship Id="rId1" Type="http://schemas.openxmlformats.org/officeDocument/2006/relationships/image" Target="../media/image-32-1.jpe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www.rfc-editor.org/rfc/rfc10008.html#section-2" TargetMode="External"/><Relationship Id="rId3" Type="http://schemas.openxmlformats.org/officeDocument/2006/relationships/hyperlink" Target="https://www.rfc-editor.org/rfc/rfc9110.html#section-9.2.1" TargetMode="External"/><Relationship Id="rId4" Type="http://schemas.openxmlformats.org/officeDocument/2006/relationships/hyperlink" Target="https://www.rfc-editor.org/rfc/rfc9110.html#section-9.3.3" TargetMode="External"/><Relationship Id="rId5" Type="http://schemas.openxmlformats.org/officeDocument/2006/relationships/hyperlink" Target="https://www.rfc-editor.org/rfc/rfc9110.html#section-17.9" TargetMode="External"/><Relationship Id="rId1" Type="http://schemas.openxmlformats.org/officeDocument/2006/relationships/image" Target="../media/image-33-1.jpe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hyperlink" Target="https://www.rfc-editor.org/rfc/rfc10008.html#section-2" TargetMode="External"/><Relationship Id="rId3" Type="http://schemas.openxmlformats.org/officeDocument/2006/relationships/hyperlink" Target="https://www.rfc-editor.org/rfc/rfc9110.html#section-9.2.1" TargetMode="External"/><Relationship Id="rId4" Type="http://schemas.openxmlformats.org/officeDocument/2006/relationships/hyperlink" Target="https://www.rfc-editor.org/rfc/rfc9110.html#section-9.3.3" TargetMode="External"/><Relationship Id="rId5" Type="http://schemas.openxmlformats.org/officeDocument/2006/relationships/hyperlink" Target="https://www.rfc-editor.org/rfc/rfc9110.html#section-17.9" TargetMode="External"/><Relationship Id="rId1" Type="http://schemas.openxmlformats.org/officeDocument/2006/relationships/image" Target="../media/image-34-1.jpe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www.rfc-editor.org/rfc/rfc10008.html" TargetMode="External"/><Relationship Id="rId3" Type="http://schemas.openxmlformats.org/officeDocument/2006/relationships/hyperlink" Target="https://www.rfc-editor.org/rfc/rfc9110.html" TargetMode="External"/><Relationship Id="rId4" Type="http://schemas.openxmlformats.org/officeDocument/2006/relationships/hyperlink" Target="https://www.rfc-editor.org/rfc/rfc9205.html" TargetMode="External"/><Relationship Id="rId5" Type="http://schemas.openxmlformats.org/officeDocument/2006/relationships/hyperlink" Target="https://www.rfc-editor.org/rfc/rfc9421.html" TargetMode="External"/><Relationship Id="rId1" Type="http://schemas.openxmlformats.org/officeDocument/2006/relationships/image" Target="../media/image-36-1.jpe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hyperlink" Target="https://doi.org/10.1515/popets-2015-0028" TargetMode="External"/><Relationship Id="rId3" Type="http://schemas.openxmlformats.org/officeDocument/2006/relationships/hyperlink" Target="https://doi.org/10.1145/3319535.3354215" TargetMode="External"/><Relationship Id="rId4" Type="http://schemas.openxmlformats.org/officeDocument/2006/relationships/hyperlink" Target="https://www.usenix.org/conference/usenixsecurity20/presentation/mirheidari" TargetMode="External"/><Relationship Id="rId1" Type="http://schemas.openxmlformats.org/officeDocument/2006/relationships/image" Target="../media/image-37-1.jpe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doi.org/10.1145/3460120.3485384" TargetMode="External"/><Relationship Id="rId3" Type="http://schemas.openxmlformats.org/officeDocument/2006/relationships/hyperlink" Target="https://www.usenix.org/conference/usenixsecurity18/presentation/chen-jianjun" TargetMode="External"/><Relationship Id="rId4" Type="http://schemas.openxmlformats.org/officeDocument/2006/relationships/hyperlink" Target="https://doi.org/10.1145/3368089.3409670" TargetMode="External"/><Relationship Id="rId5" Type="http://schemas.openxmlformats.org/officeDocument/2006/relationships/hyperlink" Target="https://doi.org/10.1145/3178876.3186014" TargetMode="External"/><Relationship Id="rId1" Type="http://schemas.openxmlformats.org/officeDocument/2006/relationships/image" Target="../media/image-38-1.jpe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image" Target="../media/image-39-11.png"/><Relationship Id="rId12" Type="http://schemas.openxmlformats.org/officeDocument/2006/relationships/image" Target="../media/image-39-12.png"/><Relationship Id="rId13" Type="http://schemas.openxmlformats.org/officeDocument/2006/relationships/image" Target="../media/image-39-13.png"/><Relationship Id="rId14" Type="http://schemas.openxmlformats.org/officeDocument/2006/relationships/image" Target="../media/image-39-14.png"/><Relationship Id="rId15" Type="http://schemas.openxmlformats.org/officeDocument/2006/relationships/image" Target="../media/image-39-15.png"/><Relationship Id="rId16" Type="http://schemas.openxmlformats.org/officeDocument/2006/relationships/slideLayout" Target="../slideLayouts/slideLayout1.xml"/><Relationship Id="rId1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image" Target="../media/image-40-13.png"/><Relationship Id="rId14" Type="http://schemas.openxmlformats.org/officeDocument/2006/relationships/image" Target="../media/image-40-14.png"/><Relationship Id="rId15" Type="http://schemas.openxmlformats.org/officeDocument/2006/relationships/image" Target="../media/image-40-15.png"/><Relationship Id="rId16" Type="http://schemas.openxmlformats.org/officeDocument/2006/relationships/image" Target="../media/image-40-16.png"/><Relationship Id="rId17" Type="http://schemas.openxmlformats.org/officeDocument/2006/relationships/image" Target="../media/image-40-17.png"/><Relationship Id="rId18" Type="http://schemas.openxmlformats.org/officeDocument/2006/relationships/slideLayout" Target="../slideLayouts/slideLayout1.xml"/><Relationship Id="rId1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image" Target="../media/image-41-12.png"/><Relationship Id="rId13" Type="http://schemas.openxmlformats.org/officeDocument/2006/relationships/image" Target="../media/image-41-13.png"/><Relationship Id="rId14" Type="http://schemas.openxmlformats.org/officeDocument/2006/relationships/image" Target="../media/image-41-14.png"/><Relationship Id="rId15" Type="http://schemas.openxmlformats.org/officeDocument/2006/relationships/image" Target="../media/image-41-15.png"/><Relationship Id="rId16" Type="http://schemas.openxmlformats.org/officeDocument/2006/relationships/image" Target="../media/image-41-16.png"/><Relationship Id="rId17" Type="http://schemas.openxmlformats.org/officeDocument/2006/relationships/image" Target="../media/image-41-17.png"/><Relationship Id="rId18" Type="http://schemas.openxmlformats.org/officeDocument/2006/relationships/slideLayout" Target="../slideLayouts/slideLayout1.xml"/><Relationship Id="rId1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image" Target="../media/image-42-11.png"/><Relationship Id="rId12" Type="http://schemas.openxmlformats.org/officeDocument/2006/relationships/image" Target="../media/image-42-12.png"/><Relationship Id="rId13" Type="http://schemas.openxmlformats.org/officeDocument/2006/relationships/image" Target="../media/image-42-13.png"/><Relationship Id="rId14" Type="http://schemas.openxmlformats.org/officeDocument/2006/relationships/image" Target="../media/image-42-14.png"/><Relationship Id="rId15" Type="http://schemas.openxmlformats.org/officeDocument/2006/relationships/image" Target="../media/image-42-15.png"/><Relationship Id="rId16" Type="http://schemas.openxmlformats.org/officeDocument/2006/relationships/image" Target="../media/image-42-16.png"/><Relationship Id="rId17" Type="http://schemas.openxmlformats.org/officeDocument/2006/relationships/image" Target="../media/image-42-17.png"/><Relationship Id="rId18" Type="http://schemas.openxmlformats.org/officeDocument/2006/relationships/slideLayout" Target="../slideLayouts/slideLayout1.xml"/><Relationship Id="rId1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image" Target="../media/image-43-11.png"/><Relationship Id="rId12" Type="http://schemas.openxmlformats.org/officeDocument/2006/relationships/image" Target="../media/image-43-12.png"/><Relationship Id="rId13" Type="http://schemas.openxmlformats.org/officeDocument/2006/relationships/image" Target="../media/image-43-13.png"/><Relationship Id="rId14" Type="http://schemas.openxmlformats.org/officeDocument/2006/relationships/image" Target="../media/image-43-14.png"/><Relationship Id="rId15" Type="http://schemas.openxmlformats.org/officeDocument/2006/relationships/image" Target="../media/image-43-15.png"/><Relationship Id="rId16" Type="http://schemas.openxmlformats.org/officeDocument/2006/relationships/image" Target="../media/image-43-16.png"/><Relationship Id="rId17" Type="http://schemas.openxmlformats.org/officeDocument/2006/relationships/image" Target="../media/image-43-17.png"/><Relationship Id="rId18" Type="http://schemas.openxmlformats.org/officeDocument/2006/relationships/slideLayout" Target="../slideLayouts/slideLayout1.xml"/><Relationship Id="rId1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image" Target="../media/image-44-12.png"/><Relationship Id="rId13" Type="http://schemas.openxmlformats.org/officeDocument/2006/relationships/image" Target="../media/image-44-13.png"/><Relationship Id="rId14" Type="http://schemas.openxmlformats.org/officeDocument/2006/relationships/image" Target="../media/image-44-14.png"/><Relationship Id="rId15" Type="http://schemas.openxmlformats.org/officeDocument/2006/relationships/image" Target="../media/image-44-15.png"/><Relationship Id="rId16" Type="http://schemas.openxmlformats.org/officeDocument/2006/relationships/image" Target="../media/image-44-16.png"/><Relationship Id="rId17" Type="http://schemas.openxmlformats.org/officeDocument/2006/relationships/image" Target="../media/image-44-17.png"/><Relationship Id="rId18" Type="http://schemas.openxmlformats.org/officeDocument/2006/relationships/slideLayout" Target="../slideLayouts/slideLayout1.xml"/><Relationship Id="rId1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1" Type="http://schemas.openxmlformats.org/officeDocument/2006/relationships/image" Target="../media/image-46-1.jpe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1" Type="http://schemas.openxmlformats.org/officeDocument/2006/relationships/image" Target="../media/image-47-1.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3" Type="http://schemas.openxmlformats.org/officeDocument/2006/relationships/hyperlink" Target="https://www.rfc-editor.org/rfc/rfc10008.html#section-2.1" TargetMode="External"/><Relationship Id="rId1" Type="http://schemas.openxmlformats.org/officeDocument/2006/relationships/image" Target="../media/image-48-1.jpe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3" Type="http://schemas.openxmlformats.org/officeDocument/2006/relationships/hyperlink" Target="https://www.rfc-editor.org/rfc/rfc10008.html#section-2.1" TargetMode="External"/><Relationship Id="rId1" Type="http://schemas.openxmlformats.org/officeDocument/2006/relationships/image" Target="../media/image-49-1.jpe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3" Type="http://schemas.openxmlformats.org/officeDocument/2006/relationships/hyperlink" Target="https://www.rfc-editor.org/rfc/rfc10008.html#section-3" TargetMode="External"/><Relationship Id="rId4" Type="http://schemas.openxmlformats.org/officeDocument/2006/relationships/hyperlink" Target="https://www.rfc-editor.org/rfc/rfc10008.html#section-2.1" TargetMode="External"/><Relationship Id="rId1" Type="http://schemas.openxmlformats.org/officeDocument/2006/relationships/image" Target="../media/image-50-1.jpe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3" Type="http://schemas.openxmlformats.org/officeDocument/2006/relationships/hyperlink" Target="https://www.rfc-editor.org/rfc/rfc10008.html#section-3" TargetMode="External"/><Relationship Id="rId4" Type="http://schemas.openxmlformats.org/officeDocument/2006/relationships/hyperlink" Target="https://www.rfc-editor.org/rfc/rfc10008.html#section-2.4" TargetMode="External"/><Relationship Id="rId5" Type="http://schemas.openxmlformats.org/officeDocument/2006/relationships/hyperlink" Target="https://www.rfc-editor.org/rfc/rfc10008.html#section-2.1" TargetMode="External"/><Relationship Id="rId6" Type="http://schemas.openxmlformats.org/officeDocument/2006/relationships/hyperlink" Target="https://www.rfc-editor.org/rfc/rfc10008.html#section-2.3" TargetMode="External"/><Relationship Id="rId1" Type="http://schemas.openxmlformats.org/officeDocument/2006/relationships/image" Target="../media/image-51-1.jpe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www.iana.org/assignments/http-methods/" TargetMode="External"/><Relationship Id="rId3" Type="http://schemas.openxmlformats.org/officeDocument/2006/relationships/hyperlink" Target="https://www.rfc-editor.org/rfc/rfc10008.html#section-3" TargetMode="External"/><Relationship Id="rId4" Type="http://schemas.openxmlformats.org/officeDocument/2006/relationships/hyperlink" Target="https://www.rfc-editor.org/rfc/rfc10008.html#section-2.4" TargetMode="External"/><Relationship Id="rId5" Type="http://schemas.openxmlformats.org/officeDocument/2006/relationships/hyperlink" Target="https://www.rfc-editor.org/rfc/rfc10008.html#section-2.1" TargetMode="External"/><Relationship Id="rId6" Type="http://schemas.openxmlformats.org/officeDocument/2006/relationships/hyperlink" Target="https://www.rfc-editor.org/rfc/rfc10008.html#section-2.3" TargetMode="External"/><Relationship Id="rId1" Type="http://schemas.openxmlformats.org/officeDocument/2006/relationships/image" Target="../media/image-52-1.jpeg"/><Relationship Id="rId7" Type="http://schemas.openxmlformats.org/officeDocument/2006/relationships/slideLayout" Target="../slideLayouts/slideLayout1.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hyperlink" Target="https://www.rfc-editor.org/rfc/rfc10008.html#section-1" TargetMode="External"/><Relationship Id="rId3" Type="http://schemas.openxmlformats.org/officeDocument/2006/relationships/hyperlink" Target="https://www.rfc-editor.org/rfc/rfc9110.html#section-9.2" TargetMode="External"/><Relationship Id="rId4" Type="http://schemas.openxmlformats.org/officeDocument/2006/relationships/hyperlink" Target="https://www.rfc-editor.org/rfc/rfc9110.html#section-9.2.3" TargetMode="External"/><Relationship Id="rId5" Type="http://schemas.openxmlformats.org/officeDocument/2006/relationships/hyperlink" Target="https://www.rfc-editor.org/rfc/rfc9111.html#section-2" TargetMode="External"/><Relationship Id="rId1" Type="http://schemas.openxmlformats.org/officeDocument/2006/relationships/image" Target="../media/image-53-1.jpeg"/><Relationship Id="rId6" Type="http://schemas.openxmlformats.org/officeDocument/2006/relationships/slideLayout" Target="../slideLayouts/slideLayout1.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hyperlink" Target="https://www.rfc-editor.org/rfc/rfc10008.html#section-1" TargetMode="External"/><Relationship Id="rId3" Type="http://schemas.openxmlformats.org/officeDocument/2006/relationships/hyperlink" Target="https://www.rfc-editor.org/rfc/rfc9110.html#section-9.2" TargetMode="External"/><Relationship Id="rId4" Type="http://schemas.openxmlformats.org/officeDocument/2006/relationships/hyperlink" Target="https://www.rfc-editor.org/rfc/rfc9110.html#section-9.2.3" TargetMode="External"/><Relationship Id="rId5" Type="http://schemas.openxmlformats.org/officeDocument/2006/relationships/hyperlink" Target="https://www.rfc-editor.org/rfc/rfc9111.html#section-2" TargetMode="External"/><Relationship Id="rId1" Type="http://schemas.openxmlformats.org/officeDocument/2006/relationships/image" Target="../media/image-54-1.jpeg"/><Relationship Id="rId6" Type="http://schemas.openxmlformats.org/officeDocument/2006/relationships/slideLayout" Target="../slideLayouts/slideLayout1.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1" Type="http://schemas.openxmlformats.org/officeDocument/2006/relationships/image" Target="../media/image-55-1.jpe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doi.org/10.1145/3368089.3409670" TargetMode="External"/><Relationship Id="rId1" Type="http://schemas.openxmlformats.org/officeDocument/2006/relationships/image" Target="../media/image-56-1.jpe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doi.org/10.1145/3368089.3409670" TargetMode="External"/><Relationship Id="rId1" Type="http://schemas.openxmlformats.org/officeDocument/2006/relationships/image" Target="../media/image-57-1.jpe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doi.org/10.1145/3368089.3409670" TargetMode="External"/><Relationship Id="rId1" Type="http://schemas.openxmlformats.org/officeDocument/2006/relationships/image" Target="../media/image-58-1.jpe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doi.org/10.1145/3368089.3409670" TargetMode="External"/><Relationship Id="rId1" Type="http://schemas.openxmlformats.org/officeDocument/2006/relationships/image" Target="../media/image-59-1.jpeg"/><Relationship Id="rId5" Type="http://schemas.openxmlformats.org/officeDocument/2006/relationships/slideLayout" Target="../slideLayouts/slideLayout1.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doi.org/10.1145/3368089.3409670" TargetMode="External"/><Relationship Id="rId1" Type="http://schemas.openxmlformats.org/officeDocument/2006/relationships/image" Target="../media/image-60-1.jpeg"/><Relationship Id="rId5" Type="http://schemas.openxmlformats.org/officeDocument/2006/relationships/slideLayout" Target="../slideLayouts/slideLayout1.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2" Type="http://schemas.openxmlformats.org/officeDocument/2006/relationships/hyperlink" Target="https://www.rfc-editor.org/rfc/rfc10008.html#section-2.7" TargetMode="External"/><Relationship Id="rId3" Type="http://schemas.openxmlformats.org/officeDocument/2006/relationships/hyperlink" Target="https://www.rfc-editor.org/rfc/rfc9111.html#section-2" TargetMode="External"/><Relationship Id="rId1" Type="http://schemas.openxmlformats.org/officeDocument/2006/relationships/image" Target="../media/image-61-1.jpe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hyperlink" Target="https://www.rfc-editor.org/rfc/rfc10008.html#section-2.7" TargetMode="External"/><Relationship Id="rId3" Type="http://schemas.openxmlformats.org/officeDocument/2006/relationships/hyperlink" Target="https://www.rfc-editor.org/rfc/rfc9111.html#section-2" TargetMode="External"/><Relationship Id="rId1" Type="http://schemas.openxmlformats.org/officeDocument/2006/relationships/image" Target="../media/image-62-1.jpe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hyperlink" Target="https://www.rfc-editor.org/rfc/rfc10008.html#section-2.7" TargetMode="External"/><Relationship Id="rId3" Type="http://schemas.openxmlformats.org/officeDocument/2006/relationships/hyperlink" Target="https://www.rfc-editor.org/rfc/rfc9111.html#section-2" TargetMode="External"/><Relationship Id="rId1" Type="http://schemas.openxmlformats.org/officeDocument/2006/relationships/image" Target="../media/image-63-1.jpe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hyperlink" Target="https://www.rfc-editor.org/rfc/rfc10008.html#section-2.7" TargetMode="External"/><Relationship Id="rId3" Type="http://schemas.openxmlformats.org/officeDocument/2006/relationships/hyperlink" Target="https://www.rfc-editor.org/rfc/rfc9111.html#section-2" TargetMode="External"/><Relationship Id="rId4" Type="http://schemas.openxmlformats.org/officeDocument/2006/relationships/hyperlink" Target="https://www.rfc-editor.org/rfc/rfc10008.html#section-4" TargetMode="External"/><Relationship Id="rId5" Type="http://schemas.openxmlformats.org/officeDocument/2006/relationships/hyperlink" Target="https://doi.org/10.1145/3319535.3354215" TargetMode="External"/><Relationship Id="rId6" Type="http://schemas.openxmlformats.org/officeDocument/2006/relationships/hyperlink" Target="https://www.usenix.org/conference/usenixsecurity20/presentation/mirheidari" TargetMode="External"/><Relationship Id="rId1" Type="http://schemas.openxmlformats.org/officeDocument/2006/relationships/image" Target="../media/image-64-1.jpeg"/><Relationship Id="rId7" Type="http://schemas.openxmlformats.org/officeDocument/2006/relationships/slideLayout" Target="../slideLayouts/slideLayout1.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hyperlink" Target="https://fetch.spec.whatwg.org/#methods" TargetMode="External"/><Relationship Id="rId3" Type="http://schemas.openxmlformats.org/officeDocument/2006/relationships/hyperlink" Target="https://www.rfc-editor.org/rfc/rfc10008.html#section-4" TargetMode="External"/><Relationship Id="rId1" Type="http://schemas.openxmlformats.org/officeDocument/2006/relationships/image" Target="../media/image-65-1.jpe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2" Type="http://schemas.openxmlformats.org/officeDocument/2006/relationships/hyperlink" Target="https://fetch.spec.whatwg.org/#methods" TargetMode="External"/><Relationship Id="rId3" Type="http://schemas.openxmlformats.org/officeDocument/2006/relationships/hyperlink" Target="https://www.rfc-editor.org/rfc/rfc10008.html#section-4" TargetMode="External"/><Relationship Id="rId1" Type="http://schemas.openxmlformats.org/officeDocument/2006/relationships/image" Target="../media/image-66-1.jpe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2" Type="http://schemas.openxmlformats.org/officeDocument/2006/relationships/hyperlink" Target="https://fetch.spec.whatwg.org/#methods" TargetMode="External"/><Relationship Id="rId3" Type="http://schemas.openxmlformats.org/officeDocument/2006/relationships/hyperlink" Target="https://www.rfc-editor.org/rfc/rfc10008.html#section-4" TargetMode="External"/><Relationship Id="rId1" Type="http://schemas.openxmlformats.org/officeDocument/2006/relationships/image" Target="../media/image-67-1.jpe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hyperlink" Target="https://fetch.spec.whatwg.org/#methods" TargetMode="External"/><Relationship Id="rId3" Type="http://schemas.openxmlformats.org/officeDocument/2006/relationships/hyperlink" Target="https://www.rfc-editor.org/rfc/rfc10008.html#section-4" TargetMode="External"/><Relationship Id="rId4" Type="http://schemas.openxmlformats.org/officeDocument/2006/relationships/hyperlink" Target="https://html.spec.whatwg.org/multipage/form-control-infrastructure.html#attr-fs-method" TargetMode="External"/><Relationship Id="rId5" Type="http://schemas.openxmlformats.org/officeDocument/2006/relationships/hyperlink" Target="https://www.usenix.org/conference/usenixsecurity18/presentation/chen-jianjun" TargetMode="External"/><Relationship Id="rId1" Type="http://schemas.openxmlformats.org/officeDocument/2006/relationships/image" Target="../media/image-68-1.jpeg"/><Relationship Id="rId6" Type="http://schemas.openxmlformats.org/officeDocument/2006/relationships/slideLayout" Target="../slideLayouts/slideLayout1.xml"/><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hyperlink" Target="https://www.rfc-editor.org/rfc/rfc9530.html" TargetMode="External"/><Relationship Id="rId1" Type="http://schemas.openxmlformats.org/officeDocument/2006/relationships/image" Target="../media/image-69-1.jpe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2" Type="http://schemas.openxmlformats.org/officeDocument/2006/relationships/hyperlink" Target="https://www.rfc-editor.org/rfc/rfc9530.html" TargetMode="External"/><Relationship Id="rId3" Type="http://schemas.openxmlformats.org/officeDocument/2006/relationships/hyperlink" Target="https://www.rfc-editor.org/rfc/rfc9421.html#section-7.2.8" TargetMode="External"/><Relationship Id="rId1" Type="http://schemas.openxmlformats.org/officeDocument/2006/relationships/image" Target="../media/image-70-1.jpe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hyperlink" Target="https://www.rfc-editor.org/rfc/rfc9530.html" TargetMode="External"/><Relationship Id="rId3" Type="http://schemas.openxmlformats.org/officeDocument/2006/relationships/hyperlink" Target="https://www.rfc-editor.org/rfc/rfc9421.html#section-7.2.8" TargetMode="External"/><Relationship Id="rId4" Type="http://schemas.openxmlformats.org/officeDocument/2006/relationships/hyperlink" Target="https://www.rfc-editor.org/rfc/rfc9421.html#section-7.5.8" TargetMode="External"/><Relationship Id="rId1" Type="http://schemas.openxmlformats.org/officeDocument/2006/relationships/image" Target="../media/image-71-1.jpeg"/><Relationship Id="rId5" Type="http://schemas.openxmlformats.org/officeDocument/2006/relationships/slideLayout" Target="../slideLayouts/slideLayout1.xml"/><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hyperlink" Target="https://www.rfc-editor.org/rfc/rfc9530.html" TargetMode="External"/><Relationship Id="rId3" Type="http://schemas.openxmlformats.org/officeDocument/2006/relationships/hyperlink" Target="https://www.rfc-editor.org/rfc/rfc9421.html#section-7.2.8" TargetMode="External"/><Relationship Id="rId4" Type="http://schemas.openxmlformats.org/officeDocument/2006/relationships/hyperlink" Target="https://www.rfc-editor.org/rfc/rfc9421.html#section-7.5.8" TargetMode="External"/><Relationship Id="rId5" Type="http://schemas.openxmlformats.org/officeDocument/2006/relationships/hyperlink" Target="https://www.rfc-editor.org/rfc/rfc9421.html#section-7.2.8" TargetMode="External"/><Relationship Id="rId1" Type="http://schemas.openxmlformats.org/officeDocument/2006/relationships/image" Target="../media/image-72-1.jpe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2" Type="http://schemas.openxmlformats.org/officeDocument/2006/relationships/hyperlink" Target="https://www.rfc-editor.org/rfc/rfc9530.html" TargetMode="External"/><Relationship Id="rId3" Type="http://schemas.openxmlformats.org/officeDocument/2006/relationships/hyperlink" Target="https://www.rfc-editor.org/rfc/rfc9421.html#section-7.2.8" TargetMode="External"/><Relationship Id="rId4" Type="http://schemas.openxmlformats.org/officeDocument/2006/relationships/hyperlink" Target="https://www.rfc-editor.org/rfc/rfc9421.html#section-7.5.8" TargetMode="External"/><Relationship Id="rId5" Type="http://schemas.openxmlformats.org/officeDocument/2006/relationships/hyperlink" Target="https://www.rfc-editor.org/rfc/rfc9421.html#section-7.2.8" TargetMode="External"/><Relationship Id="rId6" Type="http://schemas.openxmlformats.org/officeDocument/2006/relationships/hyperlink" Target="https://www.rfc-editor.org/rfc/rfc9421.html#section-1" TargetMode="External"/><Relationship Id="rId1" Type="http://schemas.openxmlformats.org/officeDocument/2006/relationships/image" Target="../media/image-73-1.jpeg"/><Relationship Id="rId7" Type="http://schemas.openxmlformats.org/officeDocument/2006/relationships/slideLayout" Target="../slideLayouts/slideLayout1.xml"/><Relationship Id="rId8"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74-1.jpe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14" Type="http://schemas.openxmlformats.org/officeDocument/2006/relationships/slideLayout" Target="../slideLayouts/slideLayout1.xml"/><Relationship Id="rId1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75-1.jpe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image" Target="../media/image-75-7.png"/><Relationship Id="rId14" Type="http://schemas.openxmlformats.org/officeDocument/2006/relationships/slideLayout" Target="../slideLayouts/slideLayout1.xml"/><Relationship Id="rId1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76-1.jpe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76-7.png"/><Relationship Id="rId14" Type="http://schemas.openxmlformats.org/officeDocument/2006/relationships/slideLayout" Target="../slideLayouts/slideLayout1.xml"/><Relationship Id="rId1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77-1.jpe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image" Target="../media/image-77-5.png"/><Relationship Id="rId6" Type="http://schemas.openxmlformats.org/officeDocument/2006/relationships/image" Target="../media/image-77-6.png"/><Relationship Id="rId7" Type="http://schemas.openxmlformats.org/officeDocument/2006/relationships/image" Target="../media/image-77-7.png"/><Relationship Id="rId14" Type="http://schemas.openxmlformats.org/officeDocument/2006/relationships/slideLayout" Target="../slideLayouts/slideLayout1.xml"/><Relationship Id="rId1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78-1.jpe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image" Target="../media/image-78-6.png"/><Relationship Id="rId7" Type="http://schemas.openxmlformats.org/officeDocument/2006/relationships/image" Target="../media/image-78-7.png"/><Relationship Id="rId14" Type="http://schemas.openxmlformats.org/officeDocument/2006/relationships/slideLayout" Target="../slideLayouts/slideLayout1.xml"/><Relationship Id="rId1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79-1.jpe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image" Target="../media/image-79-5.png"/><Relationship Id="rId6" Type="http://schemas.openxmlformats.org/officeDocument/2006/relationships/image" Target="../media/image-79-6.png"/><Relationship Id="rId7" Type="http://schemas.openxmlformats.org/officeDocument/2006/relationships/image" Target="../media/image-79-7.png"/><Relationship Id="rId14" Type="http://schemas.openxmlformats.org/officeDocument/2006/relationships/slideLayout" Target="../slideLayouts/slideLayout1.xml"/><Relationship Id="rId1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8" Type="http://schemas.openxmlformats.org/officeDocument/2006/relationships/hyperlink" Target="https://www.rfc-editor.org/rfc/rfc10008.html#section-2.7" TargetMode="External"/><Relationship Id="rId9" Type="http://schemas.openxmlformats.org/officeDocument/2006/relationships/hyperlink" Target="https://fetch.spec.whatwg.org/#cors-protocol" TargetMode="External"/><Relationship Id="rId10" Type="http://schemas.openxmlformats.org/officeDocument/2006/relationships/hyperlink" Target="https://www.rfc-editor.org/rfc/rfc9112.html#section-6" TargetMode="External"/><Relationship Id="rId11" Type="http://schemas.openxmlformats.org/officeDocument/2006/relationships/hyperlink" Target="https://doi.org/10.1145/3460120.3485384" TargetMode="External"/><Relationship Id="rId12" Type="http://schemas.openxmlformats.org/officeDocument/2006/relationships/hyperlink" Target="https://doi.org/10.1145/2976749.2978394" TargetMode="External"/><Relationship Id="rId13" Type="http://schemas.openxmlformats.org/officeDocument/2006/relationships/hyperlink" Target="https://owasp.org/www-project-web-security-testing-guide/stable/4-Web_Application_Security_Testing/02-Configuration_and_Deployment_Management_Testing/06-Test_HTTP_Methods" TargetMode="External"/><Relationship Id="rId1" Type="http://schemas.openxmlformats.org/officeDocument/2006/relationships/image" Target="../media/image-80-1.jpe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image" Target="../media/image-80-6.png"/><Relationship Id="rId7" Type="http://schemas.openxmlformats.org/officeDocument/2006/relationships/image" Target="../media/image-80-7.png"/><Relationship Id="rId14" Type="http://schemas.openxmlformats.org/officeDocument/2006/relationships/slideLayout" Target="../slideLayouts/slideLayout1.xml"/><Relationship Id="rId1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e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e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2" Type="http://schemas.openxmlformats.org/officeDocument/2006/relationships/hyperlink" Target="https://www.rfc-editor.org/rfc/rfc9110.html#section-9.1" TargetMode="External"/><Relationship Id="rId3" Type="http://schemas.openxmlformats.org/officeDocument/2006/relationships/hyperlink" Target="https://spec.openapis.org/oas/v3.2.0.html" TargetMode="External"/><Relationship Id="rId1" Type="http://schemas.openxmlformats.org/officeDocument/2006/relationships/image" Target="../media/image-84-1.jpeg"/><Relationship Id="rId4" Type="http://schemas.openxmlformats.org/officeDocument/2006/relationships/slideLayout" Target="../slideLayouts/slideLayout1.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2" Type="http://schemas.openxmlformats.org/officeDocument/2006/relationships/hyperlink" Target="https://www.rfc-editor.org/rfc/rfc9110.html#section-9.1" TargetMode="External"/><Relationship Id="rId3" Type="http://schemas.openxmlformats.org/officeDocument/2006/relationships/hyperlink" Target="https://spec.openapis.org/oas/v3.2.0.html" TargetMode="External"/><Relationship Id="rId1" Type="http://schemas.openxmlformats.org/officeDocument/2006/relationships/image" Target="../media/image-85-1.jpeg"/><Relationship Id="rId4" Type="http://schemas.openxmlformats.org/officeDocument/2006/relationships/slideLayout" Target="../slideLayouts/slideLayout1.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e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e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2" Type="http://schemas.openxmlformats.org/officeDocument/2006/relationships/hyperlink" Target="https://www.rfc-editor.org/rfc/rfc10008.html" TargetMode="External"/><Relationship Id="rId3" Type="http://schemas.openxmlformats.org/officeDocument/2006/relationships/hyperlink" Target="https://www.rfc-editor.org/rfc/rfc9110.html" TargetMode="External"/><Relationship Id="rId4" Type="http://schemas.openxmlformats.org/officeDocument/2006/relationships/hyperlink" Target="https://www.rfc-editor.org/rfc/rfc9111.html" TargetMode="External"/><Relationship Id="rId5" Type="http://schemas.openxmlformats.org/officeDocument/2006/relationships/hyperlink" Target="https://www.rfc-editor.org/rfc/rfc9112.html" TargetMode="External"/><Relationship Id="rId6" Type="http://schemas.openxmlformats.org/officeDocument/2006/relationships/hyperlink" Target="https://www.rfc-editor.org/rfc/rfc3986.html" TargetMode="External"/><Relationship Id="rId7" Type="http://schemas.openxmlformats.org/officeDocument/2006/relationships/hyperlink" Target="https://www.rfc-editor.org/rfc/rfc9205.html" TargetMode="External"/><Relationship Id="rId8" Type="http://schemas.openxmlformats.org/officeDocument/2006/relationships/hyperlink" Target="https://www.rfc-editor.org/rfc/rfc9421.html" TargetMode="External"/><Relationship Id="rId9" Type="http://schemas.openxmlformats.org/officeDocument/2006/relationships/hyperlink" Target="https://www.rfc-editor.org/rfc/rfc9530.html" TargetMode="External"/><Relationship Id="rId10" Type="http://schemas.openxmlformats.org/officeDocument/2006/relationships/hyperlink" Target="https://fetch.spec.whatwg.org/" TargetMode="External"/><Relationship Id="rId11" Type="http://schemas.openxmlformats.org/officeDocument/2006/relationships/hyperlink" Target="https://html.spec.whatwg.org/" TargetMode="External"/><Relationship Id="rId12" Type="http://schemas.openxmlformats.org/officeDocument/2006/relationships/hyperlink" Target="https://www.w3.org/TR/referrer-policy/" TargetMode="External"/><Relationship Id="rId13" Type="http://schemas.openxmlformats.org/officeDocument/2006/relationships/hyperlink" Target="https://www.iana.org/assignments/http-methods/" TargetMode="External"/><Relationship Id="rId14" Type="http://schemas.openxmlformats.org/officeDocument/2006/relationships/hyperlink" Target="https://spec.openapis.org/oas/v3.2.0.html" TargetMode="External"/><Relationship Id="rId15" Type="http://schemas.openxmlformats.org/officeDocument/2006/relationships/hyperlink" Target="https://owasp.org/www-project-web-security-testing-guide/stable/4-Web_Application_Security_Testing/02-Configuration_and_Deployment_Management_Testing/06-Test_HTTP_Methods" TargetMode="External"/><Relationship Id="rId16" Type="http://schemas.openxmlformats.org/officeDocument/2006/relationships/hyperlink" Target="https://developer.mozilla.org/en-US/docs/Web/HTTP/Guides/CORS" TargetMode="External"/><Relationship Id="rId1" Type="http://schemas.openxmlformats.org/officeDocument/2006/relationships/image" Target="../media/image-89-1.jpeg"/><Relationship Id="rId17" Type="http://schemas.openxmlformats.org/officeDocument/2006/relationships/slideLayout" Target="../slideLayouts/slideLayout1.xml"/><Relationship Id="rId18"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 Type="http://schemas.openxmlformats.org/officeDocument/2006/relationships/hyperlink" Target="https://doi.org/10.1515/popets-2015-0028" TargetMode="External"/><Relationship Id="rId3" Type="http://schemas.openxmlformats.org/officeDocument/2006/relationships/hyperlink" Target="https://doi.org/10.1145/3319535.3354215" TargetMode="External"/><Relationship Id="rId4" Type="http://schemas.openxmlformats.org/officeDocument/2006/relationships/hyperlink" Target="https://www.usenix.org/conference/usenixsecurity20/presentation/mirheidari" TargetMode="External"/><Relationship Id="rId5" Type="http://schemas.openxmlformats.org/officeDocument/2006/relationships/hyperlink" Target="https://doi.org/10.1145/3460120.3485384" TargetMode="External"/><Relationship Id="rId6" Type="http://schemas.openxmlformats.org/officeDocument/2006/relationships/hyperlink" Target="https://www.usenix.org/conference/usenixsecurity18/presentation/chen-jianjun" TargetMode="External"/><Relationship Id="rId7" Type="http://schemas.openxmlformats.org/officeDocument/2006/relationships/hyperlink" Target="https://doi.org/10.1145/3368089.3409670" TargetMode="External"/><Relationship Id="rId8" Type="http://schemas.openxmlformats.org/officeDocument/2006/relationships/hyperlink" Target="https://doi.org/10.1145/3178876.3186014" TargetMode="External"/><Relationship Id="rId9" Type="http://schemas.openxmlformats.org/officeDocument/2006/relationships/hyperlink" Target="https://doi.org/10.1145/2976749.2978394" TargetMode="External"/><Relationship Id="rId1" Type="http://schemas.openxmlformats.org/officeDocument/2006/relationships/image" Target="../media/image-90-1.jpeg"/><Relationship Id="rId10" Type="http://schemas.openxmlformats.org/officeDocument/2006/relationships/slideLayout" Target="../slideLayouts/slideLayout1.xml"/><Relationship Id="rId11"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e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e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9451975" y="186333"/>
            <a:ext cx="2801144"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Technical Seminar</a:t>
            </a:r>
            <a:endParaRPr lang="en-US" sz="2800" dirty="0"/>
          </a:p>
        </p:txBody>
      </p:sp>
      <p:sp>
        <p:nvSpPr>
          <p:cNvPr id="9" name="Text 6"/>
          <p:cNvSpPr txBox="1"/>
          <p:nvPr/>
        </p:nvSpPr>
        <p:spPr>
          <a:xfrm>
            <a:off x="4501157" y="788392"/>
            <a:ext cx="3392884" cy="444500"/>
          </a:xfrm>
          <a:prstGeom prst="rect">
            <a:avLst/>
          </a:prstGeom>
          <a:noFill/>
          <a:ln/>
        </p:spPr>
        <p:txBody>
          <a:bodyPr wrap="none" lIns="0" tIns="0" rIns="0" bIns="0" rtlCol="0" anchor="t"/>
          <a:lstStyle/>
          <a:p>
            <a:pPr algn="ctr" indent="0" marL="0">
              <a:buNone/>
            </a:pPr>
            <a:r>
              <a:rPr lang="en-US" sz="2800" b="1" dirty="0">
                <a:solidFill>
                  <a:srgbClr val="000000"/>
                </a:solidFill>
                <a:latin typeface="Calibri" pitchFamily="34" charset="0"/>
                <a:ea typeface="Calibri" pitchFamily="34" charset="-122"/>
                <a:cs typeface="Calibri" pitchFamily="34" charset="-120"/>
              </a:rPr>
              <a:t>HTTP QUERY Method:</a:t>
            </a:r>
            <a:endParaRPr lang="en-US" sz="2800" dirty="0"/>
          </a:p>
        </p:txBody>
      </p:sp>
      <p:sp>
        <p:nvSpPr>
          <p:cNvPr id="10" name="Text 7"/>
          <p:cNvSpPr txBox="1"/>
          <p:nvPr/>
        </p:nvSpPr>
        <p:spPr>
          <a:xfrm>
            <a:off x="2462808" y="1215033"/>
            <a:ext cx="7469385" cy="444500"/>
          </a:xfrm>
          <a:prstGeom prst="rect">
            <a:avLst/>
          </a:prstGeom>
          <a:noFill/>
          <a:ln/>
        </p:spPr>
        <p:txBody>
          <a:bodyPr wrap="none" lIns="0" tIns="0" rIns="0" bIns="0" rtlCol="0" anchor="t"/>
          <a:lstStyle/>
          <a:p>
            <a:pPr algn="ctr" indent="0" marL="0">
              <a:buNone/>
            </a:pPr>
            <a:r>
              <a:rPr lang="en-US" sz="2800" b="1" dirty="0">
                <a:solidFill>
                  <a:srgbClr val="000000"/>
                </a:solidFill>
                <a:latin typeface="Calibri" pitchFamily="34" charset="0"/>
                <a:ea typeface="Calibri" pitchFamily="34" charset="-122"/>
                <a:cs typeface="Calibri" pitchFamily="34" charset="-120"/>
              </a:rPr>
              <a:t>A Security-Focused Literature Survey and Analysis</a:t>
            </a:r>
            <a:endParaRPr lang="en-US" sz="2800" dirty="0"/>
          </a:p>
        </p:txBody>
      </p:sp>
      <p:sp>
        <p:nvSpPr>
          <p:cNvPr id="11" name="Text 8"/>
          <p:cNvSpPr txBox="1"/>
          <p:nvPr/>
        </p:nvSpPr>
        <p:spPr>
          <a:xfrm>
            <a:off x="6012061" y="2342753"/>
            <a:ext cx="371079" cy="279400"/>
          </a:xfrm>
          <a:prstGeom prst="rect">
            <a:avLst/>
          </a:prstGeom>
          <a:noFill/>
          <a:ln/>
        </p:spPr>
        <p:txBody>
          <a:bodyPr wrap="none" lIns="0" tIns="0" rIns="0" bIns="0" rtlCol="0" anchor="t"/>
          <a:lstStyle/>
          <a:p>
            <a:pPr algn="ctr" indent="0" marL="0">
              <a:buNone/>
            </a:pPr>
            <a:r>
              <a:rPr lang="en-US" sz="1800" i="1" dirty="0">
                <a:solidFill>
                  <a:srgbClr val="000000"/>
                </a:solidFill>
                <a:latin typeface="Calibri" pitchFamily="34" charset="0"/>
                <a:ea typeface="Calibri" pitchFamily="34" charset="-122"/>
                <a:cs typeface="Calibri" pitchFamily="34" charset="-120"/>
              </a:rPr>
              <a:t>by</a:t>
            </a:r>
            <a:endParaRPr lang="en-US" sz="1800" dirty="0"/>
          </a:p>
        </p:txBody>
      </p:sp>
      <p:sp>
        <p:nvSpPr>
          <p:cNvPr id="12" name="Text 9"/>
          <p:cNvSpPr txBox="1"/>
          <p:nvPr/>
        </p:nvSpPr>
        <p:spPr>
          <a:xfrm>
            <a:off x="5346700" y="2721173"/>
            <a:ext cx="1701601" cy="254000"/>
          </a:xfrm>
          <a:prstGeom prst="rect">
            <a:avLst/>
          </a:prstGeom>
          <a:noFill/>
          <a:ln/>
        </p:spPr>
        <p:txBody>
          <a:bodyPr wrap="none" lIns="0" tIns="0" rIns="0" bIns="0" rtlCol="0" anchor="t"/>
          <a:lstStyle/>
          <a:p>
            <a:pPr algn="ctr" indent="0" marL="0">
              <a:buNone/>
            </a:pPr>
            <a:r>
              <a:rPr lang="en-US" sz="1800" b="1" dirty="0">
                <a:solidFill>
                  <a:srgbClr val="993300"/>
                </a:solidFill>
                <a:latin typeface="Arial" pitchFamily="34" charset="0"/>
                <a:ea typeface="Arial" pitchFamily="34" charset="-122"/>
                <a:cs typeface="Arial" pitchFamily="34" charset="-120"/>
              </a:rPr>
              <a:t>Anish Shobith</a:t>
            </a:r>
            <a:endParaRPr lang="en-US" sz="1800" dirty="0"/>
          </a:p>
        </p:txBody>
      </p:sp>
      <p:sp>
        <p:nvSpPr>
          <p:cNvPr id="13" name="Text 10"/>
          <p:cNvSpPr txBox="1"/>
          <p:nvPr/>
        </p:nvSpPr>
        <p:spPr>
          <a:xfrm>
            <a:off x="5159772" y="3006924"/>
            <a:ext cx="2075656"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Registration Number</a:t>
            </a:r>
            <a:endParaRPr lang="en-US" sz="1800" dirty="0"/>
          </a:p>
        </p:txBody>
      </p:sp>
      <p:sp>
        <p:nvSpPr>
          <p:cNvPr id="14" name="Text 11"/>
          <p:cNvSpPr txBox="1"/>
          <p:nvPr/>
        </p:nvSpPr>
        <p:spPr>
          <a:xfrm>
            <a:off x="5240933" y="3356173"/>
            <a:ext cx="1913335"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M.E. CyberSecurity</a:t>
            </a:r>
            <a:endParaRPr lang="en-US" sz="1800" dirty="0"/>
          </a:p>
        </p:txBody>
      </p:sp>
      <p:sp>
        <p:nvSpPr>
          <p:cNvPr id="15" name="Text 12"/>
          <p:cNvSpPr txBox="1"/>
          <p:nvPr/>
        </p:nvSpPr>
        <p:spPr>
          <a:xfrm>
            <a:off x="4950619" y="3851871"/>
            <a:ext cx="2493963" cy="304800"/>
          </a:xfrm>
          <a:prstGeom prst="rect">
            <a:avLst/>
          </a:prstGeom>
          <a:noFill/>
          <a:ln/>
        </p:spPr>
        <p:txBody>
          <a:bodyPr wrap="none" lIns="0" tIns="0" rIns="0" bIns="0" rtlCol="0" anchor="t"/>
          <a:lstStyle/>
          <a:p>
            <a:pPr algn="ctr" indent="0" marL="0">
              <a:buNone/>
            </a:pPr>
            <a:r>
              <a:rPr lang="en-US" sz="2000" b="1" i="1" dirty="0">
                <a:solidFill>
                  <a:srgbClr val="000000"/>
                </a:solidFill>
                <a:latin typeface="Calibri" pitchFamily="34" charset="0"/>
                <a:ea typeface="Calibri" pitchFamily="34" charset="-122"/>
                <a:cs typeface="Calibri" pitchFamily="34" charset="-120"/>
              </a:rPr>
              <a:t>Under the guidance of</a:t>
            </a:r>
            <a:endParaRPr lang="en-US" sz="2000" dirty="0"/>
          </a:p>
        </p:txBody>
      </p:sp>
      <p:sp>
        <p:nvSpPr>
          <p:cNvPr id="16" name="Text 13"/>
          <p:cNvSpPr txBox="1"/>
          <p:nvPr/>
        </p:nvSpPr>
        <p:spPr>
          <a:xfrm>
            <a:off x="497681" y="4316611"/>
            <a:ext cx="19591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Panel Member 1:</a:t>
            </a:r>
            <a:endParaRPr lang="en-US" sz="2000" dirty="0"/>
          </a:p>
        </p:txBody>
      </p:sp>
      <p:sp>
        <p:nvSpPr>
          <p:cNvPr id="17" name="Text 14"/>
          <p:cNvSpPr txBox="1"/>
          <p:nvPr/>
        </p:nvSpPr>
        <p:spPr>
          <a:xfrm>
            <a:off x="497681" y="4665861"/>
            <a:ext cx="77966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Name</a:t>
            </a:r>
            <a:endParaRPr lang="en-US" sz="2000" dirty="0"/>
          </a:p>
        </p:txBody>
      </p:sp>
      <p:sp>
        <p:nvSpPr>
          <p:cNvPr id="18" name="Text 15"/>
          <p:cNvSpPr txBox="1"/>
          <p:nvPr/>
        </p:nvSpPr>
        <p:spPr>
          <a:xfrm>
            <a:off x="497681" y="5030391"/>
            <a:ext cx="137398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Designation</a:t>
            </a:r>
            <a:endParaRPr lang="en-US" sz="2000" dirty="0"/>
          </a:p>
        </p:txBody>
      </p:sp>
      <p:sp>
        <p:nvSpPr>
          <p:cNvPr id="19" name="Text 16"/>
          <p:cNvSpPr txBox="1"/>
          <p:nvPr/>
        </p:nvSpPr>
        <p:spPr>
          <a:xfrm>
            <a:off x="497681" y="5378449"/>
            <a:ext cx="421838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Manipal School of Information Sciences</a:t>
            </a:r>
            <a:endParaRPr lang="en-US" sz="2000" dirty="0"/>
          </a:p>
        </p:txBody>
      </p:sp>
      <p:sp>
        <p:nvSpPr>
          <p:cNvPr id="20" name="Text 17"/>
          <p:cNvSpPr txBox="1"/>
          <p:nvPr/>
        </p:nvSpPr>
        <p:spPr>
          <a:xfrm>
            <a:off x="497681" y="5844381"/>
            <a:ext cx="1763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MAHE, Manipal</a:t>
            </a:r>
            <a:endParaRPr lang="en-US" sz="2000" dirty="0"/>
          </a:p>
        </p:txBody>
      </p:sp>
      <p:sp>
        <p:nvSpPr>
          <p:cNvPr id="21" name="Text 18"/>
          <p:cNvSpPr txBox="1"/>
          <p:nvPr/>
        </p:nvSpPr>
        <p:spPr>
          <a:xfrm>
            <a:off x="6187281" y="4316611"/>
            <a:ext cx="19591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Panel Member 2:</a:t>
            </a:r>
            <a:endParaRPr lang="en-US" sz="2000" dirty="0"/>
          </a:p>
        </p:txBody>
      </p:sp>
      <p:sp>
        <p:nvSpPr>
          <p:cNvPr id="22" name="Text 19"/>
          <p:cNvSpPr txBox="1"/>
          <p:nvPr/>
        </p:nvSpPr>
        <p:spPr>
          <a:xfrm>
            <a:off x="6187281" y="4665861"/>
            <a:ext cx="77966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Name</a:t>
            </a:r>
            <a:endParaRPr lang="en-US" sz="2000" dirty="0"/>
          </a:p>
        </p:txBody>
      </p:sp>
      <p:sp>
        <p:nvSpPr>
          <p:cNvPr id="23" name="Text 20"/>
          <p:cNvSpPr txBox="1"/>
          <p:nvPr/>
        </p:nvSpPr>
        <p:spPr>
          <a:xfrm>
            <a:off x="6187281" y="5030391"/>
            <a:ext cx="137398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Designation</a:t>
            </a:r>
            <a:endParaRPr lang="en-US" sz="2000" dirty="0"/>
          </a:p>
        </p:txBody>
      </p:sp>
      <p:sp>
        <p:nvSpPr>
          <p:cNvPr id="24" name="Text 21"/>
          <p:cNvSpPr txBox="1"/>
          <p:nvPr/>
        </p:nvSpPr>
        <p:spPr>
          <a:xfrm>
            <a:off x="6187281" y="5378449"/>
            <a:ext cx="421838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Manipal School of Information Sciences</a:t>
            </a:r>
            <a:endParaRPr lang="en-US" sz="2000" dirty="0"/>
          </a:p>
        </p:txBody>
      </p:sp>
      <p:sp>
        <p:nvSpPr>
          <p:cNvPr id="25" name="Text 22"/>
          <p:cNvSpPr txBox="1"/>
          <p:nvPr/>
        </p:nvSpPr>
        <p:spPr>
          <a:xfrm>
            <a:off x="6187281" y="5844381"/>
            <a:ext cx="1763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MAHE, Manipal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a:t>
            </a:r>
            <a:endParaRPr lang="en-US" sz="1400" dirty="0"/>
          </a:p>
        </p:txBody>
      </p:sp>
      <p:sp>
        <p:nvSpPr>
          <p:cNvPr id="8" name="Text 5"/>
          <p:cNvSpPr txBox="1"/>
          <p:nvPr/>
        </p:nvSpPr>
        <p:spPr>
          <a:xfrm>
            <a:off x="8165307" y="102195"/>
            <a:ext cx="4087812"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Presentation Outline</a:t>
            </a:r>
            <a:endParaRPr lang="en-US" sz="3600" dirty="0"/>
          </a:p>
        </p:txBody>
      </p:sp>
      <p:sp>
        <p:nvSpPr>
          <p:cNvPr id="9" name="Text 6"/>
          <p:cNvSpPr txBox="1"/>
          <p:nvPr/>
        </p:nvSpPr>
        <p:spPr>
          <a:xfrm>
            <a:off x="497681" y="825500"/>
            <a:ext cx="7478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1.</a:t>
            </a:r>
            <a:pPr algn="l" indent="0" marL="0">
              <a:buNone/>
            </a:pPr>
            <a:r>
              <a:rPr lang="en-US" sz="2000" dirty="0">
                <a:solidFill>
                  <a:srgbClr val="000000"/>
                </a:solidFill>
                <a:latin typeface="Calibri" pitchFamily="34" charset="0"/>
                <a:ea typeface="Calibri" pitchFamily="34" charset="-122"/>
                <a:cs typeface="Calibri" pitchFamily="34" charset="-120"/>
              </a:rPr>
              <a:t>Introduction: HTTP methods, URIs and the GET / POST semantic gap</a:t>
            </a:r>
            <a:endParaRPr lang="en-US" sz="2000" dirty="0"/>
          </a:p>
        </p:txBody>
      </p:sp>
      <p:sp>
        <p:nvSpPr>
          <p:cNvPr id="10" name="Text 7"/>
          <p:cNvSpPr txBox="1"/>
          <p:nvPr/>
        </p:nvSpPr>
        <p:spPr>
          <a:xfrm>
            <a:off x="497681" y="1282501"/>
            <a:ext cx="1571029"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2.</a:t>
            </a:r>
            <a:pPr algn="l" indent="0" marL="0">
              <a:buNone/>
            </a:pPr>
            <a:r>
              <a:rPr lang="en-US" sz="2000" dirty="0">
                <a:solidFill>
                  <a:srgbClr val="000000"/>
                </a:solidFill>
                <a:latin typeface="Calibri" pitchFamily="34" charset="0"/>
                <a:ea typeface="Calibri" pitchFamily="34" charset="-122"/>
                <a:cs typeface="Calibri" pitchFamily="34" charset="-120"/>
              </a:rPr>
              <a:t>Objectives</a:t>
            </a:r>
            <a:endParaRPr lang="en-US" sz="2000" dirty="0"/>
          </a:p>
        </p:txBody>
      </p:sp>
      <p:sp>
        <p:nvSpPr>
          <p:cNvPr id="11" name="Text 8"/>
          <p:cNvSpPr txBox="1"/>
          <p:nvPr/>
        </p:nvSpPr>
        <p:spPr>
          <a:xfrm>
            <a:off x="497681" y="1739701"/>
            <a:ext cx="621565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3.</a:t>
            </a:r>
            <a:pPr algn="l" indent="0" marL="0">
              <a:buNone/>
            </a:pPr>
            <a:r>
              <a:rPr lang="en-US" sz="2000" dirty="0">
                <a:solidFill>
                  <a:srgbClr val="000000"/>
                </a:solidFill>
                <a:latin typeface="Calibri" pitchFamily="34" charset="0"/>
                <a:ea typeface="Calibri" pitchFamily="34" charset="-122"/>
                <a:cs typeface="Calibri" pitchFamily="34" charset="-120"/>
              </a:rPr>
              <a:t>Literature Review: standards and peer-reviewed studies</a:t>
            </a:r>
            <a:endParaRPr lang="en-US" sz="2000" dirty="0"/>
          </a:p>
        </p:txBody>
      </p:sp>
      <p:sp>
        <p:nvSpPr>
          <p:cNvPr id="12" name="Text 9"/>
          <p:cNvSpPr txBox="1"/>
          <p:nvPr/>
        </p:nvSpPr>
        <p:spPr>
          <a:xfrm>
            <a:off x="497681" y="2196901"/>
            <a:ext cx="7567216"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4.</a:t>
            </a:r>
            <a:pPr algn="l" indent="0" marL="0">
              <a:buNone/>
            </a:pPr>
            <a:r>
              <a:rPr lang="en-US" sz="2000" dirty="0">
                <a:solidFill>
                  <a:srgbClr val="000000"/>
                </a:solidFill>
                <a:latin typeface="Calibri" pitchFamily="34" charset="0"/>
                <a:ea typeface="Calibri" pitchFamily="34" charset="-122"/>
                <a:cs typeface="Calibri" pitchFamily="34" charset="-120"/>
              </a:rPr>
              <a:t>Description: the QUERY method (RFC 10008) and its security analysis</a:t>
            </a:r>
            <a:endParaRPr lang="en-US" sz="2000" dirty="0"/>
          </a:p>
        </p:txBody>
      </p:sp>
      <p:sp>
        <p:nvSpPr>
          <p:cNvPr id="13" name="Text 10"/>
          <p:cNvSpPr txBox="1"/>
          <p:nvPr/>
        </p:nvSpPr>
        <p:spPr>
          <a:xfrm>
            <a:off x="497681" y="2654101"/>
            <a:ext cx="162242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5.</a:t>
            </a:r>
            <a:pPr algn="l" indent="0" marL="0">
              <a:buNone/>
            </a:pPr>
            <a:r>
              <a:rPr lang="en-US" sz="2000" dirty="0">
                <a:solidFill>
                  <a:srgbClr val="000000"/>
                </a:solidFill>
                <a:latin typeface="Calibri" pitchFamily="34" charset="0"/>
                <a:ea typeface="Calibri" pitchFamily="34" charset="-122"/>
                <a:cs typeface="Calibri" pitchFamily="34" charset="-120"/>
              </a:rPr>
              <a:t>Conclusion</a:t>
            </a:r>
            <a:endParaRPr lang="en-US" sz="2000" dirty="0"/>
          </a:p>
        </p:txBody>
      </p:sp>
      <p:sp>
        <p:nvSpPr>
          <p:cNvPr id="14" name="Text 11"/>
          <p:cNvSpPr txBox="1"/>
          <p:nvPr/>
        </p:nvSpPr>
        <p:spPr>
          <a:xfrm>
            <a:off x="497681" y="3111301"/>
            <a:ext cx="128587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87203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Why do HTTP request methods exist?</a:t>
            </a:r>
            <a:endParaRPr lang="en-US" sz="2400" dirty="0"/>
          </a:p>
        </p:txBody>
      </p:sp>
      <p:sp>
        <p:nvSpPr>
          <p:cNvPr id="10" name="Text 7"/>
          <p:cNvSpPr txBox="1"/>
          <p:nvPr/>
        </p:nvSpPr>
        <p:spPr>
          <a:xfrm>
            <a:off x="294481" y="1412081"/>
            <a:ext cx="1129407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The method is the primary source of request semantics: it tells </a:t>
            </a:r>
            <a:pPr algn="l" indent="0" marL="0">
              <a:buNone/>
            </a:pPr>
            <a:r>
              <a:rPr lang="en-US" sz="2000" b="1" dirty="0">
                <a:solidFill>
                  <a:srgbClr val="000000"/>
                </a:solidFill>
                <a:latin typeface="Calibri" pitchFamily="34" charset="0"/>
                <a:ea typeface="Calibri" pitchFamily="34" charset="-122"/>
                <a:cs typeface="Calibri" pitchFamily="34" charset="-120"/>
              </a:rPr>
              <a:t>every hop</a:t>
            </a:r>
            <a:pPr algn="l" indent="0" marL="0">
              <a:buNone/>
            </a:pPr>
            <a:r>
              <a:rPr lang="en-US" sz="2000" dirty="0">
                <a:solidFill>
                  <a:srgbClr val="000000"/>
                </a:solidFill>
                <a:latin typeface="Calibri" pitchFamily="34" charset="0"/>
                <a:ea typeface="Calibri" pitchFamily="34" charset="-122"/>
                <a:cs typeface="Calibri" pitchFamily="34" charset="-120"/>
              </a:rPr>
              <a:t> what the client intends.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§9.1]</a:t>
            </a:r>
            <a:endParaRPr lang="en-US" sz="2000" dirty="0"/>
          </a:p>
        </p:txBody>
      </p:sp>
      <p:sp>
        <p:nvSpPr>
          <p:cNvPr id="11" name="Shape 8"/>
          <p:cNvSpPr/>
          <p:nvPr/>
        </p:nvSpPr>
        <p:spPr>
          <a:xfrm>
            <a:off x="294481" y="2161381"/>
            <a:ext cx="5080000" cy="2184400"/>
          </a:xfrm>
          <a:prstGeom prst="rect">
            <a:avLst/>
          </a:prstGeom>
          <a:solidFill>
            <a:srgbClr val="FFFFFF"/>
          </a:solidFill>
          <a:ln w="12700">
            <a:solidFill>
              <a:srgbClr val="333399"/>
            </a:solidFill>
            <a:prstDash val="solid"/>
          </a:ln>
        </p:spPr>
      </p:sp>
      <p:sp>
        <p:nvSpPr>
          <p:cNvPr id="12" name="Text 9"/>
          <p:cNvSpPr txBox="1"/>
          <p:nvPr/>
        </p:nvSpPr>
        <p:spPr>
          <a:xfrm>
            <a:off x="459581" y="2301081"/>
            <a:ext cx="127396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Idempotent</a:t>
            </a:r>
            <a:endParaRPr lang="en-US" sz="1800" dirty="0"/>
          </a:p>
        </p:txBody>
      </p:sp>
      <p:sp>
        <p:nvSpPr>
          <p:cNvPr id="13" name="Shape 10"/>
          <p:cNvSpPr/>
          <p:nvPr/>
        </p:nvSpPr>
        <p:spPr>
          <a:xfrm>
            <a:off x="459581" y="2694781"/>
            <a:ext cx="685999" cy="330200"/>
          </a:xfrm>
          <a:prstGeom prst="roundRect">
            <a:avLst>
              <a:gd name="adj" fmla="val 11538"/>
            </a:avLst>
          </a:prstGeom>
          <a:solidFill>
            <a:srgbClr val="000000"/>
          </a:solidFill>
          <a:ln/>
        </p:spPr>
      </p:sp>
      <p:sp>
        <p:nvSpPr>
          <p:cNvPr id="14" name="Text 11"/>
          <p:cNvSpPr txBox="1"/>
          <p:nvPr/>
        </p:nvSpPr>
        <p:spPr>
          <a:xfrm>
            <a:off x="573881" y="27074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PUT</a:t>
            </a:r>
            <a:endParaRPr lang="en-US" sz="2000" dirty="0"/>
          </a:p>
        </p:txBody>
      </p:sp>
      <p:sp>
        <p:nvSpPr>
          <p:cNvPr id="15" name="Shape 12"/>
          <p:cNvSpPr/>
          <p:nvPr/>
        </p:nvSpPr>
        <p:spPr>
          <a:xfrm>
            <a:off x="1247180" y="2694781"/>
            <a:ext cx="1143199" cy="330200"/>
          </a:xfrm>
          <a:prstGeom prst="roundRect">
            <a:avLst>
              <a:gd name="adj" fmla="val 11538"/>
            </a:avLst>
          </a:prstGeom>
          <a:solidFill>
            <a:srgbClr val="000000"/>
          </a:solidFill>
          <a:ln/>
        </p:spPr>
      </p:sp>
      <p:sp>
        <p:nvSpPr>
          <p:cNvPr id="16" name="Text 13"/>
          <p:cNvSpPr txBox="1"/>
          <p:nvPr/>
        </p:nvSpPr>
        <p:spPr>
          <a:xfrm>
            <a:off x="1361480" y="2707481"/>
            <a:ext cx="10669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DELETE</a:t>
            </a:r>
            <a:endParaRPr lang="en-US" sz="2000" dirty="0"/>
          </a:p>
        </p:txBody>
      </p:sp>
      <p:sp>
        <p:nvSpPr>
          <p:cNvPr id="17" name="Shape 14"/>
          <p:cNvSpPr/>
          <p:nvPr/>
        </p:nvSpPr>
        <p:spPr>
          <a:xfrm>
            <a:off x="459581" y="3151981"/>
            <a:ext cx="4749800" cy="1028700"/>
          </a:xfrm>
          <a:prstGeom prst="rect">
            <a:avLst/>
          </a:prstGeom>
          <a:solidFill>
            <a:srgbClr val="FFFFFF"/>
          </a:solidFill>
          <a:ln w="12700">
            <a:solidFill>
              <a:srgbClr val="333399"/>
            </a:solidFill>
            <a:prstDash val="solid"/>
          </a:ln>
        </p:spPr>
      </p:sp>
      <p:sp>
        <p:nvSpPr>
          <p:cNvPr id="18" name="Text 15"/>
          <p:cNvSpPr txBox="1"/>
          <p:nvPr/>
        </p:nvSpPr>
        <p:spPr>
          <a:xfrm>
            <a:off x="624681" y="3291681"/>
            <a:ext cx="555625"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Safe</a:t>
            </a:r>
            <a:endParaRPr lang="en-US" sz="1800" dirty="0"/>
          </a:p>
        </p:txBody>
      </p:sp>
      <p:sp>
        <p:nvSpPr>
          <p:cNvPr id="19" name="Shape 16"/>
          <p:cNvSpPr/>
          <p:nvPr/>
        </p:nvSpPr>
        <p:spPr>
          <a:xfrm>
            <a:off x="624681" y="3685381"/>
            <a:ext cx="685999" cy="330200"/>
          </a:xfrm>
          <a:prstGeom prst="roundRect">
            <a:avLst>
              <a:gd name="adj" fmla="val 11538"/>
            </a:avLst>
          </a:prstGeom>
          <a:solidFill>
            <a:srgbClr val="333399"/>
          </a:solidFill>
          <a:ln/>
        </p:spPr>
      </p:sp>
      <p:sp>
        <p:nvSpPr>
          <p:cNvPr id="20" name="Text 17"/>
          <p:cNvSpPr txBox="1"/>
          <p:nvPr/>
        </p:nvSpPr>
        <p:spPr>
          <a:xfrm>
            <a:off x="738981" y="36980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21" name="Shape 18"/>
          <p:cNvSpPr/>
          <p:nvPr/>
        </p:nvSpPr>
        <p:spPr>
          <a:xfrm>
            <a:off x="1412280" y="3685381"/>
            <a:ext cx="838399" cy="330200"/>
          </a:xfrm>
          <a:prstGeom prst="roundRect">
            <a:avLst>
              <a:gd name="adj" fmla="val 11538"/>
            </a:avLst>
          </a:prstGeom>
          <a:solidFill>
            <a:srgbClr val="000000"/>
          </a:solidFill>
          <a:ln/>
        </p:spPr>
      </p:sp>
      <p:sp>
        <p:nvSpPr>
          <p:cNvPr id="22" name="Text 19"/>
          <p:cNvSpPr txBox="1"/>
          <p:nvPr/>
        </p:nvSpPr>
        <p:spPr>
          <a:xfrm>
            <a:off x="1526580" y="36980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HEAD</a:t>
            </a:r>
            <a:endParaRPr lang="en-US" sz="2000" dirty="0"/>
          </a:p>
        </p:txBody>
      </p:sp>
      <p:sp>
        <p:nvSpPr>
          <p:cNvPr id="23" name="Shape 20"/>
          <p:cNvSpPr/>
          <p:nvPr/>
        </p:nvSpPr>
        <p:spPr>
          <a:xfrm>
            <a:off x="2352279" y="3685381"/>
            <a:ext cx="1295599" cy="330200"/>
          </a:xfrm>
          <a:prstGeom prst="roundRect">
            <a:avLst>
              <a:gd name="adj" fmla="val 11538"/>
            </a:avLst>
          </a:prstGeom>
          <a:solidFill>
            <a:srgbClr val="000000"/>
          </a:solidFill>
          <a:ln/>
        </p:spPr>
      </p:sp>
      <p:sp>
        <p:nvSpPr>
          <p:cNvPr id="24" name="Text 21"/>
          <p:cNvSpPr txBox="1"/>
          <p:nvPr/>
        </p:nvSpPr>
        <p:spPr>
          <a:xfrm>
            <a:off x="2466579" y="3698081"/>
            <a:ext cx="12193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OPTIONS</a:t>
            </a:r>
            <a:endParaRPr lang="en-US" sz="2000" dirty="0"/>
          </a:p>
        </p:txBody>
      </p:sp>
      <p:sp>
        <p:nvSpPr>
          <p:cNvPr id="25" name="Shape 22"/>
          <p:cNvSpPr/>
          <p:nvPr/>
        </p:nvSpPr>
        <p:spPr>
          <a:xfrm>
            <a:off x="294481" y="4498181"/>
            <a:ext cx="5080000" cy="1028700"/>
          </a:xfrm>
          <a:prstGeom prst="rect">
            <a:avLst/>
          </a:prstGeom>
          <a:solidFill>
            <a:srgbClr val="FFFFFF"/>
          </a:solidFill>
          <a:ln w="12700">
            <a:solidFill>
              <a:srgbClr val="333399"/>
            </a:solidFill>
            <a:prstDash val="dash"/>
          </a:ln>
        </p:spPr>
      </p:sp>
      <p:sp>
        <p:nvSpPr>
          <p:cNvPr id="26" name="Text 23"/>
          <p:cNvSpPr txBox="1"/>
          <p:nvPr/>
        </p:nvSpPr>
        <p:spPr>
          <a:xfrm>
            <a:off x="459581" y="4637881"/>
            <a:ext cx="87252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Neither</a:t>
            </a:r>
            <a:endParaRPr lang="en-US" sz="1800" dirty="0"/>
          </a:p>
        </p:txBody>
      </p:sp>
      <p:sp>
        <p:nvSpPr>
          <p:cNvPr id="27" name="Shape 24"/>
          <p:cNvSpPr/>
          <p:nvPr/>
        </p:nvSpPr>
        <p:spPr>
          <a:xfrm>
            <a:off x="459581" y="5031581"/>
            <a:ext cx="838399" cy="330200"/>
          </a:xfrm>
          <a:prstGeom prst="roundRect">
            <a:avLst>
              <a:gd name="adj" fmla="val 11538"/>
            </a:avLst>
          </a:prstGeom>
          <a:solidFill>
            <a:srgbClr val="993300"/>
          </a:solidFill>
          <a:ln/>
        </p:spPr>
      </p:sp>
      <p:sp>
        <p:nvSpPr>
          <p:cNvPr id="28" name="Text 25"/>
          <p:cNvSpPr txBox="1"/>
          <p:nvPr/>
        </p:nvSpPr>
        <p:spPr>
          <a:xfrm>
            <a:off x="573881" y="50442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9" name="Shape 26"/>
          <p:cNvSpPr/>
          <p:nvPr/>
        </p:nvSpPr>
        <p:spPr>
          <a:xfrm>
            <a:off x="1399580" y="5031581"/>
            <a:ext cx="990799" cy="330200"/>
          </a:xfrm>
          <a:prstGeom prst="roundRect">
            <a:avLst>
              <a:gd name="adj" fmla="val 11538"/>
            </a:avLst>
          </a:prstGeom>
          <a:solidFill>
            <a:srgbClr val="000000"/>
          </a:solidFill>
          <a:ln/>
        </p:spPr>
      </p:sp>
      <p:sp>
        <p:nvSpPr>
          <p:cNvPr id="30" name="Text 27"/>
          <p:cNvSpPr txBox="1"/>
          <p:nvPr/>
        </p:nvSpPr>
        <p:spPr>
          <a:xfrm>
            <a:off x="1513880" y="5044281"/>
            <a:ext cx="9145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PATCH</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87203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Why do HTTP request methods exist?</a:t>
            </a:r>
            <a:endParaRPr lang="en-US" sz="2400" dirty="0"/>
          </a:p>
        </p:txBody>
      </p:sp>
      <p:sp>
        <p:nvSpPr>
          <p:cNvPr id="10" name="Text 7"/>
          <p:cNvSpPr txBox="1"/>
          <p:nvPr/>
        </p:nvSpPr>
        <p:spPr>
          <a:xfrm>
            <a:off x="294481" y="1412081"/>
            <a:ext cx="1129407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The method is the primary source of request semantics: it tells </a:t>
            </a:r>
            <a:pPr algn="l" indent="0" marL="0">
              <a:buNone/>
            </a:pPr>
            <a:r>
              <a:rPr lang="en-US" sz="2000" b="1" dirty="0">
                <a:solidFill>
                  <a:srgbClr val="000000"/>
                </a:solidFill>
                <a:latin typeface="Calibri" pitchFamily="34" charset="0"/>
                <a:ea typeface="Calibri" pitchFamily="34" charset="-122"/>
                <a:cs typeface="Calibri" pitchFamily="34" charset="-120"/>
              </a:rPr>
              <a:t>every hop</a:t>
            </a:r>
            <a:pPr algn="l" indent="0" marL="0">
              <a:buNone/>
            </a:pPr>
            <a:r>
              <a:rPr lang="en-US" sz="2000" dirty="0">
                <a:solidFill>
                  <a:srgbClr val="000000"/>
                </a:solidFill>
                <a:latin typeface="Calibri" pitchFamily="34" charset="0"/>
                <a:ea typeface="Calibri" pitchFamily="34" charset="-122"/>
                <a:cs typeface="Calibri" pitchFamily="34" charset="-120"/>
              </a:rPr>
              <a:t> what the client intends.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§9.1]</a:t>
            </a:r>
            <a:endParaRPr lang="en-US" sz="2000" dirty="0"/>
          </a:p>
        </p:txBody>
      </p:sp>
      <p:sp>
        <p:nvSpPr>
          <p:cNvPr id="11" name="Shape 8"/>
          <p:cNvSpPr/>
          <p:nvPr/>
        </p:nvSpPr>
        <p:spPr>
          <a:xfrm>
            <a:off x="294481" y="2161381"/>
            <a:ext cx="5080000" cy="2184400"/>
          </a:xfrm>
          <a:prstGeom prst="rect">
            <a:avLst/>
          </a:prstGeom>
          <a:solidFill>
            <a:srgbClr val="FFFFFF"/>
          </a:solidFill>
          <a:ln w="12700">
            <a:solidFill>
              <a:srgbClr val="333399"/>
            </a:solidFill>
            <a:prstDash val="solid"/>
          </a:ln>
        </p:spPr>
      </p:sp>
      <p:sp>
        <p:nvSpPr>
          <p:cNvPr id="12" name="Text 9"/>
          <p:cNvSpPr txBox="1"/>
          <p:nvPr/>
        </p:nvSpPr>
        <p:spPr>
          <a:xfrm>
            <a:off x="459581" y="2301081"/>
            <a:ext cx="127396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Idempotent</a:t>
            </a:r>
            <a:endParaRPr lang="en-US" sz="1800" dirty="0"/>
          </a:p>
        </p:txBody>
      </p:sp>
      <p:sp>
        <p:nvSpPr>
          <p:cNvPr id="13" name="Shape 10"/>
          <p:cNvSpPr/>
          <p:nvPr/>
        </p:nvSpPr>
        <p:spPr>
          <a:xfrm>
            <a:off x="459581" y="2694781"/>
            <a:ext cx="685999" cy="330200"/>
          </a:xfrm>
          <a:prstGeom prst="roundRect">
            <a:avLst>
              <a:gd name="adj" fmla="val 11538"/>
            </a:avLst>
          </a:prstGeom>
          <a:solidFill>
            <a:srgbClr val="000000"/>
          </a:solidFill>
          <a:ln/>
        </p:spPr>
      </p:sp>
      <p:sp>
        <p:nvSpPr>
          <p:cNvPr id="14" name="Text 11"/>
          <p:cNvSpPr txBox="1"/>
          <p:nvPr/>
        </p:nvSpPr>
        <p:spPr>
          <a:xfrm>
            <a:off x="573881" y="27074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PUT</a:t>
            </a:r>
            <a:endParaRPr lang="en-US" sz="2000" dirty="0"/>
          </a:p>
        </p:txBody>
      </p:sp>
      <p:sp>
        <p:nvSpPr>
          <p:cNvPr id="15" name="Shape 12"/>
          <p:cNvSpPr/>
          <p:nvPr/>
        </p:nvSpPr>
        <p:spPr>
          <a:xfrm>
            <a:off x="1247180" y="2694781"/>
            <a:ext cx="1143199" cy="330200"/>
          </a:xfrm>
          <a:prstGeom prst="roundRect">
            <a:avLst>
              <a:gd name="adj" fmla="val 11538"/>
            </a:avLst>
          </a:prstGeom>
          <a:solidFill>
            <a:srgbClr val="000000"/>
          </a:solidFill>
          <a:ln/>
        </p:spPr>
      </p:sp>
      <p:sp>
        <p:nvSpPr>
          <p:cNvPr id="16" name="Text 13"/>
          <p:cNvSpPr txBox="1"/>
          <p:nvPr/>
        </p:nvSpPr>
        <p:spPr>
          <a:xfrm>
            <a:off x="1361480" y="2707481"/>
            <a:ext cx="10669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DELETE</a:t>
            </a:r>
            <a:endParaRPr lang="en-US" sz="2000" dirty="0"/>
          </a:p>
        </p:txBody>
      </p:sp>
      <p:sp>
        <p:nvSpPr>
          <p:cNvPr id="17" name="Shape 14"/>
          <p:cNvSpPr/>
          <p:nvPr/>
        </p:nvSpPr>
        <p:spPr>
          <a:xfrm>
            <a:off x="459581" y="3151981"/>
            <a:ext cx="4749800" cy="1028700"/>
          </a:xfrm>
          <a:prstGeom prst="rect">
            <a:avLst/>
          </a:prstGeom>
          <a:solidFill>
            <a:srgbClr val="D6D6EB"/>
          </a:solidFill>
          <a:ln w="12700">
            <a:solidFill>
              <a:srgbClr val="333399"/>
            </a:solidFill>
            <a:prstDash val="solid"/>
          </a:ln>
        </p:spPr>
      </p:sp>
      <p:sp>
        <p:nvSpPr>
          <p:cNvPr id="18" name="Text 15"/>
          <p:cNvSpPr txBox="1"/>
          <p:nvPr/>
        </p:nvSpPr>
        <p:spPr>
          <a:xfrm>
            <a:off x="624681" y="3291681"/>
            <a:ext cx="555625"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Safe</a:t>
            </a:r>
            <a:endParaRPr lang="en-US" sz="1800" dirty="0"/>
          </a:p>
        </p:txBody>
      </p:sp>
      <p:sp>
        <p:nvSpPr>
          <p:cNvPr id="19" name="Shape 16"/>
          <p:cNvSpPr/>
          <p:nvPr/>
        </p:nvSpPr>
        <p:spPr>
          <a:xfrm>
            <a:off x="624681" y="3685381"/>
            <a:ext cx="685999" cy="330200"/>
          </a:xfrm>
          <a:prstGeom prst="roundRect">
            <a:avLst>
              <a:gd name="adj" fmla="val 11538"/>
            </a:avLst>
          </a:prstGeom>
          <a:solidFill>
            <a:srgbClr val="333399"/>
          </a:solidFill>
          <a:ln/>
        </p:spPr>
      </p:sp>
      <p:sp>
        <p:nvSpPr>
          <p:cNvPr id="20" name="Text 17"/>
          <p:cNvSpPr txBox="1"/>
          <p:nvPr/>
        </p:nvSpPr>
        <p:spPr>
          <a:xfrm>
            <a:off x="738981" y="36980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21" name="Shape 18"/>
          <p:cNvSpPr/>
          <p:nvPr/>
        </p:nvSpPr>
        <p:spPr>
          <a:xfrm>
            <a:off x="1412280" y="3685381"/>
            <a:ext cx="838399" cy="330200"/>
          </a:xfrm>
          <a:prstGeom prst="roundRect">
            <a:avLst>
              <a:gd name="adj" fmla="val 11538"/>
            </a:avLst>
          </a:prstGeom>
          <a:solidFill>
            <a:srgbClr val="000000"/>
          </a:solidFill>
          <a:ln/>
        </p:spPr>
      </p:sp>
      <p:sp>
        <p:nvSpPr>
          <p:cNvPr id="22" name="Text 19"/>
          <p:cNvSpPr txBox="1"/>
          <p:nvPr/>
        </p:nvSpPr>
        <p:spPr>
          <a:xfrm>
            <a:off x="1526580" y="36980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HEAD</a:t>
            </a:r>
            <a:endParaRPr lang="en-US" sz="2000" dirty="0"/>
          </a:p>
        </p:txBody>
      </p:sp>
      <p:sp>
        <p:nvSpPr>
          <p:cNvPr id="23" name="Shape 20"/>
          <p:cNvSpPr/>
          <p:nvPr/>
        </p:nvSpPr>
        <p:spPr>
          <a:xfrm>
            <a:off x="2352279" y="3685381"/>
            <a:ext cx="1295599" cy="330200"/>
          </a:xfrm>
          <a:prstGeom prst="roundRect">
            <a:avLst>
              <a:gd name="adj" fmla="val 11538"/>
            </a:avLst>
          </a:prstGeom>
          <a:solidFill>
            <a:srgbClr val="000000"/>
          </a:solidFill>
          <a:ln/>
        </p:spPr>
      </p:sp>
      <p:sp>
        <p:nvSpPr>
          <p:cNvPr id="24" name="Text 21"/>
          <p:cNvSpPr txBox="1"/>
          <p:nvPr/>
        </p:nvSpPr>
        <p:spPr>
          <a:xfrm>
            <a:off x="2466579" y="3698081"/>
            <a:ext cx="12193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OPTIONS</a:t>
            </a:r>
            <a:endParaRPr lang="en-US" sz="2000" dirty="0"/>
          </a:p>
        </p:txBody>
      </p:sp>
      <p:sp>
        <p:nvSpPr>
          <p:cNvPr id="25" name="Shape 22"/>
          <p:cNvSpPr/>
          <p:nvPr/>
        </p:nvSpPr>
        <p:spPr>
          <a:xfrm>
            <a:off x="294481" y="4498181"/>
            <a:ext cx="5080000" cy="1028700"/>
          </a:xfrm>
          <a:prstGeom prst="rect">
            <a:avLst/>
          </a:prstGeom>
          <a:solidFill>
            <a:srgbClr val="FFFFFF"/>
          </a:solidFill>
          <a:ln w="12700">
            <a:solidFill>
              <a:srgbClr val="333399"/>
            </a:solidFill>
            <a:prstDash val="dash"/>
          </a:ln>
        </p:spPr>
      </p:sp>
      <p:sp>
        <p:nvSpPr>
          <p:cNvPr id="26" name="Text 23"/>
          <p:cNvSpPr txBox="1"/>
          <p:nvPr/>
        </p:nvSpPr>
        <p:spPr>
          <a:xfrm>
            <a:off x="459581" y="4637881"/>
            <a:ext cx="87252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Neither</a:t>
            </a:r>
            <a:endParaRPr lang="en-US" sz="1800" dirty="0"/>
          </a:p>
        </p:txBody>
      </p:sp>
      <p:sp>
        <p:nvSpPr>
          <p:cNvPr id="27" name="Shape 24"/>
          <p:cNvSpPr/>
          <p:nvPr/>
        </p:nvSpPr>
        <p:spPr>
          <a:xfrm>
            <a:off x="459581" y="5031581"/>
            <a:ext cx="838399" cy="330200"/>
          </a:xfrm>
          <a:prstGeom prst="roundRect">
            <a:avLst>
              <a:gd name="adj" fmla="val 11538"/>
            </a:avLst>
          </a:prstGeom>
          <a:solidFill>
            <a:srgbClr val="993300"/>
          </a:solidFill>
          <a:ln/>
        </p:spPr>
      </p:sp>
      <p:sp>
        <p:nvSpPr>
          <p:cNvPr id="28" name="Text 25"/>
          <p:cNvSpPr txBox="1"/>
          <p:nvPr/>
        </p:nvSpPr>
        <p:spPr>
          <a:xfrm>
            <a:off x="573881" y="50442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9" name="Shape 26"/>
          <p:cNvSpPr/>
          <p:nvPr/>
        </p:nvSpPr>
        <p:spPr>
          <a:xfrm>
            <a:off x="1399580" y="5031581"/>
            <a:ext cx="990799" cy="330200"/>
          </a:xfrm>
          <a:prstGeom prst="roundRect">
            <a:avLst>
              <a:gd name="adj" fmla="val 11538"/>
            </a:avLst>
          </a:prstGeom>
          <a:solidFill>
            <a:srgbClr val="000000"/>
          </a:solidFill>
          <a:ln/>
        </p:spPr>
      </p:sp>
      <p:sp>
        <p:nvSpPr>
          <p:cNvPr id="30" name="Text 27"/>
          <p:cNvSpPr txBox="1"/>
          <p:nvPr/>
        </p:nvSpPr>
        <p:spPr>
          <a:xfrm>
            <a:off x="1513880" y="5044281"/>
            <a:ext cx="9145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PATCH</a:t>
            </a:r>
            <a:endParaRPr lang="en-US" sz="2000" dirty="0"/>
          </a:p>
        </p:txBody>
      </p:sp>
      <p:sp>
        <p:nvSpPr>
          <p:cNvPr id="31" name="Text 28"/>
          <p:cNvSpPr txBox="1"/>
          <p:nvPr/>
        </p:nvSpPr>
        <p:spPr>
          <a:xfrm>
            <a:off x="6023372" y="22883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2" name="Text 29"/>
          <p:cNvSpPr txBox="1"/>
          <p:nvPr/>
        </p:nvSpPr>
        <p:spPr>
          <a:xfrm>
            <a:off x="6366272" y="2275681"/>
            <a:ext cx="555664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Safe</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no state change is requested, so caches, prefetchers and crawlers can send it freely </a:t>
            </a:r>
            <a:pPr algn="l" indent="0" marL="0">
              <a:lnSpc>
                <a:spcPts val="3319"/>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87203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Why do HTTP request methods exist?</a:t>
            </a:r>
            <a:endParaRPr lang="en-US" sz="2400" dirty="0"/>
          </a:p>
        </p:txBody>
      </p:sp>
      <p:sp>
        <p:nvSpPr>
          <p:cNvPr id="10" name="Text 7"/>
          <p:cNvSpPr txBox="1"/>
          <p:nvPr/>
        </p:nvSpPr>
        <p:spPr>
          <a:xfrm>
            <a:off x="294481" y="1412081"/>
            <a:ext cx="1129407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The method is the primary source of request semantics: it tells </a:t>
            </a:r>
            <a:pPr algn="l" indent="0" marL="0">
              <a:buNone/>
            </a:pPr>
            <a:r>
              <a:rPr lang="en-US" sz="2000" b="1" dirty="0">
                <a:solidFill>
                  <a:srgbClr val="000000"/>
                </a:solidFill>
                <a:latin typeface="Calibri" pitchFamily="34" charset="0"/>
                <a:ea typeface="Calibri" pitchFamily="34" charset="-122"/>
                <a:cs typeface="Calibri" pitchFamily="34" charset="-120"/>
              </a:rPr>
              <a:t>every hop</a:t>
            </a:r>
            <a:pPr algn="l" indent="0" marL="0">
              <a:buNone/>
            </a:pPr>
            <a:r>
              <a:rPr lang="en-US" sz="2000" dirty="0">
                <a:solidFill>
                  <a:srgbClr val="000000"/>
                </a:solidFill>
                <a:latin typeface="Calibri" pitchFamily="34" charset="0"/>
                <a:ea typeface="Calibri" pitchFamily="34" charset="-122"/>
                <a:cs typeface="Calibri" pitchFamily="34" charset="-120"/>
              </a:rPr>
              <a:t> what the client intends.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§9.1]</a:t>
            </a:r>
            <a:endParaRPr lang="en-US" sz="2000" dirty="0"/>
          </a:p>
        </p:txBody>
      </p:sp>
      <p:sp>
        <p:nvSpPr>
          <p:cNvPr id="11" name="Shape 8"/>
          <p:cNvSpPr/>
          <p:nvPr/>
        </p:nvSpPr>
        <p:spPr>
          <a:xfrm>
            <a:off x="294481" y="2161381"/>
            <a:ext cx="5080000" cy="2184400"/>
          </a:xfrm>
          <a:prstGeom prst="rect">
            <a:avLst/>
          </a:prstGeom>
          <a:solidFill>
            <a:srgbClr val="DAEDEF"/>
          </a:solidFill>
          <a:ln w="12700">
            <a:solidFill>
              <a:srgbClr val="333399"/>
            </a:solidFill>
            <a:prstDash val="solid"/>
          </a:ln>
        </p:spPr>
      </p:sp>
      <p:sp>
        <p:nvSpPr>
          <p:cNvPr id="12" name="Text 9"/>
          <p:cNvSpPr txBox="1"/>
          <p:nvPr/>
        </p:nvSpPr>
        <p:spPr>
          <a:xfrm>
            <a:off x="459581" y="2301081"/>
            <a:ext cx="127396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Idempotent</a:t>
            </a:r>
            <a:endParaRPr lang="en-US" sz="1800" dirty="0"/>
          </a:p>
        </p:txBody>
      </p:sp>
      <p:sp>
        <p:nvSpPr>
          <p:cNvPr id="13" name="Shape 10"/>
          <p:cNvSpPr/>
          <p:nvPr/>
        </p:nvSpPr>
        <p:spPr>
          <a:xfrm>
            <a:off x="459581" y="2694781"/>
            <a:ext cx="685999" cy="330200"/>
          </a:xfrm>
          <a:prstGeom prst="roundRect">
            <a:avLst>
              <a:gd name="adj" fmla="val 11538"/>
            </a:avLst>
          </a:prstGeom>
          <a:solidFill>
            <a:srgbClr val="000000"/>
          </a:solidFill>
          <a:ln/>
        </p:spPr>
      </p:sp>
      <p:sp>
        <p:nvSpPr>
          <p:cNvPr id="14" name="Text 11"/>
          <p:cNvSpPr txBox="1"/>
          <p:nvPr/>
        </p:nvSpPr>
        <p:spPr>
          <a:xfrm>
            <a:off x="573881" y="27074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PUT</a:t>
            </a:r>
            <a:endParaRPr lang="en-US" sz="2000" dirty="0"/>
          </a:p>
        </p:txBody>
      </p:sp>
      <p:sp>
        <p:nvSpPr>
          <p:cNvPr id="15" name="Shape 12"/>
          <p:cNvSpPr/>
          <p:nvPr/>
        </p:nvSpPr>
        <p:spPr>
          <a:xfrm>
            <a:off x="1247180" y="2694781"/>
            <a:ext cx="1143199" cy="330200"/>
          </a:xfrm>
          <a:prstGeom prst="roundRect">
            <a:avLst>
              <a:gd name="adj" fmla="val 11538"/>
            </a:avLst>
          </a:prstGeom>
          <a:solidFill>
            <a:srgbClr val="000000"/>
          </a:solidFill>
          <a:ln/>
        </p:spPr>
      </p:sp>
      <p:sp>
        <p:nvSpPr>
          <p:cNvPr id="16" name="Text 13"/>
          <p:cNvSpPr txBox="1"/>
          <p:nvPr/>
        </p:nvSpPr>
        <p:spPr>
          <a:xfrm>
            <a:off x="1361480" y="2707481"/>
            <a:ext cx="10669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DELETE</a:t>
            </a:r>
            <a:endParaRPr lang="en-US" sz="2000" dirty="0"/>
          </a:p>
        </p:txBody>
      </p:sp>
      <p:sp>
        <p:nvSpPr>
          <p:cNvPr id="17" name="Shape 14"/>
          <p:cNvSpPr/>
          <p:nvPr/>
        </p:nvSpPr>
        <p:spPr>
          <a:xfrm>
            <a:off x="459581" y="3151981"/>
            <a:ext cx="4749800" cy="1028700"/>
          </a:xfrm>
          <a:prstGeom prst="rect">
            <a:avLst/>
          </a:prstGeom>
          <a:solidFill>
            <a:srgbClr val="D6D6EB"/>
          </a:solidFill>
          <a:ln w="12700">
            <a:solidFill>
              <a:srgbClr val="333399"/>
            </a:solidFill>
            <a:prstDash val="solid"/>
          </a:ln>
        </p:spPr>
      </p:sp>
      <p:sp>
        <p:nvSpPr>
          <p:cNvPr id="18" name="Text 15"/>
          <p:cNvSpPr txBox="1"/>
          <p:nvPr/>
        </p:nvSpPr>
        <p:spPr>
          <a:xfrm>
            <a:off x="624681" y="3291681"/>
            <a:ext cx="555625"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Safe</a:t>
            </a:r>
            <a:endParaRPr lang="en-US" sz="1800" dirty="0"/>
          </a:p>
        </p:txBody>
      </p:sp>
      <p:sp>
        <p:nvSpPr>
          <p:cNvPr id="19" name="Shape 16"/>
          <p:cNvSpPr/>
          <p:nvPr/>
        </p:nvSpPr>
        <p:spPr>
          <a:xfrm>
            <a:off x="624681" y="3685381"/>
            <a:ext cx="685999" cy="330200"/>
          </a:xfrm>
          <a:prstGeom prst="roundRect">
            <a:avLst>
              <a:gd name="adj" fmla="val 11538"/>
            </a:avLst>
          </a:prstGeom>
          <a:solidFill>
            <a:srgbClr val="333399"/>
          </a:solidFill>
          <a:ln/>
        </p:spPr>
      </p:sp>
      <p:sp>
        <p:nvSpPr>
          <p:cNvPr id="20" name="Text 17"/>
          <p:cNvSpPr txBox="1"/>
          <p:nvPr/>
        </p:nvSpPr>
        <p:spPr>
          <a:xfrm>
            <a:off x="738981" y="36980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21" name="Shape 18"/>
          <p:cNvSpPr/>
          <p:nvPr/>
        </p:nvSpPr>
        <p:spPr>
          <a:xfrm>
            <a:off x="1412280" y="3685381"/>
            <a:ext cx="838399" cy="330200"/>
          </a:xfrm>
          <a:prstGeom prst="roundRect">
            <a:avLst>
              <a:gd name="adj" fmla="val 11538"/>
            </a:avLst>
          </a:prstGeom>
          <a:solidFill>
            <a:srgbClr val="000000"/>
          </a:solidFill>
          <a:ln/>
        </p:spPr>
      </p:sp>
      <p:sp>
        <p:nvSpPr>
          <p:cNvPr id="22" name="Text 19"/>
          <p:cNvSpPr txBox="1"/>
          <p:nvPr/>
        </p:nvSpPr>
        <p:spPr>
          <a:xfrm>
            <a:off x="1526580" y="36980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HEAD</a:t>
            </a:r>
            <a:endParaRPr lang="en-US" sz="2000" dirty="0"/>
          </a:p>
        </p:txBody>
      </p:sp>
      <p:sp>
        <p:nvSpPr>
          <p:cNvPr id="23" name="Shape 20"/>
          <p:cNvSpPr/>
          <p:nvPr/>
        </p:nvSpPr>
        <p:spPr>
          <a:xfrm>
            <a:off x="2352279" y="3685381"/>
            <a:ext cx="1295599" cy="330200"/>
          </a:xfrm>
          <a:prstGeom prst="roundRect">
            <a:avLst>
              <a:gd name="adj" fmla="val 11538"/>
            </a:avLst>
          </a:prstGeom>
          <a:solidFill>
            <a:srgbClr val="000000"/>
          </a:solidFill>
          <a:ln/>
        </p:spPr>
      </p:sp>
      <p:sp>
        <p:nvSpPr>
          <p:cNvPr id="24" name="Text 21"/>
          <p:cNvSpPr txBox="1"/>
          <p:nvPr/>
        </p:nvSpPr>
        <p:spPr>
          <a:xfrm>
            <a:off x="2466579" y="3698081"/>
            <a:ext cx="12193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OPTIONS</a:t>
            </a:r>
            <a:endParaRPr lang="en-US" sz="2000" dirty="0"/>
          </a:p>
        </p:txBody>
      </p:sp>
      <p:sp>
        <p:nvSpPr>
          <p:cNvPr id="25" name="Shape 22"/>
          <p:cNvSpPr/>
          <p:nvPr/>
        </p:nvSpPr>
        <p:spPr>
          <a:xfrm>
            <a:off x="294481" y="4498181"/>
            <a:ext cx="5080000" cy="1028700"/>
          </a:xfrm>
          <a:prstGeom prst="rect">
            <a:avLst/>
          </a:prstGeom>
          <a:solidFill>
            <a:srgbClr val="FFFFFF"/>
          </a:solidFill>
          <a:ln w="12700">
            <a:solidFill>
              <a:srgbClr val="333399"/>
            </a:solidFill>
            <a:prstDash val="dash"/>
          </a:ln>
        </p:spPr>
      </p:sp>
      <p:sp>
        <p:nvSpPr>
          <p:cNvPr id="26" name="Text 23"/>
          <p:cNvSpPr txBox="1"/>
          <p:nvPr/>
        </p:nvSpPr>
        <p:spPr>
          <a:xfrm>
            <a:off x="459581" y="4637881"/>
            <a:ext cx="87252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Neither</a:t>
            </a:r>
            <a:endParaRPr lang="en-US" sz="1800" dirty="0"/>
          </a:p>
        </p:txBody>
      </p:sp>
      <p:sp>
        <p:nvSpPr>
          <p:cNvPr id="27" name="Shape 24"/>
          <p:cNvSpPr/>
          <p:nvPr/>
        </p:nvSpPr>
        <p:spPr>
          <a:xfrm>
            <a:off x="459581" y="5031581"/>
            <a:ext cx="838399" cy="330200"/>
          </a:xfrm>
          <a:prstGeom prst="roundRect">
            <a:avLst>
              <a:gd name="adj" fmla="val 11538"/>
            </a:avLst>
          </a:prstGeom>
          <a:solidFill>
            <a:srgbClr val="993300"/>
          </a:solidFill>
          <a:ln/>
        </p:spPr>
      </p:sp>
      <p:sp>
        <p:nvSpPr>
          <p:cNvPr id="28" name="Text 25"/>
          <p:cNvSpPr txBox="1"/>
          <p:nvPr/>
        </p:nvSpPr>
        <p:spPr>
          <a:xfrm>
            <a:off x="573881" y="50442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9" name="Shape 26"/>
          <p:cNvSpPr/>
          <p:nvPr/>
        </p:nvSpPr>
        <p:spPr>
          <a:xfrm>
            <a:off x="1399580" y="5031581"/>
            <a:ext cx="990799" cy="330200"/>
          </a:xfrm>
          <a:prstGeom prst="roundRect">
            <a:avLst>
              <a:gd name="adj" fmla="val 11538"/>
            </a:avLst>
          </a:prstGeom>
          <a:solidFill>
            <a:srgbClr val="000000"/>
          </a:solidFill>
          <a:ln/>
        </p:spPr>
      </p:sp>
      <p:sp>
        <p:nvSpPr>
          <p:cNvPr id="30" name="Text 27"/>
          <p:cNvSpPr txBox="1"/>
          <p:nvPr/>
        </p:nvSpPr>
        <p:spPr>
          <a:xfrm>
            <a:off x="1513880" y="5044281"/>
            <a:ext cx="9145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PATCH</a:t>
            </a:r>
            <a:endParaRPr lang="en-US" sz="2000" dirty="0"/>
          </a:p>
        </p:txBody>
      </p:sp>
      <p:sp>
        <p:nvSpPr>
          <p:cNvPr id="31" name="Text 28"/>
          <p:cNvSpPr txBox="1"/>
          <p:nvPr/>
        </p:nvSpPr>
        <p:spPr>
          <a:xfrm>
            <a:off x="6023372" y="22883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2" name="Text 29"/>
          <p:cNvSpPr txBox="1"/>
          <p:nvPr/>
        </p:nvSpPr>
        <p:spPr>
          <a:xfrm>
            <a:off x="6366272" y="2275681"/>
            <a:ext cx="555664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Safe</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no state change is requested, so caches, prefetchers and crawlers can send it freely </a:t>
            </a:r>
            <a:pPr algn="l" indent="0" marL="0">
              <a:lnSpc>
                <a:spcPts val="3319"/>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2100" dirty="0"/>
          </a:p>
        </p:txBody>
      </p:sp>
      <p:sp>
        <p:nvSpPr>
          <p:cNvPr id="33" name="Text 30"/>
          <p:cNvSpPr txBox="1"/>
          <p:nvPr/>
        </p:nvSpPr>
        <p:spPr>
          <a:xfrm>
            <a:off x="6023372" y="3375025"/>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4" name="Text 31"/>
          <p:cNvSpPr txBox="1"/>
          <p:nvPr/>
        </p:nvSpPr>
        <p:spPr>
          <a:xfrm>
            <a:off x="6366272" y="3362325"/>
            <a:ext cx="555664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Idempotent</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repeating it has the same intended effect, so a client may retry after a lost connection </a:t>
            </a:r>
            <a:pPr algn="l" indent="0" marL="0">
              <a:lnSpc>
                <a:spcPts val="33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87203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Why do HTTP request methods exist?</a:t>
            </a:r>
            <a:endParaRPr lang="en-US" sz="2400" dirty="0"/>
          </a:p>
        </p:txBody>
      </p:sp>
      <p:sp>
        <p:nvSpPr>
          <p:cNvPr id="10" name="Text 7"/>
          <p:cNvSpPr txBox="1"/>
          <p:nvPr/>
        </p:nvSpPr>
        <p:spPr>
          <a:xfrm>
            <a:off x="294481" y="1412081"/>
            <a:ext cx="1129407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The method is the primary source of request semantics: it tells </a:t>
            </a:r>
            <a:pPr algn="l" indent="0" marL="0">
              <a:buNone/>
            </a:pPr>
            <a:r>
              <a:rPr lang="en-US" sz="2000" b="1" dirty="0">
                <a:solidFill>
                  <a:srgbClr val="000000"/>
                </a:solidFill>
                <a:latin typeface="Calibri" pitchFamily="34" charset="0"/>
                <a:ea typeface="Calibri" pitchFamily="34" charset="-122"/>
                <a:cs typeface="Calibri" pitchFamily="34" charset="-120"/>
              </a:rPr>
              <a:t>every hop</a:t>
            </a:r>
            <a:pPr algn="l" indent="0" marL="0">
              <a:buNone/>
            </a:pPr>
            <a:r>
              <a:rPr lang="en-US" sz="2000" dirty="0">
                <a:solidFill>
                  <a:srgbClr val="000000"/>
                </a:solidFill>
                <a:latin typeface="Calibri" pitchFamily="34" charset="0"/>
                <a:ea typeface="Calibri" pitchFamily="34" charset="-122"/>
                <a:cs typeface="Calibri" pitchFamily="34" charset="-120"/>
              </a:rPr>
              <a:t> what the client intends.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§9.1]</a:t>
            </a:r>
            <a:endParaRPr lang="en-US" sz="2000" dirty="0"/>
          </a:p>
        </p:txBody>
      </p:sp>
      <p:sp>
        <p:nvSpPr>
          <p:cNvPr id="11" name="Shape 8"/>
          <p:cNvSpPr/>
          <p:nvPr/>
        </p:nvSpPr>
        <p:spPr>
          <a:xfrm>
            <a:off x="294481" y="2161381"/>
            <a:ext cx="5080000" cy="2184400"/>
          </a:xfrm>
          <a:prstGeom prst="rect">
            <a:avLst/>
          </a:prstGeom>
          <a:solidFill>
            <a:srgbClr val="DAEDEF"/>
          </a:solidFill>
          <a:ln w="12700">
            <a:solidFill>
              <a:srgbClr val="333399"/>
            </a:solidFill>
            <a:prstDash val="solid"/>
          </a:ln>
        </p:spPr>
      </p:sp>
      <p:sp>
        <p:nvSpPr>
          <p:cNvPr id="12" name="Text 9"/>
          <p:cNvSpPr txBox="1"/>
          <p:nvPr/>
        </p:nvSpPr>
        <p:spPr>
          <a:xfrm>
            <a:off x="459581" y="2301081"/>
            <a:ext cx="127396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Idempotent</a:t>
            </a:r>
            <a:endParaRPr lang="en-US" sz="1800" dirty="0"/>
          </a:p>
        </p:txBody>
      </p:sp>
      <p:sp>
        <p:nvSpPr>
          <p:cNvPr id="13" name="Shape 10"/>
          <p:cNvSpPr/>
          <p:nvPr/>
        </p:nvSpPr>
        <p:spPr>
          <a:xfrm>
            <a:off x="459581" y="2694781"/>
            <a:ext cx="685999" cy="330200"/>
          </a:xfrm>
          <a:prstGeom prst="roundRect">
            <a:avLst>
              <a:gd name="adj" fmla="val 11538"/>
            </a:avLst>
          </a:prstGeom>
          <a:solidFill>
            <a:srgbClr val="000000"/>
          </a:solidFill>
          <a:ln/>
        </p:spPr>
      </p:sp>
      <p:sp>
        <p:nvSpPr>
          <p:cNvPr id="14" name="Text 11"/>
          <p:cNvSpPr txBox="1"/>
          <p:nvPr/>
        </p:nvSpPr>
        <p:spPr>
          <a:xfrm>
            <a:off x="573881" y="27074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PUT</a:t>
            </a:r>
            <a:endParaRPr lang="en-US" sz="2000" dirty="0"/>
          </a:p>
        </p:txBody>
      </p:sp>
      <p:sp>
        <p:nvSpPr>
          <p:cNvPr id="15" name="Shape 12"/>
          <p:cNvSpPr/>
          <p:nvPr/>
        </p:nvSpPr>
        <p:spPr>
          <a:xfrm>
            <a:off x="1247180" y="2694781"/>
            <a:ext cx="1143199" cy="330200"/>
          </a:xfrm>
          <a:prstGeom prst="roundRect">
            <a:avLst>
              <a:gd name="adj" fmla="val 11538"/>
            </a:avLst>
          </a:prstGeom>
          <a:solidFill>
            <a:srgbClr val="000000"/>
          </a:solidFill>
          <a:ln/>
        </p:spPr>
      </p:sp>
      <p:sp>
        <p:nvSpPr>
          <p:cNvPr id="16" name="Text 13"/>
          <p:cNvSpPr txBox="1"/>
          <p:nvPr/>
        </p:nvSpPr>
        <p:spPr>
          <a:xfrm>
            <a:off x="1361480" y="2707481"/>
            <a:ext cx="10669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DELETE</a:t>
            </a:r>
            <a:endParaRPr lang="en-US" sz="2000" dirty="0"/>
          </a:p>
        </p:txBody>
      </p:sp>
      <p:sp>
        <p:nvSpPr>
          <p:cNvPr id="17" name="Shape 14"/>
          <p:cNvSpPr/>
          <p:nvPr/>
        </p:nvSpPr>
        <p:spPr>
          <a:xfrm>
            <a:off x="459581" y="3151981"/>
            <a:ext cx="4749800" cy="1028700"/>
          </a:xfrm>
          <a:prstGeom prst="rect">
            <a:avLst/>
          </a:prstGeom>
          <a:solidFill>
            <a:srgbClr val="D6D6EB"/>
          </a:solidFill>
          <a:ln w="12700">
            <a:solidFill>
              <a:srgbClr val="333399"/>
            </a:solidFill>
            <a:prstDash val="solid"/>
          </a:ln>
        </p:spPr>
      </p:sp>
      <p:sp>
        <p:nvSpPr>
          <p:cNvPr id="18" name="Text 15"/>
          <p:cNvSpPr txBox="1"/>
          <p:nvPr/>
        </p:nvSpPr>
        <p:spPr>
          <a:xfrm>
            <a:off x="624681" y="3291681"/>
            <a:ext cx="555625"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Safe</a:t>
            </a:r>
            <a:endParaRPr lang="en-US" sz="1800" dirty="0"/>
          </a:p>
        </p:txBody>
      </p:sp>
      <p:sp>
        <p:nvSpPr>
          <p:cNvPr id="19" name="Shape 16"/>
          <p:cNvSpPr/>
          <p:nvPr/>
        </p:nvSpPr>
        <p:spPr>
          <a:xfrm>
            <a:off x="624681" y="3685381"/>
            <a:ext cx="685999" cy="330200"/>
          </a:xfrm>
          <a:prstGeom prst="roundRect">
            <a:avLst>
              <a:gd name="adj" fmla="val 11538"/>
            </a:avLst>
          </a:prstGeom>
          <a:solidFill>
            <a:srgbClr val="333399"/>
          </a:solidFill>
          <a:ln/>
        </p:spPr>
      </p:sp>
      <p:sp>
        <p:nvSpPr>
          <p:cNvPr id="20" name="Text 17"/>
          <p:cNvSpPr txBox="1"/>
          <p:nvPr/>
        </p:nvSpPr>
        <p:spPr>
          <a:xfrm>
            <a:off x="738981" y="3698081"/>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21" name="Shape 18"/>
          <p:cNvSpPr/>
          <p:nvPr/>
        </p:nvSpPr>
        <p:spPr>
          <a:xfrm>
            <a:off x="1412280" y="3685381"/>
            <a:ext cx="838399" cy="330200"/>
          </a:xfrm>
          <a:prstGeom prst="roundRect">
            <a:avLst>
              <a:gd name="adj" fmla="val 11538"/>
            </a:avLst>
          </a:prstGeom>
          <a:solidFill>
            <a:srgbClr val="000000"/>
          </a:solidFill>
          <a:ln/>
        </p:spPr>
      </p:sp>
      <p:sp>
        <p:nvSpPr>
          <p:cNvPr id="22" name="Text 19"/>
          <p:cNvSpPr txBox="1"/>
          <p:nvPr/>
        </p:nvSpPr>
        <p:spPr>
          <a:xfrm>
            <a:off x="1526580" y="36980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HEAD</a:t>
            </a:r>
            <a:endParaRPr lang="en-US" sz="2000" dirty="0"/>
          </a:p>
        </p:txBody>
      </p:sp>
      <p:sp>
        <p:nvSpPr>
          <p:cNvPr id="23" name="Shape 20"/>
          <p:cNvSpPr/>
          <p:nvPr/>
        </p:nvSpPr>
        <p:spPr>
          <a:xfrm>
            <a:off x="2352279" y="3685381"/>
            <a:ext cx="1295599" cy="330200"/>
          </a:xfrm>
          <a:prstGeom prst="roundRect">
            <a:avLst>
              <a:gd name="adj" fmla="val 11538"/>
            </a:avLst>
          </a:prstGeom>
          <a:solidFill>
            <a:srgbClr val="000000"/>
          </a:solidFill>
          <a:ln/>
        </p:spPr>
      </p:sp>
      <p:sp>
        <p:nvSpPr>
          <p:cNvPr id="24" name="Text 21"/>
          <p:cNvSpPr txBox="1"/>
          <p:nvPr/>
        </p:nvSpPr>
        <p:spPr>
          <a:xfrm>
            <a:off x="2466579" y="3698081"/>
            <a:ext cx="12193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OPTIONS</a:t>
            </a:r>
            <a:endParaRPr lang="en-US" sz="2000" dirty="0"/>
          </a:p>
        </p:txBody>
      </p:sp>
      <p:sp>
        <p:nvSpPr>
          <p:cNvPr id="25" name="Shape 22"/>
          <p:cNvSpPr/>
          <p:nvPr/>
        </p:nvSpPr>
        <p:spPr>
          <a:xfrm>
            <a:off x="294481" y="4498181"/>
            <a:ext cx="5080000" cy="1054100"/>
          </a:xfrm>
          <a:prstGeom prst="rect">
            <a:avLst/>
          </a:prstGeom>
          <a:solidFill>
            <a:srgbClr val="FFFFFF"/>
          </a:solidFill>
          <a:ln w="25400">
            <a:solidFill>
              <a:srgbClr val="993300"/>
            </a:solidFill>
            <a:prstDash val="solid"/>
          </a:ln>
        </p:spPr>
      </p:sp>
      <p:sp>
        <p:nvSpPr>
          <p:cNvPr id="26" name="Text 23"/>
          <p:cNvSpPr txBox="1"/>
          <p:nvPr/>
        </p:nvSpPr>
        <p:spPr>
          <a:xfrm>
            <a:off x="472281" y="4650581"/>
            <a:ext cx="87252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Neither</a:t>
            </a:r>
            <a:endParaRPr lang="en-US" sz="1800" dirty="0"/>
          </a:p>
        </p:txBody>
      </p:sp>
      <p:sp>
        <p:nvSpPr>
          <p:cNvPr id="27" name="Shape 24"/>
          <p:cNvSpPr/>
          <p:nvPr/>
        </p:nvSpPr>
        <p:spPr>
          <a:xfrm>
            <a:off x="472281" y="5044281"/>
            <a:ext cx="838399" cy="330200"/>
          </a:xfrm>
          <a:prstGeom prst="roundRect">
            <a:avLst>
              <a:gd name="adj" fmla="val 11538"/>
            </a:avLst>
          </a:prstGeom>
          <a:solidFill>
            <a:srgbClr val="993300"/>
          </a:solidFill>
          <a:ln/>
        </p:spPr>
      </p:sp>
      <p:sp>
        <p:nvSpPr>
          <p:cNvPr id="28" name="Text 25"/>
          <p:cNvSpPr txBox="1"/>
          <p:nvPr/>
        </p:nvSpPr>
        <p:spPr>
          <a:xfrm>
            <a:off x="586581" y="5056981"/>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9" name="Shape 26"/>
          <p:cNvSpPr/>
          <p:nvPr/>
        </p:nvSpPr>
        <p:spPr>
          <a:xfrm>
            <a:off x="1412280" y="5044281"/>
            <a:ext cx="990799" cy="330200"/>
          </a:xfrm>
          <a:prstGeom prst="roundRect">
            <a:avLst>
              <a:gd name="adj" fmla="val 11538"/>
            </a:avLst>
          </a:prstGeom>
          <a:solidFill>
            <a:srgbClr val="000000"/>
          </a:solidFill>
          <a:ln/>
        </p:spPr>
      </p:sp>
      <p:sp>
        <p:nvSpPr>
          <p:cNvPr id="30" name="Text 27"/>
          <p:cNvSpPr txBox="1"/>
          <p:nvPr/>
        </p:nvSpPr>
        <p:spPr>
          <a:xfrm>
            <a:off x="1526580" y="5056981"/>
            <a:ext cx="9145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PATCH</a:t>
            </a:r>
            <a:endParaRPr lang="en-US" sz="2000" dirty="0"/>
          </a:p>
        </p:txBody>
      </p:sp>
      <p:sp>
        <p:nvSpPr>
          <p:cNvPr id="31" name="Text 28"/>
          <p:cNvSpPr txBox="1"/>
          <p:nvPr/>
        </p:nvSpPr>
        <p:spPr>
          <a:xfrm>
            <a:off x="6023372" y="22883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2" name="Text 29"/>
          <p:cNvSpPr txBox="1"/>
          <p:nvPr/>
        </p:nvSpPr>
        <p:spPr>
          <a:xfrm>
            <a:off x="6366272" y="2275681"/>
            <a:ext cx="555664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Safe</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no state change is requested, so caches, prefetchers and crawlers can send it freely </a:t>
            </a:r>
            <a:pPr algn="l" indent="0" marL="0">
              <a:lnSpc>
                <a:spcPts val="3319"/>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2100" dirty="0"/>
          </a:p>
        </p:txBody>
      </p:sp>
      <p:sp>
        <p:nvSpPr>
          <p:cNvPr id="33" name="Text 30"/>
          <p:cNvSpPr txBox="1"/>
          <p:nvPr/>
        </p:nvSpPr>
        <p:spPr>
          <a:xfrm>
            <a:off x="6023372" y="3375025"/>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4" name="Text 31"/>
          <p:cNvSpPr txBox="1"/>
          <p:nvPr/>
        </p:nvSpPr>
        <p:spPr>
          <a:xfrm>
            <a:off x="6366272" y="3362325"/>
            <a:ext cx="555664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Idempotent</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repeating it has the same intended effect, so a client may retry after a lost connection </a:t>
            </a:r>
            <a:pPr algn="l" indent="0" marL="0">
              <a:lnSpc>
                <a:spcPts val="33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
        <p:nvSpPr>
          <p:cNvPr id="35" name="Text 32"/>
          <p:cNvSpPr txBox="1"/>
          <p:nvPr/>
        </p:nvSpPr>
        <p:spPr>
          <a:xfrm>
            <a:off x="6023372" y="4461669"/>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6" name="Text 33"/>
          <p:cNvSpPr txBox="1"/>
          <p:nvPr/>
        </p:nvSpPr>
        <p:spPr>
          <a:xfrm>
            <a:off x="6366272" y="4448969"/>
            <a:ext cx="55566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Neither</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no blind retries; a proxy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MUST NOT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retry these automatically </a:t>
            </a:r>
            <a:pPr algn="l" indent="0" marL="0">
              <a:lnSpc>
                <a:spcPts val="2519"/>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Text 9"/>
          <p:cNvSpPr txBox="1"/>
          <p:nvPr/>
        </p:nvSpPr>
        <p:spPr>
          <a:xfrm>
            <a:off x="434181" y="1970881"/>
            <a:ext cx="54113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3" name="Shape 10"/>
          <p:cNvSpPr/>
          <p:nvPr/>
        </p:nvSpPr>
        <p:spPr>
          <a:xfrm>
            <a:off x="886420" y="1948061"/>
            <a:ext cx="254000" cy="254000"/>
          </a:xfrm>
          <a:prstGeom prst="roundRect">
            <a:avLst>
              <a:gd name="adj" fmla="val 50000"/>
            </a:avLst>
          </a:prstGeom>
          <a:solidFill>
            <a:srgbClr val="333399"/>
          </a:solidFill>
          <a:ln/>
        </p:spPr>
      </p:sp>
      <p:sp>
        <p:nvSpPr>
          <p:cNvPr id="14" name="Text 11"/>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2"/>
          <p:cNvSpPr txBox="1"/>
          <p:nvPr/>
        </p:nvSpPr>
        <p:spPr>
          <a:xfrm>
            <a:off x="1140420" y="1970881"/>
            <a:ext cx="3521075" cy="241300"/>
          </a:xfrm>
          <a:prstGeom prst="rect">
            <a:avLst/>
          </a:prstGeom>
          <a:noFill/>
          <a:ln/>
        </p:spPr>
        <p:txBody>
          <a:bodyPr wrap="none" lIns="0" tIns="0" rIns="0" bIns="0" rtlCol="0" anchor="t"/>
          <a:lstStyle/>
          <a:p>
            <a:pPr algn="l" indent="0" marL="0">
              <a:buNone/>
            </a:pPr>
            <a:pPr algn="l"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6" name="Shape 13"/>
          <p:cNvSpPr/>
          <p:nvPr/>
        </p:nvSpPr>
        <p:spPr>
          <a:xfrm>
            <a:off x="4572595" y="1948061"/>
            <a:ext cx="254000" cy="254000"/>
          </a:xfrm>
          <a:prstGeom prst="roundRect">
            <a:avLst>
              <a:gd name="adj" fmla="val 50000"/>
            </a:avLst>
          </a:prstGeom>
          <a:solidFill>
            <a:srgbClr val="333399"/>
          </a:solidFill>
          <a:ln/>
        </p:spPr>
      </p:sp>
      <p:sp>
        <p:nvSpPr>
          <p:cNvPr id="17" name="Text 14"/>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5"/>
          <p:cNvSpPr txBox="1"/>
          <p:nvPr/>
        </p:nvSpPr>
        <p:spPr>
          <a:xfrm>
            <a:off x="4826595" y="1970881"/>
            <a:ext cx="1318617" cy="241300"/>
          </a:xfrm>
          <a:prstGeom prst="rect">
            <a:avLst/>
          </a:prstGeom>
          <a:noFill/>
          <a:ln/>
        </p:spPr>
        <p:txBody>
          <a:bodyPr wrap="none" lIns="0" tIns="0" rIns="0" bIns="0" rtlCol="0" anchor="t"/>
          <a:lstStyle/>
          <a:p>
            <a:pPr algn="l" indent="0" marL="0">
              <a:buNone/>
            </a:pPr>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19" name="Text 16"/>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0" name="Shape 17"/>
          <p:cNvSpPr/>
          <p:nvPr/>
        </p:nvSpPr>
        <p:spPr>
          <a:xfrm>
            <a:off x="2700337" y="2260997"/>
            <a:ext cx="254000" cy="254000"/>
          </a:xfrm>
          <a:prstGeom prst="roundRect">
            <a:avLst>
              <a:gd name="adj" fmla="val 50000"/>
            </a:avLst>
          </a:prstGeom>
          <a:solidFill>
            <a:srgbClr val="333399"/>
          </a:solidFill>
          <a:ln/>
        </p:spPr>
      </p:sp>
      <p:sp>
        <p:nvSpPr>
          <p:cNvPr id="21" name="Text 18"/>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3" name="Text 20"/>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4" name="Text 21"/>
          <p:cNvSpPr txBox="1"/>
          <p:nvPr/>
        </p:nvSpPr>
        <p:spPr>
          <a:xfrm>
            <a:off x="434181" y="3535561"/>
            <a:ext cx="1707157" cy="241300"/>
          </a:xfrm>
          <a:prstGeom prst="rect">
            <a:avLst/>
          </a:prstGeom>
          <a:noFill/>
          <a:ln/>
        </p:spPr>
        <p:txBody>
          <a:bodyPr wrap="none" lIns="0" tIns="0" rIns="0" bIns="0" rtlCol="0" anchor="t"/>
          <a:lstStyle/>
          <a:p>
            <a:pPr algn="l"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25" name="Shape 22"/>
          <p:cNvSpPr/>
          <p:nvPr/>
        </p:nvSpPr>
        <p:spPr>
          <a:xfrm>
            <a:off x="2052439" y="3512740"/>
            <a:ext cx="254000" cy="254000"/>
          </a:xfrm>
          <a:prstGeom prst="roundRect">
            <a:avLst>
              <a:gd name="adj" fmla="val 50000"/>
            </a:avLst>
          </a:prstGeom>
          <a:solidFill>
            <a:srgbClr val="333399"/>
          </a:solidFill>
          <a:ln/>
        </p:spPr>
      </p:sp>
      <p:sp>
        <p:nvSpPr>
          <p:cNvPr id="26" name="Text 23"/>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4"/>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28" name="Shape 25"/>
          <p:cNvSpPr/>
          <p:nvPr/>
        </p:nvSpPr>
        <p:spPr>
          <a:xfrm>
            <a:off x="6949281" y="1856581"/>
            <a:ext cx="4948237" cy="2055416"/>
          </a:xfrm>
          <a:prstGeom prst="rect">
            <a:avLst/>
          </a:prstGeom>
          <a:solidFill>
            <a:srgbClr val="FFFFFF"/>
          </a:solidFill>
          <a:ln w="12700">
            <a:solidFill>
              <a:srgbClr val="333399"/>
            </a:solidFill>
            <a:prstDash val="solid"/>
          </a:ln>
        </p:spPr>
      </p:sp>
      <p:sp>
        <p:nvSpPr>
          <p:cNvPr id="29" name="Text 26"/>
          <p:cNvSpPr txBox="1"/>
          <p:nvPr/>
        </p:nvSpPr>
        <p:spPr>
          <a:xfrm>
            <a:off x="7088981" y="1970881"/>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0" name="Shape 27"/>
          <p:cNvSpPr/>
          <p:nvPr/>
        </p:nvSpPr>
        <p:spPr>
          <a:xfrm>
            <a:off x="9095979" y="1948061"/>
            <a:ext cx="254000" cy="254000"/>
          </a:xfrm>
          <a:prstGeom prst="roundRect">
            <a:avLst>
              <a:gd name="adj" fmla="val 50000"/>
            </a:avLst>
          </a:prstGeom>
          <a:solidFill>
            <a:srgbClr val="333399"/>
          </a:solidFill>
          <a:ln/>
        </p:spPr>
      </p:sp>
      <p:sp>
        <p:nvSpPr>
          <p:cNvPr id="31" name="Text 28"/>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29"/>
          <p:cNvSpPr txBox="1"/>
          <p:nvPr/>
        </p:nvSpPr>
        <p:spPr>
          <a:xfrm>
            <a:off x="7088981" y="2283817"/>
            <a:ext cx="403939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33" name="Text 30"/>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34" name="Shape 31"/>
          <p:cNvSpPr/>
          <p:nvPr/>
        </p:nvSpPr>
        <p:spPr>
          <a:xfrm>
            <a:off x="7282061" y="2886869"/>
            <a:ext cx="254000" cy="254000"/>
          </a:xfrm>
          <a:prstGeom prst="roundRect">
            <a:avLst>
              <a:gd name="adj" fmla="val 50000"/>
            </a:avLst>
          </a:prstGeom>
          <a:solidFill>
            <a:srgbClr val="333399"/>
          </a:solidFill>
          <a:ln/>
        </p:spPr>
      </p:sp>
      <p:sp>
        <p:nvSpPr>
          <p:cNvPr id="35" name="Text 32"/>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 33"/>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37" name="Text 34"/>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Text 14"/>
          <p:cNvSpPr txBox="1"/>
          <p:nvPr/>
        </p:nvSpPr>
        <p:spPr>
          <a:xfrm>
            <a:off x="1270000" y="1970881"/>
            <a:ext cx="3391495"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8" name="Shape 15"/>
          <p:cNvSpPr/>
          <p:nvPr/>
        </p:nvSpPr>
        <p:spPr>
          <a:xfrm>
            <a:off x="4572595" y="1948061"/>
            <a:ext cx="254000" cy="254000"/>
          </a:xfrm>
          <a:prstGeom prst="roundRect">
            <a:avLst>
              <a:gd name="adj" fmla="val 50000"/>
            </a:avLst>
          </a:prstGeom>
          <a:solidFill>
            <a:srgbClr val="333399"/>
          </a:solidFill>
          <a:ln/>
        </p:spPr>
      </p:sp>
      <p:sp>
        <p:nvSpPr>
          <p:cNvPr id="19" name="Text 16"/>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7"/>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1" name="Text 18"/>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2" name="Text 19"/>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3" name="Shape 20"/>
          <p:cNvSpPr/>
          <p:nvPr/>
        </p:nvSpPr>
        <p:spPr>
          <a:xfrm>
            <a:off x="2700337" y="2260997"/>
            <a:ext cx="254000" cy="254000"/>
          </a:xfrm>
          <a:prstGeom prst="roundRect">
            <a:avLst>
              <a:gd name="adj" fmla="val 50000"/>
            </a:avLst>
          </a:prstGeom>
          <a:solidFill>
            <a:srgbClr val="333399"/>
          </a:solidFill>
          <a:ln/>
        </p:spPr>
      </p:sp>
      <p:sp>
        <p:nvSpPr>
          <p:cNvPr id="24" name="Text 21"/>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2"/>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6" name="Text 23"/>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7" name="Text 24"/>
          <p:cNvSpPr txBox="1"/>
          <p:nvPr/>
        </p:nvSpPr>
        <p:spPr>
          <a:xfrm>
            <a:off x="434181" y="3535561"/>
            <a:ext cx="1707157" cy="241300"/>
          </a:xfrm>
          <a:prstGeom prst="rect">
            <a:avLst/>
          </a:prstGeom>
          <a:noFill/>
          <a:ln/>
        </p:spPr>
        <p:txBody>
          <a:bodyPr wrap="none" lIns="0" tIns="0" rIns="0" bIns="0" rtlCol="0" anchor="t"/>
          <a:lstStyle/>
          <a:p>
            <a:pPr algn="l"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28" name="Shape 25"/>
          <p:cNvSpPr/>
          <p:nvPr/>
        </p:nvSpPr>
        <p:spPr>
          <a:xfrm>
            <a:off x="2052439" y="3512740"/>
            <a:ext cx="254000" cy="254000"/>
          </a:xfrm>
          <a:prstGeom prst="roundRect">
            <a:avLst>
              <a:gd name="adj" fmla="val 50000"/>
            </a:avLst>
          </a:prstGeom>
          <a:solidFill>
            <a:srgbClr val="333399"/>
          </a:solidFill>
          <a:ln/>
        </p:spPr>
      </p:sp>
      <p:sp>
        <p:nvSpPr>
          <p:cNvPr id="29" name="Text 26"/>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7"/>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1" name="Shape 28"/>
          <p:cNvSpPr/>
          <p:nvPr/>
        </p:nvSpPr>
        <p:spPr>
          <a:xfrm>
            <a:off x="6949281" y="1856581"/>
            <a:ext cx="4948237" cy="2055416"/>
          </a:xfrm>
          <a:prstGeom prst="rect">
            <a:avLst/>
          </a:prstGeom>
          <a:solidFill>
            <a:srgbClr val="FFFFFF"/>
          </a:solidFill>
          <a:ln w="12700">
            <a:solidFill>
              <a:srgbClr val="333399"/>
            </a:solidFill>
            <a:prstDash val="solid"/>
          </a:ln>
        </p:spPr>
      </p:sp>
      <p:sp>
        <p:nvSpPr>
          <p:cNvPr id="32" name="Text 29"/>
          <p:cNvSpPr txBox="1"/>
          <p:nvPr/>
        </p:nvSpPr>
        <p:spPr>
          <a:xfrm>
            <a:off x="7088981" y="1970881"/>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3" name="Shape 30"/>
          <p:cNvSpPr/>
          <p:nvPr/>
        </p:nvSpPr>
        <p:spPr>
          <a:xfrm>
            <a:off x="9095979" y="1948061"/>
            <a:ext cx="254000" cy="254000"/>
          </a:xfrm>
          <a:prstGeom prst="roundRect">
            <a:avLst>
              <a:gd name="adj" fmla="val 50000"/>
            </a:avLst>
          </a:prstGeom>
          <a:solidFill>
            <a:srgbClr val="333399"/>
          </a:solidFill>
          <a:ln/>
        </p:spPr>
      </p:sp>
      <p:sp>
        <p:nvSpPr>
          <p:cNvPr id="34" name="Text 31"/>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2"/>
          <p:cNvSpPr txBox="1"/>
          <p:nvPr/>
        </p:nvSpPr>
        <p:spPr>
          <a:xfrm>
            <a:off x="7088981" y="2283817"/>
            <a:ext cx="403939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36" name="Text 33"/>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37" name="Shape 34"/>
          <p:cNvSpPr/>
          <p:nvPr/>
        </p:nvSpPr>
        <p:spPr>
          <a:xfrm>
            <a:off x="7282061" y="2886869"/>
            <a:ext cx="254000" cy="254000"/>
          </a:xfrm>
          <a:prstGeom prst="roundRect">
            <a:avLst>
              <a:gd name="adj" fmla="val 50000"/>
            </a:avLst>
          </a:prstGeom>
          <a:solidFill>
            <a:srgbClr val="333399"/>
          </a:solidFill>
          <a:ln/>
        </p:spPr>
      </p:sp>
      <p:sp>
        <p:nvSpPr>
          <p:cNvPr id="38" name="Text 35"/>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6"/>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0" name="Text 37"/>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1" name="Shape 38"/>
          <p:cNvSpPr/>
          <p:nvPr/>
        </p:nvSpPr>
        <p:spPr>
          <a:xfrm>
            <a:off x="294481" y="4168576"/>
            <a:ext cx="254000" cy="254000"/>
          </a:xfrm>
          <a:prstGeom prst="roundRect">
            <a:avLst>
              <a:gd name="adj" fmla="val 50000"/>
            </a:avLst>
          </a:prstGeom>
          <a:solidFill>
            <a:srgbClr val="333399"/>
          </a:solidFill>
          <a:ln/>
        </p:spPr>
      </p:sp>
      <p:sp>
        <p:nvSpPr>
          <p:cNvPr id="42" name="Text 39"/>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3" name="Text 40"/>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Shape 14"/>
          <p:cNvSpPr/>
          <p:nvPr/>
        </p:nvSpPr>
        <p:spPr>
          <a:xfrm>
            <a:off x="1270000" y="1970881"/>
            <a:ext cx="3239095" cy="2413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18" name="Text 15"/>
          <p:cNvSpPr txBox="1"/>
          <p:nvPr/>
        </p:nvSpPr>
        <p:spPr>
          <a:xfrm>
            <a:off x="1193800" y="1970881"/>
            <a:ext cx="3391495"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9" name="Shape 16"/>
          <p:cNvSpPr/>
          <p:nvPr/>
        </p:nvSpPr>
        <p:spPr>
          <a:xfrm>
            <a:off x="4572595" y="1948061"/>
            <a:ext cx="254000" cy="254000"/>
          </a:xfrm>
          <a:prstGeom prst="roundRect">
            <a:avLst>
              <a:gd name="adj" fmla="val 50000"/>
            </a:avLst>
          </a:prstGeom>
          <a:solidFill>
            <a:srgbClr val="333399"/>
          </a:solidFill>
          <a:ln/>
        </p:spPr>
      </p:sp>
      <p:sp>
        <p:nvSpPr>
          <p:cNvPr id="20" name="Text 17"/>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2" name="Text 19"/>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3" name="Text 20"/>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4" name="Shape 21"/>
          <p:cNvSpPr/>
          <p:nvPr/>
        </p:nvSpPr>
        <p:spPr>
          <a:xfrm>
            <a:off x="2700337" y="2260997"/>
            <a:ext cx="254000" cy="254000"/>
          </a:xfrm>
          <a:prstGeom prst="roundRect">
            <a:avLst>
              <a:gd name="adj" fmla="val 50000"/>
            </a:avLst>
          </a:prstGeom>
          <a:solidFill>
            <a:srgbClr val="333399"/>
          </a:solidFill>
          <a:ln/>
        </p:spPr>
      </p:sp>
      <p:sp>
        <p:nvSpPr>
          <p:cNvPr id="25" name="Text 22"/>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3"/>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7" name="Text 24"/>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8" name="Text 25"/>
          <p:cNvSpPr txBox="1"/>
          <p:nvPr/>
        </p:nvSpPr>
        <p:spPr>
          <a:xfrm>
            <a:off x="434181" y="3535561"/>
            <a:ext cx="1707157" cy="241300"/>
          </a:xfrm>
          <a:prstGeom prst="rect">
            <a:avLst/>
          </a:prstGeom>
          <a:noFill/>
          <a:ln/>
        </p:spPr>
        <p:txBody>
          <a:bodyPr wrap="none" lIns="0" tIns="0" rIns="0" bIns="0" rtlCol="0" anchor="t"/>
          <a:lstStyle/>
          <a:p>
            <a:pPr algn="l"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29" name="Shape 26"/>
          <p:cNvSpPr/>
          <p:nvPr/>
        </p:nvSpPr>
        <p:spPr>
          <a:xfrm>
            <a:off x="2052439" y="3512740"/>
            <a:ext cx="254000" cy="254000"/>
          </a:xfrm>
          <a:prstGeom prst="roundRect">
            <a:avLst>
              <a:gd name="adj" fmla="val 50000"/>
            </a:avLst>
          </a:prstGeom>
          <a:solidFill>
            <a:srgbClr val="333399"/>
          </a:solidFill>
          <a:ln/>
        </p:spPr>
      </p:sp>
      <p:sp>
        <p:nvSpPr>
          <p:cNvPr id="30" name="Text 27"/>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8"/>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2" name="Shape 29"/>
          <p:cNvSpPr/>
          <p:nvPr/>
        </p:nvSpPr>
        <p:spPr>
          <a:xfrm>
            <a:off x="6949281" y="1856581"/>
            <a:ext cx="4948237" cy="2055416"/>
          </a:xfrm>
          <a:prstGeom prst="rect">
            <a:avLst/>
          </a:prstGeom>
          <a:solidFill>
            <a:srgbClr val="FFFFFF"/>
          </a:solidFill>
          <a:ln w="12700">
            <a:solidFill>
              <a:srgbClr val="333399"/>
            </a:solidFill>
            <a:prstDash val="solid"/>
          </a:ln>
        </p:spPr>
      </p:sp>
      <p:sp>
        <p:nvSpPr>
          <p:cNvPr id="33" name="Text 30"/>
          <p:cNvSpPr txBox="1"/>
          <p:nvPr/>
        </p:nvSpPr>
        <p:spPr>
          <a:xfrm>
            <a:off x="7088981" y="1970881"/>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4" name="Shape 31"/>
          <p:cNvSpPr/>
          <p:nvPr/>
        </p:nvSpPr>
        <p:spPr>
          <a:xfrm>
            <a:off x="9095979" y="1948061"/>
            <a:ext cx="254000" cy="254000"/>
          </a:xfrm>
          <a:prstGeom prst="roundRect">
            <a:avLst>
              <a:gd name="adj" fmla="val 50000"/>
            </a:avLst>
          </a:prstGeom>
          <a:solidFill>
            <a:srgbClr val="333399"/>
          </a:solidFill>
          <a:ln/>
        </p:spPr>
      </p:sp>
      <p:sp>
        <p:nvSpPr>
          <p:cNvPr id="35" name="Text 32"/>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33"/>
          <p:cNvSpPr txBox="1"/>
          <p:nvPr/>
        </p:nvSpPr>
        <p:spPr>
          <a:xfrm>
            <a:off x="7088981" y="2283817"/>
            <a:ext cx="403939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37" name="Text 34"/>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38" name="Shape 35"/>
          <p:cNvSpPr/>
          <p:nvPr/>
        </p:nvSpPr>
        <p:spPr>
          <a:xfrm>
            <a:off x="7282061" y="2886869"/>
            <a:ext cx="254000" cy="254000"/>
          </a:xfrm>
          <a:prstGeom prst="roundRect">
            <a:avLst>
              <a:gd name="adj" fmla="val 50000"/>
            </a:avLst>
          </a:prstGeom>
          <a:solidFill>
            <a:srgbClr val="333399"/>
          </a:solidFill>
          <a:ln/>
        </p:spPr>
      </p:sp>
      <p:sp>
        <p:nvSpPr>
          <p:cNvPr id="39" name="Text 36"/>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0" name="Text 37"/>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1" name="Text 38"/>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2" name="Shape 39"/>
          <p:cNvSpPr/>
          <p:nvPr/>
        </p:nvSpPr>
        <p:spPr>
          <a:xfrm>
            <a:off x="294481" y="4168576"/>
            <a:ext cx="254000" cy="254000"/>
          </a:xfrm>
          <a:prstGeom prst="roundRect">
            <a:avLst>
              <a:gd name="adj" fmla="val 50000"/>
            </a:avLst>
          </a:prstGeom>
          <a:solidFill>
            <a:srgbClr val="333399"/>
          </a:solidFill>
          <a:ln/>
        </p:spPr>
      </p:sp>
      <p:sp>
        <p:nvSpPr>
          <p:cNvPr id="43" name="Text 40"/>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4" name="Text 41"/>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
        <p:nvSpPr>
          <p:cNvPr id="45" name="Shape 42"/>
          <p:cNvSpPr/>
          <p:nvPr/>
        </p:nvSpPr>
        <p:spPr>
          <a:xfrm>
            <a:off x="294481" y="4822627"/>
            <a:ext cx="254000" cy="254000"/>
          </a:xfrm>
          <a:prstGeom prst="roundRect">
            <a:avLst>
              <a:gd name="adj" fmla="val 50000"/>
            </a:avLst>
          </a:prstGeom>
          <a:solidFill>
            <a:srgbClr val="333399"/>
          </a:solidFill>
          <a:ln/>
        </p:spPr>
      </p:sp>
      <p:sp>
        <p:nvSpPr>
          <p:cNvPr id="46" name="Text 43"/>
          <p:cNvSpPr txBox="1"/>
          <p:nvPr/>
        </p:nvSpPr>
        <p:spPr>
          <a:xfrm>
            <a:off x="379611"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7" name="Text 44"/>
          <p:cNvSpPr txBox="1"/>
          <p:nvPr/>
        </p:nvSpPr>
        <p:spPr>
          <a:xfrm>
            <a:off x="637381" y="4794647"/>
            <a:ext cx="4692649"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Target</a:t>
            </a:r>
            <a:pPr algn="l" indent="0" marL="0">
              <a:buNone/>
            </a:pPr>
            <a:r>
              <a:rPr lang="en-US" sz="1900" dirty="0">
                <a:solidFill>
                  <a:srgbClr val="000000"/>
                </a:solidFill>
                <a:latin typeface="Calibri" pitchFamily="34" charset="0"/>
                <a:ea typeface="Calibri" pitchFamily="34" charset="-122"/>
                <a:cs typeface="Calibri" pitchFamily="34" charset="-120"/>
              </a:rPr>
              <a:t>: URI of the resource, including its query</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Shape 14"/>
          <p:cNvSpPr/>
          <p:nvPr/>
        </p:nvSpPr>
        <p:spPr>
          <a:xfrm>
            <a:off x="1270000" y="1970881"/>
            <a:ext cx="3239095"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193800" y="1970881"/>
            <a:ext cx="3391495"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9" name="Shape 16"/>
          <p:cNvSpPr/>
          <p:nvPr/>
        </p:nvSpPr>
        <p:spPr>
          <a:xfrm>
            <a:off x="4572595" y="1948061"/>
            <a:ext cx="254000" cy="254000"/>
          </a:xfrm>
          <a:prstGeom prst="roundRect">
            <a:avLst>
              <a:gd name="adj" fmla="val 50000"/>
            </a:avLst>
          </a:prstGeom>
          <a:solidFill>
            <a:srgbClr val="333399"/>
          </a:solidFill>
          <a:ln/>
        </p:spPr>
      </p:sp>
      <p:sp>
        <p:nvSpPr>
          <p:cNvPr id="20" name="Text 17"/>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2" name="Text 19"/>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3" name="Shape 20"/>
          <p:cNvSpPr/>
          <p:nvPr/>
        </p:nvSpPr>
        <p:spPr>
          <a:xfrm>
            <a:off x="434181" y="2258417"/>
            <a:ext cx="6070600" cy="938808"/>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24" name="Text 21"/>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5" name="Shape 22"/>
          <p:cNvSpPr/>
          <p:nvPr/>
        </p:nvSpPr>
        <p:spPr>
          <a:xfrm>
            <a:off x="2700337" y="2260997"/>
            <a:ext cx="254000" cy="254000"/>
          </a:xfrm>
          <a:prstGeom prst="roundRect">
            <a:avLst>
              <a:gd name="adj" fmla="val 50000"/>
            </a:avLst>
          </a:prstGeom>
          <a:solidFill>
            <a:srgbClr val="333399"/>
          </a:solidFill>
          <a:ln/>
        </p:spPr>
      </p:sp>
      <p:sp>
        <p:nvSpPr>
          <p:cNvPr id="26" name="Text 23"/>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8" name="Text 25"/>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9" name="Text 26"/>
          <p:cNvSpPr txBox="1"/>
          <p:nvPr/>
        </p:nvSpPr>
        <p:spPr>
          <a:xfrm>
            <a:off x="434181" y="3535561"/>
            <a:ext cx="1707157" cy="241300"/>
          </a:xfrm>
          <a:prstGeom prst="rect">
            <a:avLst/>
          </a:prstGeom>
          <a:noFill/>
          <a:ln/>
        </p:spPr>
        <p:txBody>
          <a:bodyPr wrap="none" lIns="0" tIns="0" rIns="0" bIns="0" rtlCol="0" anchor="t"/>
          <a:lstStyle/>
          <a:p>
            <a:pPr algn="l"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30" name="Shape 27"/>
          <p:cNvSpPr/>
          <p:nvPr/>
        </p:nvSpPr>
        <p:spPr>
          <a:xfrm>
            <a:off x="2052439" y="3512740"/>
            <a:ext cx="254000" cy="254000"/>
          </a:xfrm>
          <a:prstGeom prst="roundRect">
            <a:avLst>
              <a:gd name="adj" fmla="val 50000"/>
            </a:avLst>
          </a:prstGeom>
          <a:solidFill>
            <a:srgbClr val="333399"/>
          </a:solidFill>
          <a:ln/>
        </p:spPr>
      </p:sp>
      <p:sp>
        <p:nvSpPr>
          <p:cNvPr id="31" name="Text 28"/>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29"/>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3" name="Shape 30"/>
          <p:cNvSpPr/>
          <p:nvPr/>
        </p:nvSpPr>
        <p:spPr>
          <a:xfrm>
            <a:off x="6949281" y="1856581"/>
            <a:ext cx="4948237" cy="2055416"/>
          </a:xfrm>
          <a:prstGeom prst="rect">
            <a:avLst/>
          </a:prstGeom>
          <a:solidFill>
            <a:srgbClr val="FFFFFF"/>
          </a:solidFill>
          <a:ln w="12700">
            <a:solidFill>
              <a:srgbClr val="333399"/>
            </a:solidFill>
            <a:prstDash val="solid"/>
          </a:ln>
        </p:spPr>
      </p:sp>
      <p:sp>
        <p:nvSpPr>
          <p:cNvPr id="34" name="Text 31"/>
          <p:cNvSpPr txBox="1"/>
          <p:nvPr/>
        </p:nvSpPr>
        <p:spPr>
          <a:xfrm>
            <a:off x="7088981" y="1970881"/>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5" name="Shape 32"/>
          <p:cNvSpPr/>
          <p:nvPr/>
        </p:nvSpPr>
        <p:spPr>
          <a:xfrm>
            <a:off x="9095979" y="1948061"/>
            <a:ext cx="254000" cy="254000"/>
          </a:xfrm>
          <a:prstGeom prst="roundRect">
            <a:avLst>
              <a:gd name="adj" fmla="val 50000"/>
            </a:avLst>
          </a:prstGeom>
          <a:solidFill>
            <a:srgbClr val="333399"/>
          </a:solidFill>
          <a:ln/>
        </p:spPr>
      </p:sp>
      <p:sp>
        <p:nvSpPr>
          <p:cNvPr id="36" name="Text 33"/>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Text 34"/>
          <p:cNvSpPr txBox="1"/>
          <p:nvPr/>
        </p:nvSpPr>
        <p:spPr>
          <a:xfrm>
            <a:off x="7088981" y="2283817"/>
            <a:ext cx="403939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38" name="Text 35"/>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39" name="Shape 36"/>
          <p:cNvSpPr/>
          <p:nvPr/>
        </p:nvSpPr>
        <p:spPr>
          <a:xfrm>
            <a:off x="7282061" y="2886869"/>
            <a:ext cx="254000" cy="254000"/>
          </a:xfrm>
          <a:prstGeom prst="roundRect">
            <a:avLst>
              <a:gd name="adj" fmla="val 50000"/>
            </a:avLst>
          </a:prstGeom>
          <a:solidFill>
            <a:srgbClr val="333399"/>
          </a:solidFill>
          <a:ln/>
        </p:spPr>
      </p:sp>
      <p:sp>
        <p:nvSpPr>
          <p:cNvPr id="40" name="Text 37"/>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Text 38"/>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2" name="Text 39"/>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3" name="Shape 40"/>
          <p:cNvSpPr/>
          <p:nvPr/>
        </p:nvSpPr>
        <p:spPr>
          <a:xfrm>
            <a:off x="294481" y="4168576"/>
            <a:ext cx="254000" cy="254000"/>
          </a:xfrm>
          <a:prstGeom prst="roundRect">
            <a:avLst>
              <a:gd name="adj" fmla="val 50000"/>
            </a:avLst>
          </a:prstGeom>
          <a:solidFill>
            <a:srgbClr val="333399"/>
          </a:solidFill>
          <a:ln/>
        </p:spPr>
      </p:sp>
      <p:sp>
        <p:nvSpPr>
          <p:cNvPr id="44" name="Text 41"/>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5" name="Text 42"/>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
        <p:nvSpPr>
          <p:cNvPr id="46" name="Shape 43"/>
          <p:cNvSpPr/>
          <p:nvPr/>
        </p:nvSpPr>
        <p:spPr>
          <a:xfrm>
            <a:off x="294481" y="4822627"/>
            <a:ext cx="254000" cy="254000"/>
          </a:xfrm>
          <a:prstGeom prst="roundRect">
            <a:avLst>
              <a:gd name="adj" fmla="val 50000"/>
            </a:avLst>
          </a:prstGeom>
          <a:solidFill>
            <a:srgbClr val="333399"/>
          </a:solidFill>
          <a:ln/>
        </p:spPr>
      </p:sp>
      <p:sp>
        <p:nvSpPr>
          <p:cNvPr id="47" name="Text 44"/>
          <p:cNvSpPr txBox="1"/>
          <p:nvPr/>
        </p:nvSpPr>
        <p:spPr>
          <a:xfrm>
            <a:off x="379611"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8" name="Text 45"/>
          <p:cNvSpPr txBox="1"/>
          <p:nvPr/>
        </p:nvSpPr>
        <p:spPr>
          <a:xfrm>
            <a:off x="637381" y="4794647"/>
            <a:ext cx="4692649"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Target</a:t>
            </a:r>
            <a:pPr algn="l" indent="0" marL="0">
              <a:buNone/>
            </a:pPr>
            <a:r>
              <a:rPr lang="en-US" sz="1900" dirty="0">
                <a:solidFill>
                  <a:srgbClr val="000000"/>
                </a:solidFill>
                <a:latin typeface="Calibri" pitchFamily="34" charset="0"/>
                <a:ea typeface="Calibri" pitchFamily="34" charset="-122"/>
                <a:cs typeface="Calibri" pitchFamily="34" charset="-120"/>
              </a:rPr>
              <a:t>: URI of the resource, including its query</a:t>
            </a:r>
            <a:endParaRPr lang="en-US" sz="1900" dirty="0"/>
          </a:p>
        </p:txBody>
      </p:sp>
      <p:sp>
        <p:nvSpPr>
          <p:cNvPr id="49" name="Shape 46"/>
          <p:cNvSpPr/>
          <p:nvPr/>
        </p:nvSpPr>
        <p:spPr>
          <a:xfrm>
            <a:off x="294481" y="5175052"/>
            <a:ext cx="254000" cy="254000"/>
          </a:xfrm>
          <a:prstGeom prst="roundRect">
            <a:avLst>
              <a:gd name="adj" fmla="val 50000"/>
            </a:avLst>
          </a:prstGeom>
          <a:solidFill>
            <a:srgbClr val="333399"/>
          </a:solidFill>
          <a:ln/>
        </p:spPr>
      </p:sp>
      <p:sp>
        <p:nvSpPr>
          <p:cNvPr id="50" name="Text 47"/>
          <p:cNvSpPr txBox="1"/>
          <p:nvPr/>
        </p:nvSpPr>
        <p:spPr>
          <a:xfrm>
            <a:off x="379611"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1" name="Text 48"/>
          <p:cNvSpPr txBox="1"/>
          <p:nvPr/>
        </p:nvSpPr>
        <p:spPr>
          <a:xfrm>
            <a:off x="637381" y="5147072"/>
            <a:ext cx="409813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Headers</a:t>
            </a:r>
            <a:pPr algn="l" indent="0" marL="0">
              <a:buNone/>
            </a:pPr>
            <a:r>
              <a:rPr lang="en-US" sz="1900" dirty="0">
                <a:solidFill>
                  <a:srgbClr val="000000"/>
                </a:solidFill>
                <a:latin typeface="Calibri" pitchFamily="34" charset="0"/>
                <a:ea typeface="Calibri" pitchFamily="34" charset="-122"/>
                <a:cs typeface="Calibri" pitchFamily="34" charset="-120"/>
              </a:rPr>
              <a:t>: metadata, credentials, formats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Shape 14"/>
          <p:cNvSpPr/>
          <p:nvPr/>
        </p:nvSpPr>
        <p:spPr>
          <a:xfrm>
            <a:off x="1270000" y="1970881"/>
            <a:ext cx="3239095"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193800" y="1970881"/>
            <a:ext cx="3391495"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9" name="Shape 16"/>
          <p:cNvSpPr/>
          <p:nvPr/>
        </p:nvSpPr>
        <p:spPr>
          <a:xfrm>
            <a:off x="4572595" y="1948061"/>
            <a:ext cx="254000" cy="254000"/>
          </a:xfrm>
          <a:prstGeom prst="roundRect">
            <a:avLst>
              <a:gd name="adj" fmla="val 50000"/>
            </a:avLst>
          </a:prstGeom>
          <a:solidFill>
            <a:srgbClr val="333399"/>
          </a:solidFill>
          <a:ln/>
        </p:spPr>
      </p:sp>
      <p:sp>
        <p:nvSpPr>
          <p:cNvPr id="20" name="Text 17"/>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2" name="Text 19"/>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3" name="Shape 20"/>
          <p:cNvSpPr/>
          <p:nvPr/>
        </p:nvSpPr>
        <p:spPr>
          <a:xfrm>
            <a:off x="434181" y="2258417"/>
            <a:ext cx="6070600" cy="938808"/>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4" name="Text 21"/>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5" name="Shape 22"/>
          <p:cNvSpPr/>
          <p:nvPr/>
        </p:nvSpPr>
        <p:spPr>
          <a:xfrm>
            <a:off x="2700337" y="2260997"/>
            <a:ext cx="254000" cy="254000"/>
          </a:xfrm>
          <a:prstGeom prst="roundRect">
            <a:avLst>
              <a:gd name="adj" fmla="val 50000"/>
            </a:avLst>
          </a:prstGeom>
          <a:solidFill>
            <a:srgbClr val="333399"/>
          </a:solidFill>
          <a:ln/>
        </p:spPr>
      </p:sp>
      <p:sp>
        <p:nvSpPr>
          <p:cNvPr id="26" name="Text 23"/>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8" name="Text 25"/>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9" name="Shape 26"/>
          <p:cNvSpPr/>
          <p:nvPr/>
        </p:nvSpPr>
        <p:spPr>
          <a:xfrm>
            <a:off x="434181" y="3535561"/>
            <a:ext cx="1554757" cy="2413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30" name="Text 27"/>
          <p:cNvSpPr txBox="1"/>
          <p:nvPr/>
        </p:nvSpPr>
        <p:spPr>
          <a:xfrm>
            <a:off x="357981" y="3535561"/>
            <a:ext cx="1707157" cy="241300"/>
          </a:xfrm>
          <a:prstGeom prst="rect">
            <a:avLst/>
          </a:prstGeom>
          <a:noFill/>
          <a:ln/>
        </p:spPr>
        <p:txBody>
          <a:bodyPr wrap="none" lIns="0" tIns="0" rIns="0" bIns="0" rtlCol="0" anchor="ctr"/>
          <a:lstStyle/>
          <a:p>
            <a:pPr algn="ctr"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31" name="Shape 28"/>
          <p:cNvSpPr/>
          <p:nvPr/>
        </p:nvSpPr>
        <p:spPr>
          <a:xfrm>
            <a:off x="2052439" y="3512740"/>
            <a:ext cx="254000" cy="254000"/>
          </a:xfrm>
          <a:prstGeom prst="roundRect">
            <a:avLst>
              <a:gd name="adj" fmla="val 50000"/>
            </a:avLst>
          </a:prstGeom>
          <a:solidFill>
            <a:srgbClr val="333399"/>
          </a:solidFill>
          <a:ln/>
        </p:spPr>
      </p:sp>
      <p:sp>
        <p:nvSpPr>
          <p:cNvPr id="32" name="Text 29"/>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4" name="Shape 31"/>
          <p:cNvSpPr/>
          <p:nvPr/>
        </p:nvSpPr>
        <p:spPr>
          <a:xfrm>
            <a:off x="6949281" y="1856581"/>
            <a:ext cx="4948237" cy="2055416"/>
          </a:xfrm>
          <a:prstGeom prst="rect">
            <a:avLst/>
          </a:prstGeom>
          <a:solidFill>
            <a:srgbClr val="FFFFFF"/>
          </a:solidFill>
          <a:ln w="12700">
            <a:solidFill>
              <a:srgbClr val="333399"/>
            </a:solidFill>
            <a:prstDash val="solid"/>
          </a:ln>
        </p:spPr>
      </p:sp>
      <p:sp>
        <p:nvSpPr>
          <p:cNvPr id="35" name="Text 32"/>
          <p:cNvSpPr txBox="1"/>
          <p:nvPr/>
        </p:nvSpPr>
        <p:spPr>
          <a:xfrm>
            <a:off x="7088981" y="1970881"/>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6" name="Shape 33"/>
          <p:cNvSpPr/>
          <p:nvPr/>
        </p:nvSpPr>
        <p:spPr>
          <a:xfrm>
            <a:off x="9095979" y="1948061"/>
            <a:ext cx="254000" cy="254000"/>
          </a:xfrm>
          <a:prstGeom prst="roundRect">
            <a:avLst>
              <a:gd name="adj" fmla="val 50000"/>
            </a:avLst>
          </a:prstGeom>
          <a:solidFill>
            <a:srgbClr val="333399"/>
          </a:solidFill>
          <a:ln/>
        </p:spPr>
      </p:sp>
      <p:sp>
        <p:nvSpPr>
          <p:cNvPr id="37" name="Text 34"/>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8" name="Text 35"/>
          <p:cNvSpPr txBox="1"/>
          <p:nvPr/>
        </p:nvSpPr>
        <p:spPr>
          <a:xfrm>
            <a:off x="7088981" y="2283817"/>
            <a:ext cx="403939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39" name="Text 36"/>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0" name="Shape 37"/>
          <p:cNvSpPr/>
          <p:nvPr/>
        </p:nvSpPr>
        <p:spPr>
          <a:xfrm>
            <a:off x="7282061" y="2886869"/>
            <a:ext cx="254000" cy="254000"/>
          </a:xfrm>
          <a:prstGeom prst="roundRect">
            <a:avLst>
              <a:gd name="adj" fmla="val 50000"/>
            </a:avLst>
          </a:prstGeom>
          <a:solidFill>
            <a:srgbClr val="333399"/>
          </a:solidFill>
          <a:ln/>
        </p:spPr>
      </p:sp>
      <p:sp>
        <p:nvSpPr>
          <p:cNvPr id="41" name="Text 38"/>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2" name="Text 39"/>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3" name="Text 40"/>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4" name="Shape 41"/>
          <p:cNvSpPr/>
          <p:nvPr/>
        </p:nvSpPr>
        <p:spPr>
          <a:xfrm>
            <a:off x="294481" y="4168576"/>
            <a:ext cx="254000" cy="254000"/>
          </a:xfrm>
          <a:prstGeom prst="roundRect">
            <a:avLst>
              <a:gd name="adj" fmla="val 50000"/>
            </a:avLst>
          </a:prstGeom>
          <a:solidFill>
            <a:srgbClr val="333399"/>
          </a:solidFill>
          <a:ln/>
        </p:spPr>
      </p:sp>
      <p:sp>
        <p:nvSpPr>
          <p:cNvPr id="45" name="Text 42"/>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6" name="Text 43"/>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
        <p:nvSpPr>
          <p:cNvPr id="47" name="Shape 44"/>
          <p:cNvSpPr/>
          <p:nvPr/>
        </p:nvSpPr>
        <p:spPr>
          <a:xfrm>
            <a:off x="6223000" y="4168576"/>
            <a:ext cx="254000" cy="254000"/>
          </a:xfrm>
          <a:prstGeom prst="roundRect">
            <a:avLst>
              <a:gd name="adj" fmla="val 50000"/>
            </a:avLst>
          </a:prstGeom>
          <a:solidFill>
            <a:srgbClr val="333399"/>
          </a:solidFill>
          <a:ln/>
        </p:spPr>
      </p:sp>
      <p:sp>
        <p:nvSpPr>
          <p:cNvPr id="48" name="Text 45"/>
          <p:cNvSpPr txBox="1"/>
          <p:nvPr/>
        </p:nvSpPr>
        <p:spPr>
          <a:xfrm>
            <a:off x="6308129"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9" name="Text 46"/>
          <p:cNvSpPr txBox="1"/>
          <p:nvPr/>
        </p:nvSpPr>
        <p:spPr>
          <a:xfrm>
            <a:off x="6223000" y="4140597"/>
            <a:ext cx="5699919" cy="593725"/>
          </a:xfrm>
          <a:prstGeom prst="rect">
            <a:avLst/>
          </a:prstGeom>
          <a:noFill/>
          <a:ln/>
        </p:spPr>
        <p:txBody>
          <a:bodyPr wrap="square" lIns="0" tIns="0" rIns="0" bIns="0" rtlCol="0" anchor="t"/>
          <a:lstStyle/>
          <a:p>
            <a:pPr algn="l" indent="0" marL="0">
              <a:lnSpc>
                <a:spcPts val="2375"/>
              </a:lnSpc>
              <a:buNone/>
            </a:pPr>
            <a:r>
              <a:rPr lang="en-US" sz="1900" b="1" dirty="0">
                <a:solidFill>
                  <a:srgbClr val="000000"/>
                </a:solidFill>
                <a:latin typeface="Calibri" pitchFamily="34" charset="0"/>
                <a:ea typeface="Calibri" pitchFamily="34" charset="-122"/>
                <a:cs typeface="Calibri" pitchFamily="34" charset="-120"/>
              </a:rPr>
              <a:t>Content (body)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none; GET content has no defined semantics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§9.3.1]</a:t>
            </a:r>
            <a:endParaRPr lang="en-US" sz="1900" dirty="0"/>
          </a:p>
        </p:txBody>
      </p:sp>
      <p:sp>
        <p:nvSpPr>
          <p:cNvPr id="50" name="Shape 47"/>
          <p:cNvSpPr/>
          <p:nvPr/>
        </p:nvSpPr>
        <p:spPr>
          <a:xfrm>
            <a:off x="294481" y="4822627"/>
            <a:ext cx="254000" cy="254000"/>
          </a:xfrm>
          <a:prstGeom prst="roundRect">
            <a:avLst>
              <a:gd name="adj" fmla="val 50000"/>
            </a:avLst>
          </a:prstGeom>
          <a:solidFill>
            <a:srgbClr val="333399"/>
          </a:solidFill>
          <a:ln/>
        </p:spPr>
      </p:sp>
      <p:sp>
        <p:nvSpPr>
          <p:cNvPr id="51" name="Text 48"/>
          <p:cNvSpPr txBox="1"/>
          <p:nvPr/>
        </p:nvSpPr>
        <p:spPr>
          <a:xfrm>
            <a:off x="379611"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2" name="Text 49"/>
          <p:cNvSpPr txBox="1"/>
          <p:nvPr/>
        </p:nvSpPr>
        <p:spPr>
          <a:xfrm>
            <a:off x="637381" y="4794647"/>
            <a:ext cx="4692649"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Target</a:t>
            </a:r>
            <a:pPr algn="l" indent="0" marL="0">
              <a:buNone/>
            </a:pPr>
            <a:r>
              <a:rPr lang="en-US" sz="1900" dirty="0">
                <a:solidFill>
                  <a:srgbClr val="000000"/>
                </a:solidFill>
                <a:latin typeface="Calibri" pitchFamily="34" charset="0"/>
                <a:ea typeface="Calibri" pitchFamily="34" charset="-122"/>
                <a:cs typeface="Calibri" pitchFamily="34" charset="-120"/>
              </a:rPr>
              <a:t>: URI of the resource, including its query</a:t>
            </a:r>
            <a:endParaRPr lang="en-US" sz="1900" dirty="0"/>
          </a:p>
        </p:txBody>
      </p:sp>
      <p:sp>
        <p:nvSpPr>
          <p:cNvPr id="53" name="Shape 50"/>
          <p:cNvSpPr/>
          <p:nvPr/>
        </p:nvSpPr>
        <p:spPr>
          <a:xfrm>
            <a:off x="294481" y="5175052"/>
            <a:ext cx="254000" cy="254000"/>
          </a:xfrm>
          <a:prstGeom prst="roundRect">
            <a:avLst>
              <a:gd name="adj" fmla="val 50000"/>
            </a:avLst>
          </a:prstGeom>
          <a:solidFill>
            <a:srgbClr val="333399"/>
          </a:solidFill>
          <a:ln/>
        </p:spPr>
      </p:sp>
      <p:sp>
        <p:nvSpPr>
          <p:cNvPr id="54" name="Text 51"/>
          <p:cNvSpPr txBox="1"/>
          <p:nvPr/>
        </p:nvSpPr>
        <p:spPr>
          <a:xfrm>
            <a:off x="379611"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5" name="Text 52"/>
          <p:cNvSpPr txBox="1"/>
          <p:nvPr/>
        </p:nvSpPr>
        <p:spPr>
          <a:xfrm>
            <a:off x="637381" y="5147072"/>
            <a:ext cx="409813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Headers</a:t>
            </a:r>
            <a:pPr algn="l" indent="0" marL="0">
              <a:buNone/>
            </a:pPr>
            <a:r>
              <a:rPr lang="en-US" sz="1900" dirty="0">
                <a:solidFill>
                  <a:srgbClr val="000000"/>
                </a:solidFill>
                <a:latin typeface="Calibri" pitchFamily="34" charset="0"/>
                <a:ea typeface="Calibri" pitchFamily="34" charset="-122"/>
                <a:cs typeface="Calibri" pitchFamily="34" charset="-120"/>
              </a:rPr>
              <a:t>: metadata, credentials, formats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Shape 14"/>
          <p:cNvSpPr/>
          <p:nvPr/>
        </p:nvSpPr>
        <p:spPr>
          <a:xfrm>
            <a:off x="1270000" y="1970881"/>
            <a:ext cx="3239095"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193800" y="1970881"/>
            <a:ext cx="3391495"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9" name="Shape 16"/>
          <p:cNvSpPr/>
          <p:nvPr/>
        </p:nvSpPr>
        <p:spPr>
          <a:xfrm>
            <a:off x="4572595" y="1948061"/>
            <a:ext cx="254000" cy="254000"/>
          </a:xfrm>
          <a:prstGeom prst="roundRect">
            <a:avLst>
              <a:gd name="adj" fmla="val 50000"/>
            </a:avLst>
          </a:prstGeom>
          <a:solidFill>
            <a:srgbClr val="333399"/>
          </a:solidFill>
          <a:ln/>
        </p:spPr>
      </p:sp>
      <p:sp>
        <p:nvSpPr>
          <p:cNvPr id="20" name="Text 17"/>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2" name="Text 19"/>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3" name="Shape 20"/>
          <p:cNvSpPr/>
          <p:nvPr/>
        </p:nvSpPr>
        <p:spPr>
          <a:xfrm>
            <a:off x="434181" y="2258417"/>
            <a:ext cx="6070600" cy="938808"/>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4" name="Text 21"/>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5" name="Shape 22"/>
          <p:cNvSpPr/>
          <p:nvPr/>
        </p:nvSpPr>
        <p:spPr>
          <a:xfrm>
            <a:off x="2700337" y="2260997"/>
            <a:ext cx="254000" cy="254000"/>
          </a:xfrm>
          <a:prstGeom prst="roundRect">
            <a:avLst>
              <a:gd name="adj" fmla="val 50000"/>
            </a:avLst>
          </a:prstGeom>
          <a:solidFill>
            <a:srgbClr val="333399"/>
          </a:solidFill>
          <a:ln/>
        </p:spPr>
      </p:sp>
      <p:sp>
        <p:nvSpPr>
          <p:cNvPr id="26" name="Text 23"/>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8" name="Text 25"/>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9" name="Shape 26"/>
          <p:cNvSpPr/>
          <p:nvPr/>
        </p:nvSpPr>
        <p:spPr>
          <a:xfrm>
            <a:off x="434181" y="3535561"/>
            <a:ext cx="1554757"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0" name="Text 27"/>
          <p:cNvSpPr txBox="1"/>
          <p:nvPr/>
        </p:nvSpPr>
        <p:spPr>
          <a:xfrm>
            <a:off x="357981" y="3535561"/>
            <a:ext cx="1707157" cy="241300"/>
          </a:xfrm>
          <a:prstGeom prst="rect">
            <a:avLst/>
          </a:prstGeom>
          <a:noFill/>
          <a:ln/>
        </p:spPr>
        <p:txBody>
          <a:bodyPr wrap="none" lIns="0" tIns="0" rIns="0" bIns="0" rtlCol="0" anchor="ctr"/>
          <a:lstStyle/>
          <a:p>
            <a:pPr algn="ctr"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31" name="Shape 28"/>
          <p:cNvSpPr/>
          <p:nvPr/>
        </p:nvSpPr>
        <p:spPr>
          <a:xfrm>
            <a:off x="2052439" y="3512740"/>
            <a:ext cx="254000" cy="254000"/>
          </a:xfrm>
          <a:prstGeom prst="roundRect">
            <a:avLst>
              <a:gd name="adj" fmla="val 50000"/>
            </a:avLst>
          </a:prstGeom>
          <a:solidFill>
            <a:srgbClr val="333399"/>
          </a:solidFill>
          <a:ln/>
        </p:spPr>
      </p:sp>
      <p:sp>
        <p:nvSpPr>
          <p:cNvPr id="32" name="Text 29"/>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4" name="Shape 31"/>
          <p:cNvSpPr/>
          <p:nvPr/>
        </p:nvSpPr>
        <p:spPr>
          <a:xfrm>
            <a:off x="6949281" y="1856581"/>
            <a:ext cx="4948237" cy="2055416"/>
          </a:xfrm>
          <a:prstGeom prst="rect">
            <a:avLst/>
          </a:prstGeom>
          <a:solidFill>
            <a:srgbClr val="FFFFFF"/>
          </a:solidFill>
          <a:ln w="12700">
            <a:solidFill>
              <a:srgbClr val="333399"/>
            </a:solidFill>
            <a:prstDash val="solid"/>
          </a:ln>
        </p:spPr>
      </p:sp>
      <p:sp>
        <p:nvSpPr>
          <p:cNvPr id="35" name="Shape 32"/>
          <p:cNvSpPr/>
          <p:nvPr/>
        </p:nvSpPr>
        <p:spPr>
          <a:xfrm>
            <a:off x="7088981" y="1970881"/>
            <a:ext cx="1943497" cy="2413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36" name="Text 33"/>
          <p:cNvSpPr txBox="1"/>
          <p:nvPr/>
        </p:nvSpPr>
        <p:spPr>
          <a:xfrm>
            <a:off x="7012781" y="1970881"/>
            <a:ext cx="2095897"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7" name="Shape 34"/>
          <p:cNvSpPr/>
          <p:nvPr/>
        </p:nvSpPr>
        <p:spPr>
          <a:xfrm>
            <a:off x="9095979" y="1948061"/>
            <a:ext cx="254000" cy="254000"/>
          </a:xfrm>
          <a:prstGeom prst="roundRect">
            <a:avLst>
              <a:gd name="adj" fmla="val 50000"/>
            </a:avLst>
          </a:prstGeom>
          <a:solidFill>
            <a:srgbClr val="333399"/>
          </a:solidFill>
          <a:ln/>
        </p:spPr>
      </p:sp>
      <p:sp>
        <p:nvSpPr>
          <p:cNvPr id="38" name="Text 35"/>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9" name="Text 36"/>
          <p:cNvSpPr txBox="1"/>
          <p:nvPr/>
        </p:nvSpPr>
        <p:spPr>
          <a:xfrm>
            <a:off x="7088981" y="2283817"/>
            <a:ext cx="403939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40" name="Text 37"/>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1" name="Shape 38"/>
          <p:cNvSpPr/>
          <p:nvPr/>
        </p:nvSpPr>
        <p:spPr>
          <a:xfrm>
            <a:off x="7282061" y="2886869"/>
            <a:ext cx="254000" cy="254000"/>
          </a:xfrm>
          <a:prstGeom prst="roundRect">
            <a:avLst>
              <a:gd name="adj" fmla="val 50000"/>
            </a:avLst>
          </a:prstGeom>
          <a:solidFill>
            <a:srgbClr val="333399"/>
          </a:solidFill>
          <a:ln/>
        </p:spPr>
      </p:sp>
      <p:sp>
        <p:nvSpPr>
          <p:cNvPr id="42" name="Text 39"/>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3" name="Text 40"/>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4" name="Text 41"/>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5" name="Shape 42"/>
          <p:cNvSpPr/>
          <p:nvPr/>
        </p:nvSpPr>
        <p:spPr>
          <a:xfrm>
            <a:off x="294481" y="4168576"/>
            <a:ext cx="254000" cy="254000"/>
          </a:xfrm>
          <a:prstGeom prst="roundRect">
            <a:avLst>
              <a:gd name="adj" fmla="val 50000"/>
            </a:avLst>
          </a:prstGeom>
          <a:solidFill>
            <a:srgbClr val="333399"/>
          </a:solidFill>
          <a:ln/>
        </p:spPr>
      </p:sp>
      <p:sp>
        <p:nvSpPr>
          <p:cNvPr id="46" name="Text 43"/>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7" name="Text 44"/>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
        <p:nvSpPr>
          <p:cNvPr id="48" name="Shape 45"/>
          <p:cNvSpPr/>
          <p:nvPr/>
        </p:nvSpPr>
        <p:spPr>
          <a:xfrm>
            <a:off x="6223000" y="4168576"/>
            <a:ext cx="254000" cy="254000"/>
          </a:xfrm>
          <a:prstGeom prst="roundRect">
            <a:avLst>
              <a:gd name="adj" fmla="val 50000"/>
            </a:avLst>
          </a:prstGeom>
          <a:solidFill>
            <a:srgbClr val="333399"/>
          </a:solidFill>
          <a:ln/>
        </p:spPr>
      </p:sp>
      <p:sp>
        <p:nvSpPr>
          <p:cNvPr id="49" name="Text 46"/>
          <p:cNvSpPr txBox="1"/>
          <p:nvPr/>
        </p:nvSpPr>
        <p:spPr>
          <a:xfrm>
            <a:off x="6308129"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0" name="Text 47"/>
          <p:cNvSpPr txBox="1"/>
          <p:nvPr/>
        </p:nvSpPr>
        <p:spPr>
          <a:xfrm>
            <a:off x="6223000" y="4140597"/>
            <a:ext cx="5699919" cy="593725"/>
          </a:xfrm>
          <a:prstGeom prst="rect">
            <a:avLst/>
          </a:prstGeom>
          <a:noFill/>
          <a:ln/>
        </p:spPr>
        <p:txBody>
          <a:bodyPr wrap="square" lIns="0" tIns="0" rIns="0" bIns="0" rtlCol="0" anchor="t"/>
          <a:lstStyle/>
          <a:p>
            <a:pPr algn="l" indent="0" marL="0">
              <a:lnSpc>
                <a:spcPts val="2375"/>
              </a:lnSpc>
              <a:buNone/>
            </a:pPr>
            <a:r>
              <a:rPr lang="en-US" sz="1900" b="1" dirty="0">
                <a:solidFill>
                  <a:srgbClr val="000000"/>
                </a:solidFill>
                <a:latin typeface="Calibri" pitchFamily="34" charset="0"/>
                <a:ea typeface="Calibri" pitchFamily="34" charset="-122"/>
                <a:cs typeface="Calibri" pitchFamily="34" charset="-120"/>
              </a:rPr>
              <a:t>Content (body)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none; GET content has no defined semantics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§9.3.1]</a:t>
            </a:r>
            <a:endParaRPr lang="en-US" sz="1900" dirty="0"/>
          </a:p>
        </p:txBody>
      </p:sp>
      <p:sp>
        <p:nvSpPr>
          <p:cNvPr id="51" name="Shape 48"/>
          <p:cNvSpPr/>
          <p:nvPr/>
        </p:nvSpPr>
        <p:spPr>
          <a:xfrm>
            <a:off x="294481" y="4822627"/>
            <a:ext cx="254000" cy="254000"/>
          </a:xfrm>
          <a:prstGeom prst="roundRect">
            <a:avLst>
              <a:gd name="adj" fmla="val 50000"/>
            </a:avLst>
          </a:prstGeom>
          <a:solidFill>
            <a:srgbClr val="333399"/>
          </a:solidFill>
          <a:ln/>
        </p:spPr>
      </p:sp>
      <p:sp>
        <p:nvSpPr>
          <p:cNvPr id="52" name="Text 49"/>
          <p:cNvSpPr txBox="1"/>
          <p:nvPr/>
        </p:nvSpPr>
        <p:spPr>
          <a:xfrm>
            <a:off x="379611"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3" name="Text 50"/>
          <p:cNvSpPr txBox="1"/>
          <p:nvPr/>
        </p:nvSpPr>
        <p:spPr>
          <a:xfrm>
            <a:off x="637381" y="4794647"/>
            <a:ext cx="4692649"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Target</a:t>
            </a:r>
            <a:pPr algn="l" indent="0" marL="0">
              <a:buNone/>
            </a:pPr>
            <a:r>
              <a:rPr lang="en-US" sz="1900" dirty="0">
                <a:solidFill>
                  <a:srgbClr val="000000"/>
                </a:solidFill>
                <a:latin typeface="Calibri" pitchFamily="34" charset="0"/>
                <a:ea typeface="Calibri" pitchFamily="34" charset="-122"/>
                <a:cs typeface="Calibri" pitchFamily="34" charset="-120"/>
              </a:rPr>
              <a:t>: URI of the resource, including its query</a:t>
            </a:r>
            <a:endParaRPr lang="en-US" sz="1900" dirty="0"/>
          </a:p>
        </p:txBody>
      </p:sp>
      <p:sp>
        <p:nvSpPr>
          <p:cNvPr id="54" name="Shape 51"/>
          <p:cNvSpPr/>
          <p:nvPr/>
        </p:nvSpPr>
        <p:spPr>
          <a:xfrm>
            <a:off x="6223000" y="4822627"/>
            <a:ext cx="254000" cy="254000"/>
          </a:xfrm>
          <a:prstGeom prst="roundRect">
            <a:avLst>
              <a:gd name="adj" fmla="val 50000"/>
            </a:avLst>
          </a:prstGeom>
          <a:solidFill>
            <a:srgbClr val="333399"/>
          </a:solidFill>
          <a:ln/>
        </p:spPr>
      </p:sp>
      <p:sp>
        <p:nvSpPr>
          <p:cNvPr id="55" name="Text 52"/>
          <p:cNvSpPr txBox="1"/>
          <p:nvPr/>
        </p:nvSpPr>
        <p:spPr>
          <a:xfrm>
            <a:off x="6308129"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6" name="Text 53"/>
          <p:cNvSpPr txBox="1"/>
          <p:nvPr/>
        </p:nvSpPr>
        <p:spPr>
          <a:xfrm>
            <a:off x="6565900" y="4794647"/>
            <a:ext cx="3595092"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Status line</a:t>
            </a:r>
            <a:pPr algn="l" indent="0" marL="0">
              <a:buNone/>
            </a:pPr>
            <a:r>
              <a:rPr lang="en-US" sz="1900" dirty="0">
                <a:solidFill>
                  <a:srgbClr val="000000"/>
                </a:solidFill>
                <a:latin typeface="Calibri" pitchFamily="34" charset="0"/>
                <a:ea typeface="Calibri" pitchFamily="34" charset="-122"/>
                <a:cs typeface="Calibri" pitchFamily="34" charset="-120"/>
              </a:rPr>
              <a:t>: the outcome, as a code</a:t>
            </a:r>
            <a:endParaRPr lang="en-US" sz="1900" dirty="0"/>
          </a:p>
        </p:txBody>
      </p:sp>
      <p:sp>
        <p:nvSpPr>
          <p:cNvPr id="57" name="Shape 54"/>
          <p:cNvSpPr/>
          <p:nvPr/>
        </p:nvSpPr>
        <p:spPr>
          <a:xfrm>
            <a:off x="294481" y="5175052"/>
            <a:ext cx="254000" cy="254000"/>
          </a:xfrm>
          <a:prstGeom prst="roundRect">
            <a:avLst>
              <a:gd name="adj" fmla="val 50000"/>
            </a:avLst>
          </a:prstGeom>
          <a:solidFill>
            <a:srgbClr val="333399"/>
          </a:solidFill>
          <a:ln/>
        </p:spPr>
      </p:sp>
      <p:sp>
        <p:nvSpPr>
          <p:cNvPr id="58" name="Text 55"/>
          <p:cNvSpPr txBox="1"/>
          <p:nvPr/>
        </p:nvSpPr>
        <p:spPr>
          <a:xfrm>
            <a:off x="379611"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9" name="Text 56"/>
          <p:cNvSpPr txBox="1"/>
          <p:nvPr/>
        </p:nvSpPr>
        <p:spPr>
          <a:xfrm>
            <a:off x="637381" y="5147072"/>
            <a:ext cx="409813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Headers</a:t>
            </a:r>
            <a:pPr algn="l" indent="0" marL="0">
              <a:buNone/>
            </a:pPr>
            <a:r>
              <a:rPr lang="en-US" sz="1900" dirty="0">
                <a:solidFill>
                  <a:srgbClr val="000000"/>
                </a:solidFill>
                <a:latin typeface="Calibri" pitchFamily="34" charset="0"/>
                <a:ea typeface="Calibri" pitchFamily="34" charset="-122"/>
                <a:cs typeface="Calibri" pitchFamily="34" charset="-120"/>
              </a:rPr>
              <a:t>: metadata, credentials, formats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Shape 14"/>
          <p:cNvSpPr/>
          <p:nvPr/>
        </p:nvSpPr>
        <p:spPr>
          <a:xfrm>
            <a:off x="1270000" y="1970881"/>
            <a:ext cx="3239095"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193800" y="1970881"/>
            <a:ext cx="3391495"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9" name="Shape 16"/>
          <p:cNvSpPr/>
          <p:nvPr/>
        </p:nvSpPr>
        <p:spPr>
          <a:xfrm>
            <a:off x="4572595" y="1948061"/>
            <a:ext cx="254000" cy="254000"/>
          </a:xfrm>
          <a:prstGeom prst="roundRect">
            <a:avLst>
              <a:gd name="adj" fmla="val 50000"/>
            </a:avLst>
          </a:prstGeom>
          <a:solidFill>
            <a:srgbClr val="333399"/>
          </a:solidFill>
          <a:ln/>
        </p:spPr>
      </p:sp>
      <p:sp>
        <p:nvSpPr>
          <p:cNvPr id="20" name="Text 17"/>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2" name="Text 19"/>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3" name="Shape 20"/>
          <p:cNvSpPr/>
          <p:nvPr/>
        </p:nvSpPr>
        <p:spPr>
          <a:xfrm>
            <a:off x="434181" y="2258417"/>
            <a:ext cx="6070600" cy="938808"/>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4" name="Text 21"/>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5" name="Shape 22"/>
          <p:cNvSpPr/>
          <p:nvPr/>
        </p:nvSpPr>
        <p:spPr>
          <a:xfrm>
            <a:off x="2700337" y="2260997"/>
            <a:ext cx="254000" cy="254000"/>
          </a:xfrm>
          <a:prstGeom prst="roundRect">
            <a:avLst>
              <a:gd name="adj" fmla="val 50000"/>
            </a:avLst>
          </a:prstGeom>
          <a:solidFill>
            <a:srgbClr val="333399"/>
          </a:solidFill>
          <a:ln/>
        </p:spPr>
      </p:sp>
      <p:sp>
        <p:nvSpPr>
          <p:cNvPr id="26" name="Text 23"/>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8" name="Text 25"/>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9" name="Shape 26"/>
          <p:cNvSpPr/>
          <p:nvPr/>
        </p:nvSpPr>
        <p:spPr>
          <a:xfrm>
            <a:off x="434181" y="3535561"/>
            <a:ext cx="1554757"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0" name="Text 27"/>
          <p:cNvSpPr txBox="1"/>
          <p:nvPr/>
        </p:nvSpPr>
        <p:spPr>
          <a:xfrm>
            <a:off x="357981" y="3535561"/>
            <a:ext cx="1707157" cy="241300"/>
          </a:xfrm>
          <a:prstGeom prst="rect">
            <a:avLst/>
          </a:prstGeom>
          <a:noFill/>
          <a:ln/>
        </p:spPr>
        <p:txBody>
          <a:bodyPr wrap="none" lIns="0" tIns="0" rIns="0" bIns="0" rtlCol="0" anchor="ctr"/>
          <a:lstStyle/>
          <a:p>
            <a:pPr algn="ctr"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31" name="Shape 28"/>
          <p:cNvSpPr/>
          <p:nvPr/>
        </p:nvSpPr>
        <p:spPr>
          <a:xfrm>
            <a:off x="2052439" y="3512740"/>
            <a:ext cx="254000" cy="254000"/>
          </a:xfrm>
          <a:prstGeom prst="roundRect">
            <a:avLst>
              <a:gd name="adj" fmla="val 50000"/>
            </a:avLst>
          </a:prstGeom>
          <a:solidFill>
            <a:srgbClr val="333399"/>
          </a:solidFill>
          <a:ln/>
        </p:spPr>
      </p:sp>
      <p:sp>
        <p:nvSpPr>
          <p:cNvPr id="32" name="Text 29"/>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4" name="Shape 31"/>
          <p:cNvSpPr/>
          <p:nvPr/>
        </p:nvSpPr>
        <p:spPr>
          <a:xfrm>
            <a:off x="6949281" y="1856581"/>
            <a:ext cx="4948237" cy="2055416"/>
          </a:xfrm>
          <a:prstGeom prst="rect">
            <a:avLst/>
          </a:prstGeom>
          <a:solidFill>
            <a:srgbClr val="FFFFFF"/>
          </a:solidFill>
          <a:ln w="12700">
            <a:solidFill>
              <a:srgbClr val="333399"/>
            </a:solidFill>
            <a:prstDash val="solid"/>
          </a:ln>
        </p:spPr>
      </p:sp>
      <p:sp>
        <p:nvSpPr>
          <p:cNvPr id="35" name="Shape 32"/>
          <p:cNvSpPr/>
          <p:nvPr/>
        </p:nvSpPr>
        <p:spPr>
          <a:xfrm>
            <a:off x="7088981" y="1970881"/>
            <a:ext cx="1943497"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6" name="Text 33"/>
          <p:cNvSpPr txBox="1"/>
          <p:nvPr/>
        </p:nvSpPr>
        <p:spPr>
          <a:xfrm>
            <a:off x="7012781" y="1970881"/>
            <a:ext cx="2095897"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7" name="Shape 34"/>
          <p:cNvSpPr/>
          <p:nvPr/>
        </p:nvSpPr>
        <p:spPr>
          <a:xfrm>
            <a:off x="9095979" y="1948061"/>
            <a:ext cx="254000" cy="254000"/>
          </a:xfrm>
          <a:prstGeom prst="roundRect">
            <a:avLst>
              <a:gd name="adj" fmla="val 50000"/>
            </a:avLst>
          </a:prstGeom>
          <a:solidFill>
            <a:srgbClr val="333399"/>
          </a:solidFill>
          <a:ln/>
        </p:spPr>
      </p:sp>
      <p:sp>
        <p:nvSpPr>
          <p:cNvPr id="38" name="Text 35"/>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9" name="Shape 36"/>
          <p:cNvSpPr/>
          <p:nvPr/>
        </p:nvSpPr>
        <p:spPr>
          <a:xfrm>
            <a:off x="7088981" y="2283817"/>
            <a:ext cx="3886993" cy="2413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40" name="Text 37"/>
          <p:cNvSpPr txBox="1"/>
          <p:nvPr/>
        </p:nvSpPr>
        <p:spPr>
          <a:xfrm>
            <a:off x="7012781" y="2283817"/>
            <a:ext cx="4039393" cy="241300"/>
          </a:xfrm>
          <a:prstGeom prst="rect">
            <a:avLst/>
          </a:prstGeom>
          <a:noFill/>
          <a:ln/>
        </p:spPr>
        <p:txBody>
          <a:bodyPr wrap="none" lIns="0" tIns="0" rIns="0" bIns="0" rtlCol="0" anchor="ctr"/>
          <a:lstStyle/>
          <a:p>
            <a:pPr algn="ctr"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41" name="Shape 38"/>
          <p:cNvSpPr/>
          <p:nvPr/>
        </p:nvSpPr>
        <p:spPr>
          <a:xfrm>
            <a:off x="7088981" y="2884289"/>
            <a:ext cx="4668837" cy="938808"/>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42" name="Text 39"/>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3" name="Shape 40"/>
          <p:cNvSpPr/>
          <p:nvPr/>
        </p:nvSpPr>
        <p:spPr>
          <a:xfrm>
            <a:off x="7282061" y="2886869"/>
            <a:ext cx="254000" cy="254000"/>
          </a:xfrm>
          <a:prstGeom prst="roundRect">
            <a:avLst>
              <a:gd name="adj" fmla="val 50000"/>
            </a:avLst>
          </a:prstGeom>
          <a:solidFill>
            <a:srgbClr val="333399"/>
          </a:solidFill>
          <a:ln/>
        </p:spPr>
      </p:sp>
      <p:sp>
        <p:nvSpPr>
          <p:cNvPr id="44" name="Text 41"/>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5" name="Text 42"/>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6" name="Text 43"/>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7" name="Shape 44"/>
          <p:cNvSpPr/>
          <p:nvPr/>
        </p:nvSpPr>
        <p:spPr>
          <a:xfrm>
            <a:off x="294481" y="4168576"/>
            <a:ext cx="254000" cy="254000"/>
          </a:xfrm>
          <a:prstGeom prst="roundRect">
            <a:avLst>
              <a:gd name="adj" fmla="val 50000"/>
            </a:avLst>
          </a:prstGeom>
          <a:solidFill>
            <a:srgbClr val="333399"/>
          </a:solidFill>
          <a:ln/>
        </p:spPr>
      </p:sp>
      <p:sp>
        <p:nvSpPr>
          <p:cNvPr id="48" name="Text 45"/>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9" name="Text 46"/>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
        <p:nvSpPr>
          <p:cNvPr id="50" name="Shape 47"/>
          <p:cNvSpPr/>
          <p:nvPr/>
        </p:nvSpPr>
        <p:spPr>
          <a:xfrm>
            <a:off x="6223000" y="4168576"/>
            <a:ext cx="254000" cy="254000"/>
          </a:xfrm>
          <a:prstGeom prst="roundRect">
            <a:avLst>
              <a:gd name="adj" fmla="val 50000"/>
            </a:avLst>
          </a:prstGeom>
          <a:solidFill>
            <a:srgbClr val="333399"/>
          </a:solidFill>
          <a:ln/>
        </p:spPr>
      </p:sp>
      <p:sp>
        <p:nvSpPr>
          <p:cNvPr id="51" name="Text 48"/>
          <p:cNvSpPr txBox="1"/>
          <p:nvPr/>
        </p:nvSpPr>
        <p:spPr>
          <a:xfrm>
            <a:off x="6308129"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2" name="Text 49"/>
          <p:cNvSpPr txBox="1"/>
          <p:nvPr/>
        </p:nvSpPr>
        <p:spPr>
          <a:xfrm>
            <a:off x="6223000" y="4140597"/>
            <a:ext cx="5699919" cy="593725"/>
          </a:xfrm>
          <a:prstGeom prst="rect">
            <a:avLst/>
          </a:prstGeom>
          <a:noFill/>
          <a:ln/>
        </p:spPr>
        <p:txBody>
          <a:bodyPr wrap="square" lIns="0" tIns="0" rIns="0" bIns="0" rtlCol="0" anchor="t"/>
          <a:lstStyle/>
          <a:p>
            <a:pPr algn="l" indent="0" marL="0">
              <a:lnSpc>
                <a:spcPts val="2375"/>
              </a:lnSpc>
              <a:buNone/>
            </a:pPr>
            <a:r>
              <a:rPr lang="en-US" sz="1900" b="1" dirty="0">
                <a:solidFill>
                  <a:srgbClr val="000000"/>
                </a:solidFill>
                <a:latin typeface="Calibri" pitchFamily="34" charset="0"/>
                <a:ea typeface="Calibri" pitchFamily="34" charset="-122"/>
                <a:cs typeface="Calibri" pitchFamily="34" charset="-120"/>
              </a:rPr>
              <a:t>Content (body)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none; GET content has no defined semantics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§9.3.1]</a:t>
            </a:r>
            <a:endParaRPr lang="en-US" sz="1900" dirty="0"/>
          </a:p>
        </p:txBody>
      </p:sp>
      <p:sp>
        <p:nvSpPr>
          <p:cNvPr id="53" name="Shape 50"/>
          <p:cNvSpPr/>
          <p:nvPr/>
        </p:nvSpPr>
        <p:spPr>
          <a:xfrm>
            <a:off x="294481" y="4822627"/>
            <a:ext cx="254000" cy="254000"/>
          </a:xfrm>
          <a:prstGeom prst="roundRect">
            <a:avLst>
              <a:gd name="adj" fmla="val 50000"/>
            </a:avLst>
          </a:prstGeom>
          <a:solidFill>
            <a:srgbClr val="333399"/>
          </a:solidFill>
          <a:ln/>
        </p:spPr>
      </p:sp>
      <p:sp>
        <p:nvSpPr>
          <p:cNvPr id="54" name="Text 51"/>
          <p:cNvSpPr txBox="1"/>
          <p:nvPr/>
        </p:nvSpPr>
        <p:spPr>
          <a:xfrm>
            <a:off x="379611"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5" name="Text 52"/>
          <p:cNvSpPr txBox="1"/>
          <p:nvPr/>
        </p:nvSpPr>
        <p:spPr>
          <a:xfrm>
            <a:off x="637381" y="4794647"/>
            <a:ext cx="4692649"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Target</a:t>
            </a:r>
            <a:pPr algn="l" indent="0" marL="0">
              <a:buNone/>
            </a:pPr>
            <a:r>
              <a:rPr lang="en-US" sz="1900" dirty="0">
                <a:solidFill>
                  <a:srgbClr val="000000"/>
                </a:solidFill>
                <a:latin typeface="Calibri" pitchFamily="34" charset="0"/>
                <a:ea typeface="Calibri" pitchFamily="34" charset="-122"/>
                <a:cs typeface="Calibri" pitchFamily="34" charset="-120"/>
              </a:rPr>
              <a:t>: URI of the resource, including its query</a:t>
            </a:r>
            <a:endParaRPr lang="en-US" sz="1900" dirty="0"/>
          </a:p>
        </p:txBody>
      </p:sp>
      <p:sp>
        <p:nvSpPr>
          <p:cNvPr id="56" name="Shape 53"/>
          <p:cNvSpPr/>
          <p:nvPr/>
        </p:nvSpPr>
        <p:spPr>
          <a:xfrm>
            <a:off x="6223000" y="4822627"/>
            <a:ext cx="254000" cy="254000"/>
          </a:xfrm>
          <a:prstGeom prst="roundRect">
            <a:avLst>
              <a:gd name="adj" fmla="val 50000"/>
            </a:avLst>
          </a:prstGeom>
          <a:solidFill>
            <a:srgbClr val="333399"/>
          </a:solidFill>
          <a:ln/>
        </p:spPr>
      </p:sp>
      <p:sp>
        <p:nvSpPr>
          <p:cNvPr id="57" name="Text 54"/>
          <p:cNvSpPr txBox="1"/>
          <p:nvPr/>
        </p:nvSpPr>
        <p:spPr>
          <a:xfrm>
            <a:off x="6308129"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8" name="Text 55"/>
          <p:cNvSpPr txBox="1"/>
          <p:nvPr/>
        </p:nvSpPr>
        <p:spPr>
          <a:xfrm>
            <a:off x="6565900" y="4794647"/>
            <a:ext cx="3595092"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Status line</a:t>
            </a:r>
            <a:pPr algn="l" indent="0" marL="0">
              <a:buNone/>
            </a:pPr>
            <a:r>
              <a:rPr lang="en-US" sz="1900" dirty="0">
                <a:solidFill>
                  <a:srgbClr val="000000"/>
                </a:solidFill>
                <a:latin typeface="Calibri" pitchFamily="34" charset="0"/>
                <a:ea typeface="Calibri" pitchFamily="34" charset="-122"/>
                <a:cs typeface="Calibri" pitchFamily="34" charset="-120"/>
              </a:rPr>
              <a:t>: the outcome, as a code</a:t>
            </a:r>
            <a:endParaRPr lang="en-US" sz="1900" dirty="0"/>
          </a:p>
        </p:txBody>
      </p:sp>
      <p:sp>
        <p:nvSpPr>
          <p:cNvPr id="59" name="Shape 56"/>
          <p:cNvSpPr/>
          <p:nvPr/>
        </p:nvSpPr>
        <p:spPr>
          <a:xfrm>
            <a:off x="294481" y="5175052"/>
            <a:ext cx="254000" cy="254000"/>
          </a:xfrm>
          <a:prstGeom prst="roundRect">
            <a:avLst>
              <a:gd name="adj" fmla="val 50000"/>
            </a:avLst>
          </a:prstGeom>
          <a:solidFill>
            <a:srgbClr val="333399"/>
          </a:solidFill>
          <a:ln/>
        </p:spPr>
      </p:sp>
      <p:sp>
        <p:nvSpPr>
          <p:cNvPr id="60" name="Text 57"/>
          <p:cNvSpPr txBox="1"/>
          <p:nvPr/>
        </p:nvSpPr>
        <p:spPr>
          <a:xfrm>
            <a:off x="379611"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1" name="Text 58"/>
          <p:cNvSpPr txBox="1"/>
          <p:nvPr/>
        </p:nvSpPr>
        <p:spPr>
          <a:xfrm>
            <a:off x="637381" y="5147072"/>
            <a:ext cx="409813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Headers</a:t>
            </a:r>
            <a:pPr algn="l" indent="0" marL="0">
              <a:buNone/>
            </a:pPr>
            <a:r>
              <a:rPr lang="en-US" sz="1900" dirty="0">
                <a:solidFill>
                  <a:srgbClr val="000000"/>
                </a:solidFill>
                <a:latin typeface="Calibri" pitchFamily="34" charset="0"/>
                <a:ea typeface="Calibri" pitchFamily="34" charset="-122"/>
                <a:cs typeface="Calibri" pitchFamily="34" charset="-120"/>
              </a:rPr>
              <a:t>: metadata, credentials, formats</a:t>
            </a:r>
            <a:endParaRPr lang="en-US" sz="1900" dirty="0"/>
          </a:p>
        </p:txBody>
      </p:sp>
      <p:sp>
        <p:nvSpPr>
          <p:cNvPr id="62" name="Shape 59"/>
          <p:cNvSpPr/>
          <p:nvPr/>
        </p:nvSpPr>
        <p:spPr>
          <a:xfrm>
            <a:off x="6223000" y="5175052"/>
            <a:ext cx="254000" cy="254000"/>
          </a:xfrm>
          <a:prstGeom prst="roundRect">
            <a:avLst>
              <a:gd name="adj" fmla="val 50000"/>
            </a:avLst>
          </a:prstGeom>
          <a:solidFill>
            <a:srgbClr val="333399"/>
          </a:solidFill>
          <a:ln/>
        </p:spPr>
      </p:sp>
      <p:sp>
        <p:nvSpPr>
          <p:cNvPr id="63" name="Text 60"/>
          <p:cNvSpPr txBox="1"/>
          <p:nvPr/>
        </p:nvSpPr>
        <p:spPr>
          <a:xfrm>
            <a:off x="6308129"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4" name="Text 61"/>
          <p:cNvSpPr txBox="1"/>
          <p:nvPr/>
        </p:nvSpPr>
        <p:spPr>
          <a:xfrm>
            <a:off x="6565900" y="5147072"/>
            <a:ext cx="402272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Response headers + content</a:t>
            </a:r>
            <a:pPr algn="l" indent="0" marL="0">
              <a:buNone/>
            </a:pPr>
            <a:r>
              <a:rPr lang="en-US" sz="1900" dirty="0">
                <a:solidFill>
                  <a:srgbClr val="000000"/>
                </a:solidFill>
                <a:latin typeface="Calibri" pitchFamily="34" charset="0"/>
                <a:ea typeface="Calibri" pitchFamily="34" charset="-122"/>
                <a:cs typeface="Calibri" pitchFamily="34" charset="-120"/>
              </a:rPr>
              <a:t>: the result</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933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an HTTP exchange</a:t>
            </a:r>
            <a:endParaRPr lang="en-US" sz="2400" dirty="0"/>
          </a:p>
        </p:txBody>
      </p:sp>
      <p:sp>
        <p:nvSpPr>
          <p:cNvPr id="10" name="Text 7"/>
          <p:cNvSpPr txBox="1"/>
          <p:nvPr/>
        </p:nvSpPr>
        <p:spPr>
          <a:xfrm>
            <a:off x="294481" y="15390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294481" y="1856581"/>
            <a:ext cx="6350000" cy="2055416"/>
          </a:xfrm>
          <a:prstGeom prst="rect">
            <a:avLst/>
          </a:prstGeom>
          <a:solidFill>
            <a:srgbClr val="FFFFFF"/>
          </a:solidFill>
          <a:ln w="12700">
            <a:solidFill>
              <a:srgbClr val="333399"/>
            </a:solidFill>
            <a:prstDash val="solid"/>
          </a:ln>
        </p:spPr>
      </p:sp>
      <p:sp>
        <p:nvSpPr>
          <p:cNvPr id="12" name="Shape 9"/>
          <p:cNvSpPr/>
          <p:nvPr/>
        </p:nvSpPr>
        <p:spPr>
          <a:xfrm>
            <a:off x="434181" y="1970881"/>
            <a:ext cx="388739"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357981" y="1970881"/>
            <a:ext cx="541139"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GET</a:t>
            </a:r>
            <a:endParaRPr lang="en-US" sz="1700" dirty="0"/>
          </a:p>
        </p:txBody>
      </p:sp>
      <p:sp>
        <p:nvSpPr>
          <p:cNvPr id="14" name="Shape 11"/>
          <p:cNvSpPr/>
          <p:nvPr/>
        </p:nvSpPr>
        <p:spPr>
          <a:xfrm>
            <a:off x="886420" y="1948061"/>
            <a:ext cx="254000" cy="254000"/>
          </a:xfrm>
          <a:prstGeom prst="roundRect">
            <a:avLst>
              <a:gd name="adj" fmla="val 50000"/>
            </a:avLst>
          </a:prstGeom>
          <a:solidFill>
            <a:srgbClr val="333399"/>
          </a:solidFill>
          <a:ln/>
        </p:spPr>
      </p:sp>
      <p:sp>
        <p:nvSpPr>
          <p:cNvPr id="15" name="Text 12"/>
          <p:cNvSpPr txBox="1"/>
          <p:nvPr/>
        </p:nvSpPr>
        <p:spPr>
          <a:xfrm>
            <a:off x="971551"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40420"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17" name="Shape 14"/>
          <p:cNvSpPr/>
          <p:nvPr/>
        </p:nvSpPr>
        <p:spPr>
          <a:xfrm>
            <a:off x="1270000" y="1970881"/>
            <a:ext cx="3239095"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193800" y="1970881"/>
            <a:ext cx="3391495"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/products?category=laptop</a:t>
            </a:r>
            <a:endParaRPr lang="en-US" sz="1700" dirty="0"/>
          </a:p>
        </p:txBody>
      </p:sp>
      <p:sp>
        <p:nvSpPr>
          <p:cNvPr id="19" name="Shape 16"/>
          <p:cNvSpPr/>
          <p:nvPr/>
        </p:nvSpPr>
        <p:spPr>
          <a:xfrm>
            <a:off x="4572595" y="1948061"/>
            <a:ext cx="254000" cy="254000"/>
          </a:xfrm>
          <a:prstGeom prst="roundRect">
            <a:avLst>
              <a:gd name="adj" fmla="val 50000"/>
            </a:avLst>
          </a:prstGeom>
          <a:solidFill>
            <a:srgbClr val="333399"/>
          </a:solidFill>
          <a:ln/>
        </p:spPr>
      </p:sp>
      <p:sp>
        <p:nvSpPr>
          <p:cNvPr id="20" name="Text 17"/>
          <p:cNvSpPr txBox="1"/>
          <p:nvPr/>
        </p:nvSpPr>
        <p:spPr>
          <a:xfrm>
            <a:off x="4657725"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4826595" y="197088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endParaRPr lang="en-US" sz="1700" dirty="0"/>
          </a:p>
        </p:txBody>
      </p:sp>
      <p:sp>
        <p:nvSpPr>
          <p:cNvPr id="22" name="Text 19"/>
          <p:cNvSpPr txBox="1"/>
          <p:nvPr/>
        </p:nvSpPr>
        <p:spPr>
          <a:xfrm>
            <a:off x="4956175" y="19708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HTTP/1.1</a:t>
            </a:r>
            <a:endParaRPr lang="en-US" sz="1700" dirty="0"/>
          </a:p>
        </p:txBody>
      </p:sp>
      <p:sp>
        <p:nvSpPr>
          <p:cNvPr id="23" name="Shape 20"/>
          <p:cNvSpPr/>
          <p:nvPr/>
        </p:nvSpPr>
        <p:spPr>
          <a:xfrm>
            <a:off x="434181" y="2258417"/>
            <a:ext cx="6070600" cy="938808"/>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4" name="Text 21"/>
          <p:cNvSpPr txBox="1"/>
          <p:nvPr/>
        </p:nvSpPr>
        <p:spPr>
          <a:xfrm>
            <a:off x="434181" y="2283817"/>
            <a:ext cx="235505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Host: example.com</a:t>
            </a:r>
            <a:endParaRPr lang="en-US" sz="1700" dirty="0"/>
          </a:p>
        </p:txBody>
      </p:sp>
      <p:sp>
        <p:nvSpPr>
          <p:cNvPr id="25" name="Shape 22"/>
          <p:cNvSpPr/>
          <p:nvPr/>
        </p:nvSpPr>
        <p:spPr>
          <a:xfrm>
            <a:off x="2700337" y="2260997"/>
            <a:ext cx="254000" cy="254000"/>
          </a:xfrm>
          <a:prstGeom prst="roundRect">
            <a:avLst>
              <a:gd name="adj" fmla="val 50000"/>
            </a:avLst>
          </a:prstGeom>
          <a:solidFill>
            <a:srgbClr val="333399"/>
          </a:solidFill>
          <a:ln/>
        </p:spPr>
      </p:sp>
      <p:sp>
        <p:nvSpPr>
          <p:cNvPr id="26" name="Text 23"/>
          <p:cNvSpPr txBox="1"/>
          <p:nvPr/>
        </p:nvSpPr>
        <p:spPr>
          <a:xfrm>
            <a:off x="2785467" y="229274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434181" y="2596753"/>
            <a:ext cx="3261916"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8" name="Text 25"/>
          <p:cNvSpPr txBox="1"/>
          <p:nvPr/>
        </p:nvSpPr>
        <p:spPr>
          <a:xfrm>
            <a:off x="434181" y="2909689"/>
            <a:ext cx="4168973"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Authorization: Bearer eyJhbGci…</a:t>
            </a:r>
            <a:endParaRPr lang="en-US" sz="1700" dirty="0"/>
          </a:p>
        </p:txBody>
      </p:sp>
      <p:sp>
        <p:nvSpPr>
          <p:cNvPr id="29" name="Shape 26"/>
          <p:cNvSpPr/>
          <p:nvPr/>
        </p:nvSpPr>
        <p:spPr>
          <a:xfrm>
            <a:off x="434181" y="3535561"/>
            <a:ext cx="1554757"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0" name="Text 27"/>
          <p:cNvSpPr txBox="1"/>
          <p:nvPr/>
        </p:nvSpPr>
        <p:spPr>
          <a:xfrm>
            <a:off x="357981" y="3535561"/>
            <a:ext cx="1707157" cy="241300"/>
          </a:xfrm>
          <a:prstGeom prst="rect">
            <a:avLst/>
          </a:prstGeom>
          <a:noFill/>
          <a:ln/>
        </p:spPr>
        <p:txBody>
          <a:bodyPr wrap="none" lIns="0" tIns="0" rIns="0" bIns="0" rtlCol="0" anchor="ctr"/>
          <a:lstStyle/>
          <a:p>
            <a:pPr algn="ctr" indent="0" marL="0">
              <a:buNone/>
            </a:pPr>
            <a:r>
              <a:rPr lang="en-US" sz="1700" i="1" dirty="0">
                <a:solidFill>
                  <a:srgbClr val="000000"/>
                </a:solidFill>
                <a:latin typeface="Courier New" pitchFamily="34" charset="0"/>
                <a:ea typeface="Courier New" pitchFamily="34" charset="-122"/>
                <a:cs typeface="Courier New" pitchFamily="34" charset="-120"/>
              </a:rPr>
              <a:t>(no content)</a:t>
            </a:r>
            <a:endParaRPr lang="en-US" sz="1700" dirty="0"/>
          </a:p>
        </p:txBody>
      </p:sp>
      <p:sp>
        <p:nvSpPr>
          <p:cNvPr id="31" name="Shape 28"/>
          <p:cNvSpPr/>
          <p:nvPr/>
        </p:nvSpPr>
        <p:spPr>
          <a:xfrm>
            <a:off x="2052439" y="3512740"/>
            <a:ext cx="254000" cy="254000"/>
          </a:xfrm>
          <a:prstGeom prst="roundRect">
            <a:avLst>
              <a:gd name="adj" fmla="val 50000"/>
            </a:avLst>
          </a:prstGeom>
          <a:solidFill>
            <a:srgbClr val="333399"/>
          </a:solidFill>
          <a:ln/>
        </p:spPr>
      </p:sp>
      <p:sp>
        <p:nvSpPr>
          <p:cNvPr id="32" name="Text 29"/>
          <p:cNvSpPr txBox="1"/>
          <p:nvPr/>
        </p:nvSpPr>
        <p:spPr>
          <a:xfrm>
            <a:off x="2137569" y="35444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6949281" y="15390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4" name="Shape 31"/>
          <p:cNvSpPr/>
          <p:nvPr/>
        </p:nvSpPr>
        <p:spPr>
          <a:xfrm>
            <a:off x="6949281" y="1856581"/>
            <a:ext cx="4948237" cy="2055416"/>
          </a:xfrm>
          <a:prstGeom prst="rect">
            <a:avLst/>
          </a:prstGeom>
          <a:solidFill>
            <a:srgbClr val="FFFFFF"/>
          </a:solidFill>
          <a:ln w="12700">
            <a:solidFill>
              <a:srgbClr val="333399"/>
            </a:solidFill>
            <a:prstDash val="solid"/>
          </a:ln>
        </p:spPr>
      </p:sp>
      <p:sp>
        <p:nvSpPr>
          <p:cNvPr id="35" name="Shape 32"/>
          <p:cNvSpPr/>
          <p:nvPr/>
        </p:nvSpPr>
        <p:spPr>
          <a:xfrm>
            <a:off x="7088981" y="1970881"/>
            <a:ext cx="1943497"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6" name="Text 33"/>
          <p:cNvSpPr txBox="1"/>
          <p:nvPr/>
        </p:nvSpPr>
        <p:spPr>
          <a:xfrm>
            <a:off x="7012781" y="1970881"/>
            <a:ext cx="2095897" cy="241300"/>
          </a:xfrm>
          <a:prstGeom prst="rect">
            <a:avLst/>
          </a:prstGeom>
          <a:noFill/>
          <a:ln/>
        </p:spPr>
        <p:txBody>
          <a:bodyPr wrap="none" lIns="0" tIns="0" rIns="0" bIns="0" rtlCol="0" anchor="ctr"/>
          <a:lstStyle/>
          <a:p>
            <a:pPr algn="ctr"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37" name="Shape 34"/>
          <p:cNvSpPr/>
          <p:nvPr/>
        </p:nvSpPr>
        <p:spPr>
          <a:xfrm>
            <a:off x="9095979" y="1948061"/>
            <a:ext cx="254000" cy="254000"/>
          </a:xfrm>
          <a:prstGeom prst="roundRect">
            <a:avLst>
              <a:gd name="adj" fmla="val 50000"/>
            </a:avLst>
          </a:prstGeom>
          <a:solidFill>
            <a:srgbClr val="333399"/>
          </a:solidFill>
          <a:ln/>
        </p:spPr>
      </p:sp>
      <p:sp>
        <p:nvSpPr>
          <p:cNvPr id="38" name="Text 35"/>
          <p:cNvSpPr txBox="1"/>
          <p:nvPr/>
        </p:nvSpPr>
        <p:spPr>
          <a:xfrm>
            <a:off x="9181108" y="197981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9" name="Shape 36"/>
          <p:cNvSpPr/>
          <p:nvPr/>
        </p:nvSpPr>
        <p:spPr>
          <a:xfrm>
            <a:off x="7088981" y="2283817"/>
            <a:ext cx="3886993" cy="2413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40" name="Text 37"/>
          <p:cNvSpPr txBox="1"/>
          <p:nvPr/>
        </p:nvSpPr>
        <p:spPr>
          <a:xfrm>
            <a:off x="7012781" y="2283817"/>
            <a:ext cx="4039393" cy="241300"/>
          </a:xfrm>
          <a:prstGeom prst="rect">
            <a:avLst/>
          </a:prstGeom>
          <a:noFill/>
          <a:ln/>
        </p:spPr>
        <p:txBody>
          <a:bodyPr wrap="none" lIns="0" tIns="0" rIns="0" bIns="0" rtlCol="0" anchor="ctr"/>
          <a:lstStyle/>
          <a:p>
            <a:pPr algn="ctr" indent="0" marL="0">
              <a:buNone/>
            </a:pPr>
            <a:r>
              <a:rPr lang="en-US" sz="1700"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41" name="Shape 38"/>
          <p:cNvSpPr/>
          <p:nvPr/>
        </p:nvSpPr>
        <p:spPr>
          <a:xfrm>
            <a:off x="7088981" y="2884289"/>
            <a:ext cx="4668837" cy="938808"/>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42" name="Text 39"/>
          <p:cNvSpPr txBox="1"/>
          <p:nvPr/>
        </p:nvSpPr>
        <p:spPr>
          <a:xfrm>
            <a:off x="7088981" y="2909689"/>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3" name="Shape 40"/>
          <p:cNvSpPr/>
          <p:nvPr/>
        </p:nvSpPr>
        <p:spPr>
          <a:xfrm>
            <a:off x="7282061" y="2886869"/>
            <a:ext cx="254000" cy="254000"/>
          </a:xfrm>
          <a:prstGeom prst="roundRect">
            <a:avLst>
              <a:gd name="adj" fmla="val 50000"/>
            </a:avLst>
          </a:prstGeom>
          <a:solidFill>
            <a:srgbClr val="333399"/>
          </a:solidFill>
          <a:ln/>
        </p:spPr>
      </p:sp>
      <p:sp>
        <p:nvSpPr>
          <p:cNvPr id="44" name="Text 41"/>
          <p:cNvSpPr txBox="1"/>
          <p:nvPr/>
        </p:nvSpPr>
        <p:spPr>
          <a:xfrm>
            <a:off x="7367191" y="2918619"/>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5" name="Text 42"/>
          <p:cNvSpPr txBox="1"/>
          <p:nvPr/>
        </p:nvSpPr>
        <p:spPr>
          <a:xfrm>
            <a:off x="7088981" y="322262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"results": [ … ]</a:t>
            </a:r>
            <a:endParaRPr lang="en-US" sz="1700" dirty="0"/>
          </a:p>
        </p:txBody>
      </p:sp>
      <p:sp>
        <p:nvSpPr>
          <p:cNvPr id="46" name="Text 43"/>
          <p:cNvSpPr txBox="1"/>
          <p:nvPr/>
        </p:nvSpPr>
        <p:spPr>
          <a:xfrm>
            <a:off x="7088981" y="3535561"/>
            <a:ext cx="281980"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47" name="Shape 44"/>
          <p:cNvSpPr/>
          <p:nvPr/>
        </p:nvSpPr>
        <p:spPr>
          <a:xfrm>
            <a:off x="294481" y="4168576"/>
            <a:ext cx="254000" cy="254000"/>
          </a:xfrm>
          <a:prstGeom prst="roundRect">
            <a:avLst>
              <a:gd name="adj" fmla="val 50000"/>
            </a:avLst>
          </a:prstGeom>
          <a:solidFill>
            <a:srgbClr val="333399"/>
          </a:solidFill>
          <a:ln/>
        </p:spPr>
      </p:sp>
      <p:sp>
        <p:nvSpPr>
          <p:cNvPr id="48" name="Text 45"/>
          <p:cNvSpPr txBox="1"/>
          <p:nvPr/>
        </p:nvSpPr>
        <p:spPr>
          <a:xfrm>
            <a:off x="379611"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9" name="Text 46"/>
          <p:cNvSpPr txBox="1"/>
          <p:nvPr/>
        </p:nvSpPr>
        <p:spPr>
          <a:xfrm>
            <a:off x="637381" y="4140597"/>
            <a:ext cx="332382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a:t>
            </a:r>
            <a:pPr algn="l" indent="0" marL="0">
              <a:buNone/>
            </a:pPr>
            <a:r>
              <a:rPr lang="en-US" sz="1900" dirty="0">
                <a:solidFill>
                  <a:srgbClr val="000000"/>
                </a:solidFill>
                <a:latin typeface="Calibri" pitchFamily="34" charset="0"/>
                <a:ea typeface="Calibri" pitchFamily="34" charset="-122"/>
                <a:cs typeface="Calibri" pitchFamily="34" charset="-120"/>
              </a:rPr>
              <a:t>: what the client intends</a:t>
            </a:r>
            <a:endParaRPr lang="en-US" sz="1900" dirty="0"/>
          </a:p>
        </p:txBody>
      </p:sp>
      <p:sp>
        <p:nvSpPr>
          <p:cNvPr id="50" name="Shape 47"/>
          <p:cNvSpPr/>
          <p:nvPr/>
        </p:nvSpPr>
        <p:spPr>
          <a:xfrm>
            <a:off x="6223000" y="4168576"/>
            <a:ext cx="254000" cy="254000"/>
          </a:xfrm>
          <a:prstGeom prst="roundRect">
            <a:avLst>
              <a:gd name="adj" fmla="val 50000"/>
            </a:avLst>
          </a:prstGeom>
          <a:solidFill>
            <a:srgbClr val="333399"/>
          </a:solidFill>
          <a:ln/>
        </p:spPr>
      </p:sp>
      <p:sp>
        <p:nvSpPr>
          <p:cNvPr id="51" name="Text 48"/>
          <p:cNvSpPr txBox="1"/>
          <p:nvPr/>
        </p:nvSpPr>
        <p:spPr>
          <a:xfrm>
            <a:off x="6308129" y="4200327"/>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2" name="Text 49"/>
          <p:cNvSpPr txBox="1"/>
          <p:nvPr/>
        </p:nvSpPr>
        <p:spPr>
          <a:xfrm>
            <a:off x="6223000" y="4140597"/>
            <a:ext cx="5699919" cy="593725"/>
          </a:xfrm>
          <a:prstGeom prst="rect">
            <a:avLst/>
          </a:prstGeom>
          <a:noFill/>
          <a:ln/>
        </p:spPr>
        <p:txBody>
          <a:bodyPr wrap="square" lIns="0" tIns="0" rIns="0" bIns="0" rtlCol="0" anchor="t"/>
          <a:lstStyle/>
          <a:p>
            <a:pPr algn="l" indent="0" marL="0">
              <a:lnSpc>
                <a:spcPts val="2375"/>
              </a:lnSpc>
              <a:buNone/>
            </a:pPr>
            <a:r>
              <a:rPr lang="en-US" sz="1900" b="1" dirty="0">
                <a:solidFill>
                  <a:srgbClr val="000000"/>
                </a:solidFill>
                <a:latin typeface="Calibri" pitchFamily="34" charset="0"/>
                <a:ea typeface="Calibri" pitchFamily="34" charset="-122"/>
                <a:cs typeface="Calibri" pitchFamily="34" charset="-120"/>
              </a:rPr>
              <a:t>Content (body)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none; GET content has no defined semantics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§9.3.1]</a:t>
            </a:r>
            <a:endParaRPr lang="en-US" sz="1900" dirty="0"/>
          </a:p>
        </p:txBody>
      </p:sp>
      <p:sp>
        <p:nvSpPr>
          <p:cNvPr id="53" name="Shape 50"/>
          <p:cNvSpPr/>
          <p:nvPr/>
        </p:nvSpPr>
        <p:spPr>
          <a:xfrm>
            <a:off x="294481" y="4822627"/>
            <a:ext cx="254000" cy="254000"/>
          </a:xfrm>
          <a:prstGeom prst="roundRect">
            <a:avLst>
              <a:gd name="adj" fmla="val 50000"/>
            </a:avLst>
          </a:prstGeom>
          <a:solidFill>
            <a:srgbClr val="333399"/>
          </a:solidFill>
          <a:ln/>
        </p:spPr>
      </p:sp>
      <p:sp>
        <p:nvSpPr>
          <p:cNvPr id="54" name="Text 51"/>
          <p:cNvSpPr txBox="1"/>
          <p:nvPr/>
        </p:nvSpPr>
        <p:spPr>
          <a:xfrm>
            <a:off x="379611"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5" name="Text 52"/>
          <p:cNvSpPr txBox="1"/>
          <p:nvPr/>
        </p:nvSpPr>
        <p:spPr>
          <a:xfrm>
            <a:off x="637381" y="4794647"/>
            <a:ext cx="4692649"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Target</a:t>
            </a:r>
            <a:pPr algn="l" indent="0" marL="0">
              <a:buNone/>
            </a:pPr>
            <a:r>
              <a:rPr lang="en-US" sz="1900" dirty="0">
                <a:solidFill>
                  <a:srgbClr val="000000"/>
                </a:solidFill>
                <a:latin typeface="Calibri" pitchFamily="34" charset="0"/>
                <a:ea typeface="Calibri" pitchFamily="34" charset="-122"/>
                <a:cs typeface="Calibri" pitchFamily="34" charset="-120"/>
              </a:rPr>
              <a:t>: URI of the resource, including its query</a:t>
            </a:r>
            <a:endParaRPr lang="en-US" sz="1900" dirty="0"/>
          </a:p>
        </p:txBody>
      </p:sp>
      <p:sp>
        <p:nvSpPr>
          <p:cNvPr id="56" name="Shape 53"/>
          <p:cNvSpPr/>
          <p:nvPr/>
        </p:nvSpPr>
        <p:spPr>
          <a:xfrm>
            <a:off x="6223000" y="4822627"/>
            <a:ext cx="254000" cy="254000"/>
          </a:xfrm>
          <a:prstGeom prst="roundRect">
            <a:avLst>
              <a:gd name="adj" fmla="val 50000"/>
            </a:avLst>
          </a:prstGeom>
          <a:solidFill>
            <a:srgbClr val="333399"/>
          </a:solidFill>
          <a:ln/>
        </p:spPr>
      </p:sp>
      <p:sp>
        <p:nvSpPr>
          <p:cNvPr id="57" name="Text 54"/>
          <p:cNvSpPr txBox="1"/>
          <p:nvPr/>
        </p:nvSpPr>
        <p:spPr>
          <a:xfrm>
            <a:off x="6308129" y="4854376"/>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8" name="Text 55"/>
          <p:cNvSpPr txBox="1"/>
          <p:nvPr/>
        </p:nvSpPr>
        <p:spPr>
          <a:xfrm>
            <a:off x="6565900" y="4794647"/>
            <a:ext cx="3595092"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Status line</a:t>
            </a:r>
            <a:pPr algn="l" indent="0" marL="0">
              <a:buNone/>
            </a:pPr>
            <a:r>
              <a:rPr lang="en-US" sz="1900" dirty="0">
                <a:solidFill>
                  <a:srgbClr val="000000"/>
                </a:solidFill>
                <a:latin typeface="Calibri" pitchFamily="34" charset="0"/>
                <a:ea typeface="Calibri" pitchFamily="34" charset="-122"/>
                <a:cs typeface="Calibri" pitchFamily="34" charset="-120"/>
              </a:rPr>
              <a:t>: the outcome, as a code</a:t>
            </a:r>
            <a:endParaRPr lang="en-US" sz="1900" dirty="0"/>
          </a:p>
        </p:txBody>
      </p:sp>
      <p:sp>
        <p:nvSpPr>
          <p:cNvPr id="59" name="Shape 56"/>
          <p:cNvSpPr/>
          <p:nvPr/>
        </p:nvSpPr>
        <p:spPr>
          <a:xfrm>
            <a:off x="294481" y="5175052"/>
            <a:ext cx="254000" cy="254000"/>
          </a:xfrm>
          <a:prstGeom prst="roundRect">
            <a:avLst>
              <a:gd name="adj" fmla="val 50000"/>
            </a:avLst>
          </a:prstGeom>
          <a:solidFill>
            <a:srgbClr val="333399"/>
          </a:solidFill>
          <a:ln/>
        </p:spPr>
      </p:sp>
      <p:sp>
        <p:nvSpPr>
          <p:cNvPr id="60" name="Text 57"/>
          <p:cNvSpPr txBox="1"/>
          <p:nvPr/>
        </p:nvSpPr>
        <p:spPr>
          <a:xfrm>
            <a:off x="379611"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1" name="Text 58"/>
          <p:cNvSpPr txBox="1"/>
          <p:nvPr/>
        </p:nvSpPr>
        <p:spPr>
          <a:xfrm>
            <a:off x="637381" y="5147072"/>
            <a:ext cx="409813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Headers</a:t>
            </a:r>
            <a:pPr algn="l" indent="0" marL="0">
              <a:buNone/>
            </a:pPr>
            <a:r>
              <a:rPr lang="en-US" sz="1900" dirty="0">
                <a:solidFill>
                  <a:srgbClr val="000000"/>
                </a:solidFill>
                <a:latin typeface="Calibri" pitchFamily="34" charset="0"/>
                <a:ea typeface="Calibri" pitchFamily="34" charset="-122"/>
                <a:cs typeface="Calibri" pitchFamily="34" charset="-120"/>
              </a:rPr>
              <a:t>: metadata, credentials, formats</a:t>
            </a:r>
            <a:endParaRPr lang="en-US" sz="1900" dirty="0"/>
          </a:p>
        </p:txBody>
      </p:sp>
      <p:sp>
        <p:nvSpPr>
          <p:cNvPr id="62" name="Shape 59"/>
          <p:cNvSpPr/>
          <p:nvPr/>
        </p:nvSpPr>
        <p:spPr>
          <a:xfrm>
            <a:off x="6223000" y="5175052"/>
            <a:ext cx="254000" cy="254000"/>
          </a:xfrm>
          <a:prstGeom prst="roundRect">
            <a:avLst>
              <a:gd name="adj" fmla="val 50000"/>
            </a:avLst>
          </a:prstGeom>
          <a:solidFill>
            <a:srgbClr val="333399"/>
          </a:solidFill>
          <a:ln/>
        </p:spPr>
      </p:sp>
      <p:sp>
        <p:nvSpPr>
          <p:cNvPr id="63" name="Text 60"/>
          <p:cNvSpPr txBox="1"/>
          <p:nvPr/>
        </p:nvSpPr>
        <p:spPr>
          <a:xfrm>
            <a:off x="6308129" y="520680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4" name="Text 61"/>
          <p:cNvSpPr txBox="1"/>
          <p:nvPr/>
        </p:nvSpPr>
        <p:spPr>
          <a:xfrm>
            <a:off x="6565900" y="5147072"/>
            <a:ext cx="402272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Response headers + content</a:t>
            </a:r>
            <a:pPr algn="l" indent="0" marL="0">
              <a:buNone/>
            </a:pPr>
            <a:r>
              <a:rPr lang="en-US" sz="1900" dirty="0">
                <a:solidFill>
                  <a:srgbClr val="000000"/>
                </a:solidFill>
                <a:latin typeface="Calibri" pitchFamily="34" charset="0"/>
                <a:ea typeface="Calibri" pitchFamily="34" charset="-122"/>
                <a:cs typeface="Calibri" pitchFamily="34" charset="-120"/>
              </a:rPr>
              <a:t>: the result</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37112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URI</a:t>
            </a:r>
            <a:endParaRPr lang="en-US" sz="2400" dirty="0"/>
          </a:p>
        </p:txBody>
      </p:sp>
      <p:sp>
        <p:nvSpPr>
          <p:cNvPr id="10" name="Text 7"/>
          <p:cNvSpPr txBox="1"/>
          <p:nvPr/>
        </p:nvSpPr>
        <p:spPr>
          <a:xfrm>
            <a:off x="471289" y="1716881"/>
            <a:ext cx="11249421"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https</a:t>
            </a:r>
            <a:pPr algn="ctr" indent="0" marL="0">
              <a:buNone/>
            </a:pPr>
            <a:r>
              <a:rPr lang="en-US" sz="2600" b="1" dirty="0">
                <a:solidFill>
                  <a:srgbClr val="000000"/>
                </a:solidFill>
                <a:latin typeface="Courier New" pitchFamily="34" charset="0"/>
                <a:ea typeface="Courier New" pitchFamily="34" charset="-122"/>
                <a:cs typeface="Courier New" pitchFamily="34" charset="-120"/>
              </a:rPr>
              <a:t>://</a:t>
            </a:r>
            <a:pPr algn="ctr" indent="0" marL="0">
              <a:buNone/>
            </a:pPr>
            <a:r>
              <a:rPr lang="en-US" sz="2600" b="1" dirty="0">
                <a:solidFill>
                  <a:srgbClr val="000000"/>
                </a:solidFill>
                <a:latin typeface="Courier New" pitchFamily="34" charset="0"/>
                <a:ea typeface="Courier New" pitchFamily="34" charset="-122"/>
                <a:cs typeface="Courier New" pitchFamily="34" charset="-120"/>
              </a:rPr>
              <a:t>example.com:443</a:t>
            </a:r>
            <a:pPr algn="ctr" indent="0" marL="0">
              <a:buNone/>
            </a:pPr>
            <a:r>
              <a:rPr lang="en-US" sz="2600" b="1" dirty="0">
                <a:solidFill>
                  <a:srgbClr val="000000"/>
                </a:solidFill>
                <a:latin typeface="Courier New" pitchFamily="34" charset="0"/>
                <a:ea typeface="Courier New" pitchFamily="34" charset="-122"/>
                <a:cs typeface="Courier New" pitchFamily="34" charset="-120"/>
              </a:rPr>
              <a:t>/search</a:t>
            </a:r>
            <a:pPr algn="ctr" indent="0" marL="0">
              <a:buNone/>
            </a:pPr>
            <a:r>
              <a:rPr lang="en-US" sz="2600" b="1" dirty="0">
                <a:solidFill>
                  <a:srgbClr val="000000"/>
                </a:solidFill>
                <a:latin typeface="Courier New" pitchFamily="34" charset="0"/>
                <a:ea typeface="Courier New" pitchFamily="34" charset="-122"/>
                <a:cs typeface="Courier New" pitchFamily="34" charset="-120"/>
              </a:rPr>
              <a:t>?q=security&amp;page=2</a:t>
            </a:r>
            <a:pPr algn="ctr" indent="0" marL="0">
              <a:buNone/>
            </a:pPr>
            <a:r>
              <a:rPr lang="en-US" sz="2600" b="1" dirty="0">
                <a:solidFill>
                  <a:srgbClr val="000000"/>
                </a:solidFill>
                <a:latin typeface="Courier New" pitchFamily="34" charset="0"/>
                <a:ea typeface="Courier New" pitchFamily="34" charset="-122"/>
                <a:cs typeface="Courier New" pitchFamily="34" charset="-120"/>
              </a:rPr>
              <a:t>#results</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37112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URI</a:t>
            </a:r>
            <a:endParaRPr lang="en-US" sz="2400" dirty="0"/>
          </a:p>
        </p:txBody>
      </p:sp>
      <p:pic>
        <p:nvPicPr>
          <p:cNvPr id="10" name="Image 1" descr="Rendered as an image because of CSS transform">    </p:cNvPr>
          <p:cNvPicPr>
            <a:picLocks noChangeAspect="1"/>
          </p:cNvPicPr>
          <p:nvPr/>
        </p:nvPicPr>
        <p:blipFill>
          <a:blip r:embed="rId2"/>
          <a:stretch>
            <a:fillRect/>
          </a:stretch>
        </p:blipFill>
        <p:spPr>
          <a:xfrm>
            <a:off x="659805" y="2212181"/>
            <a:ext cx="765969" cy="361951"/>
          </a:xfrm>
          <a:prstGeom prst="rect">
            <a:avLst/>
          </a:prstGeom>
        </p:spPr>
      </p:pic>
      <p:sp>
        <p:nvSpPr>
          <p:cNvPr id="11" name="Text 7"/>
          <p:cNvSpPr txBox="1"/>
          <p:nvPr/>
        </p:nvSpPr>
        <p:spPr>
          <a:xfrm>
            <a:off x="471289" y="1704181"/>
            <a:ext cx="114319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https</a:t>
            </a:r>
            <a:endParaRPr lang="en-US" sz="2600" dirty="0"/>
          </a:p>
        </p:txBody>
      </p:sp>
      <p:sp>
        <p:nvSpPr>
          <p:cNvPr id="12" name="Text 8"/>
          <p:cNvSpPr txBox="1"/>
          <p:nvPr/>
        </p:nvSpPr>
        <p:spPr>
          <a:xfrm>
            <a:off x="1462088" y="1716881"/>
            <a:ext cx="746919"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a:t>
            </a:r>
            <a:endParaRPr lang="en-US" sz="2600" dirty="0"/>
          </a:p>
        </p:txBody>
      </p:sp>
      <p:pic>
        <p:nvPicPr>
          <p:cNvPr id="13" name="Image 2" descr="Rendered as an image because of CSS transform">    </p:cNvPr>
          <p:cNvPicPr>
            <a:picLocks noChangeAspect="1"/>
          </p:cNvPicPr>
          <p:nvPr/>
        </p:nvPicPr>
        <p:blipFill>
          <a:blip r:embed="rId3"/>
          <a:stretch>
            <a:fillRect/>
          </a:stretch>
        </p:blipFill>
        <p:spPr>
          <a:xfrm>
            <a:off x="3151584" y="2212181"/>
            <a:ext cx="934640" cy="361951"/>
          </a:xfrm>
          <a:prstGeom prst="rect">
            <a:avLst/>
          </a:prstGeom>
        </p:spPr>
      </p:pic>
      <p:sp>
        <p:nvSpPr>
          <p:cNvPr id="14" name="Text 9"/>
          <p:cNvSpPr txBox="1"/>
          <p:nvPr/>
        </p:nvSpPr>
        <p:spPr>
          <a:xfrm>
            <a:off x="2056607" y="1704181"/>
            <a:ext cx="3124795"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example.com:443</a:t>
            </a:r>
            <a:endParaRPr lang="en-US" sz="2600" dirty="0"/>
          </a:p>
        </p:txBody>
      </p:sp>
      <p:pic>
        <p:nvPicPr>
          <p:cNvPr id="15" name="Image 3" descr="Rendered as an image because of CSS transform">    </p:cNvPr>
          <p:cNvPicPr>
            <a:picLocks noChangeAspect="1"/>
          </p:cNvPicPr>
          <p:nvPr/>
        </p:nvPicPr>
        <p:blipFill>
          <a:blip r:embed="rId4"/>
          <a:stretch>
            <a:fillRect/>
          </a:stretch>
        </p:blipFill>
        <p:spPr>
          <a:xfrm>
            <a:off x="5568949" y="2212181"/>
            <a:ext cx="459581" cy="361951"/>
          </a:xfrm>
          <a:prstGeom prst="rect">
            <a:avLst/>
          </a:prstGeom>
        </p:spPr>
      </p:pic>
      <p:sp>
        <p:nvSpPr>
          <p:cNvPr id="16" name="Text 10"/>
          <p:cNvSpPr txBox="1"/>
          <p:nvPr/>
        </p:nvSpPr>
        <p:spPr>
          <a:xfrm>
            <a:off x="5029001" y="1704181"/>
            <a:ext cx="153947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/search</a:t>
            </a:r>
            <a:endParaRPr lang="en-US" sz="2600" dirty="0"/>
          </a:p>
        </p:txBody>
      </p:sp>
      <p:sp>
        <p:nvSpPr>
          <p:cNvPr id="17" name="Text 11"/>
          <p:cNvSpPr txBox="1"/>
          <p:nvPr/>
        </p:nvSpPr>
        <p:spPr>
          <a:xfrm>
            <a:off x="6416080" y="1716881"/>
            <a:ext cx="3719315"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?q=security&amp;page=2</a:t>
            </a:r>
            <a:endParaRPr lang="en-US" sz="2600" dirty="0"/>
          </a:p>
        </p:txBody>
      </p:sp>
      <p:sp>
        <p:nvSpPr>
          <p:cNvPr id="18" name="Text 12"/>
          <p:cNvSpPr txBox="1"/>
          <p:nvPr/>
        </p:nvSpPr>
        <p:spPr>
          <a:xfrm>
            <a:off x="9982993" y="1716881"/>
            <a:ext cx="1737717"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#results</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37112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URI</a:t>
            </a:r>
            <a:endParaRPr lang="en-US" sz="2400" dirty="0"/>
          </a:p>
        </p:txBody>
      </p:sp>
      <p:pic>
        <p:nvPicPr>
          <p:cNvPr id="10" name="Image 1" descr="Rendered as an image because of CSS transform">    </p:cNvPr>
          <p:cNvPicPr>
            <a:picLocks noChangeAspect="1"/>
          </p:cNvPicPr>
          <p:nvPr/>
        </p:nvPicPr>
        <p:blipFill>
          <a:blip r:embed="rId2"/>
          <a:stretch>
            <a:fillRect/>
          </a:stretch>
        </p:blipFill>
        <p:spPr>
          <a:xfrm>
            <a:off x="659805" y="2212181"/>
            <a:ext cx="765969" cy="361951"/>
          </a:xfrm>
          <a:prstGeom prst="rect">
            <a:avLst/>
          </a:prstGeom>
        </p:spPr>
      </p:pic>
      <p:sp>
        <p:nvSpPr>
          <p:cNvPr id="11" name="Text 7"/>
          <p:cNvSpPr txBox="1"/>
          <p:nvPr/>
        </p:nvSpPr>
        <p:spPr>
          <a:xfrm>
            <a:off x="471289" y="1704181"/>
            <a:ext cx="114319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https</a:t>
            </a:r>
            <a:endParaRPr lang="en-US" sz="2600" dirty="0"/>
          </a:p>
        </p:txBody>
      </p:sp>
      <p:sp>
        <p:nvSpPr>
          <p:cNvPr id="12" name="Text 8"/>
          <p:cNvSpPr txBox="1"/>
          <p:nvPr/>
        </p:nvSpPr>
        <p:spPr>
          <a:xfrm>
            <a:off x="1462088" y="1716881"/>
            <a:ext cx="746919"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a:t>
            </a:r>
            <a:endParaRPr lang="en-US" sz="2600" dirty="0"/>
          </a:p>
        </p:txBody>
      </p:sp>
      <p:pic>
        <p:nvPicPr>
          <p:cNvPr id="13" name="Image 2" descr="Rendered as an image because of CSS transform">    </p:cNvPr>
          <p:cNvPicPr>
            <a:picLocks noChangeAspect="1"/>
          </p:cNvPicPr>
          <p:nvPr/>
        </p:nvPicPr>
        <p:blipFill>
          <a:blip r:embed="rId3"/>
          <a:stretch>
            <a:fillRect/>
          </a:stretch>
        </p:blipFill>
        <p:spPr>
          <a:xfrm>
            <a:off x="3151584" y="2212181"/>
            <a:ext cx="934640" cy="361951"/>
          </a:xfrm>
          <a:prstGeom prst="rect">
            <a:avLst/>
          </a:prstGeom>
        </p:spPr>
      </p:pic>
      <p:sp>
        <p:nvSpPr>
          <p:cNvPr id="14" name="Text 9"/>
          <p:cNvSpPr txBox="1"/>
          <p:nvPr/>
        </p:nvSpPr>
        <p:spPr>
          <a:xfrm>
            <a:off x="2056607" y="1704181"/>
            <a:ext cx="3124795"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example.com:443</a:t>
            </a:r>
            <a:endParaRPr lang="en-US" sz="2600" dirty="0"/>
          </a:p>
        </p:txBody>
      </p:sp>
      <p:pic>
        <p:nvPicPr>
          <p:cNvPr id="15" name="Image 3" descr="Rendered as an image because of CSS transform">    </p:cNvPr>
          <p:cNvPicPr>
            <a:picLocks noChangeAspect="1"/>
          </p:cNvPicPr>
          <p:nvPr/>
        </p:nvPicPr>
        <p:blipFill>
          <a:blip r:embed="rId4"/>
          <a:stretch>
            <a:fillRect/>
          </a:stretch>
        </p:blipFill>
        <p:spPr>
          <a:xfrm>
            <a:off x="5568949" y="2212181"/>
            <a:ext cx="459581" cy="361951"/>
          </a:xfrm>
          <a:prstGeom prst="rect">
            <a:avLst/>
          </a:prstGeom>
        </p:spPr>
      </p:pic>
      <p:sp>
        <p:nvSpPr>
          <p:cNvPr id="16" name="Text 10"/>
          <p:cNvSpPr txBox="1"/>
          <p:nvPr/>
        </p:nvSpPr>
        <p:spPr>
          <a:xfrm>
            <a:off x="5029001" y="1704181"/>
            <a:ext cx="153947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/search</a:t>
            </a:r>
            <a:endParaRPr lang="en-US" sz="2600" dirty="0"/>
          </a:p>
        </p:txBody>
      </p:sp>
      <p:sp>
        <p:nvSpPr>
          <p:cNvPr id="17" name="Shape 11"/>
          <p:cNvSpPr/>
          <p:nvPr/>
        </p:nvSpPr>
        <p:spPr>
          <a:xfrm>
            <a:off x="6492280" y="1704181"/>
            <a:ext cx="3566915" cy="482600"/>
          </a:xfrm>
          <a:prstGeom prst="rect">
            <a:avLst/>
          </a:prstGeom>
          <a:solidFill>
            <a:srgbClr val="BBE0E3"/>
          </a:solidFill>
          <a:ln/>
        </p:spPr>
      </p:sp>
      <p:sp>
        <p:nvSpPr>
          <p:cNvPr id="18" name="Shape 12"/>
          <p:cNvSpPr/>
          <p:nvPr/>
        </p:nvSpPr>
        <p:spPr>
          <a:xfrm>
            <a:off x="6492280" y="2135981"/>
            <a:ext cx="3566915" cy="50800"/>
          </a:xfrm>
          <a:prstGeom prst="rect">
            <a:avLst/>
          </a:prstGeom>
          <a:solidFill>
            <a:srgbClr val="CC6600"/>
          </a:solidFill>
          <a:ln/>
        </p:spPr>
      </p:sp>
      <p:pic>
        <p:nvPicPr>
          <p:cNvPr id="19" name="Image 4" descr="Rendered as an image because of CSS transform">    </p:cNvPr>
          <p:cNvPicPr>
            <a:picLocks noChangeAspect="1"/>
          </p:cNvPicPr>
          <p:nvPr/>
        </p:nvPicPr>
        <p:blipFill>
          <a:blip r:embed="rId5"/>
          <a:stretch>
            <a:fillRect/>
          </a:stretch>
        </p:blipFill>
        <p:spPr>
          <a:xfrm>
            <a:off x="7984828" y="2212181"/>
            <a:ext cx="581620" cy="361951"/>
          </a:xfrm>
          <a:prstGeom prst="rect">
            <a:avLst/>
          </a:prstGeom>
        </p:spPr>
      </p:pic>
      <p:sp>
        <p:nvSpPr>
          <p:cNvPr id="20" name="Text 13"/>
          <p:cNvSpPr txBox="1"/>
          <p:nvPr/>
        </p:nvSpPr>
        <p:spPr>
          <a:xfrm>
            <a:off x="6416080" y="1704181"/>
            <a:ext cx="3719315" cy="482600"/>
          </a:xfrm>
          <a:prstGeom prst="rect">
            <a:avLst/>
          </a:prstGeom>
          <a:noFill/>
          <a:ln/>
        </p:spPr>
        <p:txBody>
          <a:bodyPr wrap="none" lIns="0" tIns="0" rIns="0" bIns="0" rtlCol="0" anchor="ctr"/>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?q=security&amp;page=2</a:t>
            </a:r>
            <a:endParaRPr lang="en-US" sz="2600" dirty="0"/>
          </a:p>
        </p:txBody>
      </p:sp>
      <p:sp>
        <p:nvSpPr>
          <p:cNvPr id="21" name="Text 14"/>
          <p:cNvSpPr txBox="1"/>
          <p:nvPr/>
        </p:nvSpPr>
        <p:spPr>
          <a:xfrm>
            <a:off x="9982993" y="1716881"/>
            <a:ext cx="1737717"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#results</a:t>
            </a:r>
            <a:endParaRPr lang="en-US" sz="2600" dirty="0"/>
          </a:p>
        </p:txBody>
      </p:sp>
      <p:sp>
        <p:nvSpPr>
          <p:cNvPr id="22" name="Text 15"/>
          <p:cNvSpPr txBox="1"/>
          <p:nvPr/>
        </p:nvSpPr>
        <p:spPr>
          <a:xfrm>
            <a:off x="587772" y="2821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16"/>
          <p:cNvSpPr txBox="1"/>
          <p:nvPr/>
        </p:nvSpPr>
        <p:spPr>
          <a:xfrm>
            <a:off x="930672" y="2809081"/>
            <a:ext cx="8770937" cy="330200"/>
          </a:xfrm>
          <a:prstGeom prst="rect">
            <a:avLst/>
          </a:prstGeom>
          <a:noFill/>
          <a:ln/>
        </p:spPr>
        <p:txBody>
          <a:bodyPr wrap="none" lIns="0" tIns="0" rIns="0" bIns="0" rtlCol="0" anchor="t"/>
          <a:lstStyle/>
          <a:p>
            <a:pPr algn="l" indent="0" marL="0">
              <a:buNone/>
            </a:pPr>
            <a:r>
              <a:rPr lang="en-US" sz="2100" b="1" dirty="0">
                <a:solidFill>
                  <a:srgbClr val="000000"/>
                </a:solidFill>
                <a:latin typeface="Calibri" pitchFamily="34" charset="0"/>
                <a:ea typeface="Calibri" pitchFamily="34" charset="-122"/>
                <a:cs typeface="Calibri" pitchFamily="34" charset="-120"/>
              </a:rPr>
              <a:t>query</a:t>
            </a:r>
            <a:pPr algn="l" indent="0" marL="0">
              <a:buNone/>
            </a:pPr>
            <a:r>
              <a:rPr lang="en-US" sz="2100" dirty="0">
                <a:solidFill>
                  <a:srgbClr val="000000"/>
                </a:solidFill>
                <a:latin typeface="Calibri" pitchFamily="34" charset="0"/>
                <a:ea typeface="Calibri" pitchFamily="34" charset="-122"/>
                <a:cs typeface="Calibri" pitchFamily="34" charset="-120"/>
              </a:rPr>
              <a:t>: non-hierarchical data that, with the path, </a:t>
            </a:r>
            <a:pPr algn="l" indent="0" marL="0">
              <a:buNone/>
            </a:pPr>
            <a:r>
              <a:rPr lang="en-US" sz="2100" b="1" dirty="0">
                <a:solidFill>
                  <a:srgbClr val="000000"/>
                </a:solidFill>
                <a:latin typeface="Calibri" pitchFamily="34" charset="0"/>
                <a:ea typeface="Calibri" pitchFamily="34" charset="-122"/>
                <a:cs typeface="Calibri" pitchFamily="34" charset="-120"/>
              </a:rPr>
              <a:t>identifies</a:t>
            </a:r>
            <a:pPr algn="l" indent="0" marL="0">
              <a:buNone/>
            </a:pPr>
            <a:r>
              <a:rPr lang="en-US" sz="2100" dirty="0">
                <a:solidFill>
                  <a:srgbClr val="000000"/>
                </a:solidFill>
                <a:latin typeface="Calibri" pitchFamily="34" charset="0"/>
                <a:ea typeface="Calibri" pitchFamily="34" charset="-122"/>
                <a:cs typeface="Calibri" pitchFamily="34" charset="-120"/>
              </a:rPr>
              <a:t> a resource </a:t>
            </a:r>
            <a:pPr algn="l" indent="0" marL="0">
              <a:buNone/>
            </a:pPr>
            <a:r>
              <a:rPr lang="en-US" sz="1300" u="sng" dirty="0">
                <a:solidFill>
                  <a:srgbClr val="00999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3986 §3.4]</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37112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URI</a:t>
            </a:r>
            <a:endParaRPr lang="en-US" sz="2400" dirty="0"/>
          </a:p>
        </p:txBody>
      </p:sp>
      <p:pic>
        <p:nvPicPr>
          <p:cNvPr id="10" name="Image 1" descr="Rendered as an image because of CSS transform">    </p:cNvPr>
          <p:cNvPicPr>
            <a:picLocks noChangeAspect="1"/>
          </p:cNvPicPr>
          <p:nvPr/>
        </p:nvPicPr>
        <p:blipFill>
          <a:blip r:embed="rId2"/>
          <a:stretch>
            <a:fillRect/>
          </a:stretch>
        </p:blipFill>
        <p:spPr>
          <a:xfrm>
            <a:off x="659805" y="2212181"/>
            <a:ext cx="765969" cy="361951"/>
          </a:xfrm>
          <a:prstGeom prst="rect">
            <a:avLst/>
          </a:prstGeom>
        </p:spPr>
      </p:pic>
      <p:sp>
        <p:nvSpPr>
          <p:cNvPr id="11" name="Text 7"/>
          <p:cNvSpPr txBox="1"/>
          <p:nvPr/>
        </p:nvSpPr>
        <p:spPr>
          <a:xfrm>
            <a:off x="471289" y="1704181"/>
            <a:ext cx="114319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https</a:t>
            </a:r>
            <a:endParaRPr lang="en-US" sz="2600" dirty="0"/>
          </a:p>
        </p:txBody>
      </p:sp>
      <p:sp>
        <p:nvSpPr>
          <p:cNvPr id="12" name="Text 8"/>
          <p:cNvSpPr txBox="1"/>
          <p:nvPr/>
        </p:nvSpPr>
        <p:spPr>
          <a:xfrm>
            <a:off x="1462088" y="1716881"/>
            <a:ext cx="746919"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a:t>
            </a:r>
            <a:endParaRPr lang="en-US" sz="2600" dirty="0"/>
          </a:p>
        </p:txBody>
      </p:sp>
      <p:pic>
        <p:nvPicPr>
          <p:cNvPr id="13" name="Image 2" descr="Rendered as an image because of CSS transform">    </p:cNvPr>
          <p:cNvPicPr>
            <a:picLocks noChangeAspect="1"/>
          </p:cNvPicPr>
          <p:nvPr/>
        </p:nvPicPr>
        <p:blipFill>
          <a:blip r:embed="rId3"/>
          <a:stretch>
            <a:fillRect/>
          </a:stretch>
        </p:blipFill>
        <p:spPr>
          <a:xfrm>
            <a:off x="3151584" y="2212181"/>
            <a:ext cx="934640" cy="361951"/>
          </a:xfrm>
          <a:prstGeom prst="rect">
            <a:avLst/>
          </a:prstGeom>
        </p:spPr>
      </p:pic>
      <p:sp>
        <p:nvSpPr>
          <p:cNvPr id="14" name="Text 9"/>
          <p:cNvSpPr txBox="1"/>
          <p:nvPr/>
        </p:nvSpPr>
        <p:spPr>
          <a:xfrm>
            <a:off x="2056607" y="1704181"/>
            <a:ext cx="3124795"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example.com:443</a:t>
            </a:r>
            <a:endParaRPr lang="en-US" sz="2600" dirty="0"/>
          </a:p>
        </p:txBody>
      </p:sp>
      <p:pic>
        <p:nvPicPr>
          <p:cNvPr id="15" name="Image 3" descr="Rendered as an image because of CSS transform">    </p:cNvPr>
          <p:cNvPicPr>
            <a:picLocks noChangeAspect="1"/>
          </p:cNvPicPr>
          <p:nvPr/>
        </p:nvPicPr>
        <p:blipFill>
          <a:blip r:embed="rId4"/>
          <a:stretch>
            <a:fillRect/>
          </a:stretch>
        </p:blipFill>
        <p:spPr>
          <a:xfrm>
            <a:off x="5568949" y="2212181"/>
            <a:ext cx="459581" cy="361951"/>
          </a:xfrm>
          <a:prstGeom prst="rect">
            <a:avLst/>
          </a:prstGeom>
        </p:spPr>
      </p:pic>
      <p:sp>
        <p:nvSpPr>
          <p:cNvPr id="16" name="Text 10"/>
          <p:cNvSpPr txBox="1"/>
          <p:nvPr/>
        </p:nvSpPr>
        <p:spPr>
          <a:xfrm>
            <a:off x="5029001" y="1704181"/>
            <a:ext cx="153947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/search</a:t>
            </a:r>
            <a:endParaRPr lang="en-US" sz="2600" dirty="0"/>
          </a:p>
        </p:txBody>
      </p:sp>
      <p:sp>
        <p:nvSpPr>
          <p:cNvPr id="17" name="Shape 11"/>
          <p:cNvSpPr/>
          <p:nvPr/>
        </p:nvSpPr>
        <p:spPr>
          <a:xfrm>
            <a:off x="6492280" y="1704181"/>
            <a:ext cx="3566915" cy="482600"/>
          </a:xfrm>
          <a:prstGeom prst="rect">
            <a:avLst/>
          </a:prstGeom>
          <a:solidFill>
            <a:srgbClr val="BBE0E3"/>
          </a:solidFill>
          <a:ln/>
        </p:spPr>
      </p:sp>
      <p:sp>
        <p:nvSpPr>
          <p:cNvPr id="18" name="Shape 12"/>
          <p:cNvSpPr/>
          <p:nvPr/>
        </p:nvSpPr>
        <p:spPr>
          <a:xfrm>
            <a:off x="6492280" y="2135981"/>
            <a:ext cx="3566915" cy="50800"/>
          </a:xfrm>
          <a:prstGeom prst="rect">
            <a:avLst/>
          </a:prstGeom>
          <a:solidFill>
            <a:srgbClr val="CC6600"/>
          </a:solidFill>
          <a:ln/>
        </p:spPr>
      </p:sp>
      <p:pic>
        <p:nvPicPr>
          <p:cNvPr id="19" name="Image 4" descr="Rendered as an image because of CSS transform">    </p:cNvPr>
          <p:cNvPicPr>
            <a:picLocks noChangeAspect="1"/>
          </p:cNvPicPr>
          <p:nvPr/>
        </p:nvPicPr>
        <p:blipFill>
          <a:blip r:embed="rId5"/>
          <a:stretch>
            <a:fillRect/>
          </a:stretch>
        </p:blipFill>
        <p:spPr>
          <a:xfrm>
            <a:off x="7984828" y="2212181"/>
            <a:ext cx="581620" cy="361951"/>
          </a:xfrm>
          <a:prstGeom prst="rect">
            <a:avLst/>
          </a:prstGeom>
        </p:spPr>
      </p:pic>
      <p:sp>
        <p:nvSpPr>
          <p:cNvPr id="20" name="Text 13"/>
          <p:cNvSpPr txBox="1"/>
          <p:nvPr/>
        </p:nvSpPr>
        <p:spPr>
          <a:xfrm>
            <a:off x="6416080" y="1704181"/>
            <a:ext cx="3719315" cy="482600"/>
          </a:xfrm>
          <a:prstGeom prst="rect">
            <a:avLst/>
          </a:prstGeom>
          <a:noFill/>
          <a:ln/>
        </p:spPr>
        <p:txBody>
          <a:bodyPr wrap="none" lIns="0" tIns="0" rIns="0" bIns="0" rtlCol="0" anchor="ctr"/>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?q=security&amp;page=2</a:t>
            </a:r>
            <a:endParaRPr lang="en-US" sz="2600" dirty="0"/>
          </a:p>
        </p:txBody>
      </p:sp>
      <p:pic>
        <p:nvPicPr>
          <p:cNvPr id="21" name="Image 5" descr="Rendered as an image because of CSS transform">    </p:cNvPr>
          <p:cNvPicPr>
            <a:picLocks noChangeAspect="1"/>
          </p:cNvPicPr>
          <p:nvPr/>
        </p:nvPicPr>
        <p:blipFill>
          <a:blip r:embed="rId6"/>
          <a:stretch>
            <a:fillRect/>
          </a:stretch>
        </p:blipFill>
        <p:spPr>
          <a:xfrm>
            <a:off x="10392172" y="2212181"/>
            <a:ext cx="919163" cy="361951"/>
          </a:xfrm>
          <a:prstGeom prst="rect">
            <a:avLst/>
          </a:prstGeom>
        </p:spPr>
      </p:pic>
      <p:sp>
        <p:nvSpPr>
          <p:cNvPr id="22" name="Text 14"/>
          <p:cNvSpPr txBox="1"/>
          <p:nvPr/>
        </p:nvSpPr>
        <p:spPr>
          <a:xfrm>
            <a:off x="9982993" y="1704181"/>
            <a:ext cx="1737717"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#results</a:t>
            </a:r>
            <a:endParaRPr lang="en-US" sz="2600" dirty="0"/>
          </a:p>
        </p:txBody>
      </p:sp>
      <p:sp>
        <p:nvSpPr>
          <p:cNvPr id="23" name="Text 15"/>
          <p:cNvSpPr txBox="1"/>
          <p:nvPr/>
        </p:nvSpPr>
        <p:spPr>
          <a:xfrm>
            <a:off x="587772" y="2821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4" name="Text 16"/>
          <p:cNvSpPr txBox="1"/>
          <p:nvPr/>
        </p:nvSpPr>
        <p:spPr>
          <a:xfrm>
            <a:off x="930672" y="2809081"/>
            <a:ext cx="8770937" cy="330200"/>
          </a:xfrm>
          <a:prstGeom prst="rect">
            <a:avLst/>
          </a:prstGeom>
          <a:noFill/>
          <a:ln/>
        </p:spPr>
        <p:txBody>
          <a:bodyPr wrap="none" lIns="0" tIns="0" rIns="0" bIns="0" rtlCol="0" anchor="t"/>
          <a:lstStyle/>
          <a:p>
            <a:pPr algn="l" indent="0" marL="0">
              <a:buNone/>
            </a:pPr>
            <a:r>
              <a:rPr lang="en-US" sz="2100" b="1" dirty="0">
                <a:solidFill>
                  <a:srgbClr val="000000"/>
                </a:solidFill>
                <a:latin typeface="Calibri" pitchFamily="34" charset="0"/>
                <a:ea typeface="Calibri" pitchFamily="34" charset="-122"/>
                <a:cs typeface="Calibri" pitchFamily="34" charset="-120"/>
              </a:rPr>
              <a:t>query</a:t>
            </a:r>
            <a:pPr algn="l" indent="0" marL="0">
              <a:buNone/>
            </a:pPr>
            <a:r>
              <a:rPr lang="en-US" sz="2100" dirty="0">
                <a:solidFill>
                  <a:srgbClr val="000000"/>
                </a:solidFill>
                <a:latin typeface="Calibri" pitchFamily="34" charset="0"/>
                <a:ea typeface="Calibri" pitchFamily="34" charset="-122"/>
                <a:cs typeface="Calibri" pitchFamily="34" charset="-120"/>
              </a:rPr>
              <a:t>: non-hierarchical data that, with the path, </a:t>
            </a:r>
            <a:pPr algn="l" indent="0" marL="0">
              <a:buNone/>
            </a:pPr>
            <a:r>
              <a:rPr lang="en-US" sz="2100" b="1" dirty="0">
                <a:solidFill>
                  <a:srgbClr val="000000"/>
                </a:solidFill>
                <a:latin typeface="Calibri" pitchFamily="34" charset="0"/>
                <a:ea typeface="Calibri" pitchFamily="34" charset="-122"/>
                <a:cs typeface="Calibri" pitchFamily="34" charset="-120"/>
              </a:rPr>
              <a:t>identifies</a:t>
            </a:r>
            <a:pPr algn="l" indent="0" marL="0">
              <a:buNone/>
            </a:pPr>
            <a:r>
              <a:rPr lang="en-US" sz="2100" dirty="0">
                <a:solidFill>
                  <a:srgbClr val="000000"/>
                </a:solidFill>
                <a:latin typeface="Calibri" pitchFamily="34" charset="0"/>
                <a:ea typeface="Calibri" pitchFamily="34" charset="-122"/>
                <a:cs typeface="Calibri" pitchFamily="34" charset="-120"/>
              </a:rPr>
              <a:t> a resource </a:t>
            </a:r>
            <a:pPr algn="l" indent="0" marL="0">
              <a:buNone/>
            </a:pPr>
            <a:r>
              <a:rPr lang="en-US" sz="1300" u="sng" dirty="0">
                <a:solidFill>
                  <a:srgbClr val="00999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3986 §3.4]</a:t>
            </a:r>
            <a:endParaRPr lang="en-US" sz="2100" dirty="0"/>
          </a:p>
        </p:txBody>
      </p:sp>
      <p:sp>
        <p:nvSpPr>
          <p:cNvPr id="25" name="Text 17"/>
          <p:cNvSpPr txBox="1"/>
          <p:nvPr/>
        </p:nvSpPr>
        <p:spPr>
          <a:xfrm>
            <a:off x="587772" y="3217863"/>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6" name="Text 18"/>
          <p:cNvSpPr txBox="1"/>
          <p:nvPr/>
        </p:nvSpPr>
        <p:spPr>
          <a:xfrm>
            <a:off x="930672" y="3205163"/>
            <a:ext cx="8728273" cy="330200"/>
          </a:xfrm>
          <a:prstGeom prst="rect">
            <a:avLst/>
          </a:prstGeom>
          <a:noFill/>
          <a:ln/>
        </p:spPr>
        <p:txBody>
          <a:bodyPr wrap="none" lIns="0" tIns="0" rIns="0" bIns="0" rtlCol="0" anchor="t"/>
          <a:lstStyle/>
          <a:p>
            <a:pPr algn="l" indent="0" marL="0">
              <a:buNone/>
            </a:pPr>
            <a:r>
              <a:rPr lang="en-US" sz="2100" b="1" dirty="0">
                <a:solidFill>
                  <a:srgbClr val="000000"/>
                </a:solidFill>
                <a:latin typeface="Calibri" pitchFamily="34" charset="0"/>
                <a:ea typeface="Calibri" pitchFamily="34" charset="-122"/>
                <a:cs typeface="Calibri" pitchFamily="34" charset="-120"/>
              </a:rPr>
              <a:t>fragment</a:t>
            </a:r>
            <a:pPr algn="l" indent="0" marL="0">
              <a:buNone/>
            </a:pPr>
            <a:r>
              <a:rPr lang="en-US" sz="2100" dirty="0">
                <a:solidFill>
                  <a:srgbClr val="000000"/>
                </a:solidFill>
                <a:latin typeface="Calibri" pitchFamily="34" charset="0"/>
                <a:ea typeface="Calibri" pitchFamily="34" charset="-122"/>
                <a:cs typeface="Calibri" pitchFamily="34" charset="-120"/>
              </a:rPr>
              <a:t>: handled by the user agent, </a:t>
            </a:r>
            <a:pPr algn="l" indent="0" marL="0">
              <a:buNone/>
            </a:pPr>
            <a:r>
              <a:rPr lang="en-US" sz="2100" b="1" dirty="0">
                <a:solidFill>
                  <a:srgbClr val="000000"/>
                </a:solidFill>
                <a:latin typeface="Calibri" pitchFamily="34" charset="0"/>
                <a:ea typeface="Calibri" pitchFamily="34" charset="-122"/>
                <a:cs typeface="Calibri" pitchFamily="34" charset="-120"/>
              </a:rPr>
              <a:t>never sent</a:t>
            </a:r>
            <a:pPr algn="l" indent="0" marL="0">
              <a:buNone/>
            </a:pPr>
            <a:r>
              <a:rPr lang="en-US" sz="2100" dirty="0">
                <a:solidFill>
                  <a:srgbClr val="000000"/>
                </a:solidFill>
                <a:latin typeface="Calibri" pitchFamily="34" charset="0"/>
                <a:ea typeface="Calibri" pitchFamily="34" charset="-122"/>
                <a:cs typeface="Calibri" pitchFamily="34" charset="-120"/>
              </a:rPr>
              <a:t> in the HTTP request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3986 §3.5]</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37112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URI</a:t>
            </a:r>
            <a:endParaRPr lang="en-US" sz="2400" dirty="0"/>
          </a:p>
        </p:txBody>
      </p:sp>
      <p:pic>
        <p:nvPicPr>
          <p:cNvPr id="10" name="Image 1" descr="Rendered as an image because of CSS transform">    </p:cNvPr>
          <p:cNvPicPr>
            <a:picLocks noChangeAspect="1"/>
          </p:cNvPicPr>
          <p:nvPr/>
        </p:nvPicPr>
        <p:blipFill>
          <a:blip r:embed="rId2"/>
          <a:stretch>
            <a:fillRect/>
          </a:stretch>
        </p:blipFill>
        <p:spPr>
          <a:xfrm>
            <a:off x="659805" y="2212181"/>
            <a:ext cx="765969" cy="361951"/>
          </a:xfrm>
          <a:prstGeom prst="rect">
            <a:avLst/>
          </a:prstGeom>
        </p:spPr>
      </p:pic>
      <p:sp>
        <p:nvSpPr>
          <p:cNvPr id="11" name="Text 7"/>
          <p:cNvSpPr txBox="1"/>
          <p:nvPr/>
        </p:nvSpPr>
        <p:spPr>
          <a:xfrm>
            <a:off x="471289" y="1704181"/>
            <a:ext cx="114319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https</a:t>
            </a:r>
            <a:endParaRPr lang="en-US" sz="2600" dirty="0"/>
          </a:p>
        </p:txBody>
      </p:sp>
      <p:sp>
        <p:nvSpPr>
          <p:cNvPr id="12" name="Text 8"/>
          <p:cNvSpPr txBox="1"/>
          <p:nvPr/>
        </p:nvSpPr>
        <p:spPr>
          <a:xfrm>
            <a:off x="1462088" y="1716881"/>
            <a:ext cx="746919" cy="381000"/>
          </a:xfrm>
          <a:prstGeom prst="rect">
            <a:avLst/>
          </a:prstGeom>
          <a:noFill/>
          <a:ln/>
        </p:spPr>
        <p:txBody>
          <a:bodyPr wrap="none" lIns="0" tIns="0" rIns="0" bIns="0" rtlCol="0" anchor="t"/>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a:t>
            </a:r>
            <a:endParaRPr lang="en-US" sz="2600" dirty="0"/>
          </a:p>
        </p:txBody>
      </p:sp>
      <p:pic>
        <p:nvPicPr>
          <p:cNvPr id="13" name="Image 2" descr="Rendered as an image because of CSS transform">    </p:cNvPr>
          <p:cNvPicPr>
            <a:picLocks noChangeAspect="1"/>
          </p:cNvPicPr>
          <p:nvPr/>
        </p:nvPicPr>
        <p:blipFill>
          <a:blip r:embed="rId3"/>
          <a:stretch>
            <a:fillRect/>
          </a:stretch>
        </p:blipFill>
        <p:spPr>
          <a:xfrm>
            <a:off x="3151584" y="2212181"/>
            <a:ext cx="934640" cy="361951"/>
          </a:xfrm>
          <a:prstGeom prst="rect">
            <a:avLst/>
          </a:prstGeom>
        </p:spPr>
      </p:pic>
      <p:sp>
        <p:nvSpPr>
          <p:cNvPr id="14" name="Text 9"/>
          <p:cNvSpPr txBox="1"/>
          <p:nvPr/>
        </p:nvSpPr>
        <p:spPr>
          <a:xfrm>
            <a:off x="2056607" y="1704181"/>
            <a:ext cx="3124795"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example.com:443</a:t>
            </a:r>
            <a:endParaRPr lang="en-US" sz="2600" dirty="0"/>
          </a:p>
        </p:txBody>
      </p:sp>
      <p:pic>
        <p:nvPicPr>
          <p:cNvPr id="15" name="Image 3" descr="Rendered as an image because of CSS transform">    </p:cNvPr>
          <p:cNvPicPr>
            <a:picLocks noChangeAspect="1"/>
          </p:cNvPicPr>
          <p:nvPr/>
        </p:nvPicPr>
        <p:blipFill>
          <a:blip r:embed="rId4"/>
          <a:stretch>
            <a:fillRect/>
          </a:stretch>
        </p:blipFill>
        <p:spPr>
          <a:xfrm>
            <a:off x="5568949" y="2212181"/>
            <a:ext cx="459581" cy="361951"/>
          </a:xfrm>
          <a:prstGeom prst="rect">
            <a:avLst/>
          </a:prstGeom>
        </p:spPr>
      </p:pic>
      <p:sp>
        <p:nvSpPr>
          <p:cNvPr id="16" name="Text 10"/>
          <p:cNvSpPr txBox="1"/>
          <p:nvPr/>
        </p:nvSpPr>
        <p:spPr>
          <a:xfrm>
            <a:off x="5029001" y="1704181"/>
            <a:ext cx="1539479"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/search</a:t>
            </a:r>
            <a:endParaRPr lang="en-US" sz="2600" dirty="0"/>
          </a:p>
        </p:txBody>
      </p:sp>
      <p:sp>
        <p:nvSpPr>
          <p:cNvPr id="17" name="Shape 11"/>
          <p:cNvSpPr/>
          <p:nvPr/>
        </p:nvSpPr>
        <p:spPr>
          <a:xfrm>
            <a:off x="6492280" y="1704181"/>
            <a:ext cx="3566915" cy="482600"/>
          </a:xfrm>
          <a:prstGeom prst="rect">
            <a:avLst/>
          </a:prstGeom>
          <a:solidFill>
            <a:srgbClr val="BBE0E3"/>
          </a:solidFill>
          <a:ln/>
        </p:spPr>
      </p:sp>
      <p:sp>
        <p:nvSpPr>
          <p:cNvPr id="18" name="Shape 12"/>
          <p:cNvSpPr/>
          <p:nvPr/>
        </p:nvSpPr>
        <p:spPr>
          <a:xfrm>
            <a:off x="6492280" y="2135981"/>
            <a:ext cx="3566915" cy="50800"/>
          </a:xfrm>
          <a:prstGeom prst="rect">
            <a:avLst/>
          </a:prstGeom>
          <a:solidFill>
            <a:srgbClr val="CC6600"/>
          </a:solidFill>
          <a:ln/>
        </p:spPr>
      </p:sp>
      <p:pic>
        <p:nvPicPr>
          <p:cNvPr id="19" name="Image 4" descr="Rendered as an image because of CSS transform">    </p:cNvPr>
          <p:cNvPicPr>
            <a:picLocks noChangeAspect="1"/>
          </p:cNvPicPr>
          <p:nvPr/>
        </p:nvPicPr>
        <p:blipFill>
          <a:blip r:embed="rId5"/>
          <a:stretch>
            <a:fillRect/>
          </a:stretch>
        </p:blipFill>
        <p:spPr>
          <a:xfrm>
            <a:off x="7984828" y="2212181"/>
            <a:ext cx="581620" cy="361951"/>
          </a:xfrm>
          <a:prstGeom prst="rect">
            <a:avLst/>
          </a:prstGeom>
        </p:spPr>
      </p:pic>
      <p:sp>
        <p:nvSpPr>
          <p:cNvPr id="20" name="Text 13"/>
          <p:cNvSpPr txBox="1"/>
          <p:nvPr/>
        </p:nvSpPr>
        <p:spPr>
          <a:xfrm>
            <a:off x="6416080" y="1704181"/>
            <a:ext cx="3719315" cy="482600"/>
          </a:xfrm>
          <a:prstGeom prst="rect">
            <a:avLst/>
          </a:prstGeom>
          <a:noFill/>
          <a:ln/>
        </p:spPr>
        <p:txBody>
          <a:bodyPr wrap="none" lIns="0" tIns="0" rIns="0" bIns="0" rtlCol="0" anchor="ctr"/>
          <a:lstStyle/>
          <a:p>
            <a:pPr algn="ctr" indent="0" marL="0">
              <a:buNone/>
            </a:pPr>
            <a:r>
              <a:rPr lang="en-US" sz="2600" b="1" dirty="0">
                <a:solidFill>
                  <a:srgbClr val="000000"/>
                </a:solidFill>
                <a:latin typeface="Courier New" pitchFamily="34" charset="0"/>
                <a:ea typeface="Courier New" pitchFamily="34" charset="-122"/>
                <a:cs typeface="Courier New" pitchFamily="34" charset="-120"/>
              </a:rPr>
              <a:t>?q=security&amp;page=2</a:t>
            </a:r>
            <a:endParaRPr lang="en-US" sz="2600" dirty="0"/>
          </a:p>
        </p:txBody>
      </p:sp>
      <p:pic>
        <p:nvPicPr>
          <p:cNvPr id="21" name="Image 5" descr="Rendered as an image because of CSS transform">    </p:cNvPr>
          <p:cNvPicPr>
            <a:picLocks noChangeAspect="1"/>
          </p:cNvPicPr>
          <p:nvPr/>
        </p:nvPicPr>
        <p:blipFill>
          <a:blip r:embed="rId6"/>
          <a:stretch>
            <a:fillRect/>
          </a:stretch>
        </p:blipFill>
        <p:spPr>
          <a:xfrm>
            <a:off x="10392172" y="2212181"/>
            <a:ext cx="919163" cy="361951"/>
          </a:xfrm>
          <a:prstGeom prst="rect">
            <a:avLst/>
          </a:prstGeom>
        </p:spPr>
      </p:pic>
      <p:sp>
        <p:nvSpPr>
          <p:cNvPr id="22" name="Text 14"/>
          <p:cNvSpPr txBox="1"/>
          <p:nvPr/>
        </p:nvSpPr>
        <p:spPr>
          <a:xfrm>
            <a:off x="9982993" y="1704181"/>
            <a:ext cx="1737717" cy="482600"/>
          </a:xfrm>
          <a:prstGeom prst="rect">
            <a:avLst/>
          </a:prstGeom>
          <a:noFill/>
          <a:ln/>
        </p:spPr>
        <p:txBody>
          <a:bodyPr wrap="none" lIns="0" tIns="0" rIns="0" bIns="0" rtlCol="0" anchor="ctr"/>
          <a:lstStyle/>
          <a:p>
            <a:pPr algn="ctr" indent="0" marL="0">
              <a:buNone/>
            </a:pPr>
            <a:r>
              <a:rPr lang="en-US" sz="2600" b="1" u="sng" dirty="0">
                <a:solidFill>
                  <a:srgbClr val="000000"/>
                </a:solidFill>
                <a:latin typeface="Courier New" pitchFamily="34" charset="0"/>
                <a:ea typeface="Courier New" pitchFamily="34" charset="-122"/>
                <a:cs typeface="Courier New" pitchFamily="34" charset="-120"/>
              </a:rPr>
              <a:t>#results</a:t>
            </a:r>
            <a:endParaRPr lang="en-US" sz="2600" dirty="0"/>
          </a:p>
        </p:txBody>
      </p:sp>
      <p:sp>
        <p:nvSpPr>
          <p:cNvPr id="23" name="Text 15"/>
          <p:cNvSpPr txBox="1"/>
          <p:nvPr/>
        </p:nvSpPr>
        <p:spPr>
          <a:xfrm>
            <a:off x="587772" y="2821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4" name="Text 16"/>
          <p:cNvSpPr txBox="1"/>
          <p:nvPr/>
        </p:nvSpPr>
        <p:spPr>
          <a:xfrm>
            <a:off x="930672" y="2809081"/>
            <a:ext cx="8770937" cy="330200"/>
          </a:xfrm>
          <a:prstGeom prst="rect">
            <a:avLst/>
          </a:prstGeom>
          <a:noFill/>
          <a:ln/>
        </p:spPr>
        <p:txBody>
          <a:bodyPr wrap="none" lIns="0" tIns="0" rIns="0" bIns="0" rtlCol="0" anchor="t"/>
          <a:lstStyle/>
          <a:p>
            <a:pPr algn="l" indent="0" marL="0">
              <a:buNone/>
            </a:pPr>
            <a:r>
              <a:rPr lang="en-US" sz="2100" b="1" dirty="0">
                <a:solidFill>
                  <a:srgbClr val="000000"/>
                </a:solidFill>
                <a:latin typeface="Calibri" pitchFamily="34" charset="0"/>
                <a:ea typeface="Calibri" pitchFamily="34" charset="-122"/>
                <a:cs typeface="Calibri" pitchFamily="34" charset="-120"/>
              </a:rPr>
              <a:t>query</a:t>
            </a:r>
            <a:pPr algn="l" indent="0" marL="0">
              <a:buNone/>
            </a:pPr>
            <a:r>
              <a:rPr lang="en-US" sz="2100" dirty="0">
                <a:solidFill>
                  <a:srgbClr val="000000"/>
                </a:solidFill>
                <a:latin typeface="Calibri" pitchFamily="34" charset="0"/>
                <a:ea typeface="Calibri" pitchFamily="34" charset="-122"/>
                <a:cs typeface="Calibri" pitchFamily="34" charset="-120"/>
              </a:rPr>
              <a:t>: non-hierarchical data that, with the path, </a:t>
            </a:r>
            <a:pPr algn="l" indent="0" marL="0">
              <a:buNone/>
            </a:pPr>
            <a:r>
              <a:rPr lang="en-US" sz="2100" b="1" dirty="0">
                <a:solidFill>
                  <a:srgbClr val="000000"/>
                </a:solidFill>
                <a:latin typeface="Calibri" pitchFamily="34" charset="0"/>
                <a:ea typeface="Calibri" pitchFamily="34" charset="-122"/>
                <a:cs typeface="Calibri" pitchFamily="34" charset="-120"/>
              </a:rPr>
              <a:t>identifies</a:t>
            </a:r>
            <a:pPr algn="l" indent="0" marL="0">
              <a:buNone/>
            </a:pPr>
            <a:r>
              <a:rPr lang="en-US" sz="2100" dirty="0">
                <a:solidFill>
                  <a:srgbClr val="000000"/>
                </a:solidFill>
                <a:latin typeface="Calibri" pitchFamily="34" charset="0"/>
                <a:ea typeface="Calibri" pitchFamily="34" charset="-122"/>
                <a:cs typeface="Calibri" pitchFamily="34" charset="-120"/>
              </a:rPr>
              <a:t> a resource </a:t>
            </a:r>
            <a:pPr algn="l" indent="0" marL="0">
              <a:buNone/>
            </a:pPr>
            <a:r>
              <a:rPr lang="en-US" sz="1300" u="sng" dirty="0">
                <a:solidFill>
                  <a:srgbClr val="00999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3986 §3.4]</a:t>
            </a:r>
            <a:endParaRPr lang="en-US" sz="2100" dirty="0"/>
          </a:p>
        </p:txBody>
      </p:sp>
      <p:sp>
        <p:nvSpPr>
          <p:cNvPr id="25" name="Text 17"/>
          <p:cNvSpPr txBox="1"/>
          <p:nvPr/>
        </p:nvSpPr>
        <p:spPr>
          <a:xfrm>
            <a:off x="587772" y="3217863"/>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6" name="Text 18"/>
          <p:cNvSpPr txBox="1"/>
          <p:nvPr/>
        </p:nvSpPr>
        <p:spPr>
          <a:xfrm>
            <a:off x="930672" y="3205163"/>
            <a:ext cx="8728273" cy="330200"/>
          </a:xfrm>
          <a:prstGeom prst="rect">
            <a:avLst/>
          </a:prstGeom>
          <a:noFill/>
          <a:ln/>
        </p:spPr>
        <p:txBody>
          <a:bodyPr wrap="none" lIns="0" tIns="0" rIns="0" bIns="0" rtlCol="0" anchor="t"/>
          <a:lstStyle/>
          <a:p>
            <a:pPr algn="l" indent="0" marL="0">
              <a:buNone/>
            </a:pPr>
            <a:r>
              <a:rPr lang="en-US" sz="2100" b="1" dirty="0">
                <a:solidFill>
                  <a:srgbClr val="000000"/>
                </a:solidFill>
                <a:latin typeface="Calibri" pitchFamily="34" charset="0"/>
                <a:ea typeface="Calibri" pitchFamily="34" charset="-122"/>
                <a:cs typeface="Calibri" pitchFamily="34" charset="-120"/>
              </a:rPr>
              <a:t>fragment</a:t>
            </a:r>
            <a:pPr algn="l" indent="0" marL="0">
              <a:buNone/>
            </a:pPr>
            <a:r>
              <a:rPr lang="en-US" sz="2100" dirty="0">
                <a:solidFill>
                  <a:srgbClr val="000000"/>
                </a:solidFill>
                <a:latin typeface="Calibri" pitchFamily="34" charset="0"/>
                <a:ea typeface="Calibri" pitchFamily="34" charset="-122"/>
                <a:cs typeface="Calibri" pitchFamily="34" charset="-120"/>
              </a:rPr>
              <a:t>: handled by the user agent, </a:t>
            </a:r>
            <a:pPr algn="l" indent="0" marL="0">
              <a:buNone/>
            </a:pPr>
            <a:r>
              <a:rPr lang="en-US" sz="2100" b="1" dirty="0">
                <a:solidFill>
                  <a:srgbClr val="000000"/>
                </a:solidFill>
                <a:latin typeface="Calibri" pitchFamily="34" charset="0"/>
                <a:ea typeface="Calibri" pitchFamily="34" charset="-122"/>
                <a:cs typeface="Calibri" pitchFamily="34" charset="-120"/>
              </a:rPr>
              <a:t>never sent</a:t>
            </a:r>
            <a:pPr algn="l" indent="0" marL="0">
              <a:buNone/>
            </a:pPr>
            <a:r>
              <a:rPr lang="en-US" sz="2100" dirty="0">
                <a:solidFill>
                  <a:srgbClr val="000000"/>
                </a:solidFill>
                <a:latin typeface="Calibri" pitchFamily="34" charset="0"/>
                <a:ea typeface="Calibri" pitchFamily="34" charset="-122"/>
                <a:cs typeface="Calibri" pitchFamily="34" charset="-120"/>
              </a:rPr>
              <a:t> in the HTTP request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3986 §3.5]</a:t>
            </a:r>
            <a:endParaRPr lang="en-US" sz="2100" dirty="0"/>
          </a:p>
        </p:txBody>
      </p:sp>
      <p:sp>
        <p:nvSpPr>
          <p:cNvPr id="27" name="Shape 19"/>
          <p:cNvSpPr/>
          <p:nvPr/>
        </p:nvSpPr>
        <p:spPr>
          <a:xfrm>
            <a:off x="294481" y="3766344"/>
            <a:ext cx="5318919" cy="1790700"/>
          </a:xfrm>
          <a:prstGeom prst="rect">
            <a:avLst/>
          </a:prstGeom>
          <a:solidFill>
            <a:srgbClr val="D6D6EB"/>
          </a:solidFill>
          <a:ln w="12700">
            <a:solidFill>
              <a:srgbClr val="333399"/>
            </a:solidFill>
            <a:prstDash val="solid"/>
          </a:ln>
        </p:spPr>
      </p:sp>
      <p:sp>
        <p:nvSpPr>
          <p:cNvPr id="28" name="Text 20"/>
          <p:cNvSpPr txBox="1"/>
          <p:nvPr/>
        </p:nvSpPr>
        <p:spPr>
          <a:xfrm>
            <a:off x="459581" y="3918744"/>
            <a:ext cx="2694384"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URI query component</a:t>
            </a:r>
            <a:endParaRPr lang="en-US" sz="2200" dirty="0"/>
          </a:p>
        </p:txBody>
      </p:sp>
      <p:sp>
        <p:nvSpPr>
          <p:cNvPr id="29" name="Text 21"/>
          <p:cNvSpPr txBox="1"/>
          <p:nvPr/>
        </p:nvSpPr>
        <p:spPr>
          <a:xfrm>
            <a:off x="459581" y="4414044"/>
            <a:ext cx="2758876" cy="279400"/>
          </a:xfrm>
          <a:prstGeom prst="rect">
            <a:avLst/>
          </a:prstGeom>
          <a:noFill/>
          <a:ln/>
        </p:spPr>
        <p:txBody>
          <a:bodyPr wrap="none" lIns="0" tIns="0" rIns="0" bIns="0" rtlCol="0" anchor="t"/>
          <a:lstStyle/>
          <a:p>
            <a:pPr algn="l" indent="0" marL="0">
              <a:buNone/>
            </a:pPr>
            <a:r>
              <a:rPr lang="en-US" sz="1900" b="1" dirty="0">
                <a:solidFill>
                  <a:srgbClr val="000000"/>
                </a:solidFill>
                <a:latin typeface="Courier New" pitchFamily="34" charset="0"/>
                <a:ea typeface="Courier New" pitchFamily="34" charset="-122"/>
                <a:cs typeface="Courier New" pitchFamily="34" charset="-120"/>
              </a:rPr>
              <a:t>?q=security&amp;page=2</a:t>
            </a:r>
            <a:endParaRPr lang="en-US" sz="1900" dirty="0"/>
          </a:p>
        </p:txBody>
      </p:sp>
      <p:sp>
        <p:nvSpPr>
          <p:cNvPr id="30" name="Text 22"/>
          <p:cNvSpPr txBox="1"/>
          <p:nvPr/>
        </p:nvSpPr>
        <p:spPr>
          <a:xfrm>
            <a:off x="459581" y="4814093"/>
            <a:ext cx="41796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Part of the resource </a:t>
            </a:r>
            <a:pPr algn="l" indent="0" marL="0">
              <a:buNone/>
            </a:pPr>
            <a:r>
              <a:rPr lang="en-US" sz="1900" b="1" dirty="0">
                <a:solidFill>
                  <a:srgbClr val="000000"/>
                </a:solidFill>
                <a:latin typeface="Calibri" pitchFamily="34" charset="0"/>
                <a:ea typeface="Calibri" pitchFamily="34" charset="-122"/>
                <a:cs typeface="Calibri" pitchFamily="34" charset="-120"/>
              </a:rPr>
              <a:t>identifier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[RFC 3986 §3.4]</a:t>
            </a:r>
            <a:endParaRPr lang="en-US" sz="1900" dirty="0"/>
          </a:p>
        </p:txBody>
      </p:sp>
      <p:sp>
        <p:nvSpPr>
          <p:cNvPr id="31" name="Text 23"/>
          <p:cNvSpPr txBox="1"/>
          <p:nvPr/>
        </p:nvSpPr>
        <p:spPr>
          <a:xfrm>
            <a:off x="5907683" y="4236244"/>
            <a:ext cx="528836" cy="838200"/>
          </a:xfrm>
          <a:prstGeom prst="rect">
            <a:avLst/>
          </a:prstGeom>
          <a:noFill/>
          <a:ln/>
        </p:spPr>
        <p:txBody>
          <a:bodyPr wrap="none" lIns="0" tIns="0" rIns="0" bIns="0" rtlCol="0" anchor="t"/>
          <a:lstStyle/>
          <a:p>
            <a:pPr algn="l" indent="0" marL="0">
              <a:buNone/>
            </a:pPr>
            <a:r>
              <a:rPr lang="en-US" sz="5400" b="1" dirty="0">
                <a:solidFill>
                  <a:srgbClr val="993300"/>
                </a:solidFill>
                <a:latin typeface="Calibri" pitchFamily="34" charset="0"/>
                <a:ea typeface="Calibri" pitchFamily="34" charset="-122"/>
                <a:cs typeface="Calibri" pitchFamily="34" charset="-120"/>
              </a:rPr>
              <a:t>≠</a:t>
            </a:r>
            <a:endParaRPr lang="en-US" sz="5400" dirty="0"/>
          </a:p>
        </p:txBody>
      </p:sp>
      <p:sp>
        <p:nvSpPr>
          <p:cNvPr id="32" name="Shape 24"/>
          <p:cNvSpPr/>
          <p:nvPr/>
        </p:nvSpPr>
        <p:spPr>
          <a:xfrm>
            <a:off x="6578600" y="3766344"/>
            <a:ext cx="5318919" cy="1790700"/>
          </a:xfrm>
          <a:prstGeom prst="rect">
            <a:avLst/>
          </a:prstGeom>
          <a:solidFill>
            <a:srgbClr val="FFFFFF"/>
          </a:solidFill>
          <a:ln w="25400">
            <a:solidFill>
              <a:srgbClr val="CC6600"/>
            </a:solidFill>
            <a:prstDash val="solid"/>
          </a:ln>
        </p:spPr>
      </p:sp>
      <p:sp>
        <p:nvSpPr>
          <p:cNvPr id="33" name="Text 25"/>
          <p:cNvSpPr txBox="1"/>
          <p:nvPr/>
        </p:nvSpPr>
        <p:spPr>
          <a:xfrm>
            <a:off x="6756400" y="3931444"/>
            <a:ext cx="2604492"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HTTP QUERY method</a:t>
            </a:r>
            <a:endParaRPr lang="en-US" sz="2200" dirty="0"/>
          </a:p>
        </p:txBody>
      </p:sp>
      <p:sp>
        <p:nvSpPr>
          <p:cNvPr id="34" name="Shape 26"/>
          <p:cNvSpPr/>
          <p:nvPr/>
        </p:nvSpPr>
        <p:spPr>
          <a:xfrm>
            <a:off x="6756400" y="4439444"/>
            <a:ext cx="818555" cy="266303"/>
          </a:xfrm>
          <a:prstGeom prst="roundRect">
            <a:avLst>
              <a:gd name="adj" fmla="val 14307"/>
            </a:avLst>
          </a:prstGeom>
          <a:solidFill>
            <a:srgbClr val="CC6600"/>
          </a:solidFill>
          <a:ln/>
        </p:spPr>
      </p:sp>
      <p:sp>
        <p:nvSpPr>
          <p:cNvPr id="35" name="Text 27"/>
          <p:cNvSpPr txBox="1"/>
          <p:nvPr/>
        </p:nvSpPr>
        <p:spPr>
          <a:xfrm>
            <a:off x="6832600" y="4426744"/>
            <a:ext cx="3501231" cy="279400"/>
          </a:xfrm>
          <a:prstGeom prst="rect">
            <a:avLst/>
          </a:prstGeom>
          <a:noFill/>
          <a:ln/>
        </p:spPr>
        <p:txBody>
          <a:bodyPr wrap="none" lIns="0" tIns="0" rIns="0" bIns="0" rtlCol="0" anchor="t"/>
          <a:lstStyle/>
          <a:p>
            <a:pPr algn="l" indent="0" marL="0">
              <a:buNone/>
            </a:pPr>
            <a:r>
              <a:rPr lang="en-US" sz="1748" b="1" dirty="0">
                <a:solidFill>
                  <a:srgbClr val="FFFFFF"/>
                </a:solidFill>
                <a:latin typeface="Courier New" pitchFamily="34" charset="0"/>
                <a:ea typeface="Courier New" pitchFamily="34" charset="-122"/>
                <a:cs typeface="Courier New" pitchFamily="34" charset="-120"/>
              </a:rPr>
              <a:t>QUERY</a:t>
            </a:r>
            <a:pPr algn="l" indent="0" marL="0">
              <a:buNone/>
            </a:pPr>
            <a:r>
              <a:rPr lang="en-US" sz="1900" b="1" dirty="0">
                <a:solidFill>
                  <a:srgbClr val="000000"/>
                </a:solidFill>
                <a:latin typeface="Courier New" pitchFamily="34" charset="0"/>
                <a:ea typeface="Courier New" pitchFamily="34" charset="-122"/>
                <a:cs typeface="Courier New" pitchFamily="34" charset="-120"/>
              </a:rPr>
              <a:t> /search + content</a:t>
            </a:r>
            <a:endParaRPr lang="en-US" sz="1748" dirty="0"/>
          </a:p>
        </p:txBody>
      </p:sp>
      <p:sp>
        <p:nvSpPr>
          <p:cNvPr id="36" name="Text 28"/>
          <p:cNvSpPr txBox="1"/>
          <p:nvPr/>
        </p:nvSpPr>
        <p:spPr>
          <a:xfrm>
            <a:off x="6756400" y="4826793"/>
            <a:ext cx="4988719"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A request </a:t>
            </a:r>
            <a:pPr algn="l" indent="0" marL="0">
              <a:lnSpc>
                <a:spcPts val="2375"/>
              </a:lnSpc>
              <a:buNone/>
            </a:pPr>
            <a:r>
              <a:rPr lang="en-US" sz="1900" b="1" dirty="0">
                <a:solidFill>
                  <a:srgbClr val="000000"/>
                </a:solidFill>
                <a:latin typeface="Calibri" pitchFamily="34" charset="0"/>
                <a:ea typeface="Calibri" pitchFamily="34" charset="-122"/>
                <a:cs typeface="Calibri" pitchFamily="34" charset="-120"/>
              </a:rPr>
              <a:t>method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the query input travels as request content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10008 §1.1]</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75277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When the URI becomes the problem</a:t>
            </a:r>
            <a:endParaRPr lang="en-US" sz="2400" dirty="0"/>
          </a:p>
        </p:txBody>
      </p:sp>
      <p:sp>
        <p:nvSpPr>
          <p:cNvPr id="10" name="Text 7"/>
          <p:cNvSpPr txBox="1"/>
          <p:nvPr/>
        </p:nvSpPr>
        <p:spPr>
          <a:xfrm>
            <a:off x="294481" y="1551781"/>
            <a:ext cx="775116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Query parameters suit small inputs: </a:t>
            </a:r>
            <a:pPr algn="l" indent="0" marL="0">
              <a:buNone/>
            </a:pPr>
            <a:r>
              <a:rPr lang="en-US" sz="2000" b="1" dirty="0">
                <a:solidFill>
                  <a:srgbClr val="000000"/>
                </a:solidFill>
                <a:latin typeface="Calibri" pitchFamily="34" charset="0"/>
                <a:ea typeface="Calibri" pitchFamily="34" charset="-122"/>
                <a:cs typeface="Calibri" pitchFamily="34" charset="-120"/>
              </a:rPr>
              <a:t>filter · search · sort · paginate · select</a:t>
            </a:r>
            <a:endParaRPr lang="en-US" sz="2000" dirty="0"/>
          </a:p>
        </p:txBody>
      </p:sp>
      <p:sp>
        <p:nvSpPr>
          <p:cNvPr id="11" name="Shape 8"/>
          <p:cNvSpPr/>
          <p:nvPr/>
        </p:nvSpPr>
        <p:spPr>
          <a:xfrm>
            <a:off x="294481" y="1996281"/>
            <a:ext cx="11603037" cy="1320800"/>
          </a:xfrm>
          <a:prstGeom prst="rect">
            <a:avLst/>
          </a:prstGeom>
          <a:noFill/>
          <a:ln w="12700">
            <a:solidFill>
              <a:srgbClr val="333399"/>
            </a:solidFill>
            <a:prstDash val="solid"/>
          </a:ln>
        </p:spPr>
      </p:sp>
      <p:sp>
        <p:nvSpPr>
          <p:cNvPr id="12" name="Shape 9"/>
          <p:cNvSpPr/>
          <p:nvPr/>
        </p:nvSpPr>
        <p:spPr>
          <a:xfrm>
            <a:off x="434181" y="2123281"/>
            <a:ext cx="510183" cy="238324"/>
          </a:xfrm>
          <a:prstGeom prst="roundRect">
            <a:avLst>
              <a:gd name="adj" fmla="val 15987"/>
            </a:avLst>
          </a:prstGeom>
          <a:solidFill>
            <a:srgbClr val="333399"/>
          </a:solidFill>
          <a:ln/>
        </p:spPr>
      </p:sp>
      <p:sp>
        <p:nvSpPr>
          <p:cNvPr id="13" name="Text 10"/>
          <p:cNvSpPr txBox="1"/>
          <p:nvPr/>
        </p:nvSpPr>
        <p:spPr>
          <a:xfrm>
            <a:off x="510381" y="2110581"/>
            <a:ext cx="2789039" cy="241300"/>
          </a:xfrm>
          <a:prstGeom prst="rect">
            <a:avLst/>
          </a:prstGeom>
          <a:noFill/>
          <a:ln/>
        </p:spPr>
        <p:txBody>
          <a:bodyPr wrap="none" lIns="0" tIns="0" rIns="0" bIns="0" rtlCol="0" anchor="t"/>
          <a:lstStyle/>
          <a:p>
            <a:pPr algn="l" indent="0" marL="0">
              <a:buNone/>
            </a:pPr>
            <a:r>
              <a:rPr lang="en-US" sz="1564" b="1" dirty="0">
                <a:solidFill>
                  <a:srgbClr val="FFFFFF"/>
                </a:solidFill>
                <a:latin typeface="Courier New" pitchFamily="34" charset="0"/>
                <a:ea typeface="Courier New" pitchFamily="34" charset="-122"/>
                <a:cs typeface="Courier New" pitchFamily="34" charset="-120"/>
              </a:rPr>
              <a:t>GET</a:t>
            </a:r>
            <a:pPr algn="l" indent="0" marL="0">
              <a:buNone/>
            </a:pPr>
            <a:r>
              <a:rPr lang="en-US" sz="1700" b="1" dirty="0">
                <a:solidFill>
                  <a:srgbClr val="000000"/>
                </a:solidFill>
                <a:latin typeface="Courier New" pitchFamily="34" charset="0"/>
                <a:ea typeface="Courier New" pitchFamily="34" charset="-122"/>
                <a:cs typeface="Courier New" pitchFamily="34" charset="-120"/>
              </a:rPr>
              <a:t> /search?q=laptop</a:t>
            </a:r>
            <a:endParaRPr lang="en-US" sz="1564"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75277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When the URI becomes the problem</a:t>
            </a:r>
            <a:endParaRPr lang="en-US" sz="2400" dirty="0"/>
          </a:p>
        </p:txBody>
      </p:sp>
      <p:sp>
        <p:nvSpPr>
          <p:cNvPr id="10" name="Text 7"/>
          <p:cNvSpPr txBox="1"/>
          <p:nvPr/>
        </p:nvSpPr>
        <p:spPr>
          <a:xfrm>
            <a:off x="294481" y="1551781"/>
            <a:ext cx="775116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Query parameters suit small inputs: </a:t>
            </a:r>
            <a:pPr algn="l" indent="0" marL="0">
              <a:buNone/>
            </a:pPr>
            <a:r>
              <a:rPr lang="en-US" sz="2000" b="1" dirty="0">
                <a:solidFill>
                  <a:srgbClr val="000000"/>
                </a:solidFill>
                <a:latin typeface="Calibri" pitchFamily="34" charset="0"/>
                <a:ea typeface="Calibri" pitchFamily="34" charset="-122"/>
                <a:cs typeface="Calibri" pitchFamily="34" charset="-120"/>
              </a:rPr>
              <a:t>filter · search · sort · paginate · select</a:t>
            </a:r>
            <a:endParaRPr lang="en-US" sz="2000" dirty="0"/>
          </a:p>
        </p:txBody>
      </p:sp>
      <p:sp>
        <p:nvSpPr>
          <p:cNvPr id="11" name="Shape 8"/>
          <p:cNvSpPr/>
          <p:nvPr/>
        </p:nvSpPr>
        <p:spPr>
          <a:xfrm>
            <a:off x="294481" y="1996281"/>
            <a:ext cx="11603037" cy="1320800"/>
          </a:xfrm>
          <a:prstGeom prst="rect">
            <a:avLst/>
          </a:prstGeom>
          <a:noFill/>
          <a:ln w="12700">
            <a:solidFill>
              <a:srgbClr val="333399"/>
            </a:solidFill>
            <a:prstDash val="solid"/>
          </a:ln>
        </p:spPr>
      </p:sp>
      <p:sp>
        <p:nvSpPr>
          <p:cNvPr id="12" name="Shape 9"/>
          <p:cNvSpPr/>
          <p:nvPr/>
        </p:nvSpPr>
        <p:spPr>
          <a:xfrm>
            <a:off x="434181" y="2123281"/>
            <a:ext cx="510183" cy="238324"/>
          </a:xfrm>
          <a:prstGeom prst="roundRect">
            <a:avLst>
              <a:gd name="adj" fmla="val 15987"/>
            </a:avLst>
          </a:prstGeom>
          <a:solidFill>
            <a:srgbClr val="333399"/>
          </a:solidFill>
          <a:ln/>
        </p:spPr>
      </p:sp>
      <p:sp>
        <p:nvSpPr>
          <p:cNvPr id="13" name="Text 10"/>
          <p:cNvSpPr txBox="1"/>
          <p:nvPr/>
        </p:nvSpPr>
        <p:spPr>
          <a:xfrm>
            <a:off x="510381" y="2110581"/>
            <a:ext cx="8230791" cy="241300"/>
          </a:xfrm>
          <a:prstGeom prst="rect">
            <a:avLst/>
          </a:prstGeom>
          <a:noFill/>
          <a:ln/>
        </p:spPr>
        <p:txBody>
          <a:bodyPr wrap="none" lIns="0" tIns="0" rIns="0" bIns="0" rtlCol="0" anchor="t"/>
          <a:lstStyle/>
          <a:p>
            <a:pPr algn="l" indent="0" marL="0">
              <a:buNone/>
            </a:pPr>
            <a:r>
              <a:rPr lang="en-US" sz="1564" b="1" dirty="0">
                <a:solidFill>
                  <a:srgbClr val="FFFFFF"/>
                </a:solidFill>
                <a:latin typeface="Courier New" pitchFamily="34" charset="0"/>
                <a:ea typeface="Courier New" pitchFamily="34" charset="-122"/>
                <a:cs typeface="Courier New" pitchFamily="34" charset="-120"/>
              </a:rPr>
              <a:t>GET</a:t>
            </a:r>
            <a:pPr algn="l" indent="0" marL="0">
              <a:buNone/>
            </a:pPr>
            <a:r>
              <a:rPr lang="en-US" sz="1700" b="1" dirty="0">
                <a:solidFill>
                  <a:srgbClr val="000000"/>
                </a:solidFill>
                <a:latin typeface="Courier New" pitchFamily="34" charset="0"/>
                <a:ea typeface="Courier New" pitchFamily="34" charset="-122"/>
                <a:cs typeface="Courier New" pitchFamily="34" charset="-120"/>
              </a:rPr>
              <a:t> /search?q=laptop</a:t>
            </a:r>
            <a:pPr algn="l" indent="0" marL="0">
              <a:buNone/>
            </a:pPr>
            <a:r>
              <a:rPr lang="en-US" sz="1700" b="1" dirty="0">
                <a:solidFill>
                  <a:srgbClr val="000000"/>
                </a:solidFill>
                <a:latin typeface="Courier New" pitchFamily="34" charset="0"/>
                <a:ea typeface="Courier New" pitchFamily="34" charset="-122"/>
                <a:cs typeface="Courier New" pitchFamily="34" charset="-120"/>
              </a:rPr>
              <a:t>&amp;category=electronics&amp;brand=lenovo,dell,hp</a:t>
            </a:r>
            <a:endParaRPr lang="en-US" sz="1564"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75277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When the URI becomes the problem</a:t>
            </a:r>
            <a:endParaRPr lang="en-US" sz="2400" dirty="0"/>
          </a:p>
        </p:txBody>
      </p:sp>
      <p:sp>
        <p:nvSpPr>
          <p:cNvPr id="10" name="Text 7"/>
          <p:cNvSpPr txBox="1"/>
          <p:nvPr/>
        </p:nvSpPr>
        <p:spPr>
          <a:xfrm>
            <a:off x="294481" y="1551781"/>
            <a:ext cx="775116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Query parameters suit small inputs: </a:t>
            </a:r>
            <a:pPr algn="l" indent="0" marL="0">
              <a:buNone/>
            </a:pPr>
            <a:r>
              <a:rPr lang="en-US" sz="2000" b="1" dirty="0">
                <a:solidFill>
                  <a:srgbClr val="000000"/>
                </a:solidFill>
                <a:latin typeface="Calibri" pitchFamily="34" charset="0"/>
                <a:ea typeface="Calibri" pitchFamily="34" charset="-122"/>
                <a:cs typeface="Calibri" pitchFamily="34" charset="-120"/>
              </a:rPr>
              <a:t>filter · search · sort · paginate · select</a:t>
            </a:r>
            <a:endParaRPr lang="en-US" sz="2000" dirty="0"/>
          </a:p>
        </p:txBody>
      </p:sp>
      <p:sp>
        <p:nvSpPr>
          <p:cNvPr id="11" name="Shape 8"/>
          <p:cNvSpPr/>
          <p:nvPr/>
        </p:nvSpPr>
        <p:spPr>
          <a:xfrm>
            <a:off x="294481" y="1996281"/>
            <a:ext cx="11603037" cy="1320800"/>
          </a:xfrm>
          <a:prstGeom prst="rect">
            <a:avLst/>
          </a:prstGeom>
          <a:noFill/>
          <a:ln w="12700">
            <a:solidFill>
              <a:srgbClr val="333399"/>
            </a:solidFill>
            <a:prstDash val="solid"/>
          </a:ln>
        </p:spPr>
      </p:sp>
      <p:sp>
        <p:nvSpPr>
          <p:cNvPr id="12" name="Shape 9"/>
          <p:cNvSpPr/>
          <p:nvPr/>
        </p:nvSpPr>
        <p:spPr>
          <a:xfrm>
            <a:off x="434181" y="2123281"/>
            <a:ext cx="510183" cy="238324"/>
          </a:xfrm>
          <a:prstGeom prst="roundRect">
            <a:avLst>
              <a:gd name="adj" fmla="val 15987"/>
            </a:avLst>
          </a:prstGeom>
          <a:solidFill>
            <a:srgbClr val="333399"/>
          </a:solidFill>
          <a:ln/>
        </p:spPr>
      </p:sp>
      <p:sp>
        <p:nvSpPr>
          <p:cNvPr id="13" name="Text 10"/>
          <p:cNvSpPr txBox="1"/>
          <p:nvPr/>
        </p:nvSpPr>
        <p:spPr>
          <a:xfrm>
            <a:off x="421481" y="2110581"/>
            <a:ext cx="11514788" cy="554236"/>
          </a:xfrm>
          <a:prstGeom prst="rect">
            <a:avLst/>
          </a:prstGeom>
          <a:noFill/>
          <a:ln/>
        </p:spPr>
        <p:txBody>
          <a:bodyPr wrap="square" lIns="0" tIns="0" rIns="0" bIns="0" rtlCol="0" anchor="t"/>
          <a:lstStyle/>
          <a:p>
            <a:pPr algn="l" indent="0" marL="0">
              <a:lnSpc>
                <a:spcPts val="2464"/>
              </a:lnSpc>
              <a:buNone/>
            </a:pPr>
            <a:r>
              <a:rPr lang="en-US" sz="1564" b="1" dirty="0">
                <a:solidFill>
                  <a:srgbClr val="FFFFFF"/>
                </a:solidFill>
                <a:latin typeface="Courier New" pitchFamily="34" charset="0"/>
                <a:ea typeface="Courier New" pitchFamily="34" charset="-122"/>
                <a:cs typeface="Courier New" pitchFamily="34" charset="-120"/>
              </a:rPr>
              <a:t>GET</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 /search?q=laptop</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&amp;category=electronics&amp;brand=lenovo,dell,hp</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&amp;price_min=40000&amp;price_max=100000&amp;ram=16,32</a:t>
            </a:r>
            <a:endParaRPr lang="en-US" sz="1564" dirty="0"/>
          </a:p>
        </p:txBody>
      </p:sp>
      <p:sp>
        <p:nvSpPr>
          <p:cNvPr id="14" name="Text 11"/>
          <p:cNvSpPr txBox="1"/>
          <p:nvPr/>
        </p:nvSpPr>
        <p:spPr>
          <a:xfrm>
            <a:off x="559792" y="34948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5" name="Text 12"/>
          <p:cNvSpPr txBox="1"/>
          <p:nvPr/>
        </p:nvSpPr>
        <p:spPr>
          <a:xfrm>
            <a:off x="902692" y="3482181"/>
            <a:ext cx="5644805"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No universal limit</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HTTP only recommends supporting ≥ 8000 octets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§4.1]</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75277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When the URI becomes the problem</a:t>
            </a:r>
            <a:endParaRPr lang="en-US" sz="2400" dirty="0"/>
          </a:p>
        </p:txBody>
      </p:sp>
      <p:sp>
        <p:nvSpPr>
          <p:cNvPr id="10" name="Text 7"/>
          <p:cNvSpPr txBox="1"/>
          <p:nvPr/>
        </p:nvSpPr>
        <p:spPr>
          <a:xfrm>
            <a:off x="294481" y="1551781"/>
            <a:ext cx="775116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Query parameters suit small inputs: </a:t>
            </a:r>
            <a:pPr algn="l" indent="0" marL="0">
              <a:buNone/>
            </a:pPr>
            <a:r>
              <a:rPr lang="en-US" sz="2000" b="1" dirty="0">
                <a:solidFill>
                  <a:srgbClr val="000000"/>
                </a:solidFill>
                <a:latin typeface="Calibri" pitchFamily="34" charset="0"/>
                <a:ea typeface="Calibri" pitchFamily="34" charset="-122"/>
                <a:cs typeface="Calibri" pitchFamily="34" charset="-120"/>
              </a:rPr>
              <a:t>filter · search · sort · paginate · select</a:t>
            </a:r>
            <a:endParaRPr lang="en-US" sz="2000" dirty="0"/>
          </a:p>
        </p:txBody>
      </p:sp>
      <p:sp>
        <p:nvSpPr>
          <p:cNvPr id="11" name="Shape 8"/>
          <p:cNvSpPr/>
          <p:nvPr/>
        </p:nvSpPr>
        <p:spPr>
          <a:xfrm>
            <a:off x="294481" y="1996281"/>
            <a:ext cx="11603037" cy="1320800"/>
          </a:xfrm>
          <a:prstGeom prst="rect">
            <a:avLst/>
          </a:prstGeom>
          <a:noFill/>
          <a:ln w="12700">
            <a:solidFill>
              <a:srgbClr val="333399"/>
            </a:solidFill>
            <a:prstDash val="solid"/>
          </a:ln>
        </p:spPr>
      </p:sp>
      <p:sp>
        <p:nvSpPr>
          <p:cNvPr id="12" name="Shape 9"/>
          <p:cNvSpPr/>
          <p:nvPr/>
        </p:nvSpPr>
        <p:spPr>
          <a:xfrm>
            <a:off x="434181" y="2123281"/>
            <a:ext cx="510183" cy="238324"/>
          </a:xfrm>
          <a:prstGeom prst="roundRect">
            <a:avLst>
              <a:gd name="adj" fmla="val 15987"/>
            </a:avLst>
          </a:prstGeom>
          <a:solidFill>
            <a:srgbClr val="333399"/>
          </a:solidFill>
          <a:ln/>
        </p:spPr>
      </p:sp>
      <p:sp>
        <p:nvSpPr>
          <p:cNvPr id="13" name="Text 10"/>
          <p:cNvSpPr txBox="1"/>
          <p:nvPr/>
        </p:nvSpPr>
        <p:spPr>
          <a:xfrm>
            <a:off x="421481" y="2110581"/>
            <a:ext cx="11514788" cy="554236"/>
          </a:xfrm>
          <a:prstGeom prst="rect">
            <a:avLst/>
          </a:prstGeom>
          <a:noFill/>
          <a:ln/>
        </p:spPr>
        <p:txBody>
          <a:bodyPr wrap="square" lIns="0" tIns="0" rIns="0" bIns="0" rtlCol="0" anchor="t"/>
          <a:lstStyle/>
          <a:p>
            <a:pPr algn="l" indent="0" marL="0">
              <a:lnSpc>
                <a:spcPts val="2464"/>
              </a:lnSpc>
              <a:buNone/>
            </a:pPr>
            <a:r>
              <a:rPr lang="en-US" sz="1564" b="1" dirty="0">
                <a:solidFill>
                  <a:srgbClr val="FFFFFF"/>
                </a:solidFill>
                <a:latin typeface="Courier New" pitchFamily="34" charset="0"/>
                <a:ea typeface="Courier New" pitchFamily="34" charset="-122"/>
                <a:cs typeface="Courier New" pitchFamily="34" charset="-120"/>
              </a:rPr>
              <a:t>GET</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 /search?q=laptop</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&amp;category=electronics&amp;brand=lenovo,dell,hp</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&amp;price_min=40000&amp;price_max=100000&amp;ram=16,32</a:t>
            </a:r>
            <a:pPr algn="l" indent="0" marL="0">
              <a:lnSpc>
                <a:spcPts val="2464"/>
              </a:lnSpc>
              <a:buNone/>
            </a:pPr>
            <a:r>
              <a:rPr lang="en-US" sz="1700" b="1" dirty="0">
                <a:solidFill>
                  <a:srgbClr val="000000"/>
                </a:solidFill>
                <a:latin typeface="Courier New" pitchFamily="34" charset="0"/>
                <a:ea typeface="Courier New" pitchFamily="34" charset="-122"/>
                <a:cs typeface="Courier New" pitchFamily="34" charset="-120"/>
              </a:rPr>
              <a:t>&amp;location=12.97,77.59&amp;radius=10km&amp;sort=price&amp;page=2</a:t>
            </a:r>
            <a:endParaRPr lang="en-US" sz="1564" dirty="0"/>
          </a:p>
        </p:txBody>
      </p:sp>
      <p:sp>
        <p:nvSpPr>
          <p:cNvPr id="14" name="Text 11"/>
          <p:cNvSpPr txBox="1"/>
          <p:nvPr/>
        </p:nvSpPr>
        <p:spPr>
          <a:xfrm>
            <a:off x="559792" y="34948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5" name="Text 12"/>
          <p:cNvSpPr txBox="1"/>
          <p:nvPr/>
        </p:nvSpPr>
        <p:spPr>
          <a:xfrm>
            <a:off x="902692" y="3482181"/>
            <a:ext cx="5644805"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No universal limit</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HTTP only recommends supporting ≥ 8000 octets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§4.1]</a:t>
            </a:r>
            <a:endParaRPr lang="en-US" sz="1900" dirty="0"/>
          </a:p>
        </p:txBody>
      </p:sp>
      <p:sp>
        <p:nvSpPr>
          <p:cNvPr id="16" name="Text 13"/>
          <p:cNvSpPr txBox="1"/>
          <p:nvPr/>
        </p:nvSpPr>
        <p:spPr>
          <a:xfrm>
            <a:off x="559792" y="412472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7" name="Shape 14"/>
          <p:cNvSpPr/>
          <p:nvPr/>
        </p:nvSpPr>
        <p:spPr>
          <a:xfrm>
            <a:off x="2135188" y="4439643"/>
            <a:ext cx="2212181" cy="266700"/>
          </a:xfrm>
          <a:prstGeom prst="rect">
            <a:avLst/>
          </a:prstGeom>
          <a:solidFill>
            <a:srgbClr val="FFFFFF"/>
          </a:solidFill>
          <a:ln w="12700">
            <a:solidFill>
              <a:srgbClr val="333399"/>
            </a:solidFill>
            <a:prstDash val="solid"/>
          </a:ln>
        </p:spPr>
      </p:sp>
      <p:sp>
        <p:nvSpPr>
          <p:cNvPr id="18" name="Text 15"/>
          <p:cNvSpPr txBox="1"/>
          <p:nvPr/>
        </p:nvSpPr>
        <p:spPr>
          <a:xfrm>
            <a:off x="902692" y="4112021"/>
            <a:ext cx="5661604" cy="854671"/>
          </a:xfrm>
          <a:prstGeom prst="rect">
            <a:avLst/>
          </a:prstGeom>
          <a:noFill/>
          <a:ln/>
        </p:spPr>
        <p:txBody>
          <a:bodyPr wrap="square" lIns="0" tIns="0" rIns="0" bIns="0" rtlCol="0" anchor="t"/>
          <a:lstStyle/>
          <a:p>
            <a:pPr algn="l" indent="0" marL="0">
              <a:lnSpc>
                <a:spcPts val="2951"/>
              </a:lnSpc>
              <a:buNone/>
            </a:pPr>
            <a:r>
              <a:rPr lang="en-US" sz="1900" b="1" dirty="0">
                <a:solidFill>
                  <a:srgbClr val="000000"/>
                </a:solidFill>
                <a:latin typeface="Calibri" pitchFamily="34" charset="0"/>
                <a:ea typeface="Calibri" pitchFamily="34" charset="-122"/>
                <a:cs typeface="Calibri" pitchFamily="34" charset="-120"/>
              </a:rPr>
              <a:t>Unknown real limits</a:t>
            </a:r>
            <a:pPr algn="l" indent="0" marL="0">
              <a:lnSpc>
                <a:spcPts val="2951"/>
              </a:lnSpc>
              <a:buNone/>
            </a:pPr>
            <a:r>
              <a:rPr lang="en-US" sz="1900" dirty="0">
                <a:solidFill>
                  <a:srgbClr val="000000"/>
                </a:solidFill>
                <a:latin typeface="Calibri" pitchFamily="34" charset="0"/>
                <a:ea typeface="Calibri" pitchFamily="34" charset="-122"/>
                <a:cs typeface="Calibri" pitchFamily="34" charset="-120"/>
              </a:rPr>
              <a:t> across uncoordinated hops; servers may answer </a:t>
            </a:r>
            <a:pPr algn="l" indent="0" marL="0">
              <a:lnSpc>
                <a:spcPts val="2951"/>
              </a:lnSpc>
              <a:buNone/>
            </a:pPr>
            <a:r>
              <a:rPr lang="en-US" sz="1711" b="1" dirty="0">
                <a:solidFill>
                  <a:srgbClr val="000000"/>
                </a:solidFill>
                <a:latin typeface="Courier New" pitchFamily="34" charset="0"/>
                <a:ea typeface="Courier New" pitchFamily="34" charset="-122"/>
                <a:cs typeface="Courier New" pitchFamily="34" charset="-120"/>
              </a:rPr>
              <a:t>414 URI Too Long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§1]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§15.5.15]</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75277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When the URI becomes the problem</a:t>
            </a:r>
            <a:endParaRPr lang="en-US" sz="2400" dirty="0"/>
          </a:p>
        </p:txBody>
      </p:sp>
      <p:sp>
        <p:nvSpPr>
          <p:cNvPr id="10" name="Text 7"/>
          <p:cNvSpPr txBox="1"/>
          <p:nvPr/>
        </p:nvSpPr>
        <p:spPr>
          <a:xfrm>
            <a:off x="294481" y="1551781"/>
            <a:ext cx="775116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Query parameters suit small inputs: </a:t>
            </a:r>
            <a:pPr algn="l" indent="0" marL="0">
              <a:buNone/>
            </a:pPr>
            <a:r>
              <a:rPr lang="en-US" sz="2000" b="1" dirty="0">
                <a:solidFill>
                  <a:srgbClr val="000000"/>
                </a:solidFill>
                <a:latin typeface="Calibri" pitchFamily="34" charset="0"/>
                <a:ea typeface="Calibri" pitchFamily="34" charset="-122"/>
                <a:cs typeface="Calibri" pitchFamily="34" charset="-120"/>
              </a:rPr>
              <a:t>filter · search · sort · paginate · select</a:t>
            </a:r>
            <a:endParaRPr lang="en-US" sz="2000" dirty="0"/>
          </a:p>
        </p:txBody>
      </p:sp>
      <p:sp>
        <p:nvSpPr>
          <p:cNvPr id="11" name="Shape 8"/>
          <p:cNvSpPr/>
          <p:nvPr/>
        </p:nvSpPr>
        <p:spPr>
          <a:xfrm>
            <a:off x="294481" y="1996281"/>
            <a:ext cx="11603037" cy="1320800"/>
          </a:xfrm>
          <a:prstGeom prst="rect">
            <a:avLst/>
          </a:prstGeom>
          <a:noFill/>
          <a:ln w="25400">
            <a:solidFill>
              <a:srgbClr val="993300"/>
            </a:solidFill>
            <a:prstDash val="solid"/>
          </a:ln>
        </p:spPr>
      </p:sp>
      <p:sp>
        <p:nvSpPr>
          <p:cNvPr id="12" name="Shape 9"/>
          <p:cNvSpPr/>
          <p:nvPr/>
        </p:nvSpPr>
        <p:spPr>
          <a:xfrm>
            <a:off x="446881" y="2135981"/>
            <a:ext cx="510183" cy="238324"/>
          </a:xfrm>
          <a:prstGeom prst="roundRect">
            <a:avLst>
              <a:gd name="adj" fmla="val 15987"/>
            </a:avLst>
          </a:prstGeom>
          <a:solidFill>
            <a:srgbClr val="333399"/>
          </a:solidFill>
          <a:ln/>
        </p:spPr>
      </p:sp>
      <p:sp>
        <p:nvSpPr>
          <p:cNvPr id="13" name="Shape 10"/>
          <p:cNvSpPr/>
          <p:nvPr/>
        </p:nvSpPr>
        <p:spPr>
          <a:xfrm>
            <a:off x="9516467" y="2436217"/>
            <a:ext cx="2202656" cy="241300"/>
          </a:xfrm>
          <a:prstGeom prst="rect">
            <a:avLst/>
          </a:prstGeom>
          <a:solidFill>
            <a:srgbClr val="BBE0E3"/>
          </a:solidFill>
          <a:ln/>
        </p:spPr>
      </p:sp>
      <p:sp>
        <p:nvSpPr>
          <p:cNvPr id="14" name="Shape 11"/>
          <p:cNvSpPr/>
          <p:nvPr/>
        </p:nvSpPr>
        <p:spPr>
          <a:xfrm>
            <a:off x="446881" y="2749153"/>
            <a:ext cx="5959872" cy="241300"/>
          </a:xfrm>
          <a:prstGeom prst="rect">
            <a:avLst/>
          </a:prstGeom>
          <a:solidFill>
            <a:srgbClr val="BBE0E3"/>
          </a:solidFill>
          <a:ln/>
        </p:spPr>
      </p:sp>
      <p:sp>
        <p:nvSpPr>
          <p:cNvPr id="15" name="Text 12"/>
          <p:cNvSpPr txBox="1"/>
          <p:nvPr/>
        </p:nvSpPr>
        <p:spPr>
          <a:xfrm>
            <a:off x="421481" y="2123281"/>
            <a:ext cx="11523087" cy="867172"/>
          </a:xfrm>
          <a:prstGeom prst="rect">
            <a:avLst/>
          </a:prstGeom>
          <a:noFill/>
          <a:ln/>
        </p:spPr>
        <p:txBody>
          <a:bodyPr wrap="square" lIns="0" tIns="0" rIns="0" bIns="0" rtlCol="0" anchor="t"/>
          <a:lstStyle/>
          <a:p>
            <a:pPr algn="l" indent="0" marL="0">
              <a:lnSpc>
                <a:spcPts val="2464"/>
              </a:lnSpc>
              <a:buNone/>
            </a:pPr>
            <a:r>
              <a:rPr lang="en-US" sz="1564" b="1" dirty="0">
                <a:solidFill>
                  <a:srgbClr val="FFFFFF"/>
                </a:solidFill>
                <a:latin typeface="Courier New" pitchFamily="34" charset="0"/>
                <a:ea typeface="Courier New" pitchFamily="34" charset="-122"/>
                <a:cs typeface="Courier New" pitchFamily="34" charset="-120"/>
              </a:rPr>
              <a:t>GET</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 /search?q=laptop</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&amp;category=electronics&amp;brand=lenovo,dell,hp</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&amp;price_min=40000&amp;price_max=100000&amp;ram=16,32</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&amp;location=12.97,77.59&amp;radius=10km&amp;sort=price&amp;page=2</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&amp;filters=%7B%22gpu%22%3A%5B%22rtx-4060%22%2C%22rx-7600%22%5D%7D</a:t>
            </a:r>
            <a:endParaRPr lang="en-US" sz="1564" dirty="0"/>
          </a:p>
        </p:txBody>
      </p:sp>
      <p:sp>
        <p:nvSpPr>
          <p:cNvPr id="16" name="Text 13"/>
          <p:cNvSpPr txBox="1"/>
          <p:nvPr/>
        </p:nvSpPr>
        <p:spPr>
          <a:xfrm>
            <a:off x="559792" y="34948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7" name="Text 14"/>
          <p:cNvSpPr txBox="1"/>
          <p:nvPr/>
        </p:nvSpPr>
        <p:spPr>
          <a:xfrm>
            <a:off x="902692" y="3482181"/>
            <a:ext cx="5644805"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No universal limit</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HTTP only recommends supporting ≥ 8000 octets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§4.1]</a:t>
            </a:r>
            <a:endParaRPr lang="en-US" sz="1900" dirty="0"/>
          </a:p>
        </p:txBody>
      </p:sp>
      <p:sp>
        <p:nvSpPr>
          <p:cNvPr id="18" name="Text 15"/>
          <p:cNvSpPr txBox="1"/>
          <p:nvPr/>
        </p:nvSpPr>
        <p:spPr>
          <a:xfrm>
            <a:off x="559792" y="412472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9" name="Shape 16"/>
          <p:cNvSpPr/>
          <p:nvPr/>
        </p:nvSpPr>
        <p:spPr>
          <a:xfrm>
            <a:off x="2135188" y="4439643"/>
            <a:ext cx="2212181" cy="266700"/>
          </a:xfrm>
          <a:prstGeom prst="rect">
            <a:avLst/>
          </a:prstGeom>
          <a:solidFill>
            <a:srgbClr val="FFFFFF"/>
          </a:solidFill>
          <a:ln w="12700">
            <a:solidFill>
              <a:srgbClr val="333399"/>
            </a:solidFill>
            <a:prstDash val="solid"/>
          </a:ln>
        </p:spPr>
      </p:sp>
      <p:sp>
        <p:nvSpPr>
          <p:cNvPr id="20" name="Text 17"/>
          <p:cNvSpPr txBox="1"/>
          <p:nvPr/>
        </p:nvSpPr>
        <p:spPr>
          <a:xfrm>
            <a:off x="902692" y="4112021"/>
            <a:ext cx="5661604" cy="854671"/>
          </a:xfrm>
          <a:prstGeom prst="rect">
            <a:avLst/>
          </a:prstGeom>
          <a:noFill/>
          <a:ln/>
        </p:spPr>
        <p:txBody>
          <a:bodyPr wrap="square" lIns="0" tIns="0" rIns="0" bIns="0" rtlCol="0" anchor="t"/>
          <a:lstStyle/>
          <a:p>
            <a:pPr algn="l" indent="0" marL="0">
              <a:lnSpc>
                <a:spcPts val="2951"/>
              </a:lnSpc>
              <a:buNone/>
            </a:pPr>
            <a:r>
              <a:rPr lang="en-US" sz="1900" b="1" dirty="0">
                <a:solidFill>
                  <a:srgbClr val="000000"/>
                </a:solidFill>
                <a:latin typeface="Calibri" pitchFamily="34" charset="0"/>
                <a:ea typeface="Calibri" pitchFamily="34" charset="-122"/>
                <a:cs typeface="Calibri" pitchFamily="34" charset="-120"/>
              </a:rPr>
              <a:t>Unknown real limits</a:t>
            </a:r>
            <a:pPr algn="l" indent="0" marL="0">
              <a:lnSpc>
                <a:spcPts val="2951"/>
              </a:lnSpc>
              <a:buNone/>
            </a:pPr>
            <a:r>
              <a:rPr lang="en-US" sz="1900" dirty="0">
                <a:solidFill>
                  <a:srgbClr val="000000"/>
                </a:solidFill>
                <a:latin typeface="Calibri" pitchFamily="34" charset="0"/>
                <a:ea typeface="Calibri" pitchFamily="34" charset="-122"/>
                <a:cs typeface="Calibri" pitchFamily="34" charset="-120"/>
              </a:rPr>
              <a:t> across uncoordinated hops; servers may answer </a:t>
            </a:r>
            <a:pPr algn="l" indent="0" marL="0">
              <a:lnSpc>
                <a:spcPts val="2951"/>
              </a:lnSpc>
              <a:buNone/>
            </a:pPr>
            <a:r>
              <a:rPr lang="en-US" sz="1711" b="1" dirty="0">
                <a:solidFill>
                  <a:srgbClr val="000000"/>
                </a:solidFill>
                <a:latin typeface="Courier New" pitchFamily="34" charset="0"/>
                <a:ea typeface="Courier New" pitchFamily="34" charset="-122"/>
                <a:cs typeface="Courier New" pitchFamily="34" charset="-120"/>
              </a:rPr>
              <a:t>414 URI Too Long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§1]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§15.5.15]</a:t>
            </a:r>
            <a:endParaRPr lang="en-US" sz="1900" dirty="0"/>
          </a:p>
        </p:txBody>
      </p:sp>
      <p:sp>
        <p:nvSpPr>
          <p:cNvPr id="21" name="Text 18"/>
          <p:cNvSpPr txBox="1"/>
          <p:nvPr/>
        </p:nvSpPr>
        <p:spPr>
          <a:xfrm>
            <a:off x="559792" y="505301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2" name="Text 19"/>
          <p:cNvSpPr txBox="1"/>
          <p:nvPr/>
        </p:nvSpPr>
        <p:spPr>
          <a:xfrm>
            <a:off x="902692" y="5040312"/>
            <a:ext cx="5559227"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Encoding overhead</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structured or binary data must be percent-encoded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9205 §4.5.1]</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75277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When the URI becomes the problem</a:t>
            </a:r>
            <a:endParaRPr lang="en-US" sz="2400" dirty="0"/>
          </a:p>
        </p:txBody>
      </p:sp>
      <p:sp>
        <p:nvSpPr>
          <p:cNvPr id="10" name="Text 7"/>
          <p:cNvSpPr txBox="1"/>
          <p:nvPr/>
        </p:nvSpPr>
        <p:spPr>
          <a:xfrm>
            <a:off x="294481" y="1551781"/>
            <a:ext cx="775116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Query parameters suit small inputs: </a:t>
            </a:r>
            <a:pPr algn="l" indent="0" marL="0">
              <a:buNone/>
            </a:pPr>
            <a:r>
              <a:rPr lang="en-US" sz="2000" b="1" dirty="0">
                <a:solidFill>
                  <a:srgbClr val="000000"/>
                </a:solidFill>
                <a:latin typeface="Calibri" pitchFamily="34" charset="0"/>
                <a:ea typeface="Calibri" pitchFamily="34" charset="-122"/>
                <a:cs typeface="Calibri" pitchFamily="34" charset="-120"/>
              </a:rPr>
              <a:t>filter · search · sort · paginate · select</a:t>
            </a:r>
            <a:endParaRPr lang="en-US" sz="2000" dirty="0"/>
          </a:p>
        </p:txBody>
      </p:sp>
      <p:sp>
        <p:nvSpPr>
          <p:cNvPr id="11" name="Shape 8"/>
          <p:cNvSpPr/>
          <p:nvPr/>
        </p:nvSpPr>
        <p:spPr>
          <a:xfrm>
            <a:off x="294481" y="1996281"/>
            <a:ext cx="11603037" cy="1320800"/>
          </a:xfrm>
          <a:prstGeom prst="rect">
            <a:avLst/>
          </a:prstGeom>
          <a:noFill/>
          <a:ln w="25400">
            <a:solidFill>
              <a:srgbClr val="993300"/>
            </a:solidFill>
            <a:prstDash val="solid"/>
          </a:ln>
        </p:spPr>
      </p:sp>
      <p:sp>
        <p:nvSpPr>
          <p:cNvPr id="12" name="Shape 9"/>
          <p:cNvSpPr/>
          <p:nvPr/>
        </p:nvSpPr>
        <p:spPr>
          <a:xfrm>
            <a:off x="446881" y="2135981"/>
            <a:ext cx="510183" cy="238324"/>
          </a:xfrm>
          <a:prstGeom prst="roundRect">
            <a:avLst>
              <a:gd name="adj" fmla="val 15987"/>
            </a:avLst>
          </a:prstGeom>
          <a:solidFill>
            <a:srgbClr val="333399"/>
          </a:solidFill>
          <a:ln/>
        </p:spPr>
      </p:sp>
      <p:sp>
        <p:nvSpPr>
          <p:cNvPr id="13" name="Shape 10"/>
          <p:cNvSpPr/>
          <p:nvPr/>
        </p:nvSpPr>
        <p:spPr>
          <a:xfrm>
            <a:off x="9516467" y="2436217"/>
            <a:ext cx="2202656" cy="241300"/>
          </a:xfrm>
          <a:prstGeom prst="rect">
            <a:avLst/>
          </a:prstGeom>
          <a:solidFill>
            <a:srgbClr val="BBE0E3"/>
          </a:solidFill>
          <a:ln/>
        </p:spPr>
      </p:sp>
      <p:sp>
        <p:nvSpPr>
          <p:cNvPr id="14" name="Shape 11"/>
          <p:cNvSpPr/>
          <p:nvPr/>
        </p:nvSpPr>
        <p:spPr>
          <a:xfrm>
            <a:off x="446881" y="2749153"/>
            <a:ext cx="5959872" cy="241300"/>
          </a:xfrm>
          <a:prstGeom prst="rect">
            <a:avLst/>
          </a:prstGeom>
          <a:solidFill>
            <a:srgbClr val="BBE0E3"/>
          </a:solidFill>
          <a:ln/>
        </p:spPr>
      </p:sp>
      <p:sp>
        <p:nvSpPr>
          <p:cNvPr id="15" name="Text 12"/>
          <p:cNvSpPr txBox="1"/>
          <p:nvPr/>
        </p:nvSpPr>
        <p:spPr>
          <a:xfrm>
            <a:off x="421481" y="2123281"/>
            <a:ext cx="11523087" cy="867172"/>
          </a:xfrm>
          <a:prstGeom prst="rect">
            <a:avLst/>
          </a:prstGeom>
          <a:noFill/>
          <a:ln/>
        </p:spPr>
        <p:txBody>
          <a:bodyPr wrap="square" lIns="0" tIns="0" rIns="0" bIns="0" rtlCol="0" anchor="t"/>
          <a:lstStyle/>
          <a:p>
            <a:pPr algn="l" indent="0" marL="0">
              <a:lnSpc>
                <a:spcPts val="2464"/>
              </a:lnSpc>
              <a:buNone/>
            </a:pPr>
            <a:r>
              <a:rPr lang="en-US" sz="1564" b="1" dirty="0">
                <a:solidFill>
                  <a:srgbClr val="FFFFFF"/>
                </a:solidFill>
                <a:latin typeface="Courier New" pitchFamily="34" charset="0"/>
                <a:ea typeface="Courier New" pitchFamily="34" charset="-122"/>
                <a:cs typeface="Courier New" pitchFamily="34" charset="-120"/>
              </a:rPr>
              <a:t>GET</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 /search?q=laptop</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&amp;category=electronics&amp;brand=lenovo,dell,hp</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&amp;price_min=40000&amp;price_max=100000&amp;ram=16,32</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&amp;location=12.97,77.59&amp;radius=10km&amp;sort=price&amp;page=2</a:t>
            </a:r>
            <a:pPr algn="l" indent="0" marL="0">
              <a:lnSpc>
                <a:spcPts val="2464"/>
              </a:lnSpc>
              <a:buNone/>
            </a:pPr>
            <a:r>
              <a:rPr lang="en-US" sz="1700" b="1" dirty="0">
                <a:solidFill>
                  <a:srgbClr val="993300"/>
                </a:solidFill>
                <a:latin typeface="Courier New" pitchFamily="34" charset="0"/>
                <a:ea typeface="Courier New" pitchFamily="34" charset="-122"/>
                <a:cs typeface="Courier New" pitchFamily="34" charset="-120"/>
              </a:rPr>
              <a:t>&amp;filters=%7B%22gpu%22%3A%5B%22rtx-4060%22%2C%22rx-7600%22%5D%7D</a:t>
            </a:r>
            <a:endParaRPr lang="en-US" sz="1564" dirty="0"/>
          </a:p>
        </p:txBody>
      </p:sp>
      <p:sp>
        <p:nvSpPr>
          <p:cNvPr id="16" name="Text 13"/>
          <p:cNvSpPr txBox="1"/>
          <p:nvPr/>
        </p:nvSpPr>
        <p:spPr>
          <a:xfrm>
            <a:off x="559792" y="34948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7" name="Text 14"/>
          <p:cNvSpPr txBox="1"/>
          <p:nvPr/>
        </p:nvSpPr>
        <p:spPr>
          <a:xfrm>
            <a:off x="902692" y="3482181"/>
            <a:ext cx="5644805"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No universal limit</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HTTP only recommends supporting ≥ 8000 octets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§4.1]</a:t>
            </a:r>
            <a:endParaRPr lang="en-US" sz="1900" dirty="0"/>
          </a:p>
        </p:txBody>
      </p:sp>
      <p:sp>
        <p:nvSpPr>
          <p:cNvPr id="18" name="Text 15"/>
          <p:cNvSpPr txBox="1"/>
          <p:nvPr/>
        </p:nvSpPr>
        <p:spPr>
          <a:xfrm>
            <a:off x="559792" y="412472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9" name="Shape 16"/>
          <p:cNvSpPr/>
          <p:nvPr/>
        </p:nvSpPr>
        <p:spPr>
          <a:xfrm>
            <a:off x="2135188" y="4439643"/>
            <a:ext cx="2212181" cy="266700"/>
          </a:xfrm>
          <a:prstGeom prst="rect">
            <a:avLst/>
          </a:prstGeom>
          <a:solidFill>
            <a:srgbClr val="FFFFFF"/>
          </a:solidFill>
          <a:ln w="12700">
            <a:solidFill>
              <a:srgbClr val="333399"/>
            </a:solidFill>
            <a:prstDash val="solid"/>
          </a:ln>
        </p:spPr>
      </p:sp>
      <p:sp>
        <p:nvSpPr>
          <p:cNvPr id="20" name="Text 17"/>
          <p:cNvSpPr txBox="1"/>
          <p:nvPr/>
        </p:nvSpPr>
        <p:spPr>
          <a:xfrm>
            <a:off x="902692" y="4112021"/>
            <a:ext cx="5661604" cy="854671"/>
          </a:xfrm>
          <a:prstGeom prst="rect">
            <a:avLst/>
          </a:prstGeom>
          <a:noFill/>
          <a:ln/>
        </p:spPr>
        <p:txBody>
          <a:bodyPr wrap="square" lIns="0" tIns="0" rIns="0" bIns="0" rtlCol="0" anchor="t"/>
          <a:lstStyle/>
          <a:p>
            <a:pPr algn="l" indent="0" marL="0">
              <a:lnSpc>
                <a:spcPts val="2951"/>
              </a:lnSpc>
              <a:buNone/>
            </a:pPr>
            <a:r>
              <a:rPr lang="en-US" sz="1900" b="1" dirty="0">
                <a:solidFill>
                  <a:srgbClr val="000000"/>
                </a:solidFill>
                <a:latin typeface="Calibri" pitchFamily="34" charset="0"/>
                <a:ea typeface="Calibri" pitchFamily="34" charset="-122"/>
                <a:cs typeface="Calibri" pitchFamily="34" charset="-120"/>
              </a:rPr>
              <a:t>Unknown real limits</a:t>
            </a:r>
            <a:pPr algn="l" indent="0" marL="0">
              <a:lnSpc>
                <a:spcPts val="2951"/>
              </a:lnSpc>
              <a:buNone/>
            </a:pPr>
            <a:r>
              <a:rPr lang="en-US" sz="1900" dirty="0">
                <a:solidFill>
                  <a:srgbClr val="000000"/>
                </a:solidFill>
                <a:latin typeface="Calibri" pitchFamily="34" charset="0"/>
                <a:ea typeface="Calibri" pitchFamily="34" charset="-122"/>
                <a:cs typeface="Calibri" pitchFamily="34" charset="-120"/>
              </a:rPr>
              <a:t> across uncoordinated hops; servers may answer </a:t>
            </a:r>
            <a:pPr algn="l" indent="0" marL="0">
              <a:lnSpc>
                <a:spcPts val="2951"/>
              </a:lnSpc>
              <a:buNone/>
            </a:pPr>
            <a:r>
              <a:rPr lang="en-US" sz="1711" b="1" dirty="0">
                <a:solidFill>
                  <a:srgbClr val="000000"/>
                </a:solidFill>
                <a:latin typeface="Courier New" pitchFamily="34" charset="0"/>
                <a:ea typeface="Courier New" pitchFamily="34" charset="-122"/>
                <a:cs typeface="Courier New" pitchFamily="34" charset="-120"/>
              </a:rPr>
              <a:t>414 URI Too Long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§1]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§15.5.15]</a:t>
            </a:r>
            <a:endParaRPr lang="en-US" sz="1900" dirty="0"/>
          </a:p>
        </p:txBody>
      </p:sp>
      <p:sp>
        <p:nvSpPr>
          <p:cNvPr id="21" name="Text 18"/>
          <p:cNvSpPr txBox="1"/>
          <p:nvPr/>
        </p:nvSpPr>
        <p:spPr>
          <a:xfrm>
            <a:off x="559792" y="505301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2" name="Text 19"/>
          <p:cNvSpPr txBox="1"/>
          <p:nvPr/>
        </p:nvSpPr>
        <p:spPr>
          <a:xfrm>
            <a:off x="902692" y="5040312"/>
            <a:ext cx="5559227"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Encoding overhead</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structured or binary data must be percent-encoded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9205 §4.5.1]</a:t>
            </a:r>
            <a:endParaRPr lang="en-US" sz="1900" dirty="0"/>
          </a:p>
        </p:txBody>
      </p:sp>
      <p:sp>
        <p:nvSpPr>
          <p:cNvPr id="23" name="Text 20"/>
          <p:cNvSpPr txBox="1"/>
          <p:nvPr/>
        </p:nvSpPr>
        <p:spPr>
          <a:xfrm>
            <a:off x="559792" y="568285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4" name="Text 21"/>
          <p:cNvSpPr txBox="1"/>
          <p:nvPr/>
        </p:nvSpPr>
        <p:spPr>
          <a:xfrm>
            <a:off x="902692" y="5670153"/>
            <a:ext cx="5559227"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More visible</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URIs are more likely than content to be logged or bookmarked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§1]</a:t>
            </a:r>
            <a:endParaRPr lang="en-US" sz="1900" dirty="0"/>
          </a:p>
        </p:txBody>
      </p:sp>
      <p:sp>
        <p:nvSpPr>
          <p:cNvPr id="25" name="Text 22"/>
          <p:cNvSpPr txBox="1"/>
          <p:nvPr/>
        </p:nvSpPr>
        <p:spPr>
          <a:xfrm>
            <a:off x="6690519" y="3469481"/>
            <a:ext cx="2887265"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 as structured request content</a:t>
            </a:r>
            <a:endParaRPr lang="en-US" sz="1600" dirty="0"/>
          </a:p>
        </p:txBody>
      </p:sp>
      <p:sp>
        <p:nvSpPr>
          <p:cNvPr id="26" name="Shape 23"/>
          <p:cNvSpPr/>
          <p:nvPr/>
        </p:nvSpPr>
        <p:spPr>
          <a:xfrm>
            <a:off x="6690519" y="3786981"/>
            <a:ext cx="5207000" cy="1355725"/>
          </a:xfrm>
          <a:prstGeom prst="rect">
            <a:avLst/>
          </a:prstGeom>
          <a:solidFill>
            <a:srgbClr val="FFFFFF"/>
          </a:solidFill>
          <a:ln w="12700">
            <a:solidFill>
              <a:srgbClr val="333399"/>
            </a:solidFill>
            <a:prstDash val="solid"/>
          </a:ln>
        </p:spPr>
      </p:sp>
      <p:sp>
        <p:nvSpPr>
          <p:cNvPr id="27" name="Text 24"/>
          <p:cNvSpPr txBox="1"/>
          <p:nvPr/>
        </p:nvSpPr>
        <p:spPr>
          <a:xfrm>
            <a:off x="6830219" y="3901281"/>
            <a:ext cx="210343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"laptop",</a:t>
            </a:r>
            <a:endParaRPr lang="en-US" sz="1600" dirty="0"/>
          </a:p>
        </p:txBody>
      </p:sp>
      <p:sp>
        <p:nvSpPr>
          <p:cNvPr id="28" name="Text 25"/>
          <p:cNvSpPr txBox="1"/>
          <p:nvPr/>
        </p:nvSpPr>
        <p:spPr>
          <a:xfrm>
            <a:off x="6830219" y="4195763"/>
            <a:ext cx="417651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"brand": ["lenovo","dell","hp"],</a:t>
            </a:r>
            <a:endParaRPr lang="en-US" sz="1600" dirty="0"/>
          </a:p>
        </p:txBody>
      </p:sp>
      <p:sp>
        <p:nvSpPr>
          <p:cNvPr id="29" name="Text 26"/>
          <p:cNvSpPr txBox="1"/>
          <p:nvPr/>
        </p:nvSpPr>
        <p:spPr>
          <a:xfrm>
            <a:off x="6830219" y="4490244"/>
            <a:ext cx="4664273"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"price": {"min":40000,"max":100000},</a:t>
            </a:r>
            <a:endParaRPr lang="en-US" sz="1600" dirty="0"/>
          </a:p>
        </p:txBody>
      </p:sp>
      <p:sp>
        <p:nvSpPr>
          <p:cNvPr id="30" name="Text 27"/>
          <p:cNvSpPr txBox="1"/>
          <p:nvPr/>
        </p:nvSpPr>
        <p:spPr>
          <a:xfrm>
            <a:off x="6830219" y="4784725"/>
            <a:ext cx="405447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"gpu": ["rtx-4060","rx-7600"] }</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51998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can URI query data be recorded?</a:t>
            </a:r>
            <a:endParaRPr lang="en-US" sz="2400" dirty="0"/>
          </a:p>
        </p:txBody>
      </p:sp>
      <p:sp>
        <p:nvSpPr>
          <p:cNvPr id="10" name="Shape 7"/>
          <p:cNvSpPr/>
          <p:nvPr/>
        </p:nvSpPr>
        <p:spPr>
          <a:xfrm>
            <a:off x="294481" y="1564481"/>
            <a:ext cx="531217" cy="252412"/>
          </a:xfrm>
          <a:prstGeom prst="roundRect">
            <a:avLst>
              <a:gd name="adj" fmla="val 15094"/>
            </a:avLst>
          </a:prstGeom>
          <a:solidFill>
            <a:srgbClr val="333399"/>
          </a:solidFill>
          <a:ln/>
        </p:spPr>
      </p:sp>
      <p:sp>
        <p:nvSpPr>
          <p:cNvPr id="11" name="Shape 8"/>
          <p:cNvSpPr/>
          <p:nvPr/>
        </p:nvSpPr>
        <p:spPr>
          <a:xfrm>
            <a:off x="2746375" y="1551781"/>
            <a:ext cx="4801393" cy="254000"/>
          </a:xfrm>
          <a:prstGeom prst="rect">
            <a:avLst/>
          </a:prstGeom>
          <a:solidFill>
            <a:srgbClr val="BBE0E3"/>
          </a:solidFill>
          <a:ln/>
        </p:spPr>
      </p:sp>
      <p:sp>
        <p:nvSpPr>
          <p:cNvPr id="12" name="Text 9"/>
          <p:cNvSpPr txBox="1"/>
          <p:nvPr/>
        </p:nvSpPr>
        <p:spPr>
          <a:xfrm>
            <a:off x="370681" y="1551781"/>
            <a:ext cx="8564165" cy="254000"/>
          </a:xfrm>
          <a:prstGeom prst="rect">
            <a:avLst/>
          </a:prstGeom>
          <a:noFill/>
          <a:ln/>
        </p:spPr>
        <p:txBody>
          <a:bodyPr wrap="none" lIns="0" tIns="0" rIns="0" bIns="0" rtlCol="0" anchor="t"/>
          <a:lstStyle/>
          <a:p>
            <a:pPr algn="l" indent="0" marL="0">
              <a:buNone/>
            </a:pPr>
            <a:r>
              <a:rPr lang="en-US" sz="1656" b="1" dirty="0">
                <a:solidFill>
                  <a:srgbClr val="FFFFFF"/>
                </a:solidFill>
                <a:latin typeface="Courier New" pitchFamily="34" charset="0"/>
                <a:ea typeface="Courier New" pitchFamily="34" charset="-122"/>
                <a:cs typeface="Courier New" pitchFamily="34" charset="-120"/>
              </a:rPr>
              <a:t>GET</a:t>
            </a:r>
            <a:pPr algn="l" indent="0" marL="0">
              <a:buNone/>
            </a:pPr>
            <a:r>
              <a:rPr lang="en-US" sz="1800" b="1" dirty="0">
                <a:solidFill>
                  <a:srgbClr val="000000"/>
                </a:solidFill>
                <a:latin typeface="Courier New" pitchFamily="34" charset="0"/>
                <a:ea typeface="Courier New" pitchFamily="34" charset="-122"/>
                <a:cs typeface="Courier New" pitchFamily="34" charset="-120"/>
              </a:rPr>
              <a:t> /users/search</a:t>
            </a:r>
            <a:pPr algn="l" indent="0" marL="0">
              <a:buNone/>
            </a:pPr>
            <a:r>
              <a:rPr lang="en-US" sz="1800" b="1" dirty="0">
                <a:solidFill>
                  <a:srgbClr val="000000"/>
                </a:solidFill>
                <a:latin typeface="Courier New" pitchFamily="34" charset="0"/>
                <a:ea typeface="Courier New" pitchFamily="34" charset="-122"/>
                <a:cs typeface="Courier New" pitchFamily="34" charset="-120"/>
              </a:rPr>
              <a:t>?email=alice@example.com&amp;role=admin</a:t>
            </a:r>
            <a:pPr algn="l" indent="0" marL="0">
              <a:buNone/>
            </a:pPr>
            <a:r>
              <a:rPr lang="en-US" sz="1800" b="1" dirty="0">
                <a:solidFill>
                  <a:srgbClr val="000000"/>
                </a:solidFill>
                <a:latin typeface="Courier New" pitchFamily="34" charset="0"/>
                <a:ea typeface="Courier New" pitchFamily="34" charset="-122"/>
                <a:cs typeface="Courier New" pitchFamily="34" charset="-120"/>
              </a:rPr>
              <a:t> HTTP/1.1</a:t>
            </a:r>
            <a:endParaRPr lang="en-US" sz="1656" dirty="0"/>
          </a:p>
        </p:txBody>
      </p:sp>
      <p:sp>
        <p:nvSpPr>
          <p:cNvPr id="13" name="Shape 10"/>
          <p:cNvSpPr/>
          <p:nvPr/>
        </p:nvSpPr>
        <p:spPr>
          <a:xfrm>
            <a:off x="294481" y="2008981"/>
            <a:ext cx="1701007" cy="965200"/>
          </a:xfrm>
          <a:prstGeom prst="rect">
            <a:avLst/>
          </a:prstGeom>
          <a:solidFill>
            <a:srgbClr val="D6D6EB"/>
          </a:solidFill>
          <a:ln w="12700">
            <a:solidFill>
              <a:srgbClr val="333399"/>
            </a:solidFill>
            <a:prstDash val="solid"/>
          </a:ln>
        </p:spPr>
      </p:sp>
      <p:pic>
        <p:nvPicPr>
          <p:cNvPr id="14" name="Image 1" descr="Rendered as an image because of CSS svg">    </p:cNvPr>
          <p:cNvPicPr>
            <a:picLocks noChangeAspect="1"/>
          </p:cNvPicPr>
          <p:nvPr/>
        </p:nvPicPr>
        <p:blipFill>
          <a:blip r:embed="rId2"/>
          <a:stretch>
            <a:fillRect/>
          </a:stretch>
        </p:blipFill>
        <p:spPr>
          <a:xfrm>
            <a:off x="962025" y="2184201"/>
            <a:ext cx="365720" cy="365720"/>
          </a:xfrm>
          <a:prstGeom prst="rect">
            <a:avLst/>
          </a:prstGeom>
        </p:spPr>
      </p:pic>
      <p:sp>
        <p:nvSpPr>
          <p:cNvPr id="15" name="Text 11"/>
          <p:cNvSpPr txBox="1"/>
          <p:nvPr/>
        </p:nvSpPr>
        <p:spPr>
          <a:xfrm>
            <a:off x="719535" y="2562621"/>
            <a:ext cx="85070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6" name="Text 12"/>
          <p:cNvSpPr txBox="1"/>
          <p:nvPr/>
        </p:nvSpPr>
        <p:spPr>
          <a:xfrm>
            <a:off x="1995488"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2274888" y="2008981"/>
            <a:ext cx="1701007" cy="965200"/>
          </a:xfrm>
          <a:prstGeom prst="rect">
            <a:avLst/>
          </a:prstGeom>
          <a:solidFill>
            <a:srgbClr val="D6D6EB"/>
          </a:solidFill>
          <a:ln w="12700">
            <a:solidFill>
              <a:srgbClr val="333399"/>
            </a:solidFill>
            <a:prstDash val="solid"/>
          </a:ln>
        </p:spPr>
      </p:sp>
      <p:pic>
        <p:nvPicPr>
          <p:cNvPr id="18" name="Image 2" descr="Rendered as an image because of CSS svg">    </p:cNvPr>
          <p:cNvPicPr>
            <a:picLocks noChangeAspect="1"/>
          </p:cNvPicPr>
          <p:nvPr/>
        </p:nvPicPr>
        <p:blipFill>
          <a:blip r:embed="rId3"/>
          <a:stretch>
            <a:fillRect/>
          </a:stretch>
        </p:blipFill>
        <p:spPr>
          <a:xfrm>
            <a:off x="2942431" y="2184201"/>
            <a:ext cx="365720" cy="365720"/>
          </a:xfrm>
          <a:prstGeom prst="rect">
            <a:avLst/>
          </a:prstGeom>
        </p:spPr>
      </p:pic>
      <p:sp>
        <p:nvSpPr>
          <p:cNvPr id="19" name="Text 14"/>
          <p:cNvSpPr txBox="1"/>
          <p:nvPr/>
        </p:nvSpPr>
        <p:spPr>
          <a:xfrm>
            <a:off x="2538016" y="2562621"/>
            <a:ext cx="117475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20" name="Text 15"/>
          <p:cNvSpPr txBox="1"/>
          <p:nvPr/>
        </p:nvSpPr>
        <p:spPr>
          <a:xfrm>
            <a:off x="3975893"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6"/>
          <p:cNvSpPr/>
          <p:nvPr/>
        </p:nvSpPr>
        <p:spPr>
          <a:xfrm>
            <a:off x="4255293" y="2008981"/>
            <a:ext cx="1701007" cy="965200"/>
          </a:xfrm>
          <a:prstGeom prst="rect">
            <a:avLst/>
          </a:prstGeom>
          <a:solidFill>
            <a:srgbClr val="D6D6EB"/>
          </a:solidFill>
          <a:ln w="12700">
            <a:solidFill>
              <a:srgbClr val="333399"/>
            </a:solidFill>
            <a:prstDash val="solid"/>
          </a:ln>
        </p:spPr>
      </p:sp>
      <p:pic>
        <p:nvPicPr>
          <p:cNvPr id="22" name="Image 3" descr="Rendered as an image because of CSS svg">    </p:cNvPr>
          <p:cNvPicPr>
            <a:picLocks noChangeAspect="1"/>
          </p:cNvPicPr>
          <p:nvPr/>
        </p:nvPicPr>
        <p:blipFill>
          <a:blip r:embed="rId4"/>
          <a:stretch>
            <a:fillRect/>
          </a:stretch>
        </p:blipFill>
        <p:spPr>
          <a:xfrm>
            <a:off x="4922837" y="2184201"/>
            <a:ext cx="365720" cy="365720"/>
          </a:xfrm>
          <a:prstGeom prst="rect">
            <a:avLst/>
          </a:prstGeom>
        </p:spPr>
      </p:pic>
      <p:sp>
        <p:nvSpPr>
          <p:cNvPr id="23" name="Text 17"/>
          <p:cNvSpPr txBox="1"/>
          <p:nvPr/>
        </p:nvSpPr>
        <p:spPr>
          <a:xfrm>
            <a:off x="4833937" y="2562621"/>
            <a:ext cx="5435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4" name="Text 18"/>
          <p:cNvSpPr txBox="1"/>
          <p:nvPr/>
        </p:nvSpPr>
        <p:spPr>
          <a:xfrm>
            <a:off x="5956300"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6235700" y="2008981"/>
            <a:ext cx="1701007" cy="965200"/>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6903244" y="2072481"/>
            <a:ext cx="365720" cy="365720"/>
          </a:xfrm>
          <a:prstGeom prst="rect">
            <a:avLst/>
          </a:prstGeom>
        </p:spPr>
      </p:pic>
      <p:sp>
        <p:nvSpPr>
          <p:cNvPr id="27" name="Text 20"/>
          <p:cNvSpPr txBox="1"/>
          <p:nvPr/>
        </p:nvSpPr>
        <p:spPr>
          <a:xfrm>
            <a:off x="6261100" y="2450901"/>
            <a:ext cx="1650207" cy="464740"/>
          </a:xfrm>
          <a:prstGeom prst="rect">
            <a:avLst/>
          </a:prstGeom>
          <a:noFill/>
          <a:ln/>
        </p:spPr>
        <p:txBody>
          <a:bodyPr wrap="square" lIns="0" tIns="0" rIns="0" bIns="0" rtlCol="0" anchor="t"/>
          <a:lstStyle/>
          <a:p>
            <a:pPr algn="ctr" indent="0" marL="0">
              <a:lnSpc>
                <a:spcPts val="1760"/>
              </a:lnSpc>
              <a:buNone/>
            </a:pPr>
            <a:r>
              <a:rPr lang="en-US" sz="1600" b="1" dirty="0">
                <a:solidFill>
                  <a:srgbClr val="000000"/>
                </a:solidFill>
                <a:latin typeface="Calibri" pitchFamily="34" charset="0"/>
                <a:ea typeface="Calibri" pitchFamily="34" charset="-122"/>
                <a:cs typeface="Calibri" pitchFamily="34" charset="-120"/>
              </a:rPr>
              <a:t>Reverse proxy / server</a:t>
            </a:r>
            <a:endParaRPr lang="en-US" sz="1600" dirty="0"/>
          </a:p>
        </p:txBody>
      </p:sp>
      <p:sp>
        <p:nvSpPr>
          <p:cNvPr id="28" name="Text 21"/>
          <p:cNvSpPr txBox="1"/>
          <p:nvPr/>
        </p:nvSpPr>
        <p:spPr>
          <a:xfrm>
            <a:off x="7936707"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8216107" y="2008981"/>
            <a:ext cx="1701007" cy="965200"/>
          </a:xfrm>
          <a:prstGeom prst="rect">
            <a:avLst/>
          </a:prstGeom>
          <a:solidFill>
            <a:srgbClr val="D6D6EB"/>
          </a:solidFill>
          <a:ln w="12700">
            <a:solidFill>
              <a:srgbClr val="333399"/>
            </a:solidFill>
            <a:prstDash val="solid"/>
          </a:ln>
        </p:spPr>
      </p:sp>
      <p:pic>
        <p:nvPicPr>
          <p:cNvPr id="30" name="Image 5" descr="Rendered as an image because of CSS svg">    </p:cNvPr>
          <p:cNvPicPr>
            <a:picLocks noChangeAspect="1"/>
          </p:cNvPicPr>
          <p:nvPr/>
        </p:nvPicPr>
        <p:blipFill>
          <a:blip r:embed="rId6"/>
          <a:stretch>
            <a:fillRect/>
          </a:stretch>
        </p:blipFill>
        <p:spPr>
          <a:xfrm>
            <a:off x="8883651" y="2184201"/>
            <a:ext cx="365720" cy="365720"/>
          </a:xfrm>
          <a:prstGeom prst="rect">
            <a:avLst/>
          </a:prstGeom>
        </p:spPr>
      </p:pic>
      <p:sp>
        <p:nvSpPr>
          <p:cNvPr id="31" name="Text 23"/>
          <p:cNvSpPr txBox="1"/>
          <p:nvPr/>
        </p:nvSpPr>
        <p:spPr>
          <a:xfrm>
            <a:off x="8509992" y="2562621"/>
            <a:ext cx="1113036"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32" name="Text 24"/>
          <p:cNvSpPr txBox="1"/>
          <p:nvPr/>
        </p:nvSpPr>
        <p:spPr>
          <a:xfrm>
            <a:off x="9917112"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3" name="Shape 25"/>
          <p:cNvSpPr/>
          <p:nvPr/>
        </p:nvSpPr>
        <p:spPr>
          <a:xfrm>
            <a:off x="10196512" y="2008981"/>
            <a:ext cx="1701007" cy="965200"/>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10864056" y="2184201"/>
            <a:ext cx="365720" cy="365720"/>
          </a:xfrm>
          <a:prstGeom prst="rect">
            <a:avLst/>
          </a:prstGeom>
        </p:spPr>
      </p:pic>
      <p:sp>
        <p:nvSpPr>
          <p:cNvPr id="35" name="Text 26"/>
          <p:cNvSpPr txBox="1"/>
          <p:nvPr/>
        </p:nvSpPr>
        <p:spPr>
          <a:xfrm>
            <a:off x="10483056" y="2562621"/>
            <a:ext cx="112791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Logs / SIEM</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51998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can URI query data be recorded?</a:t>
            </a:r>
            <a:endParaRPr lang="en-US" sz="2400" dirty="0"/>
          </a:p>
        </p:txBody>
      </p:sp>
      <p:sp>
        <p:nvSpPr>
          <p:cNvPr id="10" name="Shape 7"/>
          <p:cNvSpPr/>
          <p:nvPr/>
        </p:nvSpPr>
        <p:spPr>
          <a:xfrm>
            <a:off x="294481" y="1564481"/>
            <a:ext cx="531217" cy="252412"/>
          </a:xfrm>
          <a:prstGeom prst="roundRect">
            <a:avLst>
              <a:gd name="adj" fmla="val 15094"/>
            </a:avLst>
          </a:prstGeom>
          <a:solidFill>
            <a:srgbClr val="333399"/>
          </a:solidFill>
          <a:ln/>
        </p:spPr>
      </p:sp>
      <p:sp>
        <p:nvSpPr>
          <p:cNvPr id="11" name="Shape 8"/>
          <p:cNvSpPr/>
          <p:nvPr/>
        </p:nvSpPr>
        <p:spPr>
          <a:xfrm>
            <a:off x="2746375" y="1551781"/>
            <a:ext cx="4801393" cy="254000"/>
          </a:xfrm>
          <a:prstGeom prst="rect">
            <a:avLst/>
          </a:prstGeom>
          <a:solidFill>
            <a:srgbClr val="BBE0E3"/>
          </a:solidFill>
          <a:ln/>
        </p:spPr>
      </p:sp>
      <p:sp>
        <p:nvSpPr>
          <p:cNvPr id="12" name="Text 9"/>
          <p:cNvSpPr txBox="1"/>
          <p:nvPr/>
        </p:nvSpPr>
        <p:spPr>
          <a:xfrm>
            <a:off x="370681" y="1551781"/>
            <a:ext cx="8564165" cy="254000"/>
          </a:xfrm>
          <a:prstGeom prst="rect">
            <a:avLst/>
          </a:prstGeom>
          <a:noFill/>
          <a:ln/>
        </p:spPr>
        <p:txBody>
          <a:bodyPr wrap="none" lIns="0" tIns="0" rIns="0" bIns="0" rtlCol="0" anchor="t"/>
          <a:lstStyle/>
          <a:p>
            <a:pPr algn="l" indent="0" marL="0">
              <a:buNone/>
            </a:pPr>
            <a:r>
              <a:rPr lang="en-US" sz="1656" b="1" dirty="0">
                <a:solidFill>
                  <a:srgbClr val="FFFFFF"/>
                </a:solidFill>
                <a:latin typeface="Courier New" pitchFamily="34" charset="0"/>
                <a:ea typeface="Courier New" pitchFamily="34" charset="-122"/>
                <a:cs typeface="Courier New" pitchFamily="34" charset="-120"/>
              </a:rPr>
              <a:t>GET</a:t>
            </a:r>
            <a:pPr algn="l" indent="0" marL="0">
              <a:buNone/>
            </a:pPr>
            <a:r>
              <a:rPr lang="en-US" sz="1800" b="1" dirty="0">
                <a:solidFill>
                  <a:srgbClr val="000000"/>
                </a:solidFill>
                <a:latin typeface="Courier New" pitchFamily="34" charset="0"/>
                <a:ea typeface="Courier New" pitchFamily="34" charset="-122"/>
                <a:cs typeface="Courier New" pitchFamily="34" charset="-120"/>
              </a:rPr>
              <a:t> /users/search</a:t>
            </a:r>
            <a:pPr algn="l" indent="0" marL="0">
              <a:buNone/>
            </a:pPr>
            <a:r>
              <a:rPr lang="en-US" sz="1800" b="1" dirty="0">
                <a:solidFill>
                  <a:srgbClr val="000000"/>
                </a:solidFill>
                <a:latin typeface="Courier New" pitchFamily="34" charset="0"/>
                <a:ea typeface="Courier New" pitchFamily="34" charset="-122"/>
                <a:cs typeface="Courier New" pitchFamily="34" charset="-120"/>
              </a:rPr>
              <a:t>?email=alice@example.com&amp;role=admin</a:t>
            </a:r>
            <a:pPr algn="l" indent="0" marL="0">
              <a:buNone/>
            </a:pPr>
            <a:r>
              <a:rPr lang="en-US" sz="1800" b="1" dirty="0">
                <a:solidFill>
                  <a:srgbClr val="000000"/>
                </a:solidFill>
                <a:latin typeface="Courier New" pitchFamily="34" charset="0"/>
                <a:ea typeface="Courier New" pitchFamily="34" charset="-122"/>
                <a:cs typeface="Courier New" pitchFamily="34" charset="-120"/>
              </a:rPr>
              <a:t> HTTP/1.1</a:t>
            </a:r>
            <a:endParaRPr lang="en-US" sz="1656" dirty="0"/>
          </a:p>
        </p:txBody>
      </p:sp>
      <p:sp>
        <p:nvSpPr>
          <p:cNvPr id="13" name="Shape 10"/>
          <p:cNvSpPr/>
          <p:nvPr/>
        </p:nvSpPr>
        <p:spPr>
          <a:xfrm>
            <a:off x="294481" y="2008981"/>
            <a:ext cx="1701007" cy="965200"/>
          </a:xfrm>
          <a:prstGeom prst="rect">
            <a:avLst/>
          </a:prstGeom>
          <a:solidFill>
            <a:srgbClr val="D6D6EB"/>
          </a:solidFill>
          <a:ln w="12700">
            <a:solidFill>
              <a:srgbClr val="333399"/>
            </a:solidFill>
            <a:prstDash val="solid"/>
          </a:ln>
        </p:spPr>
      </p:sp>
      <p:pic>
        <p:nvPicPr>
          <p:cNvPr id="14" name="Image 1" descr="Rendered as an image because of CSS svg">    </p:cNvPr>
          <p:cNvPicPr>
            <a:picLocks noChangeAspect="1"/>
          </p:cNvPicPr>
          <p:nvPr/>
        </p:nvPicPr>
        <p:blipFill>
          <a:blip r:embed="rId2"/>
          <a:stretch>
            <a:fillRect/>
          </a:stretch>
        </p:blipFill>
        <p:spPr>
          <a:xfrm>
            <a:off x="962025" y="2184201"/>
            <a:ext cx="365720" cy="365720"/>
          </a:xfrm>
          <a:prstGeom prst="rect">
            <a:avLst/>
          </a:prstGeom>
        </p:spPr>
      </p:pic>
      <p:sp>
        <p:nvSpPr>
          <p:cNvPr id="15" name="Text 11"/>
          <p:cNvSpPr txBox="1"/>
          <p:nvPr/>
        </p:nvSpPr>
        <p:spPr>
          <a:xfrm>
            <a:off x="719535" y="2562621"/>
            <a:ext cx="85070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6" name="Text 12"/>
          <p:cNvSpPr txBox="1"/>
          <p:nvPr/>
        </p:nvSpPr>
        <p:spPr>
          <a:xfrm>
            <a:off x="1995488"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2274888" y="2008981"/>
            <a:ext cx="1701007" cy="965200"/>
          </a:xfrm>
          <a:prstGeom prst="rect">
            <a:avLst/>
          </a:prstGeom>
          <a:solidFill>
            <a:srgbClr val="D6D6EB"/>
          </a:solidFill>
          <a:ln w="12700">
            <a:solidFill>
              <a:srgbClr val="333399"/>
            </a:solidFill>
            <a:prstDash val="solid"/>
          </a:ln>
        </p:spPr>
      </p:sp>
      <p:pic>
        <p:nvPicPr>
          <p:cNvPr id="18" name="Image 2" descr="Rendered as an image because of CSS svg">    </p:cNvPr>
          <p:cNvPicPr>
            <a:picLocks noChangeAspect="1"/>
          </p:cNvPicPr>
          <p:nvPr/>
        </p:nvPicPr>
        <p:blipFill>
          <a:blip r:embed="rId3"/>
          <a:stretch>
            <a:fillRect/>
          </a:stretch>
        </p:blipFill>
        <p:spPr>
          <a:xfrm>
            <a:off x="2942431" y="2184201"/>
            <a:ext cx="365720" cy="365720"/>
          </a:xfrm>
          <a:prstGeom prst="rect">
            <a:avLst/>
          </a:prstGeom>
        </p:spPr>
      </p:pic>
      <p:sp>
        <p:nvSpPr>
          <p:cNvPr id="19" name="Text 14"/>
          <p:cNvSpPr txBox="1"/>
          <p:nvPr/>
        </p:nvSpPr>
        <p:spPr>
          <a:xfrm>
            <a:off x="2538016" y="2562621"/>
            <a:ext cx="117475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20" name="Text 15"/>
          <p:cNvSpPr txBox="1"/>
          <p:nvPr/>
        </p:nvSpPr>
        <p:spPr>
          <a:xfrm>
            <a:off x="3975893"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6"/>
          <p:cNvSpPr/>
          <p:nvPr/>
        </p:nvSpPr>
        <p:spPr>
          <a:xfrm>
            <a:off x="4255293" y="2008981"/>
            <a:ext cx="1701007" cy="965200"/>
          </a:xfrm>
          <a:prstGeom prst="rect">
            <a:avLst/>
          </a:prstGeom>
          <a:solidFill>
            <a:srgbClr val="D6D6EB"/>
          </a:solidFill>
          <a:ln w="12700">
            <a:solidFill>
              <a:srgbClr val="333399"/>
            </a:solidFill>
            <a:prstDash val="solid"/>
          </a:ln>
        </p:spPr>
      </p:sp>
      <p:pic>
        <p:nvPicPr>
          <p:cNvPr id="22" name="Image 3" descr="Rendered as an image because of CSS svg">    </p:cNvPr>
          <p:cNvPicPr>
            <a:picLocks noChangeAspect="1"/>
          </p:cNvPicPr>
          <p:nvPr/>
        </p:nvPicPr>
        <p:blipFill>
          <a:blip r:embed="rId4"/>
          <a:stretch>
            <a:fillRect/>
          </a:stretch>
        </p:blipFill>
        <p:spPr>
          <a:xfrm>
            <a:off x="4922837" y="2184201"/>
            <a:ext cx="365720" cy="365720"/>
          </a:xfrm>
          <a:prstGeom prst="rect">
            <a:avLst/>
          </a:prstGeom>
        </p:spPr>
      </p:pic>
      <p:sp>
        <p:nvSpPr>
          <p:cNvPr id="23" name="Text 17"/>
          <p:cNvSpPr txBox="1"/>
          <p:nvPr/>
        </p:nvSpPr>
        <p:spPr>
          <a:xfrm>
            <a:off x="4833937" y="2562621"/>
            <a:ext cx="5435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4" name="Text 18"/>
          <p:cNvSpPr txBox="1"/>
          <p:nvPr/>
        </p:nvSpPr>
        <p:spPr>
          <a:xfrm>
            <a:off x="5956300"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6235700" y="2008981"/>
            <a:ext cx="1701007" cy="965200"/>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6903244" y="2072481"/>
            <a:ext cx="365720" cy="365720"/>
          </a:xfrm>
          <a:prstGeom prst="rect">
            <a:avLst/>
          </a:prstGeom>
        </p:spPr>
      </p:pic>
      <p:sp>
        <p:nvSpPr>
          <p:cNvPr id="27" name="Text 20"/>
          <p:cNvSpPr txBox="1"/>
          <p:nvPr/>
        </p:nvSpPr>
        <p:spPr>
          <a:xfrm>
            <a:off x="6261100" y="2450901"/>
            <a:ext cx="1650207" cy="464740"/>
          </a:xfrm>
          <a:prstGeom prst="rect">
            <a:avLst/>
          </a:prstGeom>
          <a:noFill/>
          <a:ln/>
        </p:spPr>
        <p:txBody>
          <a:bodyPr wrap="square" lIns="0" tIns="0" rIns="0" bIns="0" rtlCol="0" anchor="t"/>
          <a:lstStyle/>
          <a:p>
            <a:pPr algn="ctr" indent="0" marL="0">
              <a:lnSpc>
                <a:spcPts val="1760"/>
              </a:lnSpc>
              <a:buNone/>
            </a:pPr>
            <a:r>
              <a:rPr lang="en-US" sz="1600" b="1" dirty="0">
                <a:solidFill>
                  <a:srgbClr val="000000"/>
                </a:solidFill>
                <a:latin typeface="Calibri" pitchFamily="34" charset="0"/>
                <a:ea typeface="Calibri" pitchFamily="34" charset="-122"/>
                <a:cs typeface="Calibri" pitchFamily="34" charset="-120"/>
              </a:rPr>
              <a:t>Reverse proxy / server</a:t>
            </a:r>
            <a:endParaRPr lang="en-US" sz="1600" dirty="0"/>
          </a:p>
        </p:txBody>
      </p:sp>
      <p:sp>
        <p:nvSpPr>
          <p:cNvPr id="28" name="Text 21"/>
          <p:cNvSpPr txBox="1"/>
          <p:nvPr/>
        </p:nvSpPr>
        <p:spPr>
          <a:xfrm>
            <a:off x="7936707"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8216107" y="2008981"/>
            <a:ext cx="1701007" cy="965200"/>
          </a:xfrm>
          <a:prstGeom prst="rect">
            <a:avLst/>
          </a:prstGeom>
          <a:solidFill>
            <a:srgbClr val="D6D6EB"/>
          </a:solidFill>
          <a:ln w="12700">
            <a:solidFill>
              <a:srgbClr val="333399"/>
            </a:solidFill>
            <a:prstDash val="solid"/>
          </a:ln>
        </p:spPr>
      </p:sp>
      <p:pic>
        <p:nvPicPr>
          <p:cNvPr id="30" name="Image 5" descr="Rendered as an image because of CSS svg">    </p:cNvPr>
          <p:cNvPicPr>
            <a:picLocks noChangeAspect="1"/>
          </p:cNvPicPr>
          <p:nvPr/>
        </p:nvPicPr>
        <p:blipFill>
          <a:blip r:embed="rId6"/>
          <a:stretch>
            <a:fillRect/>
          </a:stretch>
        </p:blipFill>
        <p:spPr>
          <a:xfrm>
            <a:off x="8883651" y="2184201"/>
            <a:ext cx="365720" cy="365720"/>
          </a:xfrm>
          <a:prstGeom prst="rect">
            <a:avLst/>
          </a:prstGeom>
        </p:spPr>
      </p:pic>
      <p:sp>
        <p:nvSpPr>
          <p:cNvPr id="31" name="Text 23"/>
          <p:cNvSpPr txBox="1"/>
          <p:nvPr/>
        </p:nvSpPr>
        <p:spPr>
          <a:xfrm>
            <a:off x="8509992" y="2562621"/>
            <a:ext cx="1113036"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32" name="Text 24"/>
          <p:cNvSpPr txBox="1"/>
          <p:nvPr/>
        </p:nvSpPr>
        <p:spPr>
          <a:xfrm>
            <a:off x="9917112"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3" name="Shape 25"/>
          <p:cNvSpPr/>
          <p:nvPr/>
        </p:nvSpPr>
        <p:spPr>
          <a:xfrm>
            <a:off x="10196512" y="2008981"/>
            <a:ext cx="1701007" cy="965200"/>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10864056" y="2184201"/>
            <a:ext cx="365720" cy="365720"/>
          </a:xfrm>
          <a:prstGeom prst="rect">
            <a:avLst/>
          </a:prstGeom>
        </p:spPr>
      </p:pic>
      <p:sp>
        <p:nvSpPr>
          <p:cNvPr id="35" name="Text 26"/>
          <p:cNvSpPr txBox="1"/>
          <p:nvPr/>
        </p:nvSpPr>
        <p:spPr>
          <a:xfrm>
            <a:off x="10483056" y="2562621"/>
            <a:ext cx="112791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Logs / SIEM</a:t>
            </a:r>
            <a:endParaRPr lang="en-US" sz="1600" dirty="0"/>
          </a:p>
        </p:txBody>
      </p:sp>
      <p:sp>
        <p:nvSpPr>
          <p:cNvPr id="36" name="Shape 27"/>
          <p:cNvSpPr/>
          <p:nvPr/>
        </p:nvSpPr>
        <p:spPr>
          <a:xfrm>
            <a:off x="294481" y="3050381"/>
            <a:ext cx="1701007" cy="568721"/>
          </a:xfrm>
          <a:prstGeom prst="rect">
            <a:avLst/>
          </a:prstGeom>
          <a:noFill/>
          <a:ln w="12700">
            <a:solidFill>
              <a:srgbClr val="993300"/>
            </a:solidFill>
            <a:prstDash val="solid"/>
          </a:ln>
        </p:spPr>
      </p:sp>
      <p:sp>
        <p:nvSpPr>
          <p:cNvPr id="37" name="Text 28"/>
          <p:cNvSpPr txBox="1"/>
          <p:nvPr/>
        </p:nvSpPr>
        <p:spPr>
          <a:xfrm>
            <a:off x="319881"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history · bookmarks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51998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can URI query data be recorded?</a:t>
            </a:r>
            <a:endParaRPr lang="en-US" sz="2400" dirty="0"/>
          </a:p>
        </p:txBody>
      </p:sp>
      <p:sp>
        <p:nvSpPr>
          <p:cNvPr id="10" name="Shape 7"/>
          <p:cNvSpPr/>
          <p:nvPr/>
        </p:nvSpPr>
        <p:spPr>
          <a:xfrm>
            <a:off x="294481" y="1564481"/>
            <a:ext cx="531217" cy="252412"/>
          </a:xfrm>
          <a:prstGeom prst="roundRect">
            <a:avLst>
              <a:gd name="adj" fmla="val 15094"/>
            </a:avLst>
          </a:prstGeom>
          <a:solidFill>
            <a:srgbClr val="333399"/>
          </a:solidFill>
          <a:ln/>
        </p:spPr>
      </p:sp>
      <p:sp>
        <p:nvSpPr>
          <p:cNvPr id="11" name="Shape 8"/>
          <p:cNvSpPr/>
          <p:nvPr/>
        </p:nvSpPr>
        <p:spPr>
          <a:xfrm>
            <a:off x="2746375" y="1551781"/>
            <a:ext cx="4801393" cy="254000"/>
          </a:xfrm>
          <a:prstGeom prst="rect">
            <a:avLst/>
          </a:prstGeom>
          <a:solidFill>
            <a:srgbClr val="BBE0E3"/>
          </a:solidFill>
          <a:ln/>
        </p:spPr>
      </p:sp>
      <p:sp>
        <p:nvSpPr>
          <p:cNvPr id="12" name="Text 9"/>
          <p:cNvSpPr txBox="1"/>
          <p:nvPr/>
        </p:nvSpPr>
        <p:spPr>
          <a:xfrm>
            <a:off x="370681" y="1551781"/>
            <a:ext cx="8564165" cy="254000"/>
          </a:xfrm>
          <a:prstGeom prst="rect">
            <a:avLst/>
          </a:prstGeom>
          <a:noFill/>
          <a:ln/>
        </p:spPr>
        <p:txBody>
          <a:bodyPr wrap="none" lIns="0" tIns="0" rIns="0" bIns="0" rtlCol="0" anchor="t"/>
          <a:lstStyle/>
          <a:p>
            <a:pPr algn="l" indent="0" marL="0">
              <a:buNone/>
            </a:pPr>
            <a:r>
              <a:rPr lang="en-US" sz="1656" b="1" dirty="0">
                <a:solidFill>
                  <a:srgbClr val="FFFFFF"/>
                </a:solidFill>
                <a:latin typeface="Courier New" pitchFamily="34" charset="0"/>
                <a:ea typeface="Courier New" pitchFamily="34" charset="-122"/>
                <a:cs typeface="Courier New" pitchFamily="34" charset="-120"/>
              </a:rPr>
              <a:t>GET</a:t>
            </a:r>
            <a:pPr algn="l" indent="0" marL="0">
              <a:buNone/>
            </a:pPr>
            <a:r>
              <a:rPr lang="en-US" sz="1800" b="1" dirty="0">
                <a:solidFill>
                  <a:srgbClr val="000000"/>
                </a:solidFill>
                <a:latin typeface="Courier New" pitchFamily="34" charset="0"/>
                <a:ea typeface="Courier New" pitchFamily="34" charset="-122"/>
                <a:cs typeface="Courier New" pitchFamily="34" charset="-120"/>
              </a:rPr>
              <a:t> /users/search</a:t>
            </a:r>
            <a:pPr algn="l" indent="0" marL="0">
              <a:buNone/>
            </a:pPr>
            <a:r>
              <a:rPr lang="en-US" sz="1800" b="1" dirty="0">
                <a:solidFill>
                  <a:srgbClr val="000000"/>
                </a:solidFill>
                <a:latin typeface="Courier New" pitchFamily="34" charset="0"/>
                <a:ea typeface="Courier New" pitchFamily="34" charset="-122"/>
                <a:cs typeface="Courier New" pitchFamily="34" charset="-120"/>
              </a:rPr>
              <a:t>?email=alice@example.com&amp;role=admin</a:t>
            </a:r>
            <a:pPr algn="l" indent="0" marL="0">
              <a:buNone/>
            </a:pPr>
            <a:r>
              <a:rPr lang="en-US" sz="1800" b="1" dirty="0">
                <a:solidFill>
                  <a:srgbClr val="000000"/>
                </a:solidFill>
                <a:latin typeface="Courier New" pitchFamily="34" charset="0"/>
                <a:ea typeface="Courier New" pitchFamily="34" charset="-122"/>
                <a:cs typeface="Courier New" pitchFamily="34" charset="-120"/>
              </a:rPr>
              <a:t> HTTP/1.1</a:t>
            </a:r>
            <a:endParaRPr lang="en-US" sz="1656" dirty="0"/>
          </a:p>
        </p:txBody>
      </p:sp>
      <p:sp>
        <p:nvSpPr>
          <p:cNvPr id="13" name="Shape 10"/>
          <p:cNvSpPr/>
          <p:nvPr/>
        </p:nvSpPr>
        <p:spPr>
          <a:xfrm>
            <a:off x="294481" y="2008981"/>
            <a:ext cx="1701007" cy="965200"/>
          </a:xfrm>
          <a:prstGeom prst="rect">
            <a:avLst/>
          </a:prstGeom>
          <a:solidFill>
            <a:srgbClr val="D6D6EB"/>
          </a:solidFill>
          <a:ln w="12700">
            <a:solidFill>
              <a:srgbClr val="333399"/>
            </a:solidFill>
            <a:prstDash val="solid"/>
          </a:ln>
        </p:spPr>
      </p:sp>
      <p:pic>
        <p:nvPicPr>
          <p:cNvPr id="14" name="Image 1" descr="Rendered as an image because of CSS svg">    </p:cNvPr>
          <p:cNvPicPr>
            <a:picLocks noChangeAspect="1"/>
          </p:cNvPicPr>
          <p:nvPr/>
        </p:nvPicPr>
        <p:blipFill>
          <a:blip r:embed="rId2"/>
          <a:stretch>
            <a:fillRect/>
          </a:stretch>
        </p:blipFill>
        <p:spPr>
          <a:xfrm>
            <a:off x="962025" y="2184201"/>
            <a:ext cx="365720" cy="365720"/>
          </a:xfrm>
          <a:prstGeom prst="rect">
            <a:avLst/>
          </a:prstGeom>
        </p:spPr>
      </p:pic>
      <p:sp>
        <p:nvSpPr>
          <p:cNvPr id="15" name="Text 11"/>
          <p:cNvSpPr txBox="1"/>
          <p:nvPr/>
        </p:nvSpPr>
        <p:spPr>
          <a:xfrm>
            <a:off x="719535" y="2562621"/>
            <a:ext cx="85070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6" name="Text 12"/>
          <p:cNvSpPr txBox="1"/>
          <p:nvPr/>
        </p:nvSpPr>
        <p:spPr>
          <a:xfrm>
            <a:off x="1995488"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2274888" y="2008981"/>
            <a:ext cx="1701007" cy="965200"/>
          </a:xfrm>
          <a:prstGeom prst="rect">
            <a:avLst/>
          </a:prstGeom>
          <a:solidFill>
            <a:srgbClr val="D6D6EB"/>
          </a:solidFill>
          <a:ln w="12700">
            <a:solidFill>
              <a:srgbClr val="333399"/>
            </a:solidFill>
            <a:prstDash val="solid"/>
          </a:ln>
        </p:spPr>
      </p:sp>
      <p:pic>
        <p:nvPicPr>
          <p:cNvPr id="18" name="Image 2" descr="Rendered as an image because of CSS svg">    </p:cNvPr>
          <p:cNvPicPr>
            <a:picLocks noChangeAspect="1"/>
          </p:cNvPicPr>
          <p:nvPr/>
        </p:nvPicPr>
        <p:blipFill>
          <a:blip r:embed="rId3"/>
          <a:stretch>
            <a:fillRect/>
          </a:stretch>
        </p:blipFill>
        <p:spPr>
          <a:xfrm>
            <a:off x="2942431" y="2184201"/>
            <a:ext cx="365720" cy="365720"/>
          </a:xfrm>
          <a:prstGeom prst="rect">
            <a:avLst/>
          </a:prstGeom>
        </p:spPr>
      </p:pic>
      <p:sp>
        <p:nvSpPr>
          <p:cNvPr id="19" name="Text 14"/>
          <p:cNvSpPr txBox="1"/>
          <p:nvPr/>
        </p:nvSpPr>
        <p:spPr>
          <a:xfrm>
            <a:off x="2538016" y="2562621"/>
            <a:ext cx="117475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20" name="Text 15"/>
          <p:cNvSpPr txBox="1"/>
          <p:nvPr/>
        </p:nvSpPr>
        <p:spPr>
          <a:xfrm>
            <a:off x="3975893"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6"/>
          <p:cNvSpPr/>
          <p:nvPr/>
        </p:nvSpPr>
        <p:spPr>
          <a:xfrm>
            <a:off x="4255293" y="2008981"/>
            <a:ext cx="1701007" cy="965200"/>
          </a:xfrm>
          <a:prstGeom prst="rect">
            <a:avLst/>
          </a:prstGeom>
          <a:solidFill>
            <a:srgbClr val="D6D6EB"/>
          </a:solidFill>
          <a:ln w="12700">
            <a:solidFill>
              <a:srgbClr val="333399"/>
            </a:solidFill>
            <a:prstDash val="solid"/>
          </a:ln>
        </p:spPr>
      </p:sp>
      <p:pic>
        <p:nvPicPr>
          <p:cNvPr id="22" name="Image 3" descr="Rendered as an image because of CSS svg">    </p:cNvPr>
          <p:cNvPicPr>
            <a:picLocks noChangeAspect="1"/>
          </p:cNvPicPr>
          <p:nvPr/>
        </p:nvPicPr>
        <p:blipFill>
          <a:blip r:embed="rId4"/>
          <a:stretch>
            <a:fillRect/>
          </a:stretch>
        </p:blipFill>
        <p:spPr>
          <a:xfrm>
            <a:off x="4922837" y="2184201"/>
            <a:ext cx="365720" cy="365720"/>
          </a:xfrm>
          <a:prstGeom prst="rect">
            <a:avLst/>
          </a:prstGeom>
        </p:spPr>
      </p:pic>
      <p:sp>
        <p:nvSpPr>
          <p:cNvPr id="23" name="Text 17"/>
          <p:cNvSpPr txBox="1"/>
          <p:nvPr/>
        </p:nvSpPr>
        <p:spPr>
          <a:xfrm>
            <a:off x="4833937" y="2562621"/>
            <a:ext cx="5435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4" name="Text 18"/>
          <p:cNvSpPr txBox="1"/>
          <p:nvPr/>
        </p:nvSpPr>
        <p:spPr>
          <a:xfrm>
            <a:off x="5956300"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6235700" y="2008981"/>
            <a:ext cx="1701007" cy="965200"/>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6903244" y="2072481"/>
            <a:ext cx="365720" cy="365720"/>
          </a:xfrm>
          <a:prstGeom prst="rect">
            <a:avLst/>
          </a:prstGeom>
        </p:spPr>
      </p:pic>
      <p:sp>
        <p:nvSpPr>
          <p:cNvPr id="27" name="Text 20"/>
          <p:cNvSpPr txBox="1"/>
          <p:nvPr/>
        </p:nvSpPr>
        <p:spPr>
          <a:xfrm>
            <a:off x="6261100" y="2450901"/>
            <a:ext cx="1650207" cy="464740"/>
          </a:xfrm>
          <a:prstGeom prst="rect">
            <a:avLst/>
          </a:prstGeom>
          <a:noFill/>
          <a:ln/>
        </p:spPr>
        <p:txBody>
          <a:bodyPr wrap="square" lIns="0" tIns="0" rIns="0" bIns="0" rtlCol="0" anchor="t"/>
          <a:lstStyle/>
          <a:p>
            <a:pPr algn="ctr" indent="0" marL="0">
              <a:lnSpc>
                <a:spcPts val="1760"/>
              </a:lnSpc>
              <a:buNone/>
            </a:pPr>
            <a:r>
              <a:rPr lang="en-US" sz="1600" b="1" dirty="0">
                <a:solidFill>
                  <a:srgbClr val="000000"/>
                </a:solidFill>
                <a:latin typeface="Calibri" pitchFamily="34" charset="0"/>
                <a:ea typeface="Calibri" pitchFamily="34" charset="-122"/>
                <a:cs typeface="Calibri" pitchFamily="34" charset="-120"/>
              </a:rPr>
              <a:t>Reverse proxy / server</a:t>
            </a:r>
            <a:endParaRPr lang="en-US" sz="1600" dirty="0"/>
          </a:p>
        </p:txBody>
      </p:sp>
      <p:sp>
        <p:nvSpPr>
          <p:cNvPr id="28" name="Text 21"/>
          <p:cNvSpPr txBox="1"/>
          <p:nvPr/>
        </p:nvSpPr>
        <p:spPr>
          <a:xfrm>
            <a:off x="7936707"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8216107" y="2008981"/>
            <a:ext cx="1701007" cy="965200"/>
          </a:xfrm>
          <a:prstGeom prst="rect">
            <a:avLst/>
          </a:prstGeom>
          <a:solidFill>
            <a:srgbClr val="D6D6EB"/>
          </a:solidFill>
          <a:ln w="12700">
            <a:solidFill>
              <a:srgbClr val="333399"/>
            </a:solidFill>
            <a:prstDash val="solid"/>
          </a:ln>
        </p:spPr>
      </p:sp>
      <p:pic>
        <p:nvPicPr>
          <p:cNvPr id="30" name="Image 5" descr="Rendered as an image because of CSS svg">    </p:cNvPr>
          <p:cNvPicPr>
            <a:picLocks noChangeAspect="1"/>
          </p:cNvPicPr>
          <p:nvPr/>
        </p:nvPicPr>
        <p:blipFill>
          <a:blip r:embed="rId6"/>
          <a:stretch>
            <a:fillRect/>
          </a:stretch>
        </p:blipFill>
        <p:spPr>
          <a:xfrm>
            <a:off x="8883651" y="2184201"/>
            <a:ext cx="365720" cy="365720"/>
          </a:xfrm>
          <a:prstGeom prst="rect">
            <a:avLst/>
          </a:prstGeom>
        </p:spPr>
      </p:pic>
      <p:sp>
        <p:nvSpPr>
          <p:cNvPr id="31" name="Text 23"/>
          <p:cNvSpPr txBox="1"/>
          <p:nvPr/>
        </p:nvSpPr>
        <p:spPr>
          <a:xfrm>
            <a:off x="8509992" y="2562621"/>
            <a:ext cx="1113036"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32" name="Text 24"/>
          <p:cNvSpPr txBox="1"/>
          <p:nvPr/>
        </p:nvSpPr>
        <p:spPr>
          <a:xfrm>
            <a:off x="9917112"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3" name="Shape 25"/>
          <p:cNvSpPr/>
          <p:nvPr/>
        </p:nvSpPr>
        <p:spPr>
          <a:xfrm>
            <a:off x="10196512" y="2008981"/>
            <a:ext cx="1701007" cy="965200"/>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10864056" y="2184201"/>
            <a:ext cx="365720" cy="365720"/>
          </a:xfrm>
          <a:prstGeom prst="rect">
            <a:avLst/>
          </a:prstGeom>
        </p:spPr>
      </p:pic>
      <p:sp>
        <p:nvSpPr>
          <p:cNvPr id="35" name="Text 26"/>
          <p:cNvSpPr txBox="1"/>
          <p:nvPr/>
        </p:nvSpPr>
        <p:spPr>
          <a:xfrm>
            <a:off x="10483056" y="2562621"/>
            <a:ext cx="112791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Logs / SIEM</a:t>
            </a:r>
            <a:endParaRPr lang="en-US" sz="1600" dirty="0"/>
          </a:p>
        </p:txBody>
      </p:sp>
      <p:sp>
        <p:nvSpPr>
          <p:cNvPr id="36" name="Shape 27"/>
          <p:cNvSpPr/>
          <p:nvPr/>
        </p:nvSpPr>
        <p:spPr>
          <a:xfrm>
            <a:off x="294481" y="3050381"/>
            <a:ext cx="1701007" cy="568721"/>
          </a:xfrm>
          <a:prstGeom prst="rect">
            <a:avLst/>
          </a:prstGeom>
          <a:noFill/>
          <a:ln w="12700">
            <a:solidFill>
              <a:srgbClr val="993300"/>
            </a:solidFill>
            <a:prstDash val="solid"/>
          </a:ln>
        </p:spPr>
      </p:sp>
      <p:sp>
        <p:nvSpPr>
          <p:cNvPr id="37" name="Text 28"/>
          <p:cNvSpPr txBox="1"/>
          <p:nvPr/>
        </p:nvSpPr>
        <p:spPr>
          <a:xfrm>
            <a:off x="319881"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history · bookmarks</a:t>
            </a:r>
            <a:endParaRPr lang="en-US" sz="1600" dirty="0"/>
          </a:p>
        </p:txBody>
      </p:sp>
      <p:sp>
        <p:nvSpPr>
          <p:cNvPr id="38" name="Shape 29"/>
          <p:cNvSpPr/>
          <p:nvPr/>
        </p:nvSpPr>
        <p:spPr>
          <a:xfrm>
            <a:off x="2274888" y="3050381"/>
            <a:ext cx="1701007" cy="568721"/>
          </a:xfrm>
          <a:prstGeom prst="rect">
            <a:avLst/>
          </a:prstGeom>
          <a:noFill/>
          <a:ln w="12700">
            <a:solidFill>
              <a:srgbClr val="993300"/>
            </a:solidFill>
            <a:prstDash val="solid"/>
          </a:ln>
        </p:spPr>
      </p:sp>
      <p:sp>
        <p:nvSpPr>
          <p:cNvPr id="39" name="Text 30"/>
          <p:cNvSpPr txBox="1"/>
          <p:nvPr/>
        </p:nvSpPr>
        <p:spPr>
          <a:xfrm>
            <a:off x="2363589" y="3088481"/>
            <a:ext cx="1523405"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edge access logs</a:t>
            </a:r>
            <a:endParaRPr lang="en-US" sz="1600" dirty="0"/>
          </a:p>
        </p:txBody>
      </p:sp>
      <p:sp>
        <p:nvSpPr>
          <p:cNvPr id="40" name="Shape 31"/>
          <p:cNvSpPr/>
          <p:nvPr/>
        </p:nvSpPr>
        <p:spPr>
          <a:xfrm>
            <a:off x="4255293" y="3050381"/>
            <a:ext cx="1701007" cy="568721"/>
          </a:xfrm>
          <a:prstGeom prst="rect">
            <a:avLst/>
          </a:prstGeom>
          <a:noFill/>
          <a:ln w="12700">
            <a:solidFill>
              <a:srgbClr val="993300"/>
            </a:solidFill>
            <a:prstDash val="solid"/>
          </a:ln>
        </p:spPr>
      </p:sp>
      <p:sp>
        <p:nvSpPr>
          <p:cNvPr id="41" name="Text 32"/>
          <p:cNvSpPr txBox="1"/>
          <p:nvPr/>
        </p:nvSpPr>
        <p:spPr>
          <a:xfrm>
            <a:off x="4230092" y="3088481"/>
            <a:ext cx="1751409"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request logs, alerts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51998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can URI query data be recorded?</a:t>
            </a:r>
            <a:endParaRPr lang="en-US" sz="2400" dirty="0"/>
          </a:p>
        </p:txBody>
      </p:sp>
      <p:sp>
        <p:nvSpPr>
          <p:cNvPr id="10" name="Shape 7"/>
          <p:cNvSpPr/>
          <p:nvPr/>
        </p:nvSpPr>
        <p:spPr>
          <a:xfrm>
            <a:off x="294481" y="1564481"/>
            <a:ext cx="531217" cy="252412"/>
          </a:xfrm>
          <a:prstGeom prst="roundRect">
            <a:avLst>
              <a:gd name="adj" fmla="val 15094"/>
            </a:avLst>
          </a:prstGeom>
          <a:solidFill>
            <a:srgbClr val="333399"/>
          </a:solidFill>
          <a:ln/>
        </p:spPr>
      </p:sp>
      <p:sp>
        <p:nvSpPr>
          <p:cNvPr id="11" name="Shape 8"/>
          <p:cNvSpPr/>
          <p:nvPr/>
        </p:nvSpPr>
        <p:spPr>
          <a:xfrm>
            <a:off x="2746375" y="1551781"/>
            <a:ext cx="4801393" cy="254000"/>
          </a:xfrm>
          <a:prstGeom prst="rect">
            <a:avLst/>
          </a:prstGeom>
          <a:solidFill>
            <a:srgbClr val="BBE0E3"/>
          </a:solidFill>
          <a:ln/>
        </p:spPr>
      </p:sp>
      <p:sp>
        <p:nvSpPr>
          <p:cNvPr id="12" name="Text 9"/>
          <p:cNvSpPr txBox="1"/>
          <p:nvPr/>
        </p:nvSpPr>
        <p:spPr>
          <a:xfrm>
            <a:off x="370681" y="1551781"/>
            <a:ext cx="8564165" cy="254000"/>
          </a:xfrm>
          <a:prstGeom prst="rect">
            <a:avLst/>
          </a:prstGeom>
          <a:noFill/>
          <a:ln/>
        </p:spPr>
        <p:txBody>
          <a:bodyPr wrap="none" lIns="0" tIns="0" rIns="0" bIns="0" rtlCol="0" anchor="t"/>
          <a:lstStyle/>
          <a:p>
            <a:pPr algn="l" indent="0" marL="0">
              <a:buNone/>
            </a:pPr>
            <a:r>
              <a:rPr lang="en-US" sz="1656" b="1" dirty="0">
                <a:solidFill>
                  <a:srgbClr val="FFFFFF"/>
                </a:solidFill>
                <a:latin typeface="Courier New" pitchFamily="34" charset="0"/>
                <a:ea typeface="Courier New" pitchFamily="34" charset="-122"/>
                <a:cs typeface="Courier New" pitchFamily="34" charset="-120"/>
              </a:rPr>
              <a:t>GET</a:t>
            </a:r>
            <a:pPr algn="l" indent="0" marL="0">
              <a:buNone/>
            </a:pPr>
            <a:r>
              <a:rPr lang="en-US" sz="1800" b="1" dirty="0">
                <a:solidFill>
                  <a:srgbClr val="000000"/>
                </a:solidFill>
                <a:latin typeface="Courier New" pitchFamily="34" charset="0"/>
                <a:ea typeface="Courier New" pitchFamily="34" charset="-122"/>
                <a:cs typeface="Courier New" pitchFamily="34" charset="-120"/>
              </a:rPr>
              <a:t> /users/search</a:t>
            </a:r>
            <a:pPr algn="l" indent="0" marL="0">
              <a:buNone/>
            </a:pPr>
            <a:r>
              <a:rPr lang="en-US" sz="1800" b="1" dirty="0">
                <a:solidFill>
                  <a:srgbClr val="000000"/>
                </a:solidFill>
                <a:latin typeface="Courier New" pitchFamily="34" charset="0"/>
                <a:ea typeface="Courier New" pitchFamily="34" charset="-122"/>
                <a:cs typeface="Courier New" pitchFamily="34" charset="-120"/>
              </a:rPr>
              <a:t>?email=alice@example.com&amp;role=admin</a:t>
            </a:r>
            <a:pPr algn="l" indent="0" marL="0">
              <a:buNone/>
            </a:pPr>
            <a:r>
              <a:rPr lang="en-US" sz="1800" b="1" dirty="0">
                <a:solidFill>
                  <a:srgbClr val="000000"/>
                </a:solidFill>
                <a:latin typeface="Courier New" pitchFamily="34" charset="0"/>
                <a:ea typeface="Courier New" pitchFamily="34" charset="-122"/>
                <a:cs typeface="Courier New" pitchFamily="34" charset="-120"/>
              </a:rPr>
              <a:t> HTTP/1.1</a:t>
            </a:r>
            <a:endParaRPr lang="en-US" sz="1656" dirty="0"/>
          </a:p>
        </p:txBody>
      </p:sp>
      <p:sp>
        <p:nvSpPr>
          <p:cNvPr id="13" name="Shape 10"/>
          <p:cNvSpPr/>
          <p:nvPr/>
        </p:nvSpPr>
        <p:spPr>
          <a:xfrm>
            <a:off x="294481" y="2008981"/>
            <a:ext cx="1701007" cy="965200"/>
          </a:xfrm>
          <a:prstGeom prst="rect">
            <a:avLst/>
          </a:prstGeom>
          <a:solidFill>
            <a:srgbClr val="D6D6EB"/>
          </a:solidFill>
          <a:ln w="12700">
            <a:solidFill>
              <a:srgbClr val="333399"/>
            </a:solidFill>
            <a:prstDash val="solid"/>
          </a:ln>
        </p:spPr>
      </p:sp>
      <p:pic>
        <p:nvPicPr>
          <p:cNvPr id="14" name="Image 1" descr="Rendered as an image because of CSS svg">    </p:cNvPr>
          <p:cNvPicPr>
            <a:picLocks noChangeAspect="1"/>
          </p:cNvPicPr>
          <p:nvPr/>
        </p:nvPicPr>
        <p:blipFill>
          <a:blip r:embed="rId2"/>
          <a:stretch>
            <a:fillRect/>
          </a:stretch>
        </p:blipFill>
        <p:spPr>
          <a:xfrm>
            <a:off x="962025" y="2184201"/>
            <a:ext cx="365720" cy="365720"/>
          </a:xfrm>
          <a:prstGeom prst="rect">
            <a:avLst/>
          </a:prstGeom>
        </p:spPr>
      </p:pic>
      <p:sp>
        <p:nvSpPr>
          <p:cNvPr id="15" name="Text 11"/>
          <p:cNvSpPr txBox="1"/>
          <p:nvPr/>
        </p:nvSpPr>
        <p:spPr>
          <a:xfrm>
            <a:off x="719535" y="2562621"/>
            <a:ext cx="85070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6" name="Text 12"/>
          <p:cNvSpPr txBox="1"/>
          <p:nvPr/>
        </p:nvSpPr>
        <p:spPr>
          <a:xfrm>
            <a:off x="1995488"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2274888" y="2008981"/>
            <a:ext cx="1701007" cy="965200"/>
          </a:xfrm>
          <a:prstGeom prst="rect">
            <a:avLst/>
          </a:prstGeom>
          <a:solidFill>
            <a:srgbClr val="D6D6EB"/>
          </a:solidFill>
          <a:ln w="12700">
            <a:solidFill>
              <a:srgbClr val="333399"/>
            </a:solidFill>
            <a:prstDash val="solid"/>
          </a:ln>
        </p:spPr>
      </p:sp>
      <p:pic>
        <p:nvPicPr>
          <p:cNvPr id="18" name="Image 2" descr="Rendered as an image because of CSS svg">    </p:cNvPr>
          <p:cNvPicPr>
            <a:picLocks noChangeAspect="1"/>
          </p:cNvPicPr>
          <p:nvPr/>
        </p:nvPicPr>
        <p:blipFill>
          <a:blip r:embed="rId3"/>
          <a:stretch>
            <a:fillRect/>
          </a:stretch>
        </p:blipFill>
        <p:spPr>
          <a:xfrm>
            <a:off x="2942431" y="2184201"/>
            <a:ext cx="365720" cy="365720"/>
          </a:xfrm>
          <a:prstGeom prst="rect">
            <a:avLst/>
          </a:prstGeom>
        </p:spPr>
      </p:pic>
      <p:sp>
        <p:nvSpPr>
          <p:cNvPr id="19" name="Text 14"/>
          <p:cNvSpPr txBox="1"/>
          <p:nvPr/>
        </p:nvSpPr>
        <p:spPr>
          <a:xfrm>
            <a:off x="2538016" y="2562621"/>
            <a:ext cx="117475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20" name="Text 15"/>
          <p:cNvSpPr txBox="1"/>
          <p:nvPr/>
        </p:nvSpPr>
        <p:spPr>
          <a:xfrm>
            <a:off x="3975893"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6"/>
          <p:cNvSpPr/>
          <p:nvPr/>
        </p:nvSpPr>
        <p:spPr>
          <a:xfrm>
            <a:off x="4255293" y="2008981"/>
            <a:ext cx="1701007" cy="965200"/>
          </a:xfrm>
          <a:prstGeom prst="rect">
            <a:avLst/>
          </a:prstGeom>
          <a:solidFill>
            <a:srgbClr val="D6D6EB"/>
          </a:solidFill>
          <a:ln w="12700">
            <a:solidFill>
              <a:srgbClr val="333399"/>
            </a:solidFill>
            <a:prstDash val="solid"/>
          </a:ln>
        </p:spPr>
      </p:sp>
      <p:pic>
        <p:nvPicPr>
          <p:cNvPr id="22" name="Image 3" descr="Rendered as an image because of CSS svg">    </p:cNvPr>
          <p:cNvPicPr>
            <a:picLocks noChangeAspect="1"/>
          </p:cNvPicPr>
          <p:nvPr/>
        </p:nvPicPr>
        <p:blipFill>
          <a:blip r:embed="rId4"/>
          <a:stretch>
            <a:fillRect/>
          </a:stretch>
        </p:blipFill>
        <p:spPr>
          <a:xfrm>
            <a:off x="4922837" y="2184201"/>
            <a:ext cx="365720" cy="365720"/>
          </a:xfrm>
          <a:prstGeom prst="rect">
            <a:avLst/>
          </a:prstGeom>
        </p:spPr>
      </p:pic>
      <p:sp>
        <p:nvSpPr>
          <p:cNvPr id="23" name="Text 17"/>
          <p:cNvSpPr txBox="1"/>
          <p:nvPr/>
        </p:nvSpPr>
        <p:spPr>
          <a:xfrm>
            <a:off x="4833937" y="2562621"/>
            <a:ext cx="5435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4" name="Text 18"/>
          <p:cNvSpPr txBox="1"/>
          <p:nvPr/>
        </p:nvSpPr>
        <p:spPr>
          <a:xfrm>
            <a:off x="5956300"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6235700" y="2008981"/>
            <a:ext cx="1701007" cy="965200"/>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6903244" y="2072481"/>
            <a:ext cx="365720" cy="365720"/>
          </a:xfrm>
          <a:prstGeom prst="rect">
            <a:avLst/>
          </a:prstGeom>
        </p:spPr>
      </p:pic>
      <p:sp>
        <p:nvSpPr>
          <p:cNvPr id="27" name="Text 20"/>
          <p:cNvSpPr txBox="1"/>
          <p:nvPr/>
        </p:nvSpPr>
        <p:spPr>
          <a:xfrm>
            <a:off x="6261100" y="2450901"/>
            <a:ext cx="1650207" cy="464740"/>
          </a:xfrm>
          <a:prstGeom prst="rect">
            <a:avLst/>
          </a:prstGeom>
          <a:noFill/>
          <a:ln/>
        </p:spPr>
        <p:txBody>
          <a:bodyPr wrap="square" lIns="0" tIns="0" rIns="0" bIns="0" rtlCol="0" anchor="t"/>
          <a:lstStyle/>
          <a:p>
            <a:pPr algn="ctr" indent="0" marL="0">
              <a:lnSpc>
                <a:spcPts val="1760"/>
              </a:lnSpc>
              <a:buNone/>
            </a:pPr>
            <a:r>
              <a:rPr lang="en-US" sz="1600" b="1" dirty="0">
                <a:solidFill>
                  <a:srgbClr val="000000"/>
                </a:solidFill>
                <a:latin typeface="Calibri" pitchFamily="34" charset="0"/>
                <a:ea typeface="Calibri" pitchFamily="34" charset="-122"/>
                <a:cs typeface="Calibri" pitchFamily="34" charset="-120"/>
              </a:rPr>
              <a:t>Reverse proxy / server</a:t>
            </a:r>
            <a:endParaRPr lang="en-US" sz="1600" dirty="0"/>
          </a:p>
        </p:txBody>
      </p:sp>
      <p:sp>
        <p:nvSpPr>
          <p:cNvPr id="28" name="Text 21"/>
          <p:cNvSpPr txBox="1"/>
          <p:nvPr/>
        </p:nvSpPr>
        <p:spPr>
          <a:xfrm>
            <a:off x="7936707"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8216107" y="2008981"/>
            <a:ext cx="1701007" cy="965200"/>
          </a:xfrm>
          <a:prstGeom prst="rect">
            <a:avLst/>
          </a:prstGeom>
          <a:solidFill>
            <a:srgbClr val="D6D6EB"/>
          </a:solidFill>
          <a:ln w="12700">
            <a:solidFill>
              <a:srgbClr val="333399"/>
            </a:solidFill>
            <a:prstDash val="solid"/>
          </a:ln>
        </p:spPr>
      </p:sp>
      <p:pic>
        <p:nvPicPr>
          <p:cNvPr id="30" name="Image 5" descr="Rendered as an image because of CSS svg">    </p:cNvPr>
          <p:cNvPicPr>
            <a:picLocks noChangeAspect="1"/>
          </p:cNvPicPr>
          <p:nvPr/>
        </p:nvPicPr>
        <p:blipFill>
          <a:blip r:embed="rId6"/>
          <a:stretch>
            <a:fillRect/>
          </a:stretch>
        </p:blipFill>
        <p:spPr>
          <a:xfrm>
            <a:off x="8883651" y="2184201"/>
            <a:ext cx="365720" cy="365720"/>
          </a:xfrm>
          <a:prstGeom prst="rect">
            <a:avLst/>
          </a:prstGeom>
        </p:spPr>
      </p:pic>
      <p:sp>
        <p:nvSpPr>
          <p:cNvPr id="31" name="Text 23"/>
          <p:cNvSpPr txBox="1"/>
          <p:nvPr/>
        </p:nvSpPr>
        <p:spPr>
          <a:xfrm>
            <a:off x="8509992" y="2562621"/>
            <a:ext cx="1113036"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32" name="Text 24"/>
          <p:cNvSpPr txBox="1"/>
          <p:nvPr/>
        </p:nvSpPr>
        <p:spPr>
          <a:xfrm>
            <a:off x="9917112"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3" name="Shape 25"/>
          <p:cNvSpPr/>
          <p:nvPr/>
        </p:nvSpPr>
        <p:spPr>
          <a:xfrm>
            <a:off x="10196512" y="2008981"/>
            <a:ext cx="1701007" cy="965200"/>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10864056" y="2184201"/>
            <a:ext cx="365720" cy="365720"/>
          </a:xfrm>
          <a:prstGeom prst="rect">
            <a:avLst/>
          </a:prstGeom>
        </p:spPr>
      </p:pic>
      <p:sp>
        <p:nvSpPr>
          <p:cNvPr id="35" name="Text 26"/>
          <p:cNvSpPr txBox="1"/>
          <p:nvPr/>
        </p:nvSpPr>
        <p:spPr>
          <a:xfrm>
            <a:off x="10483056" y="2562621"/>
            <a:ext cx="112791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Logs / SIEM</a:t>
            </a:r>
            <a:endParaRPr lang="en-US" sz="1600" dirty="0"/>
          </a:p>
        </p:txBody>
      </p:sp>
      <p:sp>
        <p:nvSpPr>
          <p:cNvPr id="36" name="Shape 27"/>
          <p:cNvSpPr/>
          <p:nvPr/>
        </p:nvSpPr>
        <p:spPr>
          <a:xfrm>
            <a:off x="294481" y="3050381"/>
            <a:ext cx="1701007" cy="568721"/>
          </a:xfrm>
          <a:prstGeom prst="rect">
            <a:avLst/>
          </a:prstGeom>
          <a:noFill/>
          <a:ln w="12700">
            <a:solidFill>
              <a:srgbClr val="993300"/>
            </a:solidFill>
            <a:prstDash val="solid"/>
          </a:ln>
        </p:spPr>
      </p:sp>
      <p:sp>
        <p:nvSpPr>
          <p:cNvPr id="37" name="Text 28"/>
          <p:cNvSpPr txBox="1"/>
          <p:nvPr/>
        </p:nvSpPr>
        <p:spPr>
          <a:xfrm>
            <a:off x="319881"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history · bookmarks</a:t>
            </a:r>
            <a:endParaRPr lang="en-US" sz="1600" dirty="0"/>
          </a:p>
        </p:txBody>
      </p:sp>
      <p:sp>
        <p:nvSpPr>
          <p:cNvPr id="38" name="Shape 29"/>
          <p:cNvSpPr/>
          <p:nvPr/>
        </p:nvSpPr>
        <p:spPr>
          <a:xfrm>
            <a:off x="2274888" y="3050381"/>
            <a:ext cx="1701007" cy="568721"/>
          </a:xfrm>
          <a:prstGeom prst="rect">
            <a:avLst/>
          </a:prstGeom>
          <a:noFill/>
          <a:ln w="12700">
            <a:solidFill>
              <a:srgbClr val="993300"/>
            </a:solidFill>
            <a:prstDash val="solid"/>
          </a:ln>
        </p:spPr>
      </p:sp>
      <p:sp>
        <p:nvSpPr>
          <p:cNvPr id="39" name="Text 30"/>
          <p:cNvSpPr txBox="1"/>
          <p:nvPr/>
        </p:nvSpPr>
        <p:spPr>
          <a:xfrm>
            <a:off x="2363589" y="3088481"/>
            <a:ext cx="1523405"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edge access logs</a:t>
            </a:r>
            <a:endParaRPr lang="en-US" sz="1600" dirty="0"/>
          </a:p>
        </p:txBody>
      </p:sp>
      <p:sp>
        <p:nvSpPr>
          <p:cNvPr id="40" name="Shape 31"/>
          <p:cNvSpPr/>
          <p:nvPr/>
        </p:nvSpPr>
        <p:spPr>
          <a:xfrm>
            <a:off x="4255293" y="3050381"/>
            <a:ext cx="1701007" cy="568721"/>
          </a:xfrm>
          <a:prstGeom prst="rect">
            <a:avLst/>
          </a:prstGeom>
          <a:noFill/>
          <a:ln w="12700">
            <a:solidFill>
              <a:srgbClr val="993300"/>
            </a:solidFill>
            <a:prstDash val="solid"/>
          </a:ln>
        </p:spPr>
      </p:sp>
      <p:sp>
        <p:nvSpPr>
          <p:cNvPr id="41" name="Text 32"/>
          <p:cNvSpPr txBox="1"/>
          <p:nvPr/>
        </p:nvSpPr>
        <p:spPr>
          <a:xfrm>
            <a:off x="4230092" y="3088481"/>
            <a:ext cx="1751409"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request logs, alerts</a:t>
            </a:r>
            <a:endParaRPr lang="en-US" sz="1600" dirty="0"/>
          </a:p>
        </p:txBody>
      </p:sp>
      <p:sp>
        <p:nvSpPr>
          <p:cNvPr id="42" name="Shape 33"/>
          <p:cNvSpPr/>
          <p:nvPr/>
        </p:nvSpPr>
        <p:spPr>
          <a:xfrm>
            <a:off x="6235700" y="3050381"/>
            <a:ext cx="1701007" cy="568721"/>
          </a:xfrm>
          <a:prstGeom prst="rect">
            <a:avLst/>
          </a:prstGeom>
          <a:noFill/>
          <a:ln w="12700">
            <a:solidFill>
              <a:srgbClr val="993300"/>
            </a:solidFill>
            <a:prstDash val="solid"/>
          </a:ln>
        </p:spPr>
      </p:sp>
      <p:sp>
        <p:nvSpPr>
          <p:cNvPr id="43" name="Text 34"/>
          <p:cNvSpPr txBox="1"/>
          <p:nvPr/>
        </p:nvSpPr>
        <p:spPr>
          <a:xfrm>
            <a:off x="6254452" y="3088481"/>
            <a:ext cx="1663501"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access log (request line)</a:t>
            </a:r>
            <a:endParaRPr lang="en-US" sz="1600" dirty="0"/>
          </a:p>
        </p:txBody>
      </p:sp>
      <p:sp>
        <p:nvSpPr>
          <p:cNvPr id="44" name="Shape 35"/>
          <p:cNvSpPr/>
          <p:nvPr/>
        </p:nvSpPr>
        <p:spPr>
          <a:xfrm>
            <a:off x="8216107" y="3050381"/>
            <a:ext cx="1701007" cy="568721"/>
          </a:xfrm>
          <a:prstGeom prst="rect">
            <a:avLst/>
          </a:prstGeom>
          <a:noFill/>
          <a:ln w="12700">
            <a:solidFill>
              <a:srgbClr val="993300"/>
            </a:solidFill>
            <a:prstDash val="solid"/>
          </a:ln>
        </p:spPr>
      </p:sp>
      <p:sp>
        <p:nvSpPr>
          <p:cNvPr id="45" name="Text 36"/>
          <p:cNvSpPr txBox="1"/>
          <p:nvPr/>
        </p:nvSpPr>
        <p:spPr>
          <a:xfrm>
            <a:off x="8241507"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app logs · APM · analytics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51998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can URI query data be recorded?</a:t>
            </a:r>
            <a:endParaRPr lang="en-US" sz="2400" dirty="0"/>
          </a:p>
        </p:txBody>
      </p:sp>
      <p:sp>
        <p:nvSpPr>
          <p:cNvPr id="10" name="Shape 7"/>
          <p:cNvSpPr/>
          <p:nvPr/>
        </p:nvSpPr>
        <p:spPr>
          <a:xfrm>
            <a:off x="294481" y="1564481"/>
            <a:ext cx="531217" cy="252412"/>
          </a:xfrm>
          <a:prstGeom prst="roundRect">
            <a:avLst>
              <a:gd name="adj" fmla="val 15094"/>
            </a:avLst>
          </a:prstGeom>
          <a:solidFill>
            <a:srgbClr val="333399"/>
          </a:solidFill>
          <a:ln/>
        </p:spPr>
      </p:sp>
      <p:sp>
        <p:nvSpPr>
          <p:cNvPr id="11" name="Shape 8"/>
          <p:cNvSpPr/>
          <p:nvPr/>
        </p:nvSpPr>
        <p:spPr>
          <a:xfrm>
            <a:off x="2746375" y="1551781"/>
            <a:ext cx="4801393" cy="254000"/>
          </a:xfrm>
          <a:prstGeom prst="rect">
            <a:avLst/>
          </a:prstGeom>
          <a:solidFill>
            <a:srgbClr val="BBE0E3"/>
          </a:solidFill>
          <a:ln/>
        </p:spPr>
      </p:sp>
      <p:sp>
        <p:nvSpPr>
          <p:cNvPr id="12" name="Text 9"/>
          <p:cNvSpPr txBox="1"/>
          <p:nvPr/>
        </p:nvSpPr>
        <p:spPr>
          <a:xfrm>
            <a:off x="370681" y="1551781"/>
            <a:ext cx="8564165" cy="254000"/>
          </a:xfrm>
          <a:prstGeom prst="rect">
            <a:avLst/>
          </a:prstGeom>
          <a:noFill/>
          <a:ln/>
        </p:spPr>
        <p:txBody>
          <a:bodyPr wrap="none" lIns="0" tIns="0" rIns="0" bIns="0" rtlCol="0" anchor="t"/>
          <a:lstStyle/>
          <a:p>
            <a:pPr algn="l" indent="0" marL="0">
              <a:buNone/>
            </a:pPr>
            <a:r>
              <a:rPr lang="en-US" sz="1656" b="1" dirty="0">
                <a:solidFill>
                  <a:srgbClr val="FFFFFF"/>
                </a:solidFill>
                <a:latin typeface="Courier New" pitchFamily="34" charset="0"/>
                <a:ea typeface="Courier New" pitchFamily="34" charset="-122"/>
                <a:cs typeface="Courier New" pitchFamily="34" charset="-120"/>
              </a:rPr>
              <a:t>GET</a:t>
            </a:r>
            <a:pPr algn="l" indent="0" marL="0">
              <a:buNone/>
            </a:pPr>
            <a:r>
              <a:rPr lang="en-US" sz="1800" b="1" dirty="0">
                <a:solidFill>
                  <a:srgbClr val="000000"/>
                </a:solidFill>
                <a:latin typeface="Courier New" pitchFamily="34" charset="0"/>
                <a:ea typeface="Courier New" pitchFamily="34" charset="-122"/>
                <a:cs typeface="Courier New" pitchFamily="34" charset="-120"/>
              </a:rPr>
              <a:t> /users/search</a:t>
            </a:r>
            <a:pPr algn="l" indent="0" marL="0">
              <a:buNone/>
            </a:pPr>
            <a:r>
              <a:rPr lang="en-US" sz="1800" b="1" dirty="0">
                <a:solidFill>
                  <a:srgbClr val="000000"/>
                </a:solidFill>
                <a:latin typeface="Courier New" pitchFamily="34" charset="0"/>
                <a:ea typeface="Courier New" pitchFamily="34" charset="-122"/>
                <a:cs typeface="Courier New" pitchFamily="34" charset="-120"/>
              </a:rPr>
              <a:t>?email=alice@example.com&amp;role=admin</a:t>
            </a:r>
            <a:pPr algn="l" indent="0" marL="0">
              <a:buNone/>
            </a:pPr>
            <a:r>
              <a:rPr lang="en-US" sz="1800" b="1" dirty="0">
                <a:solidFill>
                  <a:srgbClr val="000000"/>
                </a:solidFill>
                <a:latin typeface="Courier New" pitchFamily="34" charset="0"/>
                <a:ea typeface="Courier New" pitchFamily="34" charset="-122"/>
                <a:cs typeface="Courier New" pitchFamily="34" charset="-120"/>
              </a:rPr>
              <a:t> HTTP/1.1</a:t>
            </a:r>
            <a:endParaRPr lang="en-US" sz="1656" dirty="0"/>
          </a:p>
        </p:txBody>
      </p:sp>
      <p:sp>
        <p:nvSpPr>
          <p:cNvPr id="13" name="Shape 10"/>
          <p:cNvSpPr/>
          <p:nvPr/>
        </p:nvSpPr>
        <p:spPr>
          <a:xfrm>
            <a:off x="294481" y="2008981"/>
            <a:ext cx="1701007" cy="965200"/>
          </a:xfrm>
          <a:prstGeom prst="rect">
            <a:avLst/>
          </a:prstGeom>
          <a:solidFill>
            <a:srgbClr val="D6D6EB"/>
          </a:solidFill>
          <a:ln w="12700">
            <a:solidFill>
              <a:srgbClr val="333399"/>
            </a:solidFill>
            <a:prstDash val="solid"/>
          </a:ln>
        </p:spPr>
      </p:sp>
      <p:pic>
        <p:nvPicPr>
          <p:cNvPr id="14" name="Image 1" descr="Rendered as an image because of CSS svg">    </p:cNvPr>
          <p:cNvPicPr>
            <a:picLocks noChangeAspect="1"/>
          </p:cNvPicPr>
          <p:nvPr/>
        </p:nvPicPr>
        <p:blipFill>
          <a:blip r:embed="rId2"/>
          <a:stretch>
            <a:fillRect/>
          </a:stretch>
        </p:blipFill>
        <p:spPr>
          <a:xfrm>
            <a:off x="962025" y="2184201"/>
            <a:ext cx="365720" cy="365720"/>
          </a:xfrm>
          <a:prstGeom prst="rect">
            <a:avLst/>
          </a:prstGeom>
        </p:spPr>
      </p:pic>
      <p:sp>
        <p:nvSpPr>
          <p:cNvPr id="15" name="Text 11"/>
          <p:cNvSpPr txBox="1"/>
          <p:nvPr/>
        </p:nvSpPr>
        <p:spPr>
          <a:xfrm>
            <a:off x="719535" y="2562621"/>
            <a:ext cx="85070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6" name="Text 12"/>
          <p:cNvSpPr txBox="1"/>
          <p:nvPr/>
        </p:nvSpPr>
        <p:spPr>
          <a:xfrm>
            <a:off x="1995488"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2274888" y="2008981"/>
            <a:ext cx="1701007" cy="965200"/>
          </a:xfrm>
          <a:prstGeom prst="rect">
            <a:avLst/>
          </a:prstGeom>
          <a:solidFill>
            <a:srgbClr val="D6D6EB"/>
          </a:solidFill>
          <a:ln w="12700">
            <a:solidFill>
              <a:srgbClr val="333399"/>
            </a:solidFill>
            <a:prstDash val="solid"/>
          </a:ln>
        </p:spPr>
      </p:sp>
      <p:pic>
        <p:nvPicPr>
          <p:cNvPr id="18" name="Image 2" descr="Rendered as an image because of CSS svg">    </p:cNvPr>
          <p:cNvPicPr>
            <a:picLocks noChangeAspect="1"/>
          </p:cNvPicPr>
          <p:nvPr/>
        </p:nvPicPr>
        <p:blipFill>
          <a:blip r:embed="rId3"/>
          <a:stretch>
            <a:fillRect/>
          </a:stretch>
        </p:blipFill>
        <p:spPr>
          <a:xfrm>
            <a:off x="2942431" y="2184201"/>
            <a:ext cx="365720" cy="365720"/>
          </a:xfrm>
          <a:prstGeom prst="rect">
            <a:avLst/>
          </a:prstGeom>
        </p:spPr>
      </p:pic>
      <p:sp>
        <p:nvSpPr>
          <p:cNvPr id="19" name="Text 14"/>
          <p:cNvSpPr txBox="1"/>
          <p:nvPr/>
        </p:nvSpPr>
        <p:spPr>
          <a:xfrm>
            <a:off x="2538016" y="2562621"/>
            <a:ext cx="117475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20" name="Text 15"/>
          <p:cNvSpPr txBox="1"/>
          <p:nvPr/>
        </p:nvSpPr>
        <p:spPr>
          <a:xfrm>
            <a:off x="3975893"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6"/>
          <p:cNvSpPr/>
          <p:nvPr/>
        </p:nvSpPr>
        <p:spPr>
          <a:xfrm>
            <a:off x="4255293" y="2008981"/>
            <a:ext cx="1701007" cy="965200"/>
          </a:xfrm>
          <a:prstGeom prst="rect">
            <a:avLst/>
          </a:prstGeom>
          <a:solidFill>
            <a:srgbClr val="D6D6EB"/>
          </a:solidFill>
          <a:ln w="12700">
            <a:solidFill>
              <a:srgbClr val="333399"/>
            </a:solidFill>
            <a:prstDash val="solid"/>
          </a:ln>
        </p:spPr>
      </p:sp>
      <p:pic>
        <p:nvPicPr>
          <p:cNvPr id="22" name="Image 3" descr="Rendered as an image because of CSS svg">    </p:cNvPr>
          <p:cNvPicPr>
            <a:picLocks noChangeAspect="1"/>
          </p:cNvPicPr>
          <p:nvPr/>
        </p:nvPicPr>
        <p:blipFill>
          <a:blip r:embed="rId4"/>
          <a:stretch>
            <a:fillRect/>
          </a:stretch>
        </p:blipFill>
        <p:spPr>
          <a:xfrm>
            <a:off x="4922837" y="2184201"/>
            <a:ext cx="365720" cy="365720"/>
          </a:xfrm>
          <a:prstGeom prst="rect">
            <a:avLst/>
          </a:prstGeom>
        </p:spPr>
      </p:pic>
      <p:sp>
        <p:nvSpPr>
          <p:cNvPr id="23" name="Text 17"/>
          <p:cNvSpPr txBox="1"/>
          <p:nvPr/>
        </p:nvSpPr>
        <p:spPr>
          <a:xfrm>
            <a:off x="4833937" y="2562621"/>
            <a:ext cx="5435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4" name="Text 18"/>
          <p:cNvSpPr txBox="1"/>
          <p:nvPr/>
        </p:nvSpPr>
        <p:spPr>
          <a:xfrm>
            <a:off x="5956300"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6235700" y="2008981"/>
            <a:ext cx="1701007" cy="965200"/>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6903244" y="2072481"/>
            <a:ext cx="365720" cy="365720"/>
          </a:xfrm>
          <a:prstGeom prst="rect">
            <a:avLst/>
          </a:prstGeom>
        </p:spPr>
      </p:pic>
      <p:sp>
        <p:nvSpPr>
          <p:cNvPr id="27" name="Text 20"/>
          <p:cNvSpPr txBox="1"/>
          <p:nvPr/>
        </p:nvSpPr>
        <p:spPr>
          <a:xfrm>
            <a:off x="6261100" y="2450901"/>
            <a:ext cx="1650207" cy="464740"/>
          </a:xfrm>
          <a:prstGeom prst="rect">
            <a:avLst/>
          </a:prstGeom>
          <a:noFill/>
          <a:ln/>
        </p:spPr>
        <p:txBody>
          <a:bodyPr wrap="square" lIns="0" tIns="0" rIns="0" bIns="0" rtlCol="0" anchor="t"/>
          <a:lstStyle/>
          <a:p>
            <a:pPr algn="ctr" indent="0" marL="0">
              <a:lnSpc>
                <a:spcPts val="1760"/>
              </a:lnSpc>
              <a:buNone/>
            </a:pPr>
            <a:r>
              <a:rPr lang="en-US" sz="1600" b="1" dirty="0">
                <a:solidFill>
                  <a:srgbClr val="000000"/>
                </a:solidFill>
                <a:latin typeface="Calibri" pitchFamily="34" charset="0"/>
                <a:ea typeface="Calibri" pitchFamily="34" charset="-122"/>
                <a:cs typeface="Calibri" pitchFamily="34" charset="-120"/>
              </a:rPr>
              <a:t>Reverse proxy / server</a:t>
            </a:r>
            <a:endParaRPr lang="en-US" sz="1600" dirty="0"/>
          </a:p>
        </p:txBody>
      </p:sp>
      <p:sp>
        <p:nvSpPr>
          <p:cNvPr id="28" name="Text 21"/>
          <p:cNvSpPr txBox="1"/>
          <p:nvPr/>
        </p:nvSpPr>
        <p:spPr>
          <a:xfrm>
            <a:off x="7936707"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8216107" y="2008981"/>
            <a:ext cx="1701007" cy="965200"/>
          </a:xfrm>
          <a:prstGeom prst="rect">
            <a:avLst/>
          </a:prstGeom>
          <a:solidFill>
            <a:srgbClr val="D6D6EB"/>
          </a:solidFill>
          <a:ln w="12700">
            <a:solidFill>
              <a:srgbClr val="333399"/>
            </a:solidFill>
            <a:prstDash val="solid"/>
          </a:ln>
        </p:spPr>
      </p:sp>
      <p:pic>
        <p:nvPicPr>
          <p:cNvPr id="30" name="Image 5" descr="Rendered as an image because of CSS svg">    </p:cNvPr>
          <p:cNvPicPr>
            <a:picLocks noChangeAspect="1"/>
          </p:cNvPicPr>
          <p:nvPr/>
        </p:nvPicPr>
        <p:blipFill>
          <a:blip r:embed="rId6"/>
          <a:stretch>
            <a:fillRect/>
          </a:stretch>
        </p:blipFill>
        <p:spPr>
          <a:xfrm>
            <a:off x="8883651" y="2184201"/>
            <a:ext cx="365720" cy="365720"/>
          </a:xfrm>
          <a:prstGeom prst="rect">
            <a:avLst/>
          </a:prstGeom>
        </p:spPr>
      </p:pic>
      <p:sp>
        <p:nvSpPr>
          <p:cNvPr id="31" name="Text 23"/>
          <p:cNvSpPr txBox="1"/>
          <p:nvPr/>
        </p:nvSpPr>
        <p:spPr>
          <a:xfrm>
            <a:off x="8509992" y="2562621"/>
            <a:ext cx="1113036"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32" name="Text 24"/>
          <p:cNvSpPr txBox="1"/>
          <p:nvPr/>
        </p:nvSpPr>
        <p:spPr>
          <a:xfrm>
            <a:off x="9917112"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3" name="Shape 25"/>
          <p:cNvSpPr/>
          <p:nvPr/>
        </p:nvSpPr>
        <p:spPr>
          <a:xfrm>
            <a:off x="10196512" y="2008981"/>
            <a:ext cx="1701007" cy="965200"/>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10864056" y="2184201"/>
            <a:ext cx="365720" cy="365720"/>
          </a:xfrm>
          <a:prstGeom prst="rect">
            <a:avLst/>
          </a:prstGeom>
        </p:spPr>
      </p:pic>
      <p:sp>
        <p:nvSpPr>
          <p:cNvPr id="35" name="Text 26"/>
          <p:cNvSpPr txBox="1"/>
          <p:nvPr/>
        </p:nvSpPr>
        <p:spPr>
          <a:xfrm>
            <a:off x="10483056" y="2562621"/>
            <a:ext cx="112791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Logs / SIEM</a:t>
            </a:r>
            <a:endParaRPr lang="en-US" sz="1600" dirty="0"/>
          </a:p>
        </p:txBody>
      </p:sp>
      <p:sp>
        <p:nvSpPr>
          <p:cNvPr id="36" name="Shape 27"/>
          <p:cNvSpPr/>
          <p:nvPr/>
        </p:nvSpPr>
        <p:spPr>
          <a:xfrm>
            <a:off x="294481" y="3050381"/>
            <a:ext cx="1701007" cy="568721"/>
          </a:xfrm>
          <a:prstGeom prst="rect">
            <a:avLst/>
          </a:prstGeom>
          <a:noFill/>
          <a:ln w="12700">
            <a:solidFill>
              <a:srgbClr val="993300"/>
            </a:solidFill>
            <a:prstDash val="solid"/>
          </a:ln>
        </p:spPr>
      </p:sp>
      <p:sp>
        <p:nvSpPr>
          <p:cNvPr id="37" name="Text 28"/>
          <p:cNvSpPr txBox="1"/>
          <p:nvPr/>
        </p:nvSpPr>
        <p:spPr>
          <a:xfrm>
            <a:off x="319881"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history · bookmarks</a:t>
            </a:r>
            <a:endParaRPr lang="en-US" sz="1600" dirty="0"/>
          </a:p>
        </p:txBody>
      </p:sp>
      <p:sp>
        <p:nvSpPr>
          <p:cNvPr id="38" name="Shape 29"/>
          <p:cNvSpPr/>
          <p:nvPr/>
        </p:nvSpPr>
        <p:spPr>
          <a:xfrm>
            <a:off x="2274888" y="3050381"/>
            <a:ext cx="1701007" cy="568721"/>
          </a:xfrm>
          <a:prstGeom prst="rect">
            <a:avLst/>
          </a:prstGeom>
          <a:noFill/>
          <a:ln w="12700">
            <a:solidFill>
              <a:srgbClr val="993300"/>
            </a:solidFill>
            <a:prstDash val="solid"/>
          </a:ln>
        </p:spPr>
      </p:sp>
      <p:sp>
        <p:nvSpPr>
          <p:cNvPr id="39" name="Text 30"/>
          <p:cNvSpPr txBox="1"/>
          <p:nvPr/>
        </p:nvSpPr>
        <p:spPr>
          <a:xfrm>
            <a:off x="2363589" y="3088481"/>
            <a:ext cx="1523405"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edge access logs</a:t>
            </a:r>
            <a:endParaRPr lang="en-US" sz="1600" dirty="0"/>
          </a:p>
        </p:txBody>
      </p:sp>
      <p:sp>
        <p:nvSpPr>
          <p:cNvPr id="40" name="Shape 31"/>
          <p:cNvSpPr/>
          <p:nvPr/>
        </p:nvSpPr>
        <p:spPr>
          <a:xfrm>
            <a:off x="4255293" y="3050381"/>
            <a:ext cx="1701007" cy="568721"/>
          </a:xfrm>
          <a:prstGeom prst="rect">
            <a:avLst/>
          </a:prstGeom>
          <a:noFill/>
          <a:ln w="12700">
            <a:solidFill>
              <a:srgbClr val="993300"/>
            </a:solidFill>
            <a:prstDash val="solid"/>
          </a:ln>
        </p:spPr>
      </p:sp>
      <p:sp>
        <p:nvSpPr>
          <p:cNvPr id="41" name="Text 32"/>
          <p:cNvSpPr txBox="1"/>
          <p:nvPr/>
        </p:nvSpPr>
        <p:spPr>
          <a:xfrm>
            <a:off x="4230092" y="3088481"/>
            <a:ext cx="1751409"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request logs, alerts</a:t>
            </a:r>
            <a:endParaRPr lang="en-US" sz="1600" dirty="0"/>
          </a:p>
        </p:txBody>
      </p:sp>
      <p:sp>
        <p:nvSpPr>
          <p:cNvPr id="42" name="Shape 33"/>
          <p:cNvSpPr/>
          <p:nvPr/>
        </p:nvSpPr>
        <p:spPr>
          <a:xfrm>
            <a:off x="6235700" y="3050381"/>
            <a:ext cx="1701007" cy="568721"/>
          </a:xfrm>
          <a:prstGeom prst="rect">
            <a:avLst/>
          </a:prstGeom>
          <a:noFill/>
          <a:ln w="12700">
            <a:solidFill>
              <a:srgbClr val="993300"/>
            </a:solidFill>
            <a:prstDash val="solid"/>
          </a:ln>
        </p:spPr>
      </p:sp>
      <p:sp>
        <p:nvSpPr>
          <p:cNvPr id="43" name="Text 34"/>
          <p:cNvSpPr txBox="1"/>
          <p:nvPr/>
        </p:nvSpPr>
        <p:spPr>
          <a:xfrm>
            <a:off x="6254452" y="3088481"/>
            <a:ext cx="1663501"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access log (request line)</a:t>
            </a:r>
            <a:endParaRPr lang="en-US" sz="1600" dirty="0"/>
          </a:p>
        </p:txBody>
      </p:sp>
      <p:sp>
        <p:nvSpPr>
          <p:cNvPr id="44" name="Shape 35"/>
          <p:cNvSpPr/>
          <p:nvPr/>
        </p:nvSpPr>
        <p:spPr>
          <a:xfrm>
            <a:off x="8216107" y="3050381"/>
            <a:ext cx="1701007" cy="568721"/>
          </a:xfrm>
          <a:prstGeom prst="rect">
            <a:avLst/>
          </a:prstGeom>
          <a:noFill/>
          <a:ln w="12700">
            <a:solidFill>
              <a:srgbClr val="993300"/>
            </a:solidFill>
            <a:prstDash val="solid"/>
          </a:ln>
        </p:spPr>
      </p:sp>
      <p:sp>
        <p:nvSpPr>
          <p:cNvPr id="45" name="Text 36"/>
          <p:cNvSpPr txBox="1"/>
          <p:nvPr/>
        </p:nvSpPr>
        <p:spPr>
          <a:xfrm>
            <a:off x="8241507"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app logs · APM · analytics</a:t>
            </a:r>
            <a:endParaRPr lang="en-US" sz="1600" dirty="0"/>
          </a:p>
        </p:txBody>
      </p:sp>
      <p:sp>
        <p:nvSpPr>
          <p:cNvPr id="46" name="Shape 37"/>
          <p:cNvSpPr/>
          <p:nvPr/>
        </p:nvSpPr>
        <p:spPr>
          <a:xfrm>
            <a:off x="10196512" y="3050381"/>
            <a:ext cx="1701007" cy="568721"/>
          </a:xfrm>
          <a:prstGeom prst="rect">
            <a:avLst/>
          </a:prstGeom>
          <a:noFill/>
          <a:ln w="12700">
            <a:solidFill>
              <a:srgbClr val="993300"/>
            </a:solidFill>
            <a:prstDash val="solid"/>
          </a:ln>
        </p:spPr>
      </p:sp>
      <p:sp>
        <p:nvSpPr>
          <p:cNvPr id="47" name="Text 38"/>
          <p:cNvSpPr txBox="1"/>
          <p:nvPr/>
        </p:nvSpPr>
        <p:spPr>
          <a:xfrm>
            <a:off x="10221912"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indexed and retained</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519985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can URI query data be recorded?</a:t>
            </a:r>
            <a:endParaRPr lang="en-US" sz="2400" dirty="0"/>
          </a:p>
        </p:txBody>
      </p:sp>
      <p:sp>
        <p:nvSpPr>
          <p:cNvPr id="10" name="Shape 7"/>
          <p:cNvSpPr/>
          <p:nvPr/>
        </p:nvSpPr>
        <p:spPr>
          <a:xfrm>
            <a:off x="294481" y="1564481"/>
            <a:ext cx="531217" cy="252412"/>
          </a:xfrm>
          <a:prstGeom prst="roundRect">
            <a:avLst>
              <a:gd name="adj" fmla="val 15094"/>
            </a:avLst>
          </a:prstGeom>
          <a:solidFill>
            <a:srgbClr val="333399"/>
          </a:solidFill>
          <a:ln/>
        </p:spPr>
      </p:sp>
      <p:sp>
        <p:nvSpPr>
          <p:cNvPr id="11" name="Shape 8"/>
          <p:cNvSpPr/>
          <p:nvPr/>
        </p:nvSpPr>
        <p:spPr>
          <a:xfrm>
            <a:off x="2746375" y="1551781"/>
            <a:ext cx="4801393" cy="254000"/>
          </a:xfrm>
          <a:prstGeom prst="rect">
            <a:avLst/>
          </a:prstGeom>
          <a:solidFill>
            <a:srgbClr val="BBE0E3"/>
          </a:solidFill>
          <a:ln/>
        </p:spPr>
      </p:sp>
      <p:sp>
        <p:nvSpPr>
          <p:cNvPr id="12" name="Text 9"/>
          <p:cNvSpPr txBox="1"/>
          <p:nvPr/>
        </p:nvSpPr>
        <p:spPr>
          <a:xfrm>
            <a:off x="370681" y="1551781"/>
            <a:ext cx="8564165" cy="254000"/>
          </a:xfrm>
          <a:prstGeom prst="rect">
            <a:avLst/>
          </a:prstGeom>
          <a:noFill/>
          <a:ln/>
        </p:spPr>
        <p:txBody>
          <a:bodyPr wrap="none" lIns="0" tIns="0" rIns="0" bIns="0" rtlCol="0" anchor="t"/>
          <a:lstStyle/>
          <a:p>
            <a:pPr algn="l" indent="0" marL="0">
              <a:buNone/>
            </a:pPr>
            <a:r>
              <a:rPr lang="en-US" sz="1656" b="1" dirty="0">
                <a:solidFill>
                  <a:srgbClr val="FFFFFF"/>
                </a:solidFill>
                <a:latin typeface="Courier New" pitchFamily="34" charset="0"/>
                <a:ea typeface="Courier New" pitchFamily="34" charset="-122"/>
                <a:cs typeface="Courier New" pitchFamily="34" charset="-120"/>
              </a:rPr>
              <a:t>GET</a:t>
            </a:r>
            <a:pPr algn="l" indent="0" marL="0">
              <a:buNone/>
            </a:pPr>
            <a:r>
              <a:rPr lang="en-US" sz="1800" b="1" dirty="0">
                <a:solidFill>
                  <a:srgbClr val="000000"/>
                </a:solidFill>
                <a:latin typeface="Courier New" pitchFamily="34" charset="0"/>
                <a:ea typeface="Courier New" pitchFamily="34" charset="-122"/>
                <a:cs typeface="Courier New" pitchFamily="34" charset="-120"/>
              </a:rPr>
              <a:t> /users/search</a:t>
            </a:r>
            <a:pPr algn="l" indent="0" marL="0">
              <a:buNone/>
            </a:pPr>
            <a:r>
              <a:rPr lang="en-US" sz="1800" b="1" dirty="0">
                <a:solidFill>
                  <a:srgbClr val="000000"/>
                </a:solidFill>
                <a:latin typeface="Courier New" pitchFamily="34" charset="0"/>
                <a:ea typeface="Courier New" pitchFamily="34" charset="-122"/>
                <a:cs typeface="Courier New" pitchFamily="34" charset="-120"/>
              </a:rPr>
              <a:t>?email=alice@example.com&amp;role=admin</a:t>
            </a:r>
            <a:pPr algn="l" indent="0" marL="0">
              <a:buNone/>
            </a:pPr>
            <a:r>
              <a:rPr lang="en-US" sz="1800" b="1" dirty="0">
                <a:solidFill>
                  <a:srgbClr val="000000"/>
                </a:solidFill>
                <a:latin typeface="Courier New" pitchFamily="34" charset="0"/>
                <a:ea typeface="Courier New" pitchFamily="34" charset="-122"/>
                <a:cs typeface="Courier New" pitchFamily="34" charset="-120"/>
              </a:rPr>
              <a:t> HTTP/1.1</a:t>
            </a:r>
            <a:endParaRPr lang="en-US" sz="1656" dirty="0"/>
          </a:p>
        </p:txBody>
      </p:sp>
      <p:sp>
        <p:nvSpPr>
          <p:cNvPr id="13" name="Shape 10"/>
          <p:cNvSpPr/>
          <p:nvPr/>
        </p:nvSpPr>
        <p:spPr>
          <a:xfrm>
            <a:off x="294481" y="2008981"/>
            <a:ext cx="1701007" cy="965200"/>
          </a:xfrm>
          <a:prstGeom prst="rect">
            <a:avLst/>
          </a:prstGeom>
          <a:solidFill>
            <a:srgbClr val="D6D6EB"/>
          </a:solidFill>
          <a:ln w="12700">
            <a:solidFill>
              <a:srgbClr val="333399"/>
            </a:solidFill>
            <a:prstDash val="solid"/>
          </a:ln>
        </p:spPr>
      </p:sp>
      <p:pic>
        <p:nvPicPr>
          <p:cNvPr id="14" name="Image 1" descr="Rendered as an image because of CSS svg">    </p:cNvPr>
          <p:cNvPicPr>
            <a:picLocks noChangeAspect="1"/>
          </p:cNvPicPr>
          <p:nvPr/>
        </p:nvPicPr>
        <p:blipFill>
          <a:blip r:embed="rId2"/>
          <a:stretch>
            <a:fillRect/>
          </a:stretch>
        </p:blipFill>
        <p:spPr>
          <a:xfrm>
            <a:off x="962025" y="2184201"/>
            <a:ext cx="365720" cy="365720"/>
          </a:xfrm>
          <a:prstGeom prst="rect">
            <a:avLst/>
          </a:prstGeom>
        </p:spPr>
      </p:pic>
      <p:sp>
        <p:nvSpPr>
          <p:cNvPr id="15" name="Text 11"/>
          <p:cNvSpPr txBox="1"/>
          <p:nvPr/>
        </p:nvSpPr>
        <p:spPr>
          <a:xfrm>
            <a:off x="719535" y="2562621"/>
            <a:ext cx="85070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6" name="Text 12"/>
          <p:cNvSpPr txBox="1"/>
          <p:nvPr/>
        </p:nvSpPr>
        <p:spPr>
          <a:xfrm>
            <a:off x="1995488"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2274888" y="2008981"/>
            <a:ext cx="1701007" cy="965200"/>
          </a:xfrm>
          <a:prstGeom prst="rect">
            <a:avLst/>
          </a:prstGeom>
          <a:solidFill>
            <a:srgbClr val="D6D6EB"/>
          </a:solidFill>
          <a:ln w="12700">
            <a:solidFill>
              <a:srgbClr val="333399"/>
            </a:solidFill>
            <a:prstDash val="solid"/>
          </a:ln>
        </p:spPr>
      </p:sp>
      <p:pic>
        <p:nvPicPr>
          <p:cNvPr id="18" name="Image 2" descr="Rendered as an image because of CSS svg">    </p:cNvPr>
          <p:cNvPicPr>
            <a:picLocks noChangeAspect="1"/>
          </p:cNvPicPr>
          <p:nvPr/>
        </p:nvPicPr>
        <p:blipFill>
          <a:blip r:embed="rId3"/>
          <a:stretch>
            <a:fillRect/>
          </a:stretch>
        </p:blipFill>
        <p:spPr>
          <a:xfrm>
            <a:off x="2942431" y="2184201"/>
            <a:ext cx="365720" cy="365720"/>
          </a:xfrm>
          <a:prstGeom prst="rect">
            <a:avLst/>
          </a:prstGeom>
        </p:spPr>
      </p:pic>
      <p:sp>
        <p:nvSpPr>
          <p:cNvPr id="19" name="Text 14"/>
          <p:cNvSpPr txBox="1"/>
          <p:nvPr/>
        </p:nvSpPr>
        <p:spPr>
          <a:xfrm>
            <a:off x="2538016" y="2562621"/>
            <a:ext cx="1174751"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20" name="Text 15"/>
          <p:cNvSpPr txBox="1"/>
          <p:nvPr/>
        </p:nvSpPr>
        <p:spPr>
          <a:xfrm>
            <a:off x="3975893"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6"/>
          <p:cNvSpPr/>
          <p:nvPr/>
        </p:nvSpPr>
        <p:spPr>
          <a:xfrm>
            <a:off x="4255293" y="2008981"/>
            <a:ext cx="1701007" cy="965200"/>
          </a:xfrm>
          <a:prstGeom prst="rect">
            <a:avLst/>
          </a:prstGeom>
          <a:solidFill>
            <a:srgbClr val="D6D6EB"/>
          </a:solidFill>
          <a:ln w="12700">
            <a:solidFill>
              <a:srgbClr val="333399"/>
            </a:solidFill>
            <a:prstDash val="solid"/>
          </a:ln>
        </p:spPr>
      </p:sp>
      <p:pic>
        <p:nvPicPr>
          <p:cNvPr id="22" name="Image 3" descr="Rendered as an image because of CSS svg">    </p:cNvPr>
          <p:cNvPicPr>
            <a:picLocks noChangeAspect="1"/>
          </p:cNvPicPr>
          <p:nvPr/>
        </p:nvPicPr>
        <p:blipFill>
          <a:blip r:embed="rId4"/>
          <a:stretch>
            <a:fillRect/>
          </a:stretch>
        </p:blipFill>
        <p:spPr>
          <a:xfrm>
            <a:off x="4922837" y="2184201"/>
            <a:ext cx="365720" cy="365720"/>
          </a:xfrm>
          <a:prstGeom prst="rect">
            <a:avLst/>
          </a:prstGeom>
        </p:spPr>
      </p:pic>
      <p:sp>
        <p:nvSpPr>
          <p:cNvPr id="23" name="Text 17"/>
          <p:cNvSpPr txBox="1"/>
          <p:nvPr/>
        </p:nvSpPr>
        <p:spPr>
          <a:xfrm>
            <a:off x="4833937" y="2562621"/>
            <a:ext cx="5435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4" name="Text 18"/>
          <p:cNvSpPr txBox="1"/>
          <p:nvPr/>
        </p:nvSpPr>
        <p:spPr>
          <a:xfrm>
            <a:off x="5956300"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6235700" y="2008981"/>
            <a:ext cx="1701007" cy="965200"/>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6903244" y="2072481"/>
            <a:ext cx="365720" cy="365720"/>
          </a:xfrm>
          <a:prstGeom prst="rect">
            <a:avLst/>
          </a:prstGeom>
        </p:spPr>
      </p:pic>
      <p:sp>
        <p:nvSpPr>
          <p:cNvPr id="27" name="Text 20"/>
          <p:cNvSpPr txBox="1"/>
          <p:nvPr/>
        </p:nvSpPr>
        <p:spPr>
          <a:xfrm>
            <a:off x="6261100" y="2450901"/>
            <a:ext cx="1650207" cy="464740"/>
          </a:xfrm>
          <a:prstGeom prst="rect">
            <a:avLst/>
          </a:prstGeom>
          <a:noFill/>
          <a:ln/>
        </p:spPr>
        <p:txBody>
          <a:bodyPr wrap="square" lIns="0" tIns="0" rIns="0" bIns="0" rtlCol="0" anchor="t"/>
          <a:lstStyle/>
          <a:p>
            <a:pPr algn="ctr" indent="0" marL="0">
              <a:lnSpc>
                <a:spcPts val="1760"/>
              </a:lnSpc>
              <a:buNone/>
            </a:pPr>
            <a:r>
              <a:rPr lang="en-US" sz="1600" b="1" dirty="0">
                <a:solidFill>
                  <a:srgbClr val="000000"/>
                </a:solidFill>
                <a:latin typeface="Calibri" pitchFamily="34" charset="0"/>
                <a:ea typeface="Calibri" pitchFamily="34" charset="-122"/>
                <a:cs typeface="Calibri" pitchFamily="34" charset="-120"/>
              </a:rPr>
              <a:t>Reverse proxy / server</a:t>
            </a:r>
            <a:endParaRPr lang="en-US" sz="1600" dirty="0"/>
          </a:p>
        </p:txBody>
      </p:sp>
      <p:sp>
        <p:nvSpPr>
          <p:cNvPr id="28" name="Text 21"/>
          <p:cNvSpPr txBox="1"/>
          <p:nvPr/>
        </p:nvSpPr>
        <p:spPr>
          <a:xfrm>
            <a:off x="7936707"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8216107" y="2008981"/>
            <a:ext cx="1701007" cy="965200"/>
          </a:xfrm>
          <a:prstGeom prst="rect">
            <a:avLst/>
          </a:prstGeom>
          <a:solidFill>
            <a:srgbClr val="D6D6EB"/>
          </a:solidFill>
          <a:ln w="12700">
            <a:solidFill>
              <a:srgbClr val="333399"/>
            </a:solidFill>
            <a:prstDash val="solid"/>
          </a:ln>
        </p:spPr>
      </p:sp>
      <p:pic>
        <p:nvPicPr>
          <p:cNvPr id="30" name="Image 5" descr="Rendered as an image because of CSS svg">    </p:cNvPr>
          <p:cNvPicPr>
            <a:picLocks noChangeAspect="1"/>
          </p:cNvPicPr>
          <p:nvPr/>
        </p:nvPicPr>
        <p:blipFill>
          <a:blip r:embed="rId6"/>
          <a:stretch>
            <a:fillRect/>
          </a:stretch>
        </p:blipFill>
        <p:spPr>
          <a:xfrm>
            <a:off x="8883651" y="2184201"/>
            <a:ext cx="365720" cy="365720"/>
          </a:xfrm>
          <a:prstGeom prst="rect">
            <a:avLst/>
          </a:prstGeom>
        </p:spPr>
      </p:pic>
      <p:sp>
        <p:nvSpPr>
          <p:cNvPr id="31" name="Text 23"/>
          <p:cNvSpPr txBox="1"/>
          <p:nvPr/>
        </p:nvSpPr>
        <p:spPr>
          <a:xfrm>
            <a:off x="8509992" y="2562621"/>
            <a:ext cx="1113036"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32" name="Text 24"/>
          <p:cNvSpPr txBox="1"/>
          <p:nvPr/>
        </p:nvSpPr>
        <p:spPr>
          <a:xfrm>
            <a:off x="9917112" y="2320131"/>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3" name="Shape 25"/>
          <p:cNvSpPr/>
          <p:nvPr/>
        </p:nvSpPr>
        <p:spPr>
          <a:xfrm>
            <a:off x="10196512" y="2008981"/>
            <a:ext cx="1701007" cy="965200"/>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10864056" y="2184201"/>
            <a:ext cx="365720" cy="365720"/>
          </a:xfrm>
          <a:prstGeom prst="rect">
            <a:avLst/>
          </a:prstGeom>
        </p:spPr>
      </p:pic>
      <p:sp>
        <p:nvSpPr>
          <p:cNvPr id="35" name="Text 26"/>
          <p:cNvSpPr txBox="1"/>
          <p:nvPr/>
        </p:nvSpPr>
        <p:spPr>
          <a:xfrm>
            <a:off x="10483056" y="2562621"/>
            <a:ext cx="112791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Logs / SIEM</a:t>
            </a:r>
            <a:endParaRPr lang="en-US" sz="1600" dirty="0"/>
          </a:p>
        </p:txBody>
      </p:sp>
      <p:sp>
        <p:nvSpPr>
          <p:cNvPr id="36" name="Shape 27"/>
          <p:cNvSpPr/>
          <p:nvPr/>
        </p:nvSpPr>
        <p:spPr>
          <a:xfrm>
            <a:off x="294481" y="3050381"/>
            <a:ext cx="1701007" cy="568721"/>
          </a:xfrm>
          <a:prstGeom prst="rect">
            <a:avLst/>
          </a:prstGeom>
          <a:noFill/>
          <a:ln w="12700">
            <a:solidFill>
              <a:srgbClr val="993300"/>
            </a:solidFill>
            <a:prstDash val="solid"/>
          </a:ln>
        </p:spPr>
      </p:sp>
      <p:sp>
        <p:nvSpPr>
          <p:cNvPr id="37" name="Text 28"/>
          <p:cNvSpPr txBox="1"/>
          <p:nvPr/>
        </p:nvSpPr>
        <p:spPr>
          <a:xfrm>
            <a:off x="319881"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history · bookmarks</a:t>
            </a:r>
            <a:endParaRPr lang="en-US" sz="1600" dirty="0"/>
          </a:p>
        </p:txBody>
      </p:sp>
      <p:sp>
        <p:nvSpPr>
          <p:cNvPr id="38" name="Shape 29"/>
          <p:cNvSpPr/>
          <p:nvPr/>
        </p:nvSpPr>
        <p:spPr>
          <a:xfrm>
            <a:off x="2274888" y="3050381"/>
            <a:ext cx="1701007" cy="568721"/>
          </a:xfrm>
          <a:prstGeom prst="rect">
            <a:avLst/>
          </a:prstGeom>
          <a:noFill/>
          <a:ln w="12700">
            <a:solidFill>
              <a:srgbClr val="993300"/>
            </a:solidFill>
            <a:prstDash val="solid"/>
          </a:ln>
        </p:spPr>
      </p:sp>
      <p:sp>
        <p:nvSpPr>
          <p:cNvPr id="39" name="Text 30"/>
          <p:cNvSpPr txBox="1"/>
          <p:nvPr/>
        </p:nvSpPr>
        <p:spPr>
          <a:xfrm>
            <a:off x="2363589" y="3088481"/>
            <a:ext cx="1523405"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edge access logs</a:t>
            </a:r>
            <a:endParaRPr lang="en-US" sz="1600" dirty="0"/>
          </a:p>
        </p:txBody>
      </p:sp>
      <p:sp>
        <p:nvSpPr>
          <p:cNvPr id="40" name="Shape 31"/>
          <p:cNvSpPr/>
          <p:nvPr/>
        </p:nvSpPr>
        <p:spPr>
          <a:xfrm>
            <a:off x="4255293" y="3050381"/>
            <a:ext cx="1701007" cy="568721"/>
          </a:xfrm>
          <a:prstGeom prst="rect">
            <a:avLst/>
          </a:prstGeom>
          <a:noFill/>
          <a:ln w="12700">
            <a:solidFill>
              <a:srgbClr val="993300"/>
            </a:solidFill>
            <a:prstDash val="solid"/>
          </a:ln>
        </p:spPr>
      </p:sp>
      <p:sp>
        <p:nvSpPr>
          <p:cNvPr id="41" name="Text 32"/>
          <p:cNvSpPr txBox="1"/>
          <p:nvPr/>
        </p:nvSpPr>
        <p:spPr>
          <a:xfrm>
            <a:off x="4230092" y="3088481"/>
            <a:ext cx="1751409" cy="241300"/>
          </a:xfrm>
          <a:prstGeom prst="rect">
            <a:avLst/>
          </a:prstGeom>
          <a:noFill/>
          <a:ln/>
        </p:spPr>
        <p:txBody>
          <a:bodyPr wrap="none" lIns="0" tIns="0" rIns="0" bIns="0" rtlCol="0" anchor="t"/>
          <a:lstStyle/>
          <a:p>
            <a:pPr algn="ctr" indent="0" marL="0">
              <a:buNone/>
            </a:pPr>
            <a:r>
              <a:rPr lang="en-US" sz="1600" b="1" dirty="0">
                <a:solidFill>
                  <a:srgbClr val="993300"/>
                </a:solidFill>
                <a:latin typeface="Calibri" pitchFamily="34" charset="0"/>
                <a:ea typeface="Calibri" pitchFamily="34" charset="-122"/>
                <a:cs typeface="Calibri" pitchFamily="34" charset="-120"/>
              </a:rPr>
              <a:t>request logs, alerts</a:t>
            </a:r>
            <a:endParaRPr lang="en-US" sz="1600" dirty="0"/>
          </a:p>
        </p:txBody>
      </p:sp>
      <p:sp>
        <p:nvSpPr>
          <p:cNvPr id="42" name="Shape 33"/>
          <p:cNvSpPr/>
          <p:nvPr/>
        </p:nvSpPr>
        <p:spPr>
          <a:xfrm>
            <a:off x="6235700" y="3050381"/>
            <a:ext cx="1701007" cy="568721"/>
          </a:xfrm>
          <a:prstGeom prst="rect">
            <a:avLst/>
          </a:prstGeom>
          <a:noFill/>
          <a:ln w="12700">
            <a:solidFill>
              <a:srgbClr val="993300"/>
            </a:solidFill>
            <a:prstDash val="solid"/>
          </a:ln>
        </p:spPr>
      </p:sp>
      <p:sp>
        <p:nvSpPr>
          <p:cNvPr id="43" name="Text 34"/>
          <p:cNvSpPr txBox="1"/>
          <p:nvPr/>
        </p:nvSpPr>
        <p:spPr>
          <a:xfrm>
            <a:off x="6254452" y="3088481"/>
            <a:ext cx="1663501"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access log (request line)</a:t>
            </a:r>
            <a:endParaRPr lang="en-US" sz="1600" dirty="0"/>
          </a:p>
        </p:txBody>
      </p:sp>
      <p:sp>
        <p:nvSpPr>
          <p:cNvPr id="44" name="Shape 35"/>
          <p:cNvSpPr/>
          <p:nvPr/>
        </p:nvSpPr>
        <p:spPr>
          <a:xfrm>
            <a:off x="8216107" y="3050381"/>
            <a:ext cx="1701007" cy="568721"/>
          </a:xfrm>
          <a:prstGeom prst="rect">
            <a:avLst/>
          </a:prstGeom>
          <a:noFill/>
          <a:ln w="12700">
            <a:solidFill>
              <a:srgbClr val="993300"/>
            </a:solidFill>
            <a:prstDash val="solid"/>
          </a:ln>
        </p:spPr>
      </p:sp>
      <p:sp>
        <p:nvSpPr>
          <p:cNvPr id="45" name="Text 36"/>
          <p:cNvSpPr txBox="1"/>
          <p:nvPr/>
        </p:nvSpPr>
        <p:spPr>
          <a:xfrm>
            <a:off x="8241507"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app logs · APM · analytics</a:t>
            </a:r>
            <a:endParaRPr lang="en-US" sz="1600" dirty="0"/>
          </a:p>
        </p:txBody>
      </p:sp>
      <p:sp>
        <p:nvSpPr>
          <p:cNvPr id="46" name="Shape 37"/>
          <p:cNvSpPr/>
          <p:nvPr/>
        </p:nvSpPr>
        <p:spPr>
          <a:xfrm>
            <a:off x="10196512" y="3050381"/>
            <a:ext cx="1701007" cy="568721"/>
          </a:xfrm>
          <a:prstGeom prst="rect">
            <a:avLst/>
          </a:prstGeom>
          <a:noFill/>
          <a:ln w="12700">
            <a:solidFill>
              <a:srgbClr val="993300"/>
            </a:solidFill>
            <a:prstDash val="solid"/>
          </a:ln>
        </p:spPr>
      </p:sp>
      <p:sp>
        <p:nvSpPr>
          <p:cNvPr id="47" name="Text 38"/>
          <p:cNvSpPr txBox="1"/>
          <p:nvPr/>
        </p:nvSpPr>
        <p:spPr>
          <a:xfrm>
            <a:off x="10221912" y="3088481"/>
            <a:ext cx="1650207" cy="474861"/>
          </a:xfrm>
          <a:prstGeom prst="rect">
            <a:avLst/>
          </a:prstGeom>
          <a:noFill/>
          <a:ln/>
        </p:spPr>
        <p:txBody>
          <a:bodyPr wrap="square" lIns="0" tIns="0" rIns="0" bIns="0" rtlCol="0" anchor="t"/>
          <a:lstStyle/>
          <a:p>
            <a:pPr algn="ctr" indent="0" marL="0">
              <a:lnSpc>
                <a:spcPts val="1839"/>
              </a:lnSpc>
              <a:buNone/>
            </a:pPr>
            <a:r>
              <a:rPr lang="en-US" sz="1600" b="1" dirty="0">
                <a:solidFill>
                  <a:srgbClr val="993300"/>
                </a:solidFill>
                <a:latin typeface="Calibri" pitchFamily="34" charset="0"/>
                <a:ea typeface="Calibri" pitchFamily="34" charset="-122"/>
                <a:cs typeface="Calibri" pitchFamily="34" charset="-120"/>
              </a:rPr>
              <a:t>indexed and retained</a:t>
            </a:r>
            <a:endParaRPr lang="en-US" sz="1600" dirty="0"/>
          </a:p>
        </p:txBody>
      </p:sp>
      <p:sp>
        <p:nvSpPr>
          <p:cNvPr id="48" name="Shape 39"/>
          <p:cNvSpPr/>
          <p:nvPr/>
        </p:nvSpPr>
        <p:spPr>
          <a:xfrm>
            <a:off x="294481" y="3796903"/>
            <a:ext cx="5712619" cy="1450975"/>
          </a:xfrm>
          <a:prstGeom prst="rect">
            <a:avLst/>
          </a:prstGeom>
          <a:solidFill>
            <a:srgbClr val="D6D6EB"/>
          </a:solidFill>
          <a:ln w="12700">
            <a:solidFill>
              <a:srgbClr val="333399"/>
            </a:solidFill>
            <a:prstDash val="solid"/>
          </a:ln>
        </p:spPr>
      </p:sp>
      <p:sp>
        <p:nvSpPr>
          <p:cNvPr id="49" name="Text 40"/>
          <p:cNvSpPr txBox="1"/>
          <p:nvPr/>
        </p:nvSpPr>
        <p:spPr>
          <a:xfrm>
            <a:off x="459581" y="3911203"/>
            <a:ext cx="2373908"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URI exposure surface</a:t>
            </a:r>
            <a:endParaRPr lang="en-US" sz="2000" dirty="0"/>
          </a:p>
        </p:txBody>
      </p:sp>
      <p:sp>
        <p:nvSpPr>
          <p:cNvPr id="50" name="Shape 41"/>
          <p:cNvSpPr/>
          <p:nvPr/>
        </p:nvSpPr>
        <p:spPr>
          <a:xfrm>
            <a:off x="459581" y="4590653"/>
            <a:ext cx="991393" cy="254000"/>
          </a:xfrm>
          <a:prstGeom prst="rect">
            <a:avLst/>
          </a:prstGeom>
          <a:solidFill>
            <a:srgbClr val="FFFFFF"/>
          </a:solidFill>
          <a:ln w="12700">
            <a:solidFill>
              <a:srgbClr val="333399"/>
            </a:solidFill>
            <a:prstDash val="solid"/>
          </a:ln>
        </p:spPr>
      </p:sp>
      <p:sp>
        <p:nvSpPr>
          <p:cNvPr id="51" name="Text 42"/>
          <p:cNvSpPr txBox="1"/>
          <p:nvPr/>
        </p:nvSpPr>
        <p:spPr>
          <a:xfrm>
            <a:off x="459581" y="4266803"/>
            <a:ext cx="5407819" cy="835025"/>
          </a:xfrm>
          <a:prstGeom prst="rect">
            <a:avLst/>
          </a:prstGeom>
          <a:noFill/>
          <a:ln/>
        </p:spPr>
        <p:txBody>
          <a:bodyPr wrap="square" lIns="0" tIns="0" rIns="0" bIns="0" rtlCol="0" anchor="t"/>
          <a:lstStyle/>
          <a:p>
            <a:pPr algn="l" indent="0" marL="0">
              <a:lnSpc>
                <a:spcPts val="2825"/>
              </a:lnSpc>
              <a:buNone/>
            </a:pPr>
            <a:r>
              <a:rPr lang="en-US" sz="1800" dirty="0">
                <a:solidFill>
                  <a:srgbClr val="000000"/>
                </a:solidFill>
                <a:latin typeface="Calibri" pitchFamily="34" charset="0"/>
                <a:ea typeface="Calibri" pitchFamily="34" charset="-122"/>
                <a:cs typeface="Calibri" pitchFamily="34" charset="-120"/>
              </a:rPr>
              <a:t>request line in access logs · history and bookmarks · </a:t>
            </a:r>
            <a:pPr algn="l" indent="0" marL="0">
              <a:lnSpc>
                <a:spcPts val="2825"/>
              </a:lnSpc>
              <a:buNone/>
            </a:pPr>
            <a:r>
              <a:rPr lang="en-US" sz="1620" b="1" dirty="0">
                <a:solidFill>
                  <a:srgbClr val="000000"/>
                </a:solidFill>
                <a:latin typeface="Courier New" pitchFamily="34" charset="0"/>
                <a:ea typeface="Courier New" pitchFamily="34" charset="-122"/>
                <a:cs typeface="Courier New" pitchFamily="34" charset="-120"/>
              </a:rPr>
              <a:t>Referer</a:t>
            </a:r>
            <a:pPr algn="l" indent="0" marL="0">
              <a:lnSpc>
                <a:spcPts val="2825"/>
              </a:lnSpc>
              <a:buNone/>
            </a:pPr>
            <a:r>
              <a:rPr lang="en-US" sz="1800" dirty="0">
                <a:solidFill>
                  <a:srgbClr val="000000"/>
                </a:solidFill>
                <a:latin typeface="Calibri" pitchFamily="34" charset="0"/>
                <a:ea typeface="Calibri" pitchFamily="34" charset="-122"/>
                <a:cs typeface="Calibri" pitchFamily="34" charset="-120"/>
              </a:rPr>
              <a:t> (same-origin, or a relaxed Referrer-Policy) </a:t>
            </a:r>
            <a:pPr algn="l" indent="0" marL="0">
              <a:lnSpc>
                <a:spcPts val="2825"/>
              </a:lnSpc>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9110 §17.9] </a:t>
            </a:r>
            <a:pPr algn="l" indent="0" marL="0">
              <a:lnSpc>
                <a:spcPts val="2825"/>
              </a:lnSpc>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[W3C Referrer Policy]</a:t>
            </a:r>
            <a:endParaRPr lang="en-US" sz="1800" dirty="0"/>
          </a:p>
        </p:txBody>
      </p:sp>
      <p:sp>
        <p:nvSpPr>
          <p:cNvPr id="52" name="Shape 43"/>
          <p:cNvSpPr/>
          <p:nvPr/>
        </p:nvSpPr>
        <p:spPr>
          <a:xfrm>
            <a:off x="6184900" y="3796903"/>
            <a:ext cx="5712619" cy="1450975"/>
          </a:xfrm>
          <a:prstGeom prst="rect">
            <a:avLst/>
          </a:prstGeom>
          <a:solidFill>
            <a:srgbClr val="FFFFFF"/>
          </a:solidFill>
          <a:ln w="12700">
            <a:solidFill>
              <a:srgbClr val="333399"/>
            </a:solidFill>
            <a:prstDash val="solid"/>
          </a:ln>
        </p:spPr>
      </p:sp>
      <p:sp>
        <p:nvSpPr>
          <p:cNvPr id="53" name="Text 44"/>
          <p:cNvSpPr txBox="1"/>
          <p:nvPr/>
        </p:nvSpPr>
        <p:spPr>
          <a:xfrm>
            <a:off x="6350000" y="3911203"/>
            <a:ext cx="373360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Request-content exposure surface</a:t>
            </a:r>
            <a:endParaRPr lang="en-US" sz="2000" dirty="0"/>
          </a:p>
        </p:txBody>
      </p:sp>
      <p:sp>
        <p:nvSpPr>
          <p:cNvPr id="54" name="Text 45"/>
          <p:cNvSpPr txBox="1"/>
          <p:nvPr/>
        </p:nvSpPr>
        <p:spPr>
          <a:xfrm>
            <a:off x="6350000" y="4266803"/>
            <a:ext cx="5501299" cy="850900"/>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body logging and debug capture · WAF / APM inspection · any TLS-terminating intermediary. Less likely to be logged, </a:t>
            </a:r>
            <a:pPr algn="l" indent="0" marL="0">
              <a:lnSpc>
                <a:spcPts val="2251"/>
              </a:lnSpc>
              <a:buNone/>
            </a:pPr>
            <a:r>
              <a:rPr lang="en-US" sz="1800" i="1" dirty="0">
                <a:solidFill>
                  <a:srgbClr val="000000"/>
                </a:solidFill>
                <a:latin typeface="Calibri" pitchFamily="34" charset="0"/>
                <a:ea typeface="Calibri" pitchFamily="34" charset="-122"/>
                <a:cs typeface="Calibri" pitchFamily="34" charset="-120"/>
              </a:rPr>
              <a:t>not never </a:t>
            </a:r>
            <a:pPr algn="l" indent="0" marL="0">
              <a:lnSpc>
                <a:spcPts val="2251"/>
              </a:lnSpc>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6873280"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Open issue: the semantic gap between GET and POST</a:t>
            </a:r>
            <a:endParaRPr lang="en-US" sz="2400" dirty="0"/>
          </a:p>
        </p:txBody>
      </p:sp>
      <p:sp>
        <p:nvSpPr>
          <p:cNvPr id="10" name="Text 7"/>
          <p:cNvSpPr txBox="1"/>
          <p:nvPr/>
        </p:nvSpPr>
        <p:spPr>
          <a:xfrm>
            <a:off x="2238176" y="1539081"/>
            <a:ext cx="2358628" cy="292100"/>
          </a:xfrm>
          <a:prstGeom prst="rect">
            <a:avLst/>
          </a:prstGeom>
          <a:noFill/>
          <a:ln/>
        </p:spPr>
        <p:txBody>
          <a:bodyPr wrap="none" lIns="0" tIns="0" rIns="0" bIns="0" rtlCol="0" anchor="t"/>
          <a:lstStyle/>
          <a:p>
            <a:pPr algn="ctr" indent="0" marL="0">
              <a:buNone/>
            </a:pPr>
            <a:r>
              <a:rPr lang="en-US" sz="1900" dirty="0">
                <a:solidFill>
                  <a:srgbClr val="000000"/>
                </a:solidFill>
                <a:latin typeface="Calibri" pitchFamily="34" charset="0"/>
                <a:ea typeface="Calibri" pitchFamily="34" charset="-122"/>
                <a:cs typeface="Calibri" pitchFamily="34" charset="-120"/>
              </a:rPr>
              <a:t>Query input in the </a:t>
            </a:r>
            <a:pPr algn="ctr" indent="0" marL="0">
              <a:buNone/>
            </a:pPr>
            <a:r>
              <a:rPr lang="en-US" sz="1900" b="1" dirty="0">
                <a:solidFill>
                  <a:srgbClr val="000000"/>
                </a:solidFill>
                <a:latin typeface="Calibri" pitchFamily="34" charset="0"/>
                <a:ea typeface="Calibri" pitchFamily="34" charset="-122"/>
                <a:cs typeface="Calibri" pitchFamily="34" charset="-120"/>
              </a:rPr>
              <a:t>URI</a:t>
            </a:r>
            <a:endParaRPr lang="en-US" sz="1900" dirty="0"/>
          </a:p>
        </p:txBody>
      </p:sp>
      <p:sp>
        <p:nvSpPr>
          <p:cNvPr id="11" name="Text 8"/>
          <p:cNvSpPr txBox="1"/>
          <p:nvPr/>
        </p:nvSpPr>
        <p:spPr>
          <a:xfrm>
            <a:off x="5357019" y="1539081"/>
            <a:ext cx="2770783" cy="292100"/>
          </a:xfrm>
          <a:prstGeom prst="rect">
            <a:avLst/>
          </a:prstGeom>
          <a:noFill/>
          <a:ln/>
        </p:spPr>
        <p:txBody>
          <a:bodyPr wrap="none" lIns="0" tIns="0" rIns="0" bIns="0" rtlCol="0" anchor="t"/>
          <a:lstStyle/>
          <a:p>
            <a:pPr algn="ctr" indent="0" marL="0">
              <a:buNone/>
            </a:pPr>
            <a:r>
              <a:rPr lang="en-US" sz="1900" dirty="0">
                <a:solidFill>
                  <a:srgbClr val="000000"/>
                </a:solidFill>
                <a:latin typeface="Calibri" pitchFamily="34" charset="0"/>
                <a:ea typeface="Calibri" pitchFamily="34" charset="-122"/>
                <a:cs typeface="Calibri" pitchFamily="34" charset="-120"/>
              </a:rPr>
              <a:t>Query input in the </a:t>
            </a:r>
            <a:pPr algn="ctr" indent="0" marL="0">
              <a:buNone/>
            </a:pPr>
            <a:r>
              <a:rPr lang="en-US" sz="1900" b="1" dirty="0">
                <a:solidFill>
                  <a:srgbClr val="000000"/>
                </a:solidFill>
                <a:latin typeface="Calibri" pitchFamily="34" charset="0"/>
                <a:ea typeface="Calibri" pitchFamily="34" charset="-122"/>
                <a:cs typeface="Calibri" pitchFamily="34" charset="-120"/>
              </a:rPr>
              <a:t>content</a:t>
            </a:r>
            <a:endParaRPr lang="en-US" sz="1900" dirty="0"/>
          </a:p>
        </p:txBody>
      </p:sp>
      <p:sp>
        <p:nvSpPr>
          <p:cNvPr id="12" name="Text 9"/>
          <p:cNvSpPr txBox="1"/>
          <p:nvPr/>
        </p:nvSpPr>
        <p:spPr>
          <a:xfrm>
            <a:off x="294481" y="2576711"/>
            <a:ext cx="1422400"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Safe + idempotent</a:t>
            </a:r>
            <a:endParaRPr lang="en-US" sz="1900" dirty="0"/>
          </a:p>
        </p:txBody>
      </p:sp>
      <p:sp>
        <p:nvSpPr>
          <p:cNvPr id="13" name="Shape 10"/>
          <p:cNvSpPr/>
          <p:nvPr/>
        </p:nvSpPr>
        <p:spPr>
          <a:xfrm>
            <a:off x="1818481" y="2002631"/>
            <a:ext cx="3198019" cy="1752600"/>
          </a:xfrm>
          <a:prstGeom prst="rect">
            <a:avLst/>
          </a:prstGeom>
          <a:solidFill>
            <a:srgbClr val="D6D6EB"/>
          </a:solidFill>
          <a:ln w="12700">
            <a:solidFill>
              <a:srgbClr val="333399"/>
            </a:solidFill>
            <a:prstDash val="solid"/>
          </a:ln>
        </p:spPr>
      </p:sp>
      <p:sp>
        <p:nvSpPr>
          <p:cNvPr id="14" name="Shape 11"/>
          <p:cNvSpPr/>
          <p:nvPr/>
        </p:nvSpPr>
        <p:spPr>
          <a:xfrm>
            <a:off x="1983581" y="2374107"/>
            <a:ext cx="609799" cy="304800"/>
          </a:xfrm>
          <a:prstGeom prst="roundRect">
            <a:avLst>
              <a:gd name="adj" fmla="val 12500"/>
            </a:avLst>
          </a:prstGeom>
          <a:solidFill>
            <a:srgbClr val="333399"/>
          </a:solidFill>
          <a:ln/>
        </p:spPr>
      </p:sp>
      <p:sp>
        <p:nvSpPr>
          <p:cNvPr id="15" name="Text 12"/>
          <p:cNvSpPr txBox="1"/>
          <p:nvPr/>
        </p:nvSpPr>
        <p:spPr>
          <a:xfrm>
            <a:off x="2059781" y="2374107"/>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16" name="Text 13"/>
          <p:cNvSpPr txBox="1"/>
          <p:nvPr/>
        </p:nvSpPr>
        <p:spPr>
          <a:xfrm>
            <a:off x="1983581" y="2780507"/>
            <a:ext cx="2934788"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Retrieval; the query is part of the identifier</a:t>
            </a:r>
            <a:endParaRPr lang="en-US" sz="1900" dirty="0"/>
          </a:p>
        </p:txBody>
      </p:sp>
      <p:sp>
        <p:nvSpPr>
          <p:cNvPr id="17" name="Shape 14"/>
          <p:cNvSpPr/>
          <p:nvPr/>
        </p:nvSpPr>
        <p:spPr>
          <a:xfrm>
            <a:off x="5143500" y="2002631"/>
            <a:ext cx="3198019" cy="1752600"/>
          </a:xfrm>
          <a:prstGeom prst="rect">
            <a:avLst/>
          </a:prstGeom>
          <a:solidFill>
            <a:srgbClr val="FFFFFF"/>
          </a:solidFill>
          <a:ln w="25400">
            <a:solidFill>
              <a:srgbClr val="CC6600"/>
            </a:solidFill>
            <a:prstDash val="dash"/>
          </a:ln>
        </p:spPr>
      </p:sp>
      <p:sp>
        <p:nvSpPr>
          <p:cNvPr id="18" name="Text 15"/>
          <p:cNvSpPr txBox="1"/>
          <p:nvPr/>
        </p:nvSpPr>
        <p:spPr>
          <a:xfrm>
            <a:off x="6530776" y="2370931"/>
            <a:ext cx="423267" cy="711200"/>
          </a:xfrm>
          <a:prstGeom prst="rect">
            <a:avLst/>
          </a:prstGeom>
          <a:noFill/>
          <a:ln/>
        </p:spPr>
        <p:txBody>
          <a:bodyPr wrap="none" lIns="0" tIns="0" rIns="0" bIns="0" rtlCol="0" anchor="t"/>
          <a:lstStyle/>
          <a:p>
            <a:pPr algn="ctr" indent="0" marL="0">
              <a:buNone/>
            </a:pPr>
            <a:r>
              <a:rPr lang="en-US" sz="4600" b="1" dirty="0">
                <a:solidFill>
                  <a:srgbClr val="CC6600"/>
                </a:solidFill>
                <a:latin typeface="Calibri" pitchFamily="34" charset="0"/>
                <a:ea typeface="Calibri" pitchFamily="34" charset="-122"/>
                <a:cs typeface="Calibri" pitchFamily="34" charset="-120"/>
              </a:rPr>
              <a:t>?</a:t>
            </a:r>
            <a:endParaRPr lang="en-US" sz="4600" dirty="0"/>
          </a:p>
        </p:txBody>
      </p:sp>
      <p:sp>
        <p:nvSpPr>
          <p:cNvPr id="19" name="Text 16"/>
          <p:cNvSpPr txBox="1"/>
          <p:nvPr/>
        </p:nvSpPr>
        <p:spPr>
          <a:xfrm>
            <a:off x="5699324" y="3069431"/>
            <a:ext cx="2086173" cy="279400"/>
          </a:xfrm>
          <a:prstGeom prst="rect">
            <a:avLst/>
          </a:prstGeom>
          <a:noFill/>
          <a:ln/>
        </p:spPr>
        <p:txBody>
          <a:bodyPr wrap="none" lIns="0" tIns="0" rIns="0" bIns="0" rtlCol="0" anchor="t"/>
          <a:lstStyle/>
          <a:p>
            <a:pPr algn="ctr" indent="0" marL="0">
              <a:buNone/>
            </a:pPr>
            <a:r>
              <a:rPr lang="en-US" sz="1800" b="1" dirty="0">
                <a:solidFill>
                  <a:srgbClr val="CC6600"/>
                </a:solidFill>
                <a:latin typeface="Calibri" pitchFamily="34" charset="0"/>
                <a:ea typeface="Calibri" pitchFamily="34" charset="-122"/>
                <a:cs typeface="Calibri" pitchFamily="34" charset="-120"/>
              </a:rPr>
              <a:t>no standard method</a:t>
            </a:r>
            <a:endParaRPr lang="en-US" sz="1800" dirty="0"/>
          </a:p>
        </p:txBody>
      </p:sp>
      <p:sp>
        <p:nvSpPr>
          <p:cNvPr id="20" name="Text 17"/>
          <p:cNvSpPr txBox="1"/>
          <p:nvPr/>
        </p:nvSpPr>
        <p:spPr>
          <a:xfrm>
            <a:off x="294481" y="4311452"/>
            <a:ext cx="1422400" cy="87114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Unsafe / general processing</a:t>
            </a:r>
            <a:endParaRPr lang="en-US" sz="1900" dirty="0"/>
          </a:p>
        </p:txBody>
      </p:sp>
      <p:sp>
        <p:nvSpPr>
          <p:cNvPr id="21" name="Shape 18"/>
          <p:cNvSpPr/>
          <p:nvPr/>
        </p:nvSpPr>
        <p:spPr>
          <a:xfrm>
            <a:off x="1818481" y="3882231"/>
            <a:ext cx="3198019" cy="1752600"/>
          </a:xfrm>
          <a:prstGeom prst="rect">
            <a:avLst/>
          </a:prstGeom>
          <a:solidFill>
            <a:srgbClr val="FFFFFF"/>
          </a:solidFill>
          <a:ln w="12700">
            <a:solidFill>
              <a:srgbClr val="333399"/>
            </a:solidFill>
            <a:prstDash val="solid"/>
          </a:ln>
        </p:spPr>
      </p:sp>
      <p:sp>
        <p:nvSpPr>
          <p:cNvPr id="22" name="Shape 19"/>
          <p:cNvSpPr/>
          <p:nvPr/>
        </p:nvSpPr>
        <p:spPr>
          <a:xfrm>
            <a:off x="1983581" y="4106863"/>
            <a:ext cx="2867819" cy="296664"/>
          </a:xfrm>
          <a:prstGeom prst="rect">
            <a:avLst/>
          </a:prstGeom>
          <a:solidFill>
            <a:srgbClr val="FFFFFF"/>
          </a:solidFill>
          <a:ln w="12700">
            <a:solidFill>
              <a:srgbClr val="333399"/>
            </a:solidFill>
            <a:prstDash val="solid"/>
          </a:ln>
        </p:spPr>
      </p:sp>
      <p:sp>
        <p:nvSpPr>
          <p:cNvPr id="23" name="Text 20"/>
          <p:cNvSpPr txBox="1"/>
          <p:nvPr/>
        </p:nvSpPr>
        <p:spPr>
          <a:xfrm>
            <a:off x="2047081" y="4132263"/>
            <a:ext cx="2628701" cy="241300"/>
          </a:xfrm>
          <a:prstGeom prst="rect">
            <a:avLst/>
          </a:prstGeom>
          <a:noFill/>
          <a:ln/>
        </p:spPr>
        <p:txBody>
          <a:bodyPr wrap="none" lIns="0" tIns="0" rIns="0" bIns="0" rtlCol="0" anchor="t"/>
          <a:lstStyle/>
          <a:p>
            <a:pPr algn="l" indent="0" marL="0">
              <a:buNone/>
            </a:pPr>
            <a:r>
              <a:rPr lang="en-US" sz="1711" b="1" dirty="0">
                <a:solidFill>
                  <a:srgbClr val="000000"/>
                </a:solidFill>
                <a:latin typeface="Courier New" pitchFamily="34" charset="0"/>
                <a:ea typeface="Courier New" pitchFamily="34" charset="-122"/>
                <a:cs typeface="Courier New" pitchFamily="34" charset="-120"/>
              </a:rPr>
              <a:t>GET /page?do=delete</a:t>
            </a:r>
            <a:endParaRPr lang="en-US" sz="1711" dirty="0"/>
          </a:p>
        </p:txBody>
      </p:sp>
      <p:sp>
        <p:nvSpPr>
          <p:cNvPr id="24" name="Text 21"/>
          <p:cNvSpPr txBox="1"/>
          <p:nvPr/>
        </p:nvSpPr>
        <p:spPr>
          <a:xfrm>
            <a:off x="1983581" y="4505127"/>
            <a:ext cx="2893219"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Anti-pattern: owner MUST disallow unsafe actions via safe methods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25" name="Shape 22"/>
          <p:cNvSpPr/>
          <p:nvPr/>
        </p:nvSpPr>
        <p:spPr>
          <a:xfrm>
            <a:off x="5143500" y="3882231"/>
            <a:ext cx="3198019" cy="1752600"/>
          </a:xfrm>
          <a:prstGeom prst="rect">
            <a:avLst/>
          </a:prstGeom>
          <a:solidFill>
            <a:srgbClr val="FFFFFF"/>
          </a:solidFill>
          <a:ln w="25400">
            <a:solidFill>
              <a:srgbClr val="993300"/>
            </a:solidFill>
            <a:prstDash val="solid"/>
          </a:ln>
        </p:spPr>
      </p:sp>
      <p:sp>
        <p:nvSpPr>
          <p:cNvPr id="26" name="Shape 23"/>
          <p:cNvSpPr/>
          <p:nvPr/>
        </p:nvSpPr>
        <p:spPr>
          <a:xfrm>
            <a:off x="5321300" y="4253707"/>
            <a:ext cx="762199" cy="304800"/>
          </a:xfrm>
          <a:prstGeom prst="roundRect">
            <a:avLst>
              <a:gd name="adj" fmla="val 12500"/>
            </a:avLst>
          </a:prstGeom>
          <a:solidFill>
            <a:srgbClr val="993300"/>
          </a:solidFill>
          <a:ln/>
        </p:spPr>
      </p:sp>
      <p:sp>
        <p:nvSpPr>
          <p:cNvPr id="27" name="Text 24"/>
          <p:cNvSpPr txBox="1"/>
          <p:nvPr/>
        </p:nvSpPr>
        <p:spPr>
          <a:xfrm>
            <a:off x="5397500" y="4253707"/>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8" name="Text 25"/>
          <p:cNvSpPr txBox="1"/>
          <p:nvPr/>
        </p:nvSpPr>
        <p:spPr>
          <a:xfrm>
            <a:off x="5321300" y="4660107"/>
            <a:ext cx="2876899"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Resource-specific processing of the content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§9.3.3]</a:t>
            </a:r>
            <a:endParaRPr lang="en-US" sz="1900" dirty="0"/>
          </a:p>
        </p:txBody>
      </p:sp>
      <p:sp>
        <p:nvSpPr>
          <p:cNvPr id="29" name="Shape 26"/>
          <p:cNvSpPr/>
          <p:nvPr/>
        </p:nvSpPr>
        <p:spPr>
          <a:xfrm>
            <a:off x="8595519" y="1513681"/>
            <a:ext cx="3302000" cy="1796256"/>
          </a:xfrm>
          <a:prstGeom prst="rect">
            <a:avLst/>
          </a:prstGeom>
          <a:solidFill>
            <a:srgbClr val="FFFFFF"/>
          </a:solidFill>
          <a:ln w="12700">
            <a:solidFill>
              <a:srgbClr val="333399"/>
            </a:solidFill>
            <a:prstDash val="solid"/>
          </a:ln>
        </p:spPr>
      </p:sp>
      <p:sp>
        <p:nvSpPr>
          <p:cNvPr id="30" name="Text 27"/>
          <p:cNvSpPr txBox="1"/>
          <p:nvPr/>
        </p:nvSpPr>
        <p:spPr>
          <a:xfrm>
            <a:off x="8747919" y="1627981"/>
            <a:ext cx="3022600" cy="1546225"/>
          </a:xfrm>
          <a:prstGeom prst="rect">
            <a:avLst/>
          </a:prstGeom>
          <a:noFill/>
          <a:ln/>
        </p:spPr>
        <p:txBody>
          <a:bodyPr wrap="square" lIns="0" tIns="0" rIns="0" bIns="0" rtlCol="0" anchor="t"/>
          <a:lstStyle/>
          <a:p>
            <a:pPr algn="l" indent="0" marL="0">
              <a:lnSpc>
                <a:spcPts val="2469"/>
              </a:lnSpc>
              <a:buNone/>
            </a:pPr>
            <a:r>
              <a:rPr lang="en-US" sz="1900" i="1" dirty="0">
                <a:solidFill>
                  <a:srgbClr val="000000"/>
                </a:solidFill>
                <a:latin typeface="Calibri" pitchFamily="34" charset="0"/>
                <a:ea typeface="Calibri" pitchFamily="34" charset="-122"/>
                <a:cs typeface="Calibri" pitchFamily="34" charset="-120"/>
              </a:rPr>
              <a:t>Using POST for a query “hinders caching and uses an unsafe method for what would otherwise be a safe request.” </a:t>
            </a:r>
            <a:pPr algn="l" indent="0" marL="0">
              <a:lnSpc>
                <a:spcPts val="2469"/>
              </a:lnSpc>
              <a:buNone/>
            </a:pPr>
            <a:r>
              <a:rPr lang="en-US" sz="1300" i="1"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§17.9]</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6873280"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Open issue: the semantic gap between GET and POST</a:t>
            </a:r>
            <a:endParaRPr lang="en-US" sz="2400" dirty="0"/>
          </a:p>
        </p:txBody>
      </p:sp>
      <p:sp>
        <p:nvSpPr>
          <p:cNvPr id="10" name="Text 7"/>
          <p:cNvSpPr txBox="1"/>
          <p:nvPr/>
        </p:nvSpPr>
        <p:spPr>
          <a:xfrm>
            <a:off x="2238176" y="1539081"/>
            <a:ext cx="2358628" cy="292100"/>
          </a:xfrm>
          <a:prstGeom prst="rect">
            <a:avLst/>
          </a:prstGeom>
          <a:noFill/>
          <a:ln/>
        </p:spPr>
        <p:txBody>
          <a:bodyPr wrap="none" lIns="0" tIns="0" rIns="0" bIns="0" rtlCol="0" anchor="t"/>
          <a:lstStyle/>
          <a:p>
            <a:pPr algn="ctr" indent="0" marL="0">
              <a:buNone/>
            </a:pPr>
            <a:r>
              <a:rPr lang="en-US" sz="1900" dirty="0">
                <a:solidFill>
                  <a:srgbClr val="000000"/>
                </a:solidFill>
                <a:latin typeface="Calibri" pitchFamily="34" charset="0"/>
                <a:ea typeface="Calibri" pitchFamily="34" charset="-122"/>
                <a:cs typeface="Calibri" pitchFamily="34" charset="-120"/>
              </a:rPr>
              <a:t>Query input in the </a:t>
            </a:r>
            <a:pPr algn="ctr" indent="0" marL="0">
              <a:buNone/>
            </a:pPr>
            <a:r>
              <a:rPr lang="en-US" sz="1900" b="1" dirty="0">
                <a:solidFill>
                  <a:srgbClr val="000000"/>
                </a:solidFill>
                <a:latin typeface="Calibri" pitchFamily="34" charset="0"/>
                <a:ea typeface="Calibri" pitchFamily="34" charset="-122"/>
                <a:cs typeface="Calibri" pitchFamily="34" charset="-120"/>
              </a:rPr>
              <a:t>URI</a:t>
            </a:r>
            <a:endParaRPr lang="en-US" sz="1900" dirty="0"/>
          </a:p>
        </p:txBody>
      </p:sp>
      <p:sp>
        <p:nvSpPr>
          <p:cNvPr id="11" name="Text 8"/>
          <p:cNvSpPr txBox="1"/>
          <p:nvPr/>
        </p:nvSpPr>
        <p:spPr>
          <a:xfrm>
            <a:off x="5357019" y="1539081"/>
            <a:ext cx="2770783" cy="292100"/>
          </a:xfrm>
          <a:prstGeom prst="rect">
            <a:avLst/>
          </a:prstGeom>
          <a:noFill/>
          <a:ln/>
        </p:spPr>
        <p:txBody>
          <a:bodyPr wrap="none" lIns="0" tIns="0" rIns="0" bIns="0" rtlCol="0" anchor="t"/>
          <a:lstStyle/>
          <a:p>
            <a:pPr algn="ctr" indent="0" marL="0">
              <a:buNone/>
            </a:pPr>
            <a:r>
              <a:rPr lang="en-US" sz="1900" dirty="0">
                <a:solidFill>
                  <a:srgbClr val="000000"/>
                </a:solidFill>
                <a:latin typeface="Calibri" pitchFamily="34" charset="0"/>
                <a:ea typeface="Calibri" pitchFamily="34" charset="-122"/>
                <a:cs typeface="Calibri" pitchFamily="34" charset="-120"/>
              </a:rPr>
              <a:t>Query input in the </a:t>
            </a:r>
            <a:pPr algn="ctr" indent="0" marL="0">
              <a:buNone/>
            </a:pPr>
            <a:r>
              <a:rPr lang="en-US" sz="1900" b="1" dirty="0">
                <a:solidFill>
                  <a:srgbClr val="000000"/>
                </a:solidFill>
                <a:latin typeface="Calibri" pitchFamily="34" charset="0"/>
                <a:ea typeface="Calibri" pitchFamily="34" charset="-122"/>
                <a:cs typeface="Calibri" pitchFamily="34" charset="-120"/>
              </a:rPr>
              <a:t>content</a:t>
            </a:r>
            <a:endParaRPr lang="en-US" sz="1900" dirty="0"/>
          </a:p>
        </p:txBody>
      </p:sp>
      <p:sp>
        <p:nvSpPr>
          <p:cNvPr id="12" name="Text 9"/>
          <p:cNvSpPr txBox="1"/>
          <p:nvPr/>
        </p:nvSpPr>
        <p:spPr>
          <a:xfrm>
            <a:off x="294481" y="2576711"/>
            <a:ext cx="1422400"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Safe + idempotent</a:t>
            </a:r>
            <a:endParaRPr lang="en-US" sz="1900" dirty="0"/>
          </a:p>
        </p:txBody>
      </p:sp>
      <p:sp>
        <p:nvSpPr>
          <p:cNvPr id="13" name="Shape 10"/>
          <p:cNvSpPr/>
          <p:nvPr/>
        </p:nvSpPr>
        <p:spPr>
          <a:xfrm>
            <a:off x="1818481" y="2002631"/>
            <a:ext cx="3198019" cy="1752600"/>
          </a:xfrm>
          <a:prstGeom prst="rect">
            <a:avLst/>
          </a:prstGeom>
          <a:solidFill>
            <a:srgbClr val="D6D6EB"/>
          </a:solidFill>
          <a:ln w="12700">
            <a:solidFill>
              <a:srgbClr val="333399"/>
            </a:solidFill>
            <a:prstDash val="solid"/>
          </a:ln>
        </p:spPr>
      </p:sp>
      <p:sp>
        <p:nvSpPr>
          <p:cNvPr id="14" name="Shape 11"/>
          <p:cNvSpPr/>
          <p:nvPr/>
        </p:nvSpPr>
        <p:spPr>
          <a:xfrm>
            <a:off x="1983581" y="2374107"/>
            <a:ext cx="609799" cy="304800"/>
          </a:xfrm>
          <a:prstGeom prst="roundRect">
            <a:avLst>
              <a:gd name="adj" fmla="val 12500"/>
            </a:avLst>
          </a:prstGeom>
          <a:solidFill>
            <a:srgbClr val="333399"/>
          </a:solidFill>
          <a:ln/>
        </p:spPr>
      </p:sp>
      <p:sp>
        <p:nvSpPr>
          <p:cNvPr id="15" name="Text 12"/>
          <p:cNvSpPr txBox="1"/>
          <p:nvPr/>
        </p:nvSpPr>
        <p:spPr>
          <a:xfrm>
            <a:off x="2059781" y="2374107"/>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16" name="Text 13"/>
          <p:cNvSpPr txBox="1"/>
          <p:nvPr/>
        </p:nvSpPr>
        <p:spPr>
          <a:xfrm>
            <a:off x="1983581" y="2780507"/>
            <a:ext cx="2934788"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Retrieval; the query is part of the identifier</a:t>
            </a:r>
            <a:endParaRPr lang="en-US" sz="1900" dirty="0"/>
          </a:p>
        </p:txBody>
      </p:sp>
      <p:sp>
        <p:nvSpPr>
          <p:cNvPr id="17" name="Shape 14"/>
          <p:cNvSpPr/>
          <p:nvPr/>
        </p:nvSpPr>
        <p:spPr>
          <a:xfrm>
            <a:off x="5143500" y="2002631"/>
            <a:ext cx="3198019" cy="1752600"/>
          </a:xfrm>
          <a:prstGeom prst="rect">
            <a:avLst/>
          </a:prstGeom>
          <a:solidFill>
            <a:srgbClr val="FFFFFF"/>
          </a:solidFill>
          <a:ln w="25400">
            <a:solidFill>
              <a:srgbClr val="CC6600"/>
            </a:solidFill>
            <a:prstDash val="solid"/>
          </a:ln>
        </p:spPr>
      </p:sp>
      <p:sp>
        <p:nvSpPr>
          <p:cNvPr id="18" name="Shape 15"/>
          <p:cNvSpPr/>
          <p:nvPr/>
        </p:nvSpPr>
        <p:spPr>
          <a:xfrm>
            <a:off x="5321300" y="2374107"/>
            <a:ext cx="914599" cy="304800"/>
          </a:xfrm>
          <a:prstGeom prst="roundRect">
            <a:avLst>
              <a:gd name="adj" fmla="val 12500"/>
            </a:avLst>
          </a:prstGeom>
          <a:solidFill>
            <a:srgbClr val="CC6600"/>
          </a:solidFill>
          <a:ln/>
        </p:spPr>
      </p:sp>
      <p:sp>
        <p:nvSpPr>
          <p:cNvPr id="19" name="Text 16"/>
          <p:cNvSpPr txBox="1"/>
          <p:nvPr/>
        </p:nvSpPr>
        <p:spPr>
          <a:xfrm>
            <a:off x="5397500" y="2374107"/>
            <a:ext cx="9145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QUERY</a:t>
            </a:r>
            <a:endParaRPr lang="en-US" sz="2000" dirty="0"/>
          </a:p>
        </p:txBody>
      </p:sp>
      <p:sp>
        <p:nvSpPr>
          <p:cNvPr id="20" name="Text 17"/>
          <p:cNvSpPr txBox="1"/>
          <p:nvPr/>
        </p:nvSpPr>
        <p:spPr>
          <a:xfrm>
            <a:off x="5321300" y="2780507"/>
            <a:ext cx="2909689"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Safe, idempotent query carried as content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a:t>
            </a:r>
            <a:endParaRPr lang="en-US" sz="1900" dirty="0"/>
          </a:p>
        </p:txBody>
      </p:sp>
      <p:sp>
        <p:nvSpPr>
          <p:cNvPr id="21" name="Text 18"/>
          <p:cNvSpPr txBox="1"/>
          <p:nvPr/>
        </p:nvSpPr>
        <p:spPr>
          <a:xfrm>
            <a:off x="294481" y="4311452"/>
            <a:ext cx="1422400" cy="87114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Unsafe / general processing</a:t>
            </a:r>
            <a:endParaRPr lang="en-US" sz="1900" dirty="0"/>
          </a:p>
        </p:txBody>
      </p:sp>
      <p:sp>
        <p:nvSpPr>
          <p:cNvPr id="22" name="Shape 19"/>
          <p:cNvSpPr/>
          <p:nvPr/>
        </p:nvSpPr>
        <p:spPr>
          <a:xfrm>
            <a:off x="1818481" y="3882231"/>
            <a:ext cx="3198019" cy="1752600"/>
          </a:xfrm>
          <a:prstGeom prst="rect">
            <a:avLst/>
          </a:prstGeom>
          <a:solidFill>
            <a:srgbClr val="FFFFFF"/>
          </a:solidFill>
          <a:ln w="12700">
            <a:solidFill>
              <a:srgbClr val="333399"/>
            </a:solidFill>
            <a:prstDash val="solid"/>
          </a:ln>
        </p:spPr>
      </p:sp>
      <p:sp>
        <p:nvSpPr>
          <p:cNvPr id="23" name="Shape 20"/>
          <p:cNvSpPr/>
          <p:nvPr/>
        </p:nvSpPr>
        <p:spPr>
          <a:xfrm>
            <a:off x="1983581" y="4106863"/>
            <a:ext cx="2867819" cy="296664"/>
          </a:xfrm>
          <a:prstGeom prst="rect">
            <a:avLst/>
          </a:prstGeom>
          <a:solidFill>
            <a:srgbClr val="FFFFFF"/>
          </a:solidFill>
          <a:ln w="12700">
            <a:solidFill>
              <a:srgbClr val="333399"/>
            </a:solidFill>
            <a:prstDash val="solid"/>
          </a:ln>
        </p:spPr>
      </p:sp>
      <p:sp>
        <p:nvSpPr>
          <p:cNvPr id="24" name="Text 21"/>
          <p:cNvSpPr txBox="1"/>
          <p:nvPr/>
        </p:nvSpPr>
        <p:spPr>
          <a:xfrm>
            <a:off x="2047081" y="4132263"/>
            <a:ext cx="2628701" cy="241300"/>
          </a:xfrm>
          <a:prstGeom prst="rect">
            <a:avLst/>
          </a:prstGeom>
          <a:noFill/>
          <a:ln/>
        </p:spPr>
        <p:txBody>
          <a:bodyPr wrap="none" lIns="0" tIns="0" rIns="0" bIns="0" rtlCol="0" anchor="t"/>
          <a:lstStyle/>
          <a:p>
            <a:pPr algn="l" indent="0" marL="0">
              <a:buNone/>
            </a:pPr>
            <a:r>
              <a:rPr lang="en-US" sz="1711" b="1" dirty="0">
                <a:solidFill>
                  <a:srgbClr val="000000"/>
                </a:solidFill>
                <a:latin typeface="Courier New" pitchFamily="34" charset="0"/>
                <a:ea typeface="Courier New" pitchFamily="34" charset="-122"/>
                <a:cs typeface="Courier New" pitchFamily="34" charset="-120"/>
              </a:rPr>
              <a:t>GET /page?do=delete</a:t>
            </a:r>
            <a:endParaRPr lang="en-US" sz="1711" dirty="0"/>
          </a:p>
        </p:txBody>
      </p:sp>
      <p:sp>
        <p:nvSpPr>
          <p:cNvPr id="25" name="Text 22"/>
          <p:cNvSpPr txBox="1"/>
          <p:nvPr/>
        </p:nvSpPr>
        <p:spPr>
          <a:xfrm>
            <a:off x="1983581" y="4505127"/>
            <a:ext cx="2893219"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Anti-pattern: owner MUST disallow unsafe actions via safe methods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26" name="Shape 23"/>
          <p:cNvSpPr/>
          <p:nvPr/>
        </p:nvSpPr>
        <p:spPr>
          <a:xfrm>
            <a:off x="5143500" y="3882231"/>
            <a:ext cx="3198019" cy="1752600"/>
          </a:xfrm>
          <a:prstGeom prst="rect">
            <a:avLst/>
          </a:prstGeom>
          <a:solidFill>
            <a:srgbClr val="FFFFFF"/>
          </a:solidFill>
          <a:ln w="25400">
            <a:solidFill>
              <a:srgbClr val="993300"/>
            </a:solidFill>
            <a:prstDash val="solid"/>
          </a:ln>
        </p:spPr>
      </p:sp>
      <p:sp>
        <p:nvSpPr>
          <p:cNvPr id="27" name="Shape 24"/>
          <p:cNvSpPr/>
          <p:nvPr/>
        </p:nvSpPr>
        <p:spPr>
          <a:xfrm>
            <a:off x="5321300" y="4253707"/>
            <a:ext cx="762199" cy="304800"/>
          </a:xfrm>
          <a:prstGeom prst="roundRect">
            <a:avLst>
              <a:gd name="adj" fmla="val 12500"/>
            </a:avLst>
          </a:prstGeom>
          <a:solidFill>
            <a:srgbClr val="993300"/>
          </a:solidFill>
          <a:ln/>
        </p:spPr>
      </p:sp>
      <p:sp>
        <p:nvSpPr>
          <p:cNvPr id="28" name="Text 25"/>
          <p:cNvSpPr txBox="1"/>
          <p:nvPr/>
        </p:nvSpPr>
        <p:spPr>
          <a:xfrm>
            <a:off x="5397500" y="4253707"/>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9" name="Text 26"/>
          <p:cNvSpPr txBox="1"/>
          <p:nvPr/>
        </p:nvSpPr>
        <p:spPr>
          <a:xfrm>
            <a:off x="5321300" y="4660107"/>
            <a:ext cx="2876899"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Resource-specific processing of the content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§9.3.3]</a:t>
            </a:r>
            <a:endParaRPr lang="en-US" sz="1900" dirty="0"/>
          </a:p>
        </p:txBody>
      </p:sp>
      <p:sp>
        <p:nvSpPr>
          <p:cNvPr id="30" name="Shape 27"/>
          <p:cNvSpPr/>
          <p:nvPr/>
        </p:nvSpPr>
        <p:spPr>
          <a:xfrm>
            <a:off x="8595519" y="1513681"/>
            <a:ext cx="3302000" cy="1796256"/>
          </a:xfrm>
          <a:prstGeom prst="rect">
            <a:avLst/>
          </a:prstGeom>
          <a:solidFill>
            <a:srgbClr val="FFFFFF"/>
          </a:solidFill>
          <a:ln w="12700">
            <a:solidFill>
              <a:srgbClr val="333399"/>
            </a:solidFill>
            <a:prstDash val="solid"/>
          </a:ln>
        </p:spPr>
      </p:sp>
      <p:sp>
        <p:nvSpPr>
          <p:cNvPr id="31" name="Text 28"/>
          <p:cNvSpPr txBox="1"/>
          <p:nvPr/>
        </p:nvSpPr>
        <p:spPr>
          <a:xfrm>
            <a:off x="8747919" y="1627981"/>
            <a:ext cx="3022600" cy="1546225"/>
          </a:xfrm>
          <a:prstGeom prst="rect">
            <a:avLst/>
          </a:prstGeom>
          <a:noFill/>
          <a:ln/>
        </p:spPr>
        <p:txBody>
          <a:bodyPr wrap="square" lIns="0" tIns="0" rIns="0" bIns="0" rtlCol="0" anchor="t"/>
          <a:lstStyle/>
          <a:p>
            <a:pPr algn="l" indent="0" marL="0">
              <a:lnSpc>
                <a:spcPts val="2469"/>
              </a:lnSpc>
              <a:buNone/>
            </a:pPr>
            <a:r>
              <a:rPr lang="en-US" sz="1900" i="1" dirty="0">
                <a:solidFill>
                  <a:srgbClr val="000000"/>
                </a:solidFill>
                <a:latin typeface="Calibri" pitchFamily="34" charset="0"/>
                <a:ea typeface="Calibri" pitchFamily="34" charset="-122"/>
                <a:cs typeface="Calibri" pitchFamily="34" charset="-120"/>
              </a:rPr>
              <a:t>Using POST for a query “hinders caching and uses an unsafe method for what would otherwise be a safe request.” </a:t>
            </a:r>
            <a:pPr algn="l" indent="0" marL="0">
              <a:lnSpc>
                <a:spcPts val="2469"/>
              </a:lnSpc>
              <a:buNone/>
            </a:pPr>
            <a:r>
              <a:rPr lang="en-US" sz="1300" i="1"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9110 §17.9]</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6873280"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Open issue: the semantic gap between GET and POST</a:t>
            </a:r>
            <a:endParaRPr lang="en-US" sz="2400" dirty="0"/>
          </a:p>
        </p:txBody>
      </p:sp>
      <p:sp>
        <p:nvSpPr>
          <p:cNvPr id="10" name="Text 7"/>
          <p:cNvSpPr txBox="1"/>
          <p:nvPr/>
        </p:nvSpPr>
        <p:spPr>
          <a:xfrm>
            <a:off x="2238176" y="1539081"/>
            <a:ext cx="2358628" cy="292100"/>
          </a:xfrm>
          <a:prstGeom prst="rect">
            <a:avLst/>
          </a:prstGeom>
          <a:noFill/>
          <a:ln/>
        </p:spPr>
        <p:txBody>
          <a:bodyPr wrap="none" lIns="0" tIns="0" rIns="0" bIns="0" rtlCol="0" anchor="t"/>
          <a:lstStyle/>
          <a:p>
            <a:pPr algn="ctr" indent="0" marL="0">
              <a:buNone/>
            </a:pPr>
            <a:r>
              <a:rPr lang="en-US" sz="1900" dirty="0">
                <a:solidFill>
                  <a:srgbClr val="000000"/>
                </a:solidFill>
                <a:latin typeface="Calibri" pitchFamily="34" charset="0"/>
                <a:ea typeface="Calibri" pitchFamily="34" charset="-122"/>
                <a:cs typeface="Calibri" pitchFamily="34" charset="-120"/>
              </a:rPr>
              <a:t>Query input in the </a:t>
            </a:r>
            <a:pPr algn="ctr" indent="0" marL="0">
              <a:buNone/>
            </a:pPr>
            <a:r>
              <a:rPr lang="en-US" sz="1900" b="1" dirty="0">
                <a:solidFill>
                  <a:srgbClr val="000000"/>
                </a:solidFill>
                <a:latin typeface="Calibri" pitchFamily="34" charset="0"/>
                <a:ea typeface="Calibri" pitchFamily="34" charset="-122"/>
                <a:cs typeface="Calibri" pitchFamily="34" charset="-120"/>
              </a:rPr>
              <a:t>URI</a:t>
            </a:r>
            <a:endParaRPr lang="en-US" sz="1900" dirty="0"/>
          </a:p>
        </p:txBody>
      </p:sp>
      <p:sp>
        <p:nvSpPr>
          <p:cNvPr id="11" name="Text 8"/>
          <p:cNvSpPr txBox="1"/>
          <p:nvPr/>
        </p:nvSpPr>
        <p:spPr>
          <a:xfrm>
            <a:off x="5357019" y="1539081"/>
            <a:ext cx="2770783" cy="292100"/>
          </a:xfrm>
          <a:prstGeom prst="rect">
            <a:avLst/>
          </a:prstGeom>
          <a:noFill/>
          <a:ln/>
        </p:spPr>
        <p:txBody>
          <a:bodyPr wrap="none" lIns="0" tIns="0" rIns="0" bIns="0" rtlCol="0" anchor="t"/>
          <a:lstStyle/>
          <a:p>
            <a:pPr algn="ctr" indent="0" marL="0">
              <a:buNone/>
            </a:pPr>
            <a:r>
              <a:rPr lang="en-US" sz="1900" dirty="0">
                <a:solidFill>
                  <a:srgbClr val="000000"/>
                </a:solidFill>
                <a:latin typeface="Calibri" pitchFamily="34" charset="0"/>
                <a:ea typeface="Calibri" pitchFamily="34" charset="-122"/>
                <a:cs typeface="Calibri" pitchFamily="34" charset="-120"/>
              </a:rPr>
              <a:t>Query input in the </a:t>
            </a:r>
            <a:pPr algn="ctr" indent="0" marL="0">
              <a:buNone/>
            </a:pPr>
            <a:r>
              <a:rPr lang="en-US" sz="1900" b="1" dirty="0">
                <a:solidFill>
                  <a:srgbClr val="000000"/>
                </a:solidFill>
                <a:latin typeface="Calibri" pitchFamily="34" charset="0"/>
                <a:ea typeface="Calibri" pitchFamily="34" charset="-122"/>
                <a:cs typeface="Calibri" pitchFamily="34" charset="-120"/>
              </a:rPr>
              <a:t>content</a:t>
            </a:r>
            <a:endParaRPr lang="en-US" sz="1900" dirty="0"/>
          </a:p>
        </p:txBody>
      </p:sp>
      <p:sp>
        <p:nvSpPr>
          <p:cNvPr id="12" name="Text 9"/>
          <p:cNvSpPr txBox="1"/>
          <p:nvPr/>
        </p:nvSpPr>
        <p:spPr>
          <a:xfrm>
            <a:off x="294481" y="2576711"/>
            <a:ext cx="1422400"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Safe + idempotent</a:t>
            </a:r>
            <a:endParaRPr lang="en-US" sz="1900" dirty="0"/>
          </a:p>
        </p:txBody>
      </p:sp>
      <p:sp>
        <p:nvSpPr>
          <p:cNvPr id="13" name="Shape 10"/>
          <p:cNvSpPr/>
          <p:nvPr/>
        </p:nvSpPr>
        <p:spPr>
          <a:xfrm>
            <a:off x="1818481" y="2002631"/>
            <a:ext cx="3198019" cy="1752600"/>
          </a:xfrm>
          <a:prstGeom prst="rect">
            <a:avLst/>
          </a:prstGeom>
          <a:solidFill>
            <a:srgbClr val="D6D6EB"/>
          </a:solidFill>
          <a:ln w="12700">
            <a:solidFill>
              <a:srgbClr val="333399"/>
            </a:solidFill>
            <a:prstDash val="solid"/>
          </a:ln>
        </p:spPr>
      </p:sp>
      <p:sp>
        <p:nvSpPr>
          <p:cNvPr id="14" name="Shape 11"/>
          <p:cNvSpPr/>
          <p:nvPr/>
        </p:nvSpPr>
        <p:spPr>
          <a:xfrm>
            <a:off x="1983581" y="2374107"/>
            <a:ext cx="609799" cy="304800"/>
          </a:xfrm>
          <a:prstGeom prst="roundRect">
            <a:avLst>
              <a:gd name="adj" fmla="val 12500"/>
            </a:avLst>
          </a:prstGeom>
          <a:solidFill>
            <a:srgbClr val="333399"/>
          </a:solidFill>
          <a:ln/>
        </p:spPr>
      </p:sp>
      <p:sp>
        <p:nvSpPr>
          <p:cNvPr id="15" name="Text 12"/>
          <p:cNvSpPr txBox="1"/>
          <p:nvPr/>
        </p:nvSpPr>
        <p:spPr>
          <a:xfrm>
            <a:off x="2059781" y="2374107"/>
            <a:ext cx="6097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GET</a:t>
            </a:r>
            <a:endParaRPr lang="en-US" sz="2000" dirty="0"/>
          </a:p>
        </p:txBody>
      </p:sp>
      <p:sp>
        <p:nvSpPr>
          <p:cNvPr id="16" name="Text 13"/>
          <p:cNvSpPr txBox="1"/>
          <p:nvPr/>
        </p:nvSpPr>
        <p:spPr>
          <a:xfrm>
            <a:off x="1983581" y="2780507"/>
            <a:ext cx="2934788"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Retrieval; the query is part of the identifier</a:t>
            </a:r>
            <a:endParaRPr lang="en-US" sz="1900" dirty="0"/>
          </a:p>
        </p:txBody>
      </p:sp>
      <p:sp>
        <p:nvSpPr>
          <p:cNvPr id="17" name="Shape 14"/>
          <p:cNvSpPr/>
          <p:nvPr/>
        </p:nvSpPr>
        <p:spPr>
          <a:xfrm>
            <a:off x="5143500" y="2002631"/>
            <a:ext cx="3198019" cy="1752600"/>
          </a:xfrm>
          <a:prstGeom prst="rect">
            <a:avLst/>
          </a:prstGeom>
          <a:solidFill>
            <a:srgbClr val="FFFFFF"/>
          </a:solidFill>
          <a:ln w="25400">
            <a:solidFill>
              <a:srgbClr val="CC6600"/>
            </a:solidFill>
            <a:prstDash val="solid"/>
          </a:ln>
        </p:spPr>
      </p:sp>
      <p:sp>
        <p:nvSpPr>
          <p:cNvPr id="18" name="Shape 15"/>
          <p:cNvSpPr/>
          <p:nvPr/>
        </p:nvSpPr>
        <p:spPr>
          <a:xfrm>
            <a:off x="5321300" y="2374107"/>
            <a:ext cx="914599" cy="304800"/>
          </a:xfrm>
          <a:prstGeom prst="roundRect">
            <a:avLst>
              <a:gd name="adj" fmla="val 12500"/>
            </a:avLst>
          </a:prstGeom>
          <a:solidFill>
            <a:srgbClr val="CC6600"/>
          </a:solidFill>
          <a:ln/>
        </p:spPr>
      </p:sp>
      <p:sp>
        <p:nvSpPr>
          <p:cNvPr id="19" name="Text 16"/>
          <p:cNvSpPr txBox="1"/>
          <p:nvPr/>
        </p:nvSpPr>
        <p:spPr>
          <a:xfrm>
            <a:off x="5397500" y="2374107"/>
            <a:ext cx="9145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QUERY</a:t>
            </a:r>
            <a:endParaRPr lang="en-US" sz="2000" dirty="0"/>
          </a:p>
        </p:txBody>
      </p:sp>
      <p:sp>
        <p:nvSpPr>
          <p:cNvPr id="20" name="Text 17"/>
          <p:cNvSpPr txBox="1"/>
          <p:nvPr/>
        </p:nvSpPr>
        <p:spPr>
          <a:xfrm>
            <a:off x="5321300" y="2780507"/>
            <a:ext cx="2909689"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Safe, idempotent query carried as content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a:t>
            </a:r>
            <a:endParaRPr lang="en-US" sz="1900" dirty="0"/>
          </a:p>
        </p:txBody>
      </p:sp>
      <p:sp>
        <p:nvSpPr>
          <p:cNvPr id="21" name="Text 18"/>
          <p:cNvSpPr txBox="1"/>
          <p:nvPr/>
        </p:nvSpPr>
        <p:spPr>
          <a:xfrm>
            <a:off x="294481" y="4311452"/>
            <a:ext cx="1422400" cy="87114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Unsafe / general processing</a:t>
            </a:r>
            <a:endParaRPr lang="en-US" sz="1900" dirty="0"/>
          </a:p>
        </p:txBody>
      </p:sp>
      <p:sp>
        <p:nvSpPr>
          <p:cNvPr id="22" name="Shape 19"/>
          <p:cNvSpPr/>
          <p:nvPr/>
        </p:nvSpPr>
        <p:spPr>
          <a:xfrm>
            <a:off x="1818481" y="3882231"/>
            <a:ext cx="3198019" cy="1752600"/>
          </a:xfrm>
          <a:prstGeom prst="rect">
            <a:avLst/>
          </a:prstGeom>
          <a:solidFill>
            <a:srgbClr val="FFFFFF"/>
          </a:solidFill>
          <a:ln w="12700">
            <a:solidFill>
              <a:srgbClr val="333399"/>
            </a:solidFill>
            <a:prstDash val="solid"/>
          </a:ln>
        </p:spPr>
      </p:sp>
      <p:sp>
        <p:nvSpPr>
          <p:cNvPr id="23" name="Shape 20"/>
          <p:cNvSpPr/>
          <p:nvPr/>
        </p:nvSpPr>
        <p:spPr>
          <a:xfrm>
            <a:off x="1983581" y="4106863"/>
            <a:ext cx="2867819" cy="296664"/>
          </a:xfrm>
          <a:prstGeom prst="rect">
            <a:avLst/>
          </a:prstGeom>
          <a:solidFill>
            <a:srgbClr val="FFFFFF"/>
          </a:solidFill>
          <a:ln w="12700">
            <a:solidFill>
              <a:srgbClr val="333399"/>
            </a:solidFill>
            <a:prstDash val="solid"/>
          </a:ln>
        </p:spPr>
      </p:sp>
      <p:sp>
        <p:nvSpPr>
          <p:cNvPr id="24" name="Text 21"/>
          <p:cNvSpPr txBox="1"/>
          <p:nvPr/>
        </p:nvSpPr>
        <p:spPr>
          <a:xfrm>
            <a:off x="2047081" y="4132263"/>
            <a:ext cx="2628701" cy="241300"/>
          </a:xfrm>
          <a:prstGeom prst="rect">
            <a:avLst/>
          </a:prstGeom>
          <a:noFill/>
          <a:ln/>
        </p:spPr>
        <p:txBody>
          <a:bodyPr wrap="none" lIns="0" tIns="0" rIns="0" bIns="0" rtlCol="0" anchor="t"/>
          <a:lstStyle/>
          <a:p>
            <a:pPr algn="l" indent="0" marL="0">
              <a:buNone/>
            </a:pPr>
            <a:r>
              <a:rPr lang="en-US" sz="1711" b="1" dirty="0">
                <a:solidFill>
                  <a:srgbClr val="000000"/>
                </a:solidFill>
                <a:latin typeface="Courier New" pitchFamily="34" charset="0"/>
                <a:ea typeface="Courier New" pitchFamily="34" charset="-122"/>
                <a:cs typeface="Courier New" pitchFamily="34" charset="-120"/>
              </a:rPr>
              <a:t>GET /page?do=delete</a:t>
            </a:r>
            <a:endParaRPr lang="en-US" sz="1711" dirty="0"/>
          </a:p>
        </p:txBody>
      </p:sp>
      <p:sp>
        <p:nvSpPr>
          <p:cNvPr id="25" name="Text 22"/>
          <p:cNvSpPr txBox="1"/>
          <p:nvPr/>
        </p:nvSpPr>
        <p:spPr>
          <a:xfrm>
            <a:off x="1983581" y="4505127"/>
            <a:ext cx="2893219"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Anti-pattern: owner MUST disallow unsafe actions via safe methods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26" name="Shape 23"/>
          <p:cNvSpPr/>
          <p:nvPr/>
        </p:nvSpPr>
        <p:spPr>
          <a:xfrm>
            <a:off x="5143500" y="3882231"/>
            <a:ext cx="3198019" cy="1752600"/>
          </a:xfrm>
          <a:prstGeom prst="rect">
            <a:avLst/>
          </a:prstGeom>
          <a:solidFill>
            <a:srgbClr val="FFFFFF"/>
          </a:solidFill>
          <a:ln w="25400">
            <a:solidFill>
              <a:srgbClr val="993300"/>
            </a:solidFill>
            <a:prstDash val="solid"/>
          </a:ln>
        </p:spPr>
      </p:sp>
      <p:sp>
        <p:nvSpPr>
          <p:cNvPr id="27" name="Shape 24"/>
          <p:cNvSpPr/>
          <p:nvPr/>
        </p:nvSpPr>
        <p:spPr>
          <a:xfrm>
            <a:off x="5321300" y="4253707"/>
            <a:ext cx="762199" cy="304800"/>
          </a:xfrm>
          <a:prstGeom prst="roundRect">
            <a:avLst>
              <a:gd name="adj" fmla="val 12500"/>
            </a:avLst>
          </a:prstGeom>
          <a:solidFill>
            <a:srgbClr val="993300"/>
          </a:solidFill>
          <a:ln/>
        </p:spPr>
      </p:sp>
      <p:sp>
        <p:nvSpPr>
          <p:cNvPr id="28" name="Text 25"/>
          <p:cNvSpPr txBox="1"/>
          <p:nvPr/>
        </p:nvSpPr>
        <p:spPr>
          <a:xfrm>
            <a:off x="5397500" y="4253707"/>
            <a:ext cx="762199" cy="292100"/>
          </a:xfrm>
          <a:prstGeom prst="rect">
            <a:avLst/>
          </a:prstGeom>
          <a:noFill/>
          <a:ln/>
        </p:spPr>
        <p:txBody>
          <a:bodyPr wrap="none" lIns="0" tIns="0" rIns="0" bIns="0" rtlCol="0" anchor="t"/>
          <a:lstStyle/>
          <a:p>
            <a:pPr algn="l"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9" name="Text 26"/>
          <p:cNvSpPr txBox="1"/>
          <p:nvPr/>
        </p:nvSpPr>
        <p:spPr>
          <a:xfrm>
            <a:off x="5321300" y="4660107"/>
            <a:ext cx="2876899"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Resource-specific processing of the content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§9.3.3]</a:t>
            </a:r>
            <a:endParaRPr lang="en-US" sz="1900" dirty="0"/>
          </a:p>
        </p:txBody>
      </p:sp>
      <p:sp>
        <p:nvSpPr>
          <p:cNvPr id="30" name="Shape 27"/>
          <p:cNvSpPr/>
          <p:nvPr/>
        </p:nvSpPr>
        <p:spPr>
          <a:xfrm>
            <a:off x="8595519" y="1513681"/>
            <a:ext cx="3302000" cy="1796256"/>
          </a:xfrm>
          <a:prstGeom prst="rect">
            <a:avLst/>
          </a:prstGeom>
          <a:solidFill>
            <a:srgbClr val="FFFFFF"/>
          </a:solidFill>
          <a:ln w="12700">
            <a:solidFill>
              <a:srgbClr val="333399"/>
            </a:solidFill>
            <a:prstDash val="solid"/>
          </a:ln>
        </p:spPr>
      </p:sp>
      <p:sp>
        <p:nvSpPr>
          <p:cNvPr id="31" name="Text 28"/>
          <p:cNvSpPr txBox="1"/>
          <p:nvPr/>
        </p:nvSpPr>
        <p:spPr>
          <a:xfrm>
            <a:off x="8747919" y="1627981"/>
            <a:ext cx="3022600" cy="1546225"/>
          </a:xfrm>
          <a:prstGeom prst="rect">
            <a:avLst/>
          </a:prstGeom>
          <a:noFill/>
          <a:ln/>
        </p:spPr>
        <p:txBody>
          <a:bodyPr wrap="square" lIns="0" tIns="0" rIns="0" bIns="0" rtlCol="0" anchor="t"/>
          <a:lstStyle/>
          <a:p>
            <a:pPr algn="l" indent="0" marL="0">
              <a:lnSpc>
                <a:spcPts val="2469"/>
              </a:lnSpc>
              <a:buNone/>
            </a:pPr>
            <a:r>
              <a:rPr lang="en-US" sz="1900" i="1" dirty="0">
                <a:solidFill>
                  <a:srgbClr val="000000"/>
                </a:solidFill>
                <a:latin typeface="Calibri" pitchFamily="34" charset="0"/>
                <a:ea typeface="Calibri" pitchFamily="34" charset="-122"/>
                <a:cs typeface="Calibri" pitchFamily="34" charset="-120"/>
              </a:rPr>
              <a:t>Using POST for a query “hinders caching and uses an unsafe method for what would otherwise be a safe request.” </a:t>
            </a:r>
            <a:pPr algn="l" indent="0" marL="0">
              <a:lnSpc>
                <a:spcPts val="2469"/>
              </a:lnSpc>
              <a:buNone/>
            </a:pPr>
            <a:r>
              <a:rPr lang="en-US" sz="1300" i="1"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9110 §17.9]</a:t>
            </a:r>
            <a:endParaRPr lang="en-US" sz="1900" dirty="0"/>
          </a:p>
        </p:txBody>
      </p:sp>
      <p:sp>
        <p:nvSpPr>
          <p:cNvPr id="32" name="Shape 29"/>
          <p:cNvSpPr/>
          <p:nvPr/>
        </p:nvSpPr>
        <p:spPr>
          <a:xfrm>
            <a:off x="8595519" y="3487737"/>
            <a:ext cx="3302000" cy="1640681"/>
          </a:xfrm>
          <a:prstGeom prst="rect">
            <a:avLst/>
          </a:prstGeom>
          <a:solidFill>
            <a:srgbClr val="FFFFFF"/>
          </a:solidFill>
          <a:ln w="25400">
            <a:solidFill>
              <a:srgbClr val="CC6600"/>
            </a:solidFill>
            <a:prstDash val="solid"/>
          </a:ln>
        </p:spPr>
      </p:sp>
      <p:sp>
        <p:nvSpPr>
          <p:cNvPr id="33" name="Text 30"/>
          <p:cNvSpPr txBox="1"/>
          <p:nvPr/>
        </p:nvSpPr>
        <p:spPr>
          <a:xfrm>
            <a:off x="8747919" y="3614737"/>
            <a:ext cx="3022600" cy="1370211"/>
          </a:xfrm>
          <a:prstGeom prst="rect">
            <a:avLst/>
          </a:prstGeom>
          <a:noFill/>
          <a:ln/>
        </p:spPr>
        <p:txBody>
          <a:bodyPr wrap="square" lIns="0" tIns="0" rIns="0" bIns="0" rtlCol="0" anchor="t"/>
          <a:lstStyle/>
          <a:p>
            <a:pPr algn="l" indent="0" marL="0">
              <a:lnSpc>
                <a:spcPts val="2729"/>
              </a:lnSpc>
              <a:buNone/>
            </a:pPr>
            <a:r>
              <a:rPr lang="en-US" sz="2100" dirty="0">
                <a:solidFill>
                  <a:srgbClr val="000000"/>
                </a:solidFill>
                <a:latin typeface="Calibri" pitchFamily="34" charset="0"/>
                <a:ea typeface="Calibri" pitchFamily="34" charset="-122"/>
                <a:cs typeface="Calibri" pitchFamily="34" charset="-120"/>
              </a:rPr>
              <a:t>QUERY is </a:t>
            </a:r>
            <a:pPr algn="l" indent="0" marL="0">
              <a:lnSpc>
                <a:spcPts val="2729"/>
              </a:lnSpc>
              <a:buNone/>
            </a:pPr>
            <a:r>
              <a:rPr lang="en-US" sz="2100" b="1" dirty="0">
                <a:solidFill>
                  <a:srgbClr val="000000"/>
                </a:solidFill>
                <a:latin typeface="Calibri" pitchFamily="34" charset="0"/>
                <a:ea typeface="Calibri" pitchFamily="34" charset="-122"/>
                <a:cs typeface="Calibri" pitchFamily="34" charset="-120"/>
              </a:rPr>
              <a:t>not a replacement</a:t>
            </a:r>
            <a:pPr algn="l" indent="0" marL="0">
              <a:lnSpc>
                <a:spcPts val="2729"/>
              </a:lnSpc>
              <a:buNone/>
            </a:pPr>
            <a:r>
              <a:rPr lang="en-US" sz="2100" dirty="0">
                <a:solidFill>
                  <a:srgbClr val="000000"/>
                </a:solidFill>
                <a:latin typeface="Calibri" pitchFamily="34" charset="0"/>
                <a:ea typeface="Calibri" pitchFamily="34" charset="-122"/>
                <a:cs typeface="Calibri" pitchFamily="34" charset="-120"/>
              </a:rPr>
              <a:t> for GET or POST. It fills the gap between them.</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9</a:t>
            </a:r>
            <a:endParaRPr lang="en-US" sz="1400" dirty="0"/>
          </a:p>
        </p:txBody>
      </p:sp>
      <p:sp>
        <p:nvSpPr>
          <p:cNvPr id="8" name="Text 5"/>
          <p:cNvSpPr txBox="1"/>
          <p:nvPr/>
        </p:nvSpPr>
        <p:spPr>
          <a:xfrm>
            <a:off x="10201076" y="191492"/>
            <a:ext cx="2052043"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2. Objectives</a:t>
            </a:r>
            <a:endParaRPr lang="en-US" sz="2800" dirty="0"/>
          </a:p>
        </p:txBody>
      </p:sp>
      <p:sp>
        <p:nvSpPr>
          <p:cNvPr id="9" name="Text 6"/>
          <p:cNvSpPr txBox="1"/>
          <p:nvPr/>
        </p:nvSpPr>
        <p:spPr>
          <a:xfrm>
            <a:off x="426443" y="1315640"/>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7"/>
          <p:cNvSpPr txBox="1"/>
          <p:nvPr/>
        </p:nvSpPr>
        <p:spPr>
          <a:xfrm>
            <a:off x="769343" y="1302940"/>
            <a:ext cx="9975849"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Explain why HTTP distinguishes safe, idempotent and general-purpose methods</a:t>
            </a:r>
            <a:endParaRPr lang="en-US" sz="2400" dirty="0"/>
          </a:p>
        </p:txBody>
      </p:sp>
      <p:sp>
        <p:nvSpPr>
          <p:cNvPr id="11" name="Text 8"/>
          <p:cNvSpPr txBox="1"/>
          <p:nvPr/>
        </p:nvSpPr>
        <p:spPr>
          <a:xfrm>
            <a:off x="426443" y="188456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9"/>
          <p:cNvSpPr txBox="1"/>
          <p:nvPr/>
        </p:nvSpPr>
        <p:spPr>
          <a:xfrm>
            <a:off x="769343" y="1871861"/>
            <a:ext cx="9062640"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Examine how query input in the URI creates size and exposure problems</a:t>
            </a:r>
            <a:endParaRPr lang="en-US" sz="2400" dirty="0"/>
          </a:p>
        </p:txBody>
      </p:sp>
      <p:sp>
        <p:nvSpPr>
          <p:cNvPr id="13" name="Text 10"/>
          <p:cNvSpPr txBox="1"/>
          <p:nvPr/>
        </p:nvSpPr>
        <p:spPr>
          <a:xfrm>
            <a:off x="426443" y="245348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4" name="Text 11"/>
          <p:cNvSpPr txBox="1"/>
          <p:nvPr/>
        </p:nvSpPr>
        <p:spPr>
          <a:xfrm>
            <a:off x="769343" y="2440781"/>
            <a:ext cx="7951985"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Analyse the HTTP QUERY method as standardised in RFC 10008</a:t>
            </a:r>
            <a:endParaRPr lang="en-US" sz="2400" dirty="0"/>
          </a:p>
        </p:txBody>
      </p:sp>
      <p:sp>
        <p:nvSpPr>
          <p:cNvPr id="15" name="Text 12"/>
          <p:cNvSpPr txBox="1"/>
          <p:nvPr/>
        </p:nvSpPr>
        <p:spPr>
          <a:xfrm>
            <a:off x="426443" y="302240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3"/>
          <p:cNvSpPr txBox="1"/>
          <p:nvPr/>
        </p:nvSpPr>
        <p:spPr>
          <a:xfrm>
            <a:off x="769343" y="3009701"/>
            <a:ext cx="9916517"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Compare GET, POST and QUERY: semantics, caching, discovery and deployment</a:t>
            </a:r>
            <a:endParaRPr lang="en-US" sz="2400" dirty="0"/>
          </a:p>
        </p:txBody>
      </p:sp>
      <p:sp>
        <p:nvSpPr>
          <p:cNvPr id="17" name="Text 14"/>
          <p:cNvSpPr txBox="1"/>
          <p:nvPr/>
        </p:nvSpPr>
        <p:spPr>
          <a:xfrm>
            <a:off x="426443" y="359132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8" name="Text 15"/>
          <p:cNvSpPr txBox="1"/>
          <p:nvPr/>
        </p:nvSpPr>
        <p:spPr>
          <a:xfrm>
            <a:off x="769343" y="3578621"/>
            <a:ext cx="10510044"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Identify security implications for browsers, caches, WAFs, gateways and applications</a:t>
            </a:r>
            <a:endParaRPr lang="en-US" sz="2400" dirty="0"/>
          </a:p>
        </p:txBody>
      </p:sp>
      <p:sp>
        <p:nvSpPr>
          <p:cNvPr id="19" name="Text 16"/>
          <p:cNvSpPr txBox="1"/>
          <p:nvPr/>
        </p:nvSpPr>
        <p:spPr>
          <a:xfrm>
            <a:off x="426443" y="4160243"/>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7"/>
          <p:cNvSpPr txBox="1"/>
          <p:nvPr/>
        </p:nvSpPr>
        <p:spPr>
          <a:xfrm>
            <a:off x="769343" y="4147543"/>
            <a:ext cx="10230048"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Survey the standards and peer-reviewed literature on the underlying mechanisms</a:t>
            </a:r>
            <a:endParaRPr lang="en-US" sz="2400" dirty="0"/>
          </a:p>
        </p:txBody>
      </p:sp>
      <p:sp>
        <p:nvSpPr>
          <p:cNvPr id="21" name="Text 18"/>
          <p:cNvSpPr txBox="1"/>
          <p:nvPr/>
        </p:nvSpPr>
        <p:spPr>
          <a:xfrm>
            <a:off x="426443" y="4729163"/>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2" name="Text 19"/>
          <p:cNvSpPr txBox="1"/>
          <p:nvPr/>
        </p:nvSpPr>
        <p:spPr>
          <a:xfrm>
            <a:off x="769343" y="4716463"/>
            <a:ext cx="5879505"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Recommend when to use GET, QUERY or POST</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10</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9CA3AF">
              <a:alpha val="20000"/>
            </a:srgbClr>
          </a:solidFill>
          <a:ln/>
        </p:spPr>
      </p:sp>
      <p:sp>
        <p:nvSpPr>
          <p:cNvPr id="10" name="Shape 7"/>
          <p:cNvSpPr/>
          <p:nvPr/>
        </p:nvSpPr>
        <p:spPr>
          <a:xfrm>
            <a:off x="11311" y="989211"/>
            <a:ext cx="2816621" cy="381000"/>
          </a:xfrm>
          <a:prstGeom prst="rect">
            <a:avLst/>
          </a:prstGeom>
          <a:solidFill>
            <a:srgbClr val="FFFFFF"/>
          </a:solidFill>
          <a:ln/>
        </p:spPr>
      </p:sp>
      <p:sp>
        <p:nvSpPr>
          <p:cNvPr id="11" name="Shape 8"/>
          <p:cNvSpPr/>
          <p:nvPr/>
        </p:nvSpPr>
        <p:spPr>
          <a:xfrm>
            <a:off x="11311" y="989211"/>
            <a:ext cx="2816621" cy="12700"/>
          </a:xfrm>
          <a:prstGeom prst="rect">
            <a:avLst/>
          </a:prstGeom>
          <a:solidFill>
            <a:srgbClr val="333399"/>
          </a:solidFill>
          <a:ln/>
        </p:spPr>
      </p:sp>
      <p:sp>
        <p:nvSpPr>
          <p:cNvPr id="12" name="Shape 9"/>
          <p:cNvSpPr/>
          <p:nvPr/>
        </p:nvSpPr>
        <p:spPr>
          <a:xfrm>
            <a:off x="2815233" y="989211"/>
            <a:ext cx="12700" cy="381000"/>
          </a:xfrm>
          <a:prstGeom prst="rect">
            <a:avLst/>
          </a:prstGeom>
          <a:solidFill>
            <a:srgbClr val="333399"/>
          </a:solidFill>
          <a:ln/>
        </p:spPr>
      </p:sp>
      <p:sp>
        <p:nvSpPr>
          <p:cNvPr id="13" name="Shape 10"/>
          <p:cNvSpPr/>
          <p:nvPr/>
        </p:nvSpPr>
        <p:spPr>
          <a:xfrm>
            <a:off x="11311" y="1344811"/>
            <a:ext cx="2816621" cy="25400"/>
          </a:xfrm>
          <a:prstGeom prst="rect">
            <a:avLst/>
          </a:prstGeom>
          <a:solidFill>
            <a:srgbClr val="333399"/>
          </a:solidFill>
          <a:ln/>
        </p:spPr>
      </p:sp>
      <p:sp>
        <p:nvSpPr>
          <p:cNvPr id="14" name="Shape 11"/>
          <p:cNvSpPr/>
          <p:nvPr/>
        </p:nvSpPr>
        <p:spPr>
          <a:xfrm>
            <a:off x="11311" y="989211"/>
            <a:ext cx="12700" cy="381000"/>
          </a:xfrm>
          <a:prstGeom prst="rect">
            <a:avLst/>
          </a:prstGeom>
          <a:solidFill>
            <a:srgbClr val="333399"/>
          </a:solidFill>
          <a:ln/>
        </p:spPr>
      </p:sp>
      <p:sp>
        <p:nvSpPr>
          <p:cNvPr id="15" name="Text 12"/>
          <p:cNvSpPr txBox="1"/>
          <p:nvPr/>
        </p:nvSpPr>
        <p:spPr>
          <a:xfrm>
            <a:off x="524867" y="1026716"/>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6" name="Shape 13"/>
          <p:cNvSpPr/>
          <p:nvPr/>
        </p:nvSpPr>
        <p:spPr>
          <a:xfrm>
            <a:off x="2827933" y="989211"/>
            <a:ext cx="2658864" cy="381000"/>
          </a:xfrm>
          <a:prstGeom prst="rect">
            <a:avLst/>
          </a:prstGeom>
          <a:solidFill>
            <a:srgbClr val="FFFFFF"/>
          </a:solidFill>
          <a:ln/>
        </p:spPr>
      </p:sp>
      <p:sp>
        <p:nvSpPr>
          <p:cNvPr id="17" name="Shape 14"/>
          <p:cNvSpPr/>
          <p:nvPr/>
        </p:nvSpPr>
        <p:spPr>
          <a:xfrm>
            <a:off x="2827933" y="989211"/>
            <a:ext cx="2658864" cy="12700"/>
          </a:xfrm>
          <a:prstGeom prst="rect">
            <a:avLst/>
          </a:prstGeom>
          <a:solidFill>
            <a:srgbClr val="333399"/>
          </a:solidFill>
          <a:ln/>
        </p:spPr>
      </p:sp>
      <p:sp>
        <p:nvSpPr>
          <p:cNvPr id="18" name="Shape 15"/>
          <p:cNvSpPr/>
          <p:nvPr/>
        </p:nvSpPr>
        <p:spPr>
          <a:xfrm>
            <a:off x="5474097" y="989211"/>
            <a:ext cx="12700" cy="381000"/>
          </a:xfrm>
          <a:prstGeom prst="rect">
            <a:avLst/>
          </a:prstGeom>
          <a:solidFill>
            <a:srgbClr val="333399"/>
          </a:solidFill>
          <a:ln/>
        </p:spPr>
      </p:sp>
      <p:sp>
        <p:nvSpPr>
          <p:cNvPr id="19" name="Shape 16"/>
          <p:cNvSpPr/>
          <p:nvPr/>
        </p:nvSpPr>
        <p:spPr>
          <a:xfrm>
            <a:off x="2827933" y="1344811"/>
            <a:ext cx="2658864" cy="25400"/>
          </a:xfrm>
          <a:prstGeom prst="rect">
            <a:avLst/>
          </a:prstGeom>
          <a:solidFill>
            <a:srgbClr val="333399"/>
          </a:solidFill>
          <a:ln/>
        </p:spPr>
      </p:sp>
      <p:sp>
        <p:nvSpPr>
          <p:cNvPr id="20" name="Shape 17"/>
          <p:cNvSpPr/>
          <p:nvPr/>
        </p:nvSpPr>
        <p:spPr>
          <a:xfrm>
            <a:off x="2827933" y="989211"/>
            <a:ext cx="12700" cy="381000"/>
          </a:xfrm>
          <a:prstGeom prst="rect">
            <a:avLst/>
          </a:prstGeom>
          <a:solidFill>
            <a:srgbClr val="333399"/>
          </a:solidFill>
          <a:ln/>
        </p:spPr>
      </p:sp>
      <p:sp>
        <p:nvSpPr>
          <p:cNvPr id="21" name="Text 18"/>
          <p:cNvSpPr txBox="1"/>
          <p:nvPr/>
        </p:nvSpPr>
        <p:spPr>
          <a:xfrm>
            <a:off x="3716735" y="1026716"/>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22" name="Shape 19"/>
          <p:cNvSpPr/>
          <p:nvPr/>
        </p:nvSpPr>
        <p:spPr>
          <a:xfrm>
            <a:off x="5486797" y="989211"/>
            <a:ext cx="3265884" cy="381000"/>
          </a:xfrm>
          <a:prstGeom prst="rect">
            <a:avLst/>
          </a:prstGeom>
          <a:solidFill>
            <a:srgbClr val="FFFFFF"/>
          </a:solidFill>
          <a:ln/>
        </p:spPr>
      </p:sp>
      <p:sp>
        <p:nvSpPr>
          <p:cNvPr id="23" name="Shape 20"/>
          <p:cNvSpPr/>
          <p:nvPr/>
        </p:nvSpPr>
        <p:spPr>
          <a:xfrm>
            <a:off x="5486797" y="989211"/>
            <a:ext cx="3265884" cy="12700"/>
          </a:xfrm>
          <a:prstGeom prst="rect">
            <a:avLst/>
          </a:prstGeom>
          <a:solidFill>
            <a:srgbClr val="333399"/>
          </a:solidFill>
          <a:ln/>
        </p:spPr>
      </p:sp>
      <p:sp>
        <p:nvSpPr>
          <p:cNvPr id="24" name="Shape 21"/>
          <p:cNvSpPr/>
          <p:nvPr/>
        </p:nvSpPr>
        <p:spPr>
          <a:xfrm>
            <a:off x="8739981" y="989211"/>
            <a:ext cx="12700" cy="381000"/>
          </a:xfrm>
          <a:prstGeom prst="rect">
            <a:avLst/>
          </a:prstGeom>
          <a:solidFill>
            <a:srgbClr val="333399"/>
          </a:solidFill>
          <a:ln/>
        </p:spPr>
      </p:sp>
      <p:sp>
        <p:nvSpPr>
          <p:cNvPr id="25" name="Shape 22"/>
          <p:cNvSpPr/>
          <p:nvPr/>
        </p:nvSpPr>
        <p:spPr>
          <a:xfrm>
            <a:off x="5486797" y="1344811"/>
            <a:ext cx="3265884" cy="25400"/>
          </a:xfrm>
          <a:prstGeom prst="rect">
            <a:avLst/>
          </a:prstGeom>
          <a:solidFill>
            <a:srgbClr val="333399"/>
          </a:solidFill>
          <a:ln/>
        </p:spPr>
      </p:sp>
      <p:sp>
        <p:nvSpPr>
          <p:cNvPr id="26" name="Shape 23"/>
          <p:cNvSpPr/>
          <p:nvPr/>
        </p:nvSpPr>
        <p:spPr>
          <a:xfrm>
            <a:off x="5486797" y="989211"/>
            <a:ext cx="12700" cy="381000"/>
          </a:xfrm>
          <a:prstGeom prst="rect">
            <a:avLst/>
          </a:prstGeom>
          <a:solidFill>
            <a:srgbClr val="333399"/>
          </a:solidFill>
          <a:ln/>
        </p:spPr>
      </p:sp>
      <p:sp>
        <p:nvSpPr>
          <p:cNvPr id="27" name="Text 24"/>
          <p:cNvSpPr txBox="1"/>
          <p:nvPr/>
        </p:nvSpPr>
        <p:spPr>
          <a:xfrm>
            <a:off x="6234907" y="1026716"/>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28" name="Shape 25"/>
          <p:cNvSpPr/>
          <p:nvPr/>
        </p:nvSpPr>
        <p:spPr>
          <a:xfrm>
            <a:off x="8752681" y="989211"/>
            <a:ext cx="3400028" cy="381000"/>
          </a:xfrm>
          <a:prstGeom prst="rect">
            <a:avLst/>
          </a:prstGeom>
          <a:solidFill>
            <a:srgbClr val="FFFFFF"/>
          </a:solidFill>
          <a:ln/>
        </p:spPr>
      </p:sp>
      <p:sp>
        <p:nvSpPr>
          <p:cNvPr id="29" name="Shape 26"/>
          <p:cNvSpPr/>
          <p:nvPr/>
        </p:nvSpPr>
        <p:spPr>
          <a:xfrm>
            <a:off x="8752681" y="989211"/>
            <a:ext cx="3400028" cy="12700"/>
          </a:xfrm>
          <a:prstGeom prst="rect">
            <a:avLst/>
          </a:prstGeom>
          <a:solidFill>
            <a:srgbClr val="333399"/>
          </a:solidFill>
          <a:ln/>
        </p:spPr>
      </p:sp>
      <p:sp>
        <p:nvSpPr>
          <p:cNvPr id="30" name="Shape 27"/>
          <p:cNvSpPr/>
          <p:nvPr/>
        </p:nvSpPr>
        <p:spPr>
          <a:xfrm>
            <a:off x="12140009" y="989211"/>
            <a:ext cx="12700" cy="381000"/>
          </a:xfrm>
          <a:prstGeom prst="rect">
            <a:avLst/>
          </a:prstGeom>
          <a:solidFill>
            <a:srgbClr val="333399"/>
          </a:solidFill>
          <a:ln/>
        </p:spPr>
      </p:sp>
      <p:sp>
        <p:nvSpPr>
          <p:cNvPr id="31" name="Shape 28"/>
          <p:cNvSpPr/>
          <p:nvPr/>
        </p:nvSpPr>
        <p:spPr>
          <a:xfrm>
            <a:off x="8752681" y="1344811"/>
            <a:ext cx="3400028" cy="25400"/>
          </a:xfrm>
          <a:prstGeom prst="rect">
            <a:avLst/>
          </a:prstGeom>
          <a:solidFill>
            <a:srgbClr val="333399"/>
          </a:solidFill>
          <a:ln/>
        </p:spPr>
      </p:sp>
      <p:sp>
        <p:nvSpPr>
          <p:cNvPr id="32" name="Shape 29"/>
          <p:cNvSpPr/>
          <p:nvPr/>
        </p:nvSpPr>
        <p:spPr>
          <a:xfrm>
            <a:off x="8752681" y="989211"/>
            <a:ext cx="12700" cy="381000"/>
          </a:xfrm>
          <a:prstGeom prst="rect">
            <a:avLst/>
          </a:prstGeom>
          <a:solidFill>
            <a:srgbClr val="333399"/>
          </a:solidFill>
          <a:ln/>
        </p:spPr>
      </p:sp>
      <p:sp>
        <p:nvSpPr>
          <p:cNvPr id="33" name="Text 30"/>
          <p:cNvSpPr txBox="1"/>
          <p:nvPr/>
        </p:nvSpPr>
        <p:spPr>
          <a:xfrm>
            <a:off x="9787136" y="1026716"/>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34" name="Shape 31"/>
          <p:cNvSpPr/>
          <p:nvPr/>
        </p:nvSpPr>
        <p:spPr>
          <a:xfrm>
            <a:off x="11311" y="2448124"/>
            <a:ext cx="12141399" cy="12700"/>
          </a:xfrm>
          <a:prstGeom prst="rect">
            <a:avLst/>
          </a:prstGeom>
          <a:solidFill>
            <a:srgbClr val="9CA3AF">
              <a:alpha val="20000"/>
            </a:srgbClr>
          </a:solidFill>
          <a:ln/>
        </p:spPr>
      </p:sp>
      <p:sp>
        <p:nvSpPr>
          <p:cNvPr id="35" name="Shape 32"/>
          <p:cNvSpPr/>
          <p:nvPr/>
        </p:nvSpPr>
        <p:spPr>
          <a:xfrm>
            <a:off x="11311" y="1370211"/>
            <a:ext cx="2816621" cy="1090612"/>
          </a:xfrm>
          <a:prstGeom prst="rect">
            <a:avLst/>
          </a:prstGeom>
          <a:solidFill>
            <a:srgbClr val="D6D6EB"/>
          </a:solidFill>
          <a:ln w="12700">
            <a:solidFill>
              <a:srgbClr val="333399"/>
            </a:solidFill>
            <a:prstDash val="solid"/>
          </a:ln>
        </p:spPr>
      </p:sp>
      <p:sp>
        <p:nvSpPr>
          <p:cNvPr id="36" name="Text 33"/>
          <p:cNvSpPr txBox="1"/>
          <p:nvPr/>
        </p:nvSpPr>
        <p:spPr>
          <a:xfrm>
            <a:off x="100211" y="1433711"/>
            <a:ext cx="2664221"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J. Reschke, J. M. Snell, M. Bishop,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HTTP QUERY Method</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RFC 10008, 2026</a:t>
            </a:r>
            <a:endParaRPr lang="en-US" sz="1551" dirty="0"/>
          </a:p>
        </p:txBody>
      </p:sp>
      <p:sp>
        <p:nvSpPr>
          <p:cNvPr id="37" name="Shape 34"/>
          <p:cNvSpPr/>
          <p:nvPr/>
        </p:nvSpPr>
        <p:spPr>
          <a:xfrm>
            <a:off x="2827933" y="1370211"/>
            <a:ext cx="2658864" cy="1090612"/>
          </a:xfrm>
          <a:prstGeom prst="rect">
            <a:avLst/>
          </a:prstGeom>
          <a:solidFill>
            <a:srgbClr val="D6D6EB"/>
          </a:solidFill>
          <a:ln w="12700">
            <a:solidFill>
              <a:srgbClr val="333399"/>
            </a:solidFill>
            <a:prstDash val="solid"/>
          </a:ln>
        </p:spPr>
      </p:sp>
      <p:sp>
        <p:nvSpPr>
          <p:cNvPr id="38" name="Text 35"/>
          <p:cNvSpPr txBox="1"/>
          <p:nvPr/>
        </p:nvSpPr>
        <p:spPr>
          <a:xfrm>
            <a:off x="2916833" y="1433711"/>
            <a:ext cx="250646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IETF Standards Track specification</a:t>
            </a:r>
            <a:endParaRPr lang="en-US" sz="1551" dirty="0"/>
          </a:p>
        </p:txBody>
      </p:sp>
      <p:sp>
        <p:nvSpPr>
          <p:cNvPr id="39" name="Shape 36"/>
          <p:cNvSpPr/>
          <p:nvPr/>
        </p:nvSpPr>
        <p:spPr>
          <a:xfrm>
            <a:off x="5486797" y="1370211"/>
            <a:ext cx="3265884" cy="1090612"/>
          </a:xfrm>
          <a:prstGeom prst="rect">
            <a:avLst/>
          </a:prstGeom>
          <a:solidFill>
            <a:srgbClr val="D6D6EB"/>
          </a:solidFill>
          <a:ln w="12700">
            <a:solidFill>
              <a:srgbClr val="333399"/>
            </a:solidFill>
            <a:prstDash val="solid"/>
          </a:ln>
        </p:spPr>
      </p:sp>
      <p:sp>
        <p:nvSpPr>
          <p:cNvPr id="40" name="Text 37"/>
          <p:cNvSpPr txBox="1"/>
          <p:nvPr/>
        </p:nvSpPr>
        <p:spPr>
          <a:xfrm>
            <a:off x="5575697" y="1433711"/>
            <a:ext cx="3113484"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Define a safe, idempotent method whose query is carried in the request content</a:t>
            </a:r>
            <a:endParaRPr lang="en-US" sz="1551" dirty="0"/>
          </a:p>
        </p:txBody>
      </p:sp>
      <p:sp>
        <p:nvSpPr>
          <p:cNvPr id="41" name="Shape 38"/>
          <p:cNvSpPr/>
          <p:nvPr/>
        </p:nvSpPr>
        <p:spPr>
          <a:xfrm>
            <a:off x="8752681" y="1370211"/>
            <a:ext cx="3400028" cy="1090612"/>
          </a:xfrm>
          <a:prstGeom prst="rect">
            <a:avLst/>
          </a:prstGeom>
          <a:solidFill>
            <a:srgbClr val="D6D6EB"/>
          </a:solidFill>
          <a:ln w="12700">
            <a:solidFill>
              <a:srgbClr val="333399"/>
            </a:solidFill>
            <a:prstDash val="solid"/>
          </a:ln>
        </p:spPr>
      </p:sp>
      <p:sp>
        <p:nvSpPr>
          <p:cNvPr id="42" name="Text 39"/>
          <p:cNvSpPr txBox="1"/>
          <p:nvPr/>
        </p:nvSpPr>
        <p:spPr>
          <a:xfrm>
            <a:off x="8841581" y="1433711"/>
            <a:ext cx="3272199" cy="94972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Content-Type required; cacheable with content in the cache key; Accept-Query; Location / Content-Location; CORS preflight required</a:t>
            </a:r>
            <a:endParaRPr lang="en-US" sz="1551" dirty="0"/>
          </a:p>
        </p:txBody>
      </p:sp>
      <p:sp>
        <p:nvSpPr>
          <p:cNvPr id="43" name="Shape 40"/>
          <p:cNvSpPr/>
          <p:nvPr/>
        </p:nvSpPr>
        <p:spPr>
          <a:xfrm>
            <a:off x="11311" y="3532385"/>
            <a:ext cx="12141399" cy="12700"/>
          </a:xfrm>
          <a:prstGeom prst="rect">
            <a:avLst/>
          </a:prstGeom>
          <a:solidFill>
            <a:srgbClr val="9CA3AF">
              <a:alpha val="20000"/>
            </a:srgbClr>
          </a:solidFill>
          <a:ln/>
        </p:spPr>
      </p:sp>
      <p:sp>
        <p:nvSpPr>
          <p:cNvPr id="44" name="Shape 41"/>
          <p:cNvSpPr/>
          <p:nvPr/>
        </p:nvSpPr>
        <p:spPr>
          <a:xfrm>
            <a:off x="11311" y="2460824"/>
            <a:ext cx="2816621" cy="1084263"/>
          </a:xfrm>
          <a:prstGeom prst="rect">
            <a:avLst/>
          </a:prstGeom>
          <a:solidFill>
            <a:srgbClr val="FFFFFF"/>
          </a:solidFill>
          <a:ln w="12700">
            <a:solidFill>
              <a:srgbClr val="333399"/>
            </a:solidFill>
            <a:prstDash val="solid"/>
          </a:ln>
        </p:spPr>
      </p:sp>
      <p:sp>
        <p:nvSpPr>
          <p:cNvPr id="45" name="Text 42"/>
          <p:cNvSpPr txBox="1"/>
          <p:nvPr/>
        </p:nvSpPr>
        <p:spPr>
          <a:xfrm>
            <a:off x="100211" y="2517973"/>
            <a:ext cx="2664221"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R. Fielding, M. Nottingham, J. Reschke (Eds.),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 Semantics</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RFC 9110, 2022</a:t>
            </a:r>
            <a:endParaRPr lang="en-US" sz="1551" dirty="0"/>
          </a:p>
        </p:txBody>
      </p:sp>
      <p:sp>
        <p:nvSpPr>
          <p:cNvPr id="46" name="Shape 43"/>
          <p:cNvSpPr/>
          <p:nvPr/>
        </p:nvSpPr>
        <p:spPr>
          <a:xfrm>
            <a:off x="2827933" y="2460824"/>
            <a:ext cx="2658864" cy="1084263"/>
          </a:xfrm>
          <a:prstGeom prst="rect">
            <a:avLst/>
          </a:prstGeom>
          <a:solidFill>
            <a:srgbClr val="FFFFFF"/>
          </a:solidFill>
          <a:ln w="12700">
            <a:solidFill>
              <a:srgbClr val="333399"/>
            </a:solidFill>
            <a:prstDash val="solid"/>
          </a:ln>
        </p:spPr>
      </p:sp>
      <p:sp>
        <p:nvSpPr>
          <p:cNvPr id="47" name="Text 44"/>
          <p:cNvSpPr txBox="1"/>
          <p:nvPr/>
        </p:nvSpPr>
        <p:spPr>
          <a:xfrm>
            <a:off x="2916833" y="2517973"/>
            <a:ext cx="250646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IETF Internet Standard (STD 97)</a:t>
            </a:r>
            <a:endParaRPr lang="en-US" sz="1551" dirty="0"/>
          </a:p>
        </p:txBody>
      </p:sp>
      <p:sp>
        <p:nvSpPr>
          <p:cNvPr id="48" name="Shape 45"/>
          <p:cNvSpPr/>
          <p:nvPr/>
        </p:nvSpPr>
        <p:spPr>
          <a:xfrm>
            <a:off x="5486797" y="2460824"/>
            <a:ext cx="3265884" cy="1084263"/>
          </a:xfrm>
          <a:prstGeom prst="rect">
            <a:avLst/>
          </a:prstGeom>
          <a:solidFill>
            <a:srgbClr val="FFFFFF"/>
          </a:solidFill>
          <a:ln w="12700">
            <a:solidFill>
              <a:srgbClr val="333399"/>
            </a:solidFill>
            <a:prstDash val="solid"/>
          </a:ln>
        </p:spPr>
      </p:sp>
      <p:sp>
        <p:nvSpPr>
          <p:cNvPr id="49" name="Text 46"/>
          <p:cNvSpPr txBox="1"/>
          <p:nvPr/>
        </p:nvSpPr>
        <p:spPr>
          <a:xfrm>
            <a:off x="5575697" y="2517973"/>
            <a:ext cx="3161887"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Define HTTP method semantics, safety and idempotency</a:t>
            </a:r>
            <a:endParaRPr lang="en-US" sz="1551" dirty="0"/>
          </a:p>
        </p:txBody>
      </p:sp>
      <p:sp>
        <p:nvSpPr>
          <p:cNvPr id="50" name="Shape 47"/>
          <p:cNvSpPr/>
          <p:nvPr/>
        </p:nvSpPr>
        <p:spPr>
          <a:xfrm>
            <a:off x="8752681" y="2460824"/>
            <a:ext cx="3400028" cy="1084263"/>
          </a:xfrm>
          <a:prstGeom prst="rect">
            <a:avLst/>
          </a:prstGeom>
          <a:solidFill>
            <a:srgbClr val="FFFFFF"/>
          </a:solidFill>
          <a:ln w="12700">
            <a:solidFill>
              <a:srgbClr val="333399"/>
            </a:solidFill>
            <a:prstDash val="solid"/>
          </a:ln>
        </p:spPr>
      </p:sp>
      <p:sp>
        <p:nvSpPr>
          <p:cNvPr id="51" name="Text 48"/>
          <p:cNvSpPr txBox="1"/>
          <p:nvPr/>
        </p:nvSpPr>
        <p:spPr>
          <a:xfrm>
            <a:off x="8841581" y="2517973"/>
            <a:ext cx="3247628" cy="94972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Safe and idempotent describe client intent; URIs are not secured; POST for safe queries “uses an unsafe method” (§17.9)</a:t>
            </a:r>
            <a:endParaRPr lang="en-US" sz="1551" dirty="0"/>
          </a:p>
        </p:txBody>
      </p:sp>
      <p:sp>
        <p:nvSpPr>
          <p:cNvPr id="52" name="Shape 49"/>
          <p:cNvSpPr/>
          <p:nvPr/>
        </p:nvSpPr>
        <p:spPr>
          <a:xfrm>
            <a:off x="11311" y="4380508"/>
            <a:ext cx="12141399" cy="12700"/>
          </a:xfrm>
          <a:prstGeom prst="rect">
            <a:avLst/>
          </a:prstGeom>
          <a:solidFill>
            <a:srgbClr val="9CA3AF">
              <a:alpha val="20000"/>
            </a:srgbClr>
          </a:solidFill>
          <a:ln/>
        </p:spPr>
      </p:sp>
      <p:sp>
        <p:nvSpPr>
          <p:cNvPr id="53" name="Shape 50"/>
          <p:cNvSpPr/>
          <p:nvPr/>
        </p:nvSpPr>
        <p:spPr>
          <a:xfrm>
            <a:off x="11311" y="3545085"/>
            <a:ext cx="2816621" cy="848121"/>
          </a:xfrm>
          <a:prstGeom prst="rect">
            <a:avLst/>
          </a:prstGeom>
          <a:solidFill>
            <a:srgbClr val="D6D6EB"/>
          </a:solidFill>
          <a:ln w="12700">
            <a:solidFill>
              <a:srgbClr val="333399"/>
            </a:solidFill>
            <a:prstDash val="solid"/>
          </a:ln>
        </p:spPr>
      </p:sp>
      <p:sp>
        <p:nvSpPr>
          <p:cNvPr id="54" name="Text 51"/>
          <p:cNvSpPr txBox="1"/>
          <p:nvPr/>
        </p:nvSpPr>
        <p:spPr>
          <a:xfrm>
            <a:off x="100211" y="3602236"/>
            <a:ext cx="2664221"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M. Nottingham,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Building Protocols with HTTP</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RFC 9205 (BCP 56), 2022</a:t>
            </a:r>
            <a:endParaRPr lang="en-US" sz="1551" dirty="0"/>
          </a:p>
        </p:txBody>
      </p:sp>
      <p:sp>
        <p:nvSpPr>
          <p:cNvPr id="55" name="Shape 52"/>
          <p:cNvSpPr/>
          <p:nvPr/>
        </p:nvSpPr>
        <p:spPr>
          <a:xfrm>
            <a:off x="2827933" y="3545085"/>
            <a:ext cx="2658864" cy="848121"/>
          </a:xfrm>
          <a:prstGeom prst="rect">
            <a:avLst/>
          </a:prstGeom>
          <a:solidFill>
            <a:srgbClr val="D6D6EB"/>
          </a:solidFill>
          <a:ln w="12700">
            <a:solidFill>
              <a:srgbClr val="333399"/>
            </a:solidFill>
            <a:prstDash val="solid"/>
          </a:ln>
        </p:spPr>
      </p:sp>
      <p:sp>
        <p:nvSpPr>
          <p:cNvPr id="56" name="Text 53"/>
          <p:cNvSpPr txBox="1"/>
          <p:nvPr/>
        </p:nvSpPr>
        <p:spPr>
          <a:xfrm>
            <a:off x="2923183" y="3602236"/>
            <a:ext cx="2207021" cy="241300"/>
          </a:xfrm>
          <a:prstGeom prst="rect">
            <a:avLst/>
          </a:prstGeom>
          <a:noFill/>
          <a:ln/>
        </p:spPr>
        <p:txBody>
          <a:bodyPr wrap="none" lIns="0" tIns="0" rIns="0" bIns="0" rtlCol="0" anchor="t"/>
          <a:lstStyle/>
          <a:p>
            <a:pPr algn="l" indent="0" marL="0">
              <a:buNone/>
            </a:pPr>
            <a:r>
              <a:rPr lang="en-US" sz="1551" dirty="0">
                <a:solidFill>
                  <a:srgbClr val="000000"/>
                </a:solidFill>
                <a:latin typeface="Calibri" pitchFamily="34" charset="0"/>
                <a:ea typeface="Calibri" pitchFamily="34" charset="-122"/>
                <a:cs typeface="Calibri" pitchFamily="34" charset="-120"/>
              </a:rPr>
              <a:t>IETF Best Current Practice</a:t>
            </a:r>
            <a:endParaRPr lang="en-US" sz="1551" dirty="0"/>
          </a:p>
        </p:txBody>
      </p:sp>
      <p:sp>
        <p:nvSpPr>
          <p:cNvPr id="57" name="Shape 54"/>
          <p:cNvSpPr/>
          <p:nvPr/>
        </p:nvSpPr>
        <p:spPr>
          <a:xfrm>
            <a:off x="5486797" y="3545085"/>
            <a:ext cx="3265884" cy="848121"/>
          </a:xfrm>
          <a:prstGeom prst="rect">
            <a:avLst/>
          </a:prstGeom>
          <a:solidFill>
            <a:srgbClr val="D6D6EB"/>
          </a:solidFill>
          <a:ln w="12700">
            <a:solidFill>
              <a:srgbClr val="333399"/>
            </a:solidFill>
            <a:prstDash val="solid"/>
          </a:ln>
        </p:spPr>
      </p:sp>
      <p:sp>
        <p:nvSpPr>
          <p:cNvPr id="58" name="Text 55"/>
          <p:cNvSpPr txBox="1"/>
          <p:nvPr/>
        </p:nvSpPr>
        <p:spPr>
          <a:xfrm>
            <a:off x="5582047" y="3602236"/>
            <a:ext cx="3091457" cy="241300"/>
          </a:xfrm>
          <a:prstGeom prst="rect">
            <a:avLst/>
          </a:prstGeom>
          <a:noFill/>
          <a:ln/>
        </p:spPr>
        <p:txBody>
          <a:bodyPr wrap="none" lIns="0" tIns="0" rIns="0" bIns="0" rtlCol="0" anchor="t"/>
          <a:lstStyle/>
          <a:p>
            <a:pPr algn="l" indent="0" marL="0">
              <a:buNone/>
            </a:pPr>
            <a:r>
              <a:rPr lang="en-US" sz="1551" dirty="0">
                <a:solidFill>
                  <a:srgbClr val="000000"/>
                </a:solidFill>
                <a:latin typeface="Calibri" pitchFamily="34" charset="0"/>
                <a:ea typeface="Calibri" pitchFamily="34" charset="-122"/>
                <a:cs typeface="Calibri" pitchFamily="34" charset="-120"/>
              </a:rPr>
              <a:t>Guide the design of HTTP-based APIs</a:t>
            </a:r>
            <a:endParaRPr lang="en-US" sz="1551" dirty="0"/>
          </a:p>
        </p:txBody>
      </p:sp>
      <p:sp>
        <p:nvSpPr>
          <p:cNvPr id="59" name="Shape 56"/>
          <p:cNvSpPr/>
          <p:nvPr/>
        </p:nvSpPr>
        <p:spPr>
          <a:xfrm>
            <a:off x="8752681" y="3545085"/>
            <a:ext cx="3400028" cy="848121"/>
          </a:xfrm>
          <a:prstGeom prst="rect">
            <a:avLst/>
          </a:prstGeom>
          <a:solidFill>
            <a:srgbClr val="D6D6EB"/>
          </a:solidFill>
          <a:ln w="12700">
            <a:solidFill>
              <a:srgbClr val="333399"/>
            </a:solidFill>
            <a:prstDash val="solid"/>
          </a:ln>
        </p:spPr>
      </p:sp>
      <p:sp>
        <p:nvSpPr>
          <p:cNvPr id="60" name="Text 57"/>
          <p:cNvSpPr txBox="1"/>
          <p:nvPr/>
        </p:nvSpPr>
        <p:spPr>
          <a:xfrm>
            <a:off x="8841581" y="3602236"/>
            <a:ext cx="3247628"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GET queries can be unwieldy (URI syntax, encoding); POST queries lose caching and linking</a:t>
            </a:r>
            <a:endParaRPr lang="en-US" sz="1551" dirty="0"/>
          </a:p>
        </p:txBody>
      </p:sp>
      <p:sp>
        <p:nvSpPr>
          <p:cNvPr id="61" name="Shape 58"/>
          <p:cNvSpPr/>
          <p:nvPr/>
        </p:nvSpPr>
        <p:spPr>
          <a:xfrm>
            <a:off x="11311" y="5464771"/>
            <a:ext cx="12141399" cy="12700"/>
          </a:xfrm>
          <a:prstGeom prst="rect">
            <a:avLst/>
          </a:prstGeom>
          <a:solidFill>
            <a:srgbClr val="9CA3AF">
              <a:alpha val="20000"/>
            </a:srgbClr>
          </a:solidFill>
          <a:ln/>
        </p:spPr>
      </p:sp>
      <p:sp>
        <p:nvSpPr>
          <p:cNvPr id="62" name="Shape 59"/>
          <p:cNvSpPr/>
          <p:nvPr/>
        </p:nvSpPr>
        <p:spPr>
          <a:xfrm>
            <a:off x="11311" y="4393208"/>
            <a:ext cx="2816621" cy="1084263"/>
          </a:xfrm>
          <a:prstGeom prst="rect">
            <a:avLst/>
          </a:prstGeom>
          <a:solidFill>
            <a:srgbClr val="FFFFFF"/>
          </a:solidFill>
          <a:ln w="12700">
            <a:solidFill>
              <a:srgbClr val="333399"/>
            </a:solidFill>
            <a:prstDash val="solid"/>
          </a:ln>
        </p:spPr>
      </p:sp>
      <p:sp>
        <p:nvSpPr>
          <p:cNvPr id="63" name="Text 60"/>
          <p:cNvSpPr txBox="1"/>
          <p:nvPr/>
        </p:nvSpPr>
        <p:spPr>
          <a:xfrm>
            <a:off x="100211" y="4450357"/>
            <a:ext cx="2664221"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A. Backman, J. Richer, M. Sporny (Eds.),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 Message Signatures</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RFC 9421, 2024</a:t>
            </a:r>
            <a:endParaRPr lang="en-US" sz="1551" dirty="0"/>
          </a:p>
        </p:txBody>
      </p:sp>
      <p:sp>
        <p:nvSpPr>
          <p:cNvPr id="64" name="Shape 61"/>
          <p:cNvSpPr/>
          <p:nvPr/>
        </p:nvSpPr>
        <p:spPr>
          <a:xfrm>
            <a:off x="2827933" y="4393208"/>
            <a:ext cx="2658864" cy="1084263"/>
          </a:xfrm>
          <a:prstGeom prst="rect">
            <a:avLst/>
          </a:prstGeom>
          <a:solidFill>
            <a:srgbClr val="FFFFFF"/>
          </a:solidFill>
          <a:ln w="12700">
            <a:solidFill>
              <a:srgbClr val="333399"/>
            </a:solidFill>
            <a:prstDash val="solid"/>
          </a:ln>
        </p:spPr>
      </p:sp>
      <p:sp>
        <p:nvSpPr>
          <p:cNvPr id="65" name="Text 62"/>
          <p:cNvSpPr txBox="1"/>
          <p:nvPr/>
        </p:nvSpPr>
        <p:spPr>
          <a:xfrm>
            <a:off x="2916833" y="4450357"/>
            <a:ext cx="250646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IETF Standards Track specification</a:t>
            </a:r>
            <a:endParaRPr lang="en-US" sz="1551" dirty="0"/>
          </a:p>
        </p:txBody>
      </p:sp>
      <p:sp>
        <p:nvSpPr>
          <p:cNvPr id="66" name="Shape 63"/>
          <p:cNvSpPr/>
          <p:nvPr/>
        </p:nvSpPr>
        <p:spPr>
          <a:xfrm>
            <a:off x="5486797" y="4393208"/>
            <a:ext cx="3265884" cy="1084263"/>
          </a:xfrm>
          <a:prstGeom prst="rect">
            <a:avLst/>
          </a:prstGeom>
          <a:solidFill>
            <a:srgbClr val="FFFFFF"/>
          </a:solidFill>
          <a:ln w="12700">
            <a:solidFill>
              <a:srgbClr val="333399"/>
            </a:solidFill>
            <a:prstDash val="solid"/>
          </a:ln>
        </p:spPr>
      </p:sp>
      <p:sp>
        <p:nvSpPr>
          <p:cNvPr id="67" name="Text 64"/>
          <p:cNvSpPr txBox="1"/>
          <p:nvPr/>
        </p:nvSpPr>
        <p:spPr>
          <a:xfrm>
            <a:off x="5575697" y="4450357"/>
            <a:ext cx="311348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Sign HTTP message components for integrity and authenticity</a:t>
            </a:r>
            <a:endParaRPr lang="en-US" sz="1551" dirty="0"/>
          </a:p>
        </p:txBody>
      </p:sp>
      <p:sp>
        <p:nvSpPr>
          <p:cNvPr id="68" name="Shape 65"/>
          <p:cNvSpPr/>
          <p:nvPr/>
        </p:nvSpPr>
        <p:spPr>
          <a:xfrm>
            <a:off x="8752681" y="4393208"/>
            <a:ext cx="3400028" cy="1084263"/>
          </a:xfrm>
          <a:prstGeom prst="rect">
            <a:avLst/>
          </a:prstGeom>
          <a:solidFill>
            <a:srgbClr val="FFFFFF"/>
          </a:solidFill>
          <a:ln w="12700">
            <a:solidFill>
              <a:srgbClr val="333399"/>
            </a:solidFill>
            <a:prstDash val="solid"/>
          </a:ln>
        </p:spPr>
      </p:sp>
      <p:sp>
        <p:nvSpPr>
          <p:cNvPr id="69" name="Text 66"/>
          <p:cNvSpPr txBox="1"/>
          <p:nvPr/>
        </p:nvSpPr>
        <p:spPr>
          <a:xfrm>
            <a:off x="8841581" y="4450357"/>
            <a:ext cx="3247628" cy="94972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@query covers only the URI query; content needs Content-Digest (RFC 9530); query / form parameter shadowing</a:t>
            </a:r>
            <a:endParaRPr lang="en-US" sz="155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34973" y="6586140"/>
            <a:ext cx="337145"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11</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9CA3AF">
              <a:alpha val="20000"/>
            </a:srgbClr>
          </a:solidFill>
          <a:ln/>
        </p:spPr>
      </p:sp>
      <p:sp>
        <p:nvSpPr>
          <p:cNvPr id="10" name="Shape 7"/>
          <p:cNvSpPr/>
          <p:nvPr/>
        </p:nvSpPr>
        <p:spPr>
          <a:xfrm>
            <a:off x="11311" y="989211"/>
            <a:ext cx="2816621" cy="381000"/>
          </a:xfrm>
          <a:prstGeom prst="rect">
            <a:avLst/>
          </a:prstGeom>
          <a:solidFill>
            <a:srgbClr val="FFFFFF"/>
          </a:solidFill>
          <a:ln/>
        </p:spPr>
      </p:sp>
      <p:sp>
        <p:nvSpPr>
          <p:cNvPr id="11" name="Shape 8"/>
          <p:cNvSpPr/>
          <p:nvPr/>
        </p:nvSpPr>
        <p:spPr>
          <a:xfrm>
            <a:off x="11311" y="989211"/>
            <a:ext cx="2816621" cy="12700"/>
          </a:xfrm>
          <a:prstGeom prst="rect">
            <a:avLst/>
          </a:prstGeom>
          <a:solidFill>
            <a:srgbClr val="333399"/>
          </a:solidFill>
          <a:ln/>
        </p:spPr>
      </p:sp>
      <p:sp>
        <p:nvSpPr>
          <p:cNvPr id="12" name="Shape 9"/>
          <p:cNvSpPr/>
          <p:nvPr/>
        </p:nvSpPr>
        <p:spPr>
          <a:xfrm>
            <a:off x="2815233" y="989211"/>
            <a:ext cx="12700" cy="381000"/>
          </a:xfrm>
          <a:prstGeom prst="rect">
            <a:avLst/>
          </a:prstGeom>
          <a:solidFill>
            <a:srgbClr val="333399"/>
          </a:solidFill>
          <a:ln/>
        </p:spPr>
      </p:sp>
      <p:sp>
        <p:nvSpPr>
          <p:cNvPr id="13" name="Shape 10"/>
          <p:cNvSpPr/>
          <p:nvPr/>
        </p:nvSpPr>
        <p:spPr>
          <a:xfrm>
            <a:off x="11311" y="1344811"/>
            <a:ext cx="2816621" cy="25400"/>
          </a:xfrm>
          <a:prstGeom prst="rect">
            <a:avLst/>
          </a:prstGeom>
          <a:solidFill>
            <a:srgbClr val="333399"/>
          </a:solidFill>
          <a:ln/>
        </p:spPr>
      </p:sp>
      <p:sp>
        <p:nvSpPr>
          <p:cNvPr id="14" name="Shape 11"/>
          <p:cNvSpPr/>
          <p:nvPr/>
        </p:nvSpPr>
        <p:spPr>
          <a:xfrm>
            <a:off x="11311" y="989211"/>
            <a:ext cx="12700" cy="381000"/>
          </a:xfrm>
          <a:prstGeom prst="rect">
            <a:avLst/>
          </a:prstGeom>
          <a:solidFill>
            <a:srgbClr val="333399"/>
          </a:solidFill>
          <a:ln/>
        </p:spPr>
      </p:sp>
      <p:sp>
        <p:nvSpPr>
          <p:cNvPr id="15" name="Text 12"/>
          <p:cNvSpPr txBox="1"/>
          <p:nvPr/>
        </p:nvSpPr>
        <p:spPr>
          <a:xfrm>
            <a:off x="524867" y="1024335"/>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6" name="Shape 13"/>
          <p:cNvSpPr/>
          <p:nvPr/>
        </p:nvSpPr>
        <p:spPr>
          <a:xfrm>
            <a:off x="2827933" y="989211"/>
            <a:ext cx="2658864" cy="381000"/>
          </a:xfrm>
          <a:prstGeom prst="rect">
            <a:avLst/>
          </a:prstGeom>
          <a:solidFill>
            <a:srgbClr val="FFFFFF"/>
          </a:solidFill>
          <a:ln/>
        </p:spPr>
      </p:sp>
      <p:sp>
        <p:nvSpPr>
          <p:cNvPr id="17" name="Shape 14"/>
          <p:cNvSpPr/>
          <p:nvPr/>
        </p:nvSpPr>
        <p:spPr>
          <a:xfrm>
            <a:off x="2827933" y="989211"/>
            <a:ext cx="2658864" cy="12700"/>
          </a:xfrm>
          <a:prstGeom prst="rect">
            <a:avLst/>
          </a:prstGeom>
          <a:solidFill>
            <a:srgbClr val="333399"/>
          </a:solidFill>
          <a:ln/>
        </p:spPr>
      </p:sp>
      <p:sp>
        <p:nvSpPr>
          <p:cNvPr id="18" name="Shape 15"/>
          <p:cNvSpPr/>
          <p:nvPr/>
        </p:nvSpPr>
        <p:spPr>
          <a:xfrm>
            <a:off x="5474097" y="989211"/>
            <a:ext cx="12700" cy="381000"/>
          </a:xfrm>
          <a:prstGeom prst="rect">
            <a:avLst/>
          </a:prstGeom>
          <a:solidFill>
            <a:srgbClr val="333399"/>
          </a:solidFill>
          <a:ln/>
        </p:spPr>
      </p:sp>
      <p:sp>
        <p:nvSpPr>
          <p:cNvPr id="19" name="Shape 16"/>
          <p:cNvSpPr/>
          <p:nvPr/>
        </p:nvSpPr>
        <p:spPr>
          <a:xfrm>
            <a:off x="2827933" y="1344811"/>
            <a:ext cx="2658864" cy="25400"/>
          </a:xfrm>
          <a:prstGeom prst="rect">
            <a:avLst/>
          </a:prstGeom>
          <a:solidFill>
            <a:srgbClr val="333399"/>
          </a:solidFill>
          <a:ln/>
        </p:spPr>
      </p:sp>
      <p:sp>
        <p:nvSpPr>
          <p:cNvPr id="20" name="Shape 17"/>
          <p:cNvSpPr/>
          <p:nvPr/>
        </p:nvSpPr>
        <p:spPr>
          <a:xfrm>
            <a:off x="2827933" y="989211"/>
            <a:ext cx="12700" cy="381000"/>
          </a:xfrm>
          <a:prstGeom prst="rect">
            <a:avLst/>
          </a:prstGeom>
          <a:solidFill>
            <a:srgbClr val="333399"/>
          </a:solidFill>
          <a:ln/>
        </p:spPr>
      </p:sp>
      <p:sp>
        <p:nvSpPr>
          <p:cNvPr id="21" name="Text 18"/>
          <p:cNvSpPr txBox="1"/>
          <p:nvPr/>
        </p:nvSpPr>
        <p:spPr>
          <a:xfrm>
            <a:off x="3716735" y="1024335"/>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22" name="Shape 19"/>
          <p:cNvSpPr/>
          <p:nvPr/>
        </p:nvSpPr>
        <p:spPr>
          <a:xfrm>
            <a:off x="5486797" y="989211"/>
            <a:ext cx="3265884" cy="381000"/>
          </a:xfrm>
          <a:prstGeom prst="rect">
            <a:avLst/>
          </a:prstGeom>
          <a:solidFill>
            <a:srgbClr val="FFFFFF"/>
          </a:solidFill>
          <a:ln/>
        </p:spPr>
      </p:sp>
      <p:sp>
        <p:nvSpPr>
          <p:cNvPr id="23" name="Shape 20"/>
          <p:cNvSpPr/>
          <p:nvPr/>
        </p:nvSpPr>
        <p:spPr>
          <a:xfrm>
            <a:off x="5486797" y="989211"/>
            <a:ext cx="3265884" cy="12700"/>
          </a:xfrm>
          <a:prstGeom prst="rect">
            <a:avLst/>
          </a:prstGeom>
          <a:solidFill>
            <a:srgbClr val="333399"/>
          </a:solidFill>
          <a:ln/>
        </p:spPr>
      </p:sp>
      <p:sp>
        <p:nvSpPr>
          <p:cNvPr id="24" name="Shape 21"/>
          <p:cNvSpPr/>
          <p:nvPr/>
        </p:nvSpPr>
        <p:spPr>
          <a:xfrm>
            <a:off x="8739981" y="989211"/>
            <a:ext cx="12700" cy="381000"/>
          </a:xfrm>
          <a:prstGeom prst="rect">
            <a:avLst/>
          </a:prstGeom>
          <a:solidFill>
            <a:srgbClr val="333399"/>
          </a:solidFill>
          <a:ln/>
        </p:spPr>
      </p:sp>
      <p:sp>
        <p:nvSpPr>
          <p:cNvPr id="25" name="Shape 22"/>
          <p:cNvSpPr/>
          <p:nvPr/>
        </p:nvSpPr>
        <p:spPr>
          <a:xfrm>
            <a:off x="5486797" y="1344811"/>
            <a:ext cx="3265884" cy="25400"/>
          </a:xfrm>
          <a:prstGeom prst="rect">
            <a:avLst/>
          </a:prstGeom>
          <a:solidFill>
            <a:srgbClr val="333399"/>
          </a:solidFill>
          <a:ln/>
        </p:spPr>
      </p:sp>
      <p:sp>
        <p:nvSpPr>
          <p:cNvPr id="26" name="Shape 23"/>
          <p:cNvSpPr/>
          <p:nvPr/>
        </p:nvSpPr>
        <p:spPr>
          <a:xfrm>
            <a:off x="5486797" y="989211"/>
            <a:ext cx="12700" cy="381000"/>
          </a:xfrm>
          <a:prstGeom prst="rect">
            <a:avLst/>
          </a:prstGeom>
          <a:solidFill>
            <a:srgbClr val="333399"/>
          </a:solidFill>
          <a:ln/>
        </p:spPr>
      </p:sp>
      <p:sp>
        <p:nvSpPr>
          <p:cNvPr id="27" name="Text 24"/>
          <p:cNvSpPr txBox="1"/>
          <p:nvPr/>
        </p:nvSpPr>
        <p:spPr>
          <a:xfrm>
            <a:off x="6234907" y="1024335"/>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28" name="Shape 25"/>
          <p:cNvSpPr/>
          <p:nvPr/>
        </p:nvSpPr>
        <p:spPr>
          <a:xfrm>
            <a:off x="8752681" y="989211"/>
            <a:ext cx="3400028" cy="381000"/>
          </a:xfrm>
          <a:prstGeom prst="rect">
            <a:avLst/>
          </a:prstGeom>
          <a:solidFill>
            <a:srgbClr val="FFFFFF"/>
          </a:solidFill>
          <a:ln/>
        </p:spPr>
      </p:sp>
      <p:sp>
        <p:nvSpPr>
          <p:cNvPr id="29" name="Shape 26"/>
          <p:cNvSpPr/>
          <p:nvPr/>
        </p:nvSpPr>
        <p:spPr>
          <a:xfrm>
            <a:off x="8752681" y="989211"/>
            <a:ext cx="3400028" cy="12700"/>
          </a:xfrm>
          <a:prstGeom prst="rect">
            <a:avLst/>
          </a:prstGeom>
          <a:solidFill>
            <a:srgbClr val="333399"/>
          </a:solidFill>
          <a:ln/>
        </p:spPr>
      </p:sp>
      <p:sp>
        <p:nvSpPr>
          <p:cNvPr id="30" name="Shape 27"/>
          <p:cNvSpPr/>
          <p:nvPr/>
        </p:nvSpPr>
        <p:spPr>
          <a:xfrm>
            <a:off x="12140009" y="989211"/>
            <a:ext cx="12700" cy="381000"/>
          </a:xfrm>
          <a:prstGeom prst="rect">
            <a:avLst/>
          </a:prstGeom>
          <a:solidFill>
            <a:srgbClr val="333399"/>
          </a:solidFill>
          <a:ln/>
        </p:spPr>
      </p:sp>
      <p:sp>
        <p:nvSpPr>
          <p:cNvPr id="31" name="Shape 28"/>
          <p:cNvSpPr/>
          <p:nvPr/>
        </p:nvSpPr>
        <p:spPr>
          <a:xfrm>
            <a:off x="8752681" y="1344811"/>
            <a:ext cx="3400028" cy="25400"/>
          </a:xfrm>
          <a:prstGeom prst="rect">
            <a:avLst/>
          </a:prstGeom>
          <a:solidFill>
            <a:srgbClr val="333399"/>
          </a:solidFill>
          <a:ln/>
        </p:spPr>
      </p:sp>
      <p:sp>
        <p:nvSpPr>
          <p:cNvPr id="32" name="Shape 29"/>
          <p:cNvSpPr/>
          <p:nvPr/>
        </p:nvSpPr>
        <p:spPr>
          <a:xfrm>
            <a:off x="8752681" y="989211"/>
            <a:ext cx="12700" cy="381000"/>
          </a:xfrm>
          <a:prstGeom prst="rect">
            <a:avLst/>
          </a:prstGeom>
          <a:solidFill>
            <a:srgbClr val="333399"/>
          </a:solidFill>
          <a:ln/>
        </p:spPr>
      </p:sp>
      <p:sp>
        <p:nvSpPr>
          <p:cNvPr id="33" name="Text 30"/>
          <p:cNvSpPr txBox="1"/>
          <p:nvPr/>
        </p:nvSpPr>
        <p:spPr>
          <a:xfrm>
            <a:off x="9787136" y="1024335"/>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34" name="Shape 31"/>
          <p:cNvSpPr/>
          <p:nvPr/>
        </p:nvSpPr>
        <p:spPr>
          <a:xfrm>
            <a:off x="11311" y="2768203"/>
            <a:ext cx="12141399" cy="12700"/>
          </a:xfrm>
          <a:prstGeom prst="rect">
            <a:avLst/>
          </a:prstGeom>
          <a:solidFill>
            <a:srgbClr val="9CA3AF">
              <a:alpha val="20000"/>
            </a:srgbClr>
          </a:solidFill>
          <a:ln/>
        </p:spPr>
      </p:sp>
      <p:sp>
        <p:nvSpPr>
          <p:cNvPr id="35" name="Shape 32"/>
          <p:cNvSpPr/>
          <p:nvPr/>
        </p:nvSpPr>
        <p:spPr>
          <a:xfrm>
            <a:off x="11311" y="1370211"/>
            <a:ext cx="2816621" cy="1410692"/>
          </a:xfrm>
          <a:prstGeom prst="rect">
            <a:avLst/>
          </a:prstGeom>
          <a:solidFill>
            <a:srgbClr val="D6D6EB"/>
          </a:solidFill>
          <a:ln w="12700">
            <a:solidFill>
              <a:srgbClr val="333399"/>
            </a:solidFill>
            <a:prstDash val="solid"/>
          </a:ln>
        </p:spPr>
      </p:sp>
      <p:sp>
        <p:nvSpPr>
          <p:cNvPr id="36" name="Text 33"/>
          <p:cNvSpPr txBox="1"/>
          <p:nvPr/>
        </p:nvSpPr>
        <p:spPr>
          <a:xfrm>
            <a:off x="100211" y="1459111"/>
            <a:ext cx="2664221" cy="1232693"/>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O. Starov, P. Gill, N. Nikiforakis, “</a:t>
            </a:r>
            <a:pPr algn="l" indent="0" marL="0">
              <a:lnSpc>
                <a:spcPts val="1952"/>
              </a:lnSpc>
              <a:buNone/>
            </a:pPr>
            <a:r>
              <a:rPr lang="en-US" sz="16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Are You Sure You Want to Contact Us? Quantifying the Leakage of PII via Website Contact Forms</a:t>
            </a:r>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 PoPETs, 2016</a:t>
            </a:r>
            <a:endParaRPr lang="en-US" sz="1600" dirty="0"/>
          </a:p>
        </p:txBody>
      </p:sp>
      <p:sp>
        <p:nvSpPr>
          <p:cNvPr id="37" name="Shape 34"/>
          <p:cNvSpPr/>
          <p:nvPr/>
        </p:nvSpPr>
        <p:spPr>
          <a:xfrm>
            <a:off x="2827933" y="1370211"/>
            <a:ext cx="2658864" cy="1410692"/>
          </a:xfrm>
          <a:prstGeom prst="rect">
            <a:avLst/>
          </a:prstGeom>
          <a:solidFill>
            <a:srgbClr val="D6D6EB"/>
          </a:solidFill>
          <a:ln w="12700">
            <a:solidFill>
              <a:srgbClr val="333399"/>
            </a:solidFill>
            <a:prstDash val="solid"/>
          </a:ln>
        </p:spPr>
      </p:sp>
      <p:sp>
        <p:nvSpPr>
          <p:cNvPr id="38" name="Text 35"/>
          <p:cNvSpPr txBox="1"/>
          <p:nvPr/>
        </p:nvSpPr>
        <p:spPr>
          <a:xfrm>
            <a:off x="2916833" y="1459111"/>
            <a:ext cx="2506464" cy="489148"/>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Contact pages of the 100,000 most popular websites</a:t>
            </a:r>
            <a:endParaRPr lang="en-US" sz="1600" dirty="0"/>
          </a:p>
        </p:txBody>
      </p:sp>
      <p:sp>
        <p:nvSpPr>
          <p:cNvPr id="39" name="Shape 36"/>
          <p:cNvSpPr/>
          <p:nvPr/>
        </p:nvSpPr>
        <p:spPr>
          <a:xfrm>
            <a:off x="5486797" y="1370211"/>
            <a:ext cx="3265884" cy="1410692"/>
          </a:xfrm>
          <a:prstGeom prst="rect">
            <a:avLst/>
          </a:prstGeom>
          <a:solidFill>
            <a:srgbClr val="D6D6EB"/>
          </a:solidFill>
          <a:ln w="12700">
            <a:solidFill>
              <a:srgbClr val="333399"/>
            </a:solidFill>
            <a:prstDash val="solid"/>
          </a:ln>
        </p:spPr>
      </p:sp>
      <p:sp>
        <p:nvSpPr>
          <p:cNvPr id="40" name="Text 37"/>
          <p:cNvSpPr txBox="1"/>
          <p:nvPr/>
        </p:nvSpPr>
        <p:spPr>
          <a:xfrm>
            <a:off x="5575697" y="1459111"/>
            <a:ext cx="3113484" cy="736997"/>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Measure leakage of personally identifiable information submitted via contact forms</a:t>
            </a:r>
            <a:endParaRPr lang="en-US" sz="1600" dirty="0"/>
          </a:p>
        </p:txBody>
      </p:sp>
      <p:sp>
        <p:nvSpPr>
          <p:cNvPr id="41" name="Shape 38"/>
          <p:cNvSpPr/>
          <p:nvPr/>
        </p:nvSpPr>
        <p:spPr>
          <a:xfrm>
            <a:off x="8752681" y="1370211"/>
            <a:ext cx="3400028" cy="1410692"/>
          </a:xfrm>
          <a:prstGeom prst="rect">
            <a:avLst/>
          </a:prstGeom>
          <a:solidFill>
            <a:srgbClr val="D6D6EB"/>
          </a:solidFill>
          <a:ln w="12700">
            <a:solidFill>
              <a:srgbClr val="333399"/>
            </a:solidFill>
            <a:prstDash val="solid"/>
          </a:ln>
        </p:spPr>
      </p:sp>
      <p:sp>
        <p:nvSpPr>
          <p:cNvPr id="42" name="Text 39"/>
          <p:cNvSpPr txBox="1"/>
          <p:nvPr/>
        </p:nvSpPr>
        <p:spPr>
          <a:xfrm>
            <a:off x="8841581" y="1459111"/>
            <a:ext cx="3247628" cy="736997"/>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PII leaked to third parties via third-party submissions, third-party scripts and the Referer header</a:t>
            </a:r>
            <a:endParaRPr lang="en-US" sz="1600" dirty="0"/>
          </a:p>
        </p:txBody>
      </p:sp>
      <p:sp>
        <p:nvSpPr>
          <p:cNvPr id="43" name="Shape 40"/>
          <p:cNvSpPr/>
          <p:nvPr/>
        </p:nvSpPr>
        <p:spPr>
          <a:xfrm>
            <a:off x="11311" y="4172545"/>
            <a:ext cx="12141399" cy="12700"/>
          </a:xfrm>
          <a:prstGeom prst="rect">
            <a:avLst/>
          </a:prstGeom>
          <a:solidFill>
            <a:srgbClr val="9CA3AF">
              <a:alpha val="20000"/>
            </a:srgbClr>
          </a:solidFill>
          <a:ln/>
        </p:spPr>
      </p:sp>
      <p:sp>
        <p:nvSpPr>
          <p:cNvPr id="44" name="Shape 41"/>
          <p:cNvSpPr/>
          <p:nvPr/>
        </p:nvSpPr>
        <p:spPr>
          <a:xfrm>
            <a:off x="11311" y="2780903"/>
            <a:ext cx="2816621" cy="1404343"/>
          </a:xfrm>
          <a:prstGeom prst="rect">
            <a:avLst/>
          </a:prstGeom>
          <a:solidFill>
            <a:srgbClr val="FFFFFF"/>
          </a:solidFill>
          <a:ln w="12700">
            <a:solidFill>
              <a:srgbClr val="333399"/>
            </a:solidFill>
            <a:prstDash val="solid"/>
          </a:ln>
        </p:spPr>
      </p:sp>
      <p:sp>
        <p:nvSpPr>
          <p:cNvPr id="45" name="Text 42"/>
          <p:cNvSpPr txBox="1"/>
          <p:nvPr/>
        </p:nvSpPr>
        <p:spPr>
          <a:xfrm>
            <a:off x="100211" y="2863453"/>
            <a:ext cx="2664221" cy="1232693"/>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H. V. Nguyen, L. Lo Iacono, H. Federrath, “</a:t>
            </a:r>
            <a:pPr algn="l" indent="0" marL="0">
              <a:lnSpc>
                <a:spcPts val="1952"/>
              </a:lnSpc>
              <a:buNone/>
            </a:pPr>
            <a:r>
              <a:rPr lang="en-US" sz="16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Your Cache Has Fallen: Cache-Poisoned Denial-of-Service Attack</a:t>
            </a:r>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 ACM CCS, 2019</a:t>
            </a:r>
            <a:endParaRPr lang="en-US" sz="1600" dirty="0"/>
          </a:p>
        </p:txBody>
      </p:sp>
      <p:sp>
        <p:nvSpPr>
          <p:cNvPr id="46" name="Shape 43"/>
          <p:cNvSpPr/>
          <p:nvPr/>
        </p:nvSpPr>
        <p:spPr>
          <a:xfrm>
            <a:off x="2827933" y="2780903"/>
            <a:ext cx="2658864" cy="1404343"/>
          </a:xfrm>
          <a:prstGeom prst="rect">
            <a:avLst/>
          </a:prstGeom>
          <a:solidFill>
            <a:srgbClr val="FFFFFF"/>
          </a:solidFill>
          <a:ln w="12700">
            <a:solidFill>
              <a:srgbClr val="333399"/>
            </a:solidFill>
            <a:prstDash val="solid"/>
          </a:ln>
        </p:spPr>
      </p:sp>
      <p:sp>
        <p:nvSpPr>
          <p:cNvPr id="47" name="Text 44"/>
          <p:cNvSpPr txBox="1"/>
          <p:nvPr/>
        </p:nvSpPr>
        <p:spPr>
          <a:xfrm>
            <a:off x="2916833" y="2863453"/>
            <a:ext cx="2506464" cy="489148"/>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15 web caching solutions (proxy caches and CDNs)</a:t>
            </a:r>
            <a:endParaRPr lang="en-US" sz="1600" dirty="0"/>
          </a:p>
        </p:txBody>
      </p:sp>
      <p:sp>
        <p:nvSpPr>
          <p:cNvPr id="48" name="Shape 45"/>
          <p:cNvSpPr/>
          <p:nvPr/>
        </p:nvSpPr>
        <p:spPr>
          <a:xfrm>
            <a:off x="5486797" y="2780903"/>
            <a:ext cx="3265884" cy="1404343"/>
          </a:xfrm>
          <a:prstGeom prst="rect">
            <a:avLst/>
          </a:prstGeom>
          <a:solidFill>
            <a:srgbClr val="FFFFFF"/>
          </a:solidFill>
          <a:ln w="12700">
            <a:solidFill>
              <a:srgbClr val="333399"/>
            </a:solidFill>
            <a:prstDash val="solid"/>
          </a:ln>
        </p:spPr>
      </p:sp>
      <p:sp>
        <p:nvSpPr>
          <p:cNvPr id="49" name="Text 46"/>
          <p:cNvSpPr txBox="1"/>
          <p:nvPr/>
        </p:nvSpPr>
        <p:spPr>
          <a:xfrm>
            <a:off x="5575697" y="2863453"/>
            <a:ext cx="3148124" cy="489148"/>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Study attacks where an origin error is cached and served to other users</a:t>
            </a:r>
            <a:endParaRPr lang="en-US" sz="1600" dirty="0"/>
          </a:p>
        </p:txBody>
      </p:sp>
      <p:sp>
        <p:nvSpPr>
          <p:cNvPr id="50" name="Shape 47"/>
          <p:cNvSpPr/>
          <p:nvPr/>
        </p:nvSpPr>
        <p:spPr>
          <a:xfrm>
            <a:off x="8752681" y="2780903"/>
            <a:ext cx="3400028" cy="1404343"/>
          </a:xfrm>
          <a:prstGeom prst="rect">
            <a:avLst/>
          </a:prstGeom>
          <a:solidFill>
            <a:srgbClr val="FFFFFF"/>
          </a:solidFill>
          <a:ln w="12700">
            <a:solidFill>
              <a:srgbClr val="333399"/>
            </a:solidFill>
            <a:prstDash val="solid"/>
          </a:ln>
        </p:spPr>
      </p:sp>
      <p:sp>
        <p:nvSpPr>
          <p:cNvPr id="51" name="Text 48"/>
          <p:cNvSpPr txBox="1"/>
          <p:nvPr/>
        </p:nvSpPr>
        <p:spPr>
          <a:xfrm>
            <a:off x="8841581" y="2863453"/>
            <a:ext cx="3247628" cy="736997"/>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Introduced CPDoS; 1 proxy cache and 5 CDN services vulnerable; one request can disable a site for a region</a:t>
            </a:r>
            <a:endParaRPr lang="en-US" sz="1600" dirty="0"/>
          </a:p>
        </p:txBody>
      </p:sp>
      <p:sp>
        <p:nvSpPr>
          <p:cNvPr id="52" name="Shape 49"/>
          <p:cNvSpPr/>
          <p:nvPr/>
        </p:nvSpPr>
        <p:spPr>
          <a:xfrm>
            <a:off x="11311" y="5329039"/>
            <a:ext cx="12141399" cy="12700"/>
          </a:xfrm>
          <a:prstGeom prst="rect">
            <a:avLst/>
          </a:prstGeom>
          <a:solidFill>
            <a:srgbClr val="9CA3AF">
              <a:alpha val="20000"/>
            </a:srgbClr>
          </a:solidFill>
          <a:ln/>
        </p:spPr>
      </p:sp>
      <p:sp>
        <p:nvSpPr>
          <p:cNvPr id="53" name="Shape 50"/>
          <p:cNvSpPr/>
          <p:nvPr/>
        </p:nvSpPr>
        <p:spPr>
          <a:xfrm>
            <a:off x="11311" y="4185245"/>
            <a:ext cx="2816621" cy="1156493"/>
          </a:xfrm>
          <a:prstGeom prst="rect">
            <a:avLst/>
          </a:prstGeom>
          <a:solidFill>
            <a:srgbClr val="D6D6EB"/>
          </a:solidFill>
          <a:ln w="12700">
            <a:solidFill>
              <a:srgbClr val="333399"/>
            </a:solidFill>
            <a:prstDash val="solid"/>
          </a:ln>
        </p:spPr>
      </p:sp>
      <p:sp>
        <p:nvSpPr>
          <p:cNvPr id="54" name="Text 51"/>
          <p:cNvSpPr txBox="1"/>
          <p:nvPr/>
        </p:nvSpPr>
        <p:spPr>
          <a:xfrm>
            <a:off x="100211" y="4267795"/>
            <a:ext cx="2664221" cy="984845"/>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S. A. Mirheidari et al., “</a:t>
            </a:r>
            <a:pPr algn="l" indent="0" marL="0">
              <a:lnSpc>
                <a:spcPts val="1952"/>
              </a:lnSpc>
              <a:buNone/>
            </a:pPr>
            <a:r>
              <a:rPr lang="en-US" sz="16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Cached and Confused: Web Cache Deception in the Wild</a:t>
            </a:r>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 USENIX Security, 2020</a:t>
            </a:r>
            <a:endParaRPr lang="en-US" sz="1600" dirty="0"/>
          </a:p>
        </p:txBody>
      </p:sp>
      <p:sp>
        <p:nvSpPr>
          <p:cNvPr id="55" name="Shape 52"/>
          <p:cNvSpPr/>
          <p:nvPr/>
        </p:nvSpPr>
        <p:spPr>
          <a:xfrm>
            <a:off x="2827933" y="4185245"/>
            <a:ext cx="2658864" cy="1156493"/>
          </a:xfrm>
          <a:prstGeom prst="rect">
            <a:avLst/>
          </a:prstGeom>
          <a:solidFill>
            <a:srgbClr val="D6D6EB"/>
          </a:solidFill>
          <a:ln w="12700">
            <a:solidFill>
              <a:srgbClr val="333399"/>
            </a:solidFill>
            <a:prstDash val="solid"/>
          </a:ln>
        </p:spPr>
      </p:sp>
      <p:sp>
        <p:nvSpPr>
          <p:cNvPr id="56" name="Text 53"/>
          <p:cNvSpPr txBox="1"/>
          <p:nvPr/>
        </p:nvSpPr>
        <p:spPr>
          <a:xfrm>
            <a:off x="2916833" y="4267795"/>
            <a:ext cx="2506464" cy="489148"/>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340 high-profile sites from the Alexa Top 5K</a:t>
            </a:r>
            <a:endParaRPr lang="en-US" sz="1600" dirty="0"/>
          </a:p>
        </p:txBody>
      </p:sp>
      <p:sp>
        <p:nvSpPr>
          <p:cNvPr id="57" name="Shape 54"/>
          <p:cNvSpPr/>
          <p:nvPr/>
        </p:nvSpPr>
        <p:spPr>
          <a:xfrm>
            <a:off x="5486797" y="4185245"/>
            <a:ext cx="3265884" cy="1156493"/>
          </a:xfrm>
          <a:prstGeom prst="rect">
            <a:avLst/>
          </a:prstGeom>
          <a:solidFill>
            <a:srgbClr val="D6D6EB"/>
          </a:solidFill>
          <a:ln w="12700">
            <a:solidFill>
              <a:srgbClr val="333399"/>
            </a:solidFill>
            <a:prstDash val="solid"/>
          </a:ln>
        </p:spPr>
      </p:sp>
      <p:sp>
        <p:nvSpPr>
          <p:cNvPr id="58" name="Text 55"/>
          <p:cNvSpPr txBox="1"/>
          <p:nvPr/>
        </p:nvSpPr>
        <p:spPr>
          <a:xfrm>
            <a:off x="5575697" y="4267795"/>
            <a:ext cx="3113484" cy="489148"/>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Quantify web cache deception and path-confusion variants</a:t>
            </a:r>
            <a:endParaRPr lang="en-US" sz="1600" dirty="0"/>
          </a:p>
        </p:txBody>
      </p:sp>
      <p:sp>
        <p:nvSpPr>
          <p:cNvPr id="59" name="Shape 56"/>
          <p:cNvSpPr/>
          <p:nvPr/>
        </p:nvSpPr>
        <p:spPr>
          <a:xfrm>
            <a:off x="8752681" y="4185245"/>
            <a:ext cx="3400028" cy="1156493"/>
          </a:xfrm>
          <a:prstGeom prst="rect">
            <a:avLst/>
          </a:prstGeom>
          <a:solidFill>
            <a:srgbClr val="D6D6EB"/>
          </a:solidFill>
          <a:ln w="12700">
            <a:solidFill>
              <a:srgbClr val="333399"/>
            </a:solidFill>
            <a:prstDash val="solid"/>
          </a:ln>
        </p:spPr>
      </p:sp>
      <p:sp>
        <p:nvSpPr>
          <p:cNvPr id="60" name="Text 57"/>
          <p:cNvSpPr txBox="1"/>
          <p:nvPr/>
        </p:nvSpPr>
        <p:spPr>
          <a:xfrm>
            <a:off x="8841581" y="4267795"/>
            <a:ext cx="3247628" cy="736997"/>
          </a:xfrm>
          <a:prstGeom prst="rect">
            <a:avLst/>
          </a:prstGeom>
          <a:noFill/>
          <a:ln/>
        </p:spPr>
        <p:txBody>
          <a:bodyPr wrap="square" lIns="0" tIns="0" rIns="0" bIns="0" rtlCol="0" anchor="t"/>
          <a:lstStyle/>
          <a:p>
            <a:pPr algn="l" indent="0" marL="0">
              <a:lnSpc>
                <a:spcPts val="1952"/>
              </a:lnSpc>
              <a:buNone/>
            </a:pPr>
            <a:r>
              <a:rPr lang="en-US" sz="1600" dirty="0">
                <a:solidFill>
                  <a:srgbClr val="000000"/>
                </a:solidFill>
                <a:latin typeface="Calibri" pitchFamily="34" charset="0"/>
                <a:ea typeface="Calibri" pitchFamily="34" charset="-122"/>
                <a:cs typeface="Calibri" pitchFamily="34" charset="-120"/>
              </a:rPr>
              <a:t>Private data and auth tokens leaked via caches; many sites still vulnerable two years after disclosure</a:t>
            </a:r>
            <a:endParaRPr lang="en-US" sz="1600" dirty="0"/>
          </a:p>
        </p:txBody>
      </p:sp>
      <p:sp>
        <p:nvSpPr>
          <p:cNvPr id="61" name="Text 58"/>
          <p:cNvSpPr txBox="1"/>
          <p:nvPr/>
        </p:nvSpPr>
        <p:spPr>
          <a:xfrm>
            <a:off x="93861" y="5475089"/>
            <a:ext cx="11352212" cy="228600"/>
          </a:xfrm>
          <a:prstGeom prst="rect">
            <a:avLst/>
          </a:prstGeom>
          <a:noFill/>
          <a:ln/>
        </p:spPr>
        <p:txBody>
          <a:bodyPr wrap="none" lIns="0" tIns="0" rIns="0" bIns="0" rtlCol="0" anchor="t"/>
          <a:lstStyle/>
          <a:p>
            <a:pPr algn="l" indent="0" marL="0">
              <a:buNone/>
            </a:pPr>
            <a:r>
              <a:rPr lang="en-US" sz="1500" i="1" dirty="0">
                <a:solidFill>
                  <a:srgbClr val="993300"/>
                </a:solidFill>
                <a:latin typeface="Calibri" pitchFamily="34" charset="0"/>
                <a:ea typeface="Calibri" pitchFamily="34" charset="-122"/>
                <a:cs typeface="Calibri" pitchFamily="34" charset="-120"/>
              </a:rPr>
              <a:t>No peer-reviewed study of RFC 10008 itself was found (Crossref and web search, Sept 2026); these studies cover the mechanisms QUERY relies on.</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12</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9CA3AF">
              <a:alpha val="20000"/>
            </a:srgbClr>
          </a:solidFill>
          <a:ln/>
        </p:spPr>
      </p:sp>
      <p:sp>
        <p:nvSpPr>
          <p:cNvPr id="10" name="Shape 7"/>
          <p:cNvSpPr/>
          <p:nvPr/>
        </p:nvSpPr>
        <p:spPr>
          <a:xfrm>
            <a:off x="11311" y="989211"/>
            <a:ext cx="2816621" cy="381000"/>
          </a:xfrm>
          <a:prstGeom prst="rect">
            <a:avLst/>
          </a:prstGeom>
          <a:solidFill>
            <a:srgbClr val="FFFFFF"/>
          </a:solidFill>
          <a:ln/>
        </p:spPr>
      </p:sp>
      <p:sp>
        <p:nvSpPr>
          <p:cNvPr id="11" name="Shape 8"/>
          <p:cNvSpPr/>
          <p:nvPr/>
        </p:nvSpPr>
        <p:spPr>
          <a:xfrm>
            <a:off x="11311" y="989211"/>
            <a:ext cx="2816621" cy="12700"/>
          </a:xfrm>
          <a:prstGeom prst="rect">
            <a:avLst/>
          </a:prstGeom>
          <a:solidFill>
            <a:srgbClr val="333399"/>
          </a:solidFill>
          <a:ln/>
        </p:spPr>
      </p:sp>
      <p:sp>
        <p:nvSpPr>
          <p:cNvPr id="12" name="Shape 9"/>
          <p:cNvSpPr/>
          <p:nvPr/>
        </p:nvSpPr>
        <p:spPr>
          <a:xfrm>
            <a:off x="2815233" y="989211"/>
            <a:ext cx="12700" cy="381000"/>
          </a:xfrm>
          <a:prstGeom prst="rect">
            <a:avLst/>
          </a:prstGeom>
          <a:solidFill>
            <a:srgbClr val="333399"/>
          </a:solidFill>
          <a:ln/>
        </p:spPr>
      </p:sp>
      <p:sp>
        <p:nvSpPr>
          <p:cNvPr id="13" name="Shape 10"/>
          <p:cNvSpPr/>
          <p:nvPr/>
        </p:nvSpPr>
        <p:spPr>
          <a:xfrm>
            <a:off x="11311" y="1344811"/>
            <a:ext cx="2816621" cy="25400"/>
          </a:xfrm>
          <a:prstGeom prst="rect">
            <a:avLst/>
          </a:prstGeom>
          <a:solidFill>
            <a:srgbClr val="333399"/>
          </a:solidFill>
          <a:ln/>
        </p:spPr>
      </p:sp>
      <p:sp>
        <p:nvSpPr>
          <p:cNvPr id="14" name="Shape 11"/>
          <p:cNvSpPr/>
          <p:nvPr/>
        </p:nvSpPr>
        <p:spPr>
          <a:xfrm>
            <a:off x="11311" y="989211"/>
            <a:ext cx="12700" cy="381000"/>
          </a:xfrm>
          <a:prstGeom prst="rect">
            <a:avLst/>
          </a:prstGeom>
          <a:solidFill>
            <a:srgbClr val="333399"/>
          </a:solidFill>
          <a:ln/>
        </p:spPr>
      </p:sp>
      <p:sp>
        <p:nvSpPr>
          <p:cNvPr id="15" name="Text 12"/>
          <p:cNvSpPr txBox="1"/>
          <p:nvPr/>
        </p:nvSpPr>
        <p:spPr>
          <a:xfrm>
            <a:off x="524867" y="1026716"/>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6" name="Shape 13"/>
          <p:cNvSpPr/>
          <p:nvPr/>
        </p:nvSpPr>
        <p:spPr>
          <a:xfrm>
            <a:off x="2827933" y="989211"/>
            <a:ext cx="2658864" cy="381000"/>
          </a:xfrm>
          <a:prstGeom prst="rect">
            <a:avLst/>
          </a:prstGeom>
          <a:solidFill>
            <a:srgbClr val="FFFFFF"/>
          </a:solidFill>
          <a:ln/>
        </p:spPr>
      </p:sp>
      <p:sp>
        <p:nvSpPr>
          <p:cNvPr id="17" name="Shape 14"/>
          <p:cNvSpPr/>
          <p:nvPr/>
        </p:nvSpPr>
        <p:spPr>
          <a:xfrm>
            <a:off x="2827933" y="989211"/>
            <a:ext cx="2658864" cy="12700"/>
          </a:xfrm>
          <a:prstGeom prst="rect">
            <a:avLst/>
          </a:prstGeom>
          <a:solidFill>
            <a:srgbClr val="333399"/>
          </a:solidFill>
          <a:ln/>
        </p:spPr>
      </p:sp>
      <p:sp>
        <p:nvSpPr>
          <p:cNvPr id="18" name="Shape 15"/>
          <p:cNvSpPr/>
          <p:nvPr/>
        </p:nvSpPr>
        <p:spPr>
          <a:xfrm>
            <a:off x="5474097" y="989211"/>
            <a:ext cx="12700" cy="381000"/>
          </a:xfrm>
          <a:prstGeom prst="rect">
            <a:avLst/>
          </a:prstGeom>
          <a:solidFill>
            <a:srgbClr val="333399"/>
          </a:solidFill>
          <a:ln/>
        </p:spPr>
      </p:sp>
      <p:sp>
        <p:nvSpPr>
          <p:cNvPr id="19" name="Shape 16"/>
          <p:cNvSpPr/>
          <p:nvPr/>
        </p:nvSpPr>
        <p:spPr>
          <a:xfrm>
            <a:off x="2827933" y="1344811"/>
            <a:ext cx="2658864" cy="25400"/>
          </a:xfrm>
          <a:prstGeom prst="rect">
            <a:avLst/>
          </a:prstGeom>
          <a:solidFill>
            <a:srgbClr val="333399"/>
          </a:solidFill>
          <a:ln/>
        </p:spPr>
      </p:sp>
      <p:sp>
        <p:nvSpPr>
          <p:cNvPr id="20" name="Shape 17"/>
          <p:cNvSpPr/>
          <p:nvPr/>
        </p:nvSpPr>
        <p:spPr>
          <a:xfrm>
            <a:off x="2827933" y="989211"/>
            <a:ext cx="12700" cy="381000"/>
          </a:xfrm>
          <a:prstGeom prst="rect">
            <a:avLst/>
          </a:prstGeom>
          <a:solidFill>
            <a:srgbClr val="333399"/>
          </a:solidFill>
          <a:ln/>
        </p:spPr>
      </p:sp>
      <p:sp>
        <p:nvSpPr>
          <p:cNvPr id="21" name="Text 18"/>
          <p:cNvSpPr txBox="1"/>
          <p:nvPr/>
        </p:nvSpPr>
        <p:spPr>
          <a:xfrm>
            <a:off x="3716735" y="1026716"/>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22" name="Shape 19"/>
          <p:cNvSpPr/>
          <p:nvPr/>
        </p:nvSpPr>
        <p:spPr>
          <a:xfrm>
            <a:off x="5486797" y="989211"/>
            <a:ext cx="3265884" cy="381000"/>
          </a:xfrm>
          <a:prstGeom prst="rect">
            <a:avLst/>
          </a:prstGeom>
          <a:solidFill>
            <a:srgbClr val="FFFFFF"/>
          </a:solidFill>
          <a:ln/>
        </p:spPr>
      </p:sp>
      <p:sp>
        <p:nvSpPr>
          <p:cNvPr id="23" name="Shape 20"/>
          <p:cNvSpPr/>
          <p:nvPr/>
        </p:nvSpPr>
        <p:spPr>
          <a:xfrm>
            <a:off x="5486797" y="989211"/>
            <a:ext cx="3265884" cy="12700"/>
          </a:xfrm>
          <a:prstGeom prst="rect">
            <a:avLst/>
          </a:prstGeom>
          <a:solidFill>
            <a:srgbClr val="333399"/>
          </a:solidFill>
          <a:ln/>
        </p:spPr>
      </p:sp>
      <p:sp>
        <p:nvSpPr>
          <p:cNvPr id="24" name="Shape 21"/>
          <p:cNvSpPr/>
          <p:nvPr/>
        </p:nvSpPr>
        <p:spPr>
          <a:xfrm>
            <a:off x="8739981" y="989211"/>
            <a:ext cx="12700" cy="381000"/>
          </a:xfrm>
          <a:prstGeom prst="rect">
            <a:avLst/>
          </a:prstGeom>
          <a:solidFill>
            <a:srgbClr val="333399"/>
          </a:solidFill>
          <a:ln/>
        </p:spPr>
      </p:sp>
      <p:sp>
        <p:nvSpPr>
          <p:cNvPr id="25" name="Shape 22"/>
          <p:cNvSpPr/>
          <p:nvPr/>
        </p:nvSpPr>
        <p:spPr>
          <a:xfrm>
            <a:off x="5486797" y="1344811"/>
            <a:ext cx="3265884" cy="25400"/>
          </a:xfrm>
          <a:prstGeom prst="rect">
            <a:avLst/>
          </a:prstGeom>
          <a:solidFill>
            <a:srgbClr val="333399"/>
          </a:solidFill>
          <a:ln/>
        </p:spPr>
      </p:sp>
      <p:sp>
        <p:nvSpPr>
          <p:cNvPr id="26" name="Shape 23"/>
          <p:cNvSpPr/>
          <p:nvPr/>
        </p:nvSpPr>
        <p:spPr>
          <a:xfrm>
            <a:off x="5486797" y="989211"/>
            <a:ext cx="12700" cy="381000"/>
          </a:xfrm>
          <a:prstGeom prst="rect">
            <a:avLst/>
          </a:prstGeom>
          <a:solidFill>
            <a:srgbClr val="333399"/>
          </a:solidFill>
          <a:ln/>
        </p:spPr>
      </p:sp>
      <p:sp>
        <p:nvSpPr>
          <p:cNvPr id="27" name="Text 24"/>
          <p:cNvSpPr txBox="1"/>
          <p:nvPr/>
        </p:nvSpPr>
        <p:spPr>
          <a:xfrm>
            <a:off x="6234907" y="1026716"/>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28" name="Shape 25"/>
          <p:cNvSpPr/>
          <p:nvPr/>
        </p:nvSpPr>
        <p:spPr>
          <a:xfrm>
            <a:off x="8752681" y="989211"/>
            <a:ext cx="3400028" cy="381000"/>
          </a:xfrm>
          <a:prstGeom prst="rect">
            <a:avLst/>
          </a:prstGeom>
          <a:solidFill>
            <a:srgbClr val="FFFFFF"/>
          </a:solidFill>
          <a:ln/>
        </p:spPr>
      </p:sp>
      <p:sp>
        <p:nvSpPr>
          <p:cNvPr id="29" name="Shape 26"/>
          <p:cNvSpPr/>
          <p:nvPr/>
        </p:nvSpPr>
        <p:spPr>
          <a:xfrm>
            <a:off x="8752681" y="989211"/>
            <a:ext cx="3400028" cy="12700"/>
          </a:xfrm>
          <a:prstGeom prst="rect">
            <a:avLst/>
          </a:prstGeom>
          <a:solidFill>
            <a:srgbClr val="333399"/>
          </a:solidFill>
          <a:ln/>
        </p:spPr>
      </p:sp>
      <p:sp>
        <p:nvSpPr>
          <p:cNvPr id="30" name="Shape 27"/>
          <p:cNvSpPr/>
          <p:nvPr/>
        </p:nvSpPr>
        <p:spPr>
          <a:xfrm>
            <a:off x="12140009" y="989211"/>
            <a:ext cx="12700" cy="381000"/>
          </a:xfrm>
          <a:prstGeom prst="rect">
            <a:avLst/>
          </a:prstGeom>
          <a:solidFill>
            <a:srgbClr val="333399"/>
          </a:solidFill>
          <a:ln/>
        </p:spPr>
      </p:sp>
      <p:sp>
        <p:nvSpPr>
          <p:cNvPr id="31" name="Shape 28"/>
          <p:cNvSpPr/>
          <p:nvPr/>
        </p:nvSpPr>
        <p:spPr>
          <a:xfrm>
            <a:off x="8752681" y="1344811"/>
            <a:ext cx="3400028" cy="25400"/>
          </a:xfrm>
          <a:prstGeom prst="rect">
            <a:avLst/>
          </a:prstGeom>
          <a:solidFill>
            <a:srgbClr val="333399"/>
          </a:solidFill>
          <a:ln/>
        </p:spPr>
      </p:sp>
      <p:sp>
        <p:nvSpPr>
          <p:cNvPr id="32" name="Shape 29"/>
          <p:cNvSpPr/>
          <p:nvPr/>
        </p:nvSpPr>
        <p:spPr>
          <a:xfrm>
            <a:off x="8752681" y="989211"/>
            <a:ext cx="12700" cy="381000"/>
          </a:xfrm>
          <a:prstGeom prst="rect">
            <a:avLst/>
          </a:prstGeom>
          <a:solidFill>
            <a:srgbClr val="333399"/>
          </a:solidFill>
          <a:ln/>
        </p:spPr>
      </p:sp>
      <p:sp>
        <p:nvSpPr>
          <p:cNvPr id="33" name="Text 30"/>
          <p:cNvSpPr txBox="1"/>
          <p:nvPr/>
        </p:nvSpPr>
        <p:spPr>
          <a:xfrm>
            <a:off x="9787136" y="1026716"/>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34" name="Shape 31"/>
          <p:cNvSpPr/>
          <p:nvPr/>
        </p:nvSpPr>
        <p:spPr>
          <a:xfrm>
            <a:off x="11311" y="2684264"/>
            <a:ext cx="12141399" cy="12700"/>
          </a:xfrm>
          <a:prstGeom prst="rect">
            <a:avLst/>
          </a:prstGeom>
          <a:solidFill>
            <a:srgbClr val="9CA3AF">
              <a:alpha val="20000"/>
            </a:srgbClr>
          </a:solidFill>
          <a:ln/>
        </p:spPr>
      </p:sp>
      <p:sp>
        <p:nvSpPr>
          <p:cNvPr id="35" name="Shape 32"/>
          <p:cNvSpPr/>
          <p:nvPr/>
        </p:nvSpPr>
        <p:spPr>
          <a:xfrm>
            <a:off x="11311" y="1370211"/>
            <a:ext cx="2816621" cy="1326753"/>
          </a:xfrm>
          <a:prstGeom prst="rect">
            <a:avLst/>
          </a:prstGeom>
          <a:solidFill>
            <a:srgbClr val="D6D6EB"/>
          </a:solidFill>
          <a:ln w="12700">
            <a:solidFill>
              <a:srgbClr val="333399"/>
            </a:solidFill>
            <a:prstDash val="solid"/>
          </a:ln>
        </p:spPr>
      </p:sp>
      <p:sp>
        <p:nvSpPr>
          <p:cNvPr id="36" name="Text 33"/>
          <p:cNvSpPr txBox="1"/>
          <p:nvPr/>
        </p:nvSpPr>
        <p:spPr>
          <a:xfrm>
            <a:off x="100211" y="1433711"/>
            <a:ext cx="2664221" cy="1185863"/>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B. Jabiyev, S. Sprecher, K. Onarlioglu, E. Kirda,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T-Reqs: HTTP Request Smuggling with Differential Fuzzing</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ACM CCS, 2021</a:t>
            </a:r>
            <a:endParaRPr lang="en-US" sz="1551" dirty="0"/>
          </a:p>
        </p:txBody>
      </p:sp>
      <p:sp>
        <p:nvSpPr>
          <p:cNvPr id="37" name="Shape 34"/>
          <p:cNvSpPr/>
          <p:nvPr/>
        </p:nvSpPr>
        <p:spPr>
          <a:xfrm>
            <a:off x="2827933" y="1370211"/>
            <a:ext cx="2658864" cy="1326753"/>
          </a:xfrm>
          <a:prstGeom prst="rect">
            <a:avLst/>
          </a:prstGeom>
          <a:solidFill>
            <a:srgbClr val="D6D6EB"/>
          </a:solidFill>
          <a:ln w="12700">
            <a:solidFill>
              <a:srgbClr val="333399"/>
            </a:solidFill>
            <a:prstDash val="solid"/>
          </a:ln>
        </p:spPr>
      </p:sp>
      <p:sp>
        <p:nvSpPr>
          <p:cNvPr id="38" name="Text 35"/>
          <p:cNvSpPr txBox="1"/>
          <p:nvPr/>
        </p:nvSpPr>
        <p:spPr>
          <a:xfrm>
            <a:off x="2916833" y="1433711"/>
            <a:ext cx="2506464"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10 popular server, proxy and CDN technologies, tested in pairs</a:t>
            </a:r>
            <a:endParaRPr lang="en-US" sz="1551" dirty="0"/>
          </a:p>
        </p:txBody>
      </p:sp>
      <p:sp>
        <p:nvSpPr>
          <p:cNvPr id="39" name="Shape 36"/>
          <p:cNvSpPr/>
          <p:nvPr/>
        </p:nvSpPr>
        <p:spPr>
          <a:xfrm>
            <a:off x="5486797" y="1370211"/>
            <a:ext cx="3265884" cy="1326753"/>
          </a:xfrm>
          <a:prstGeom prst="rect">
            <a:avLst/>
          </a:prstGeom>
          <a:solidFill>
            <a:srgbClr val="D6D6EB"/>
          </a:solidFill>
          <a:ln w="12700">
            <a:solidFill>
              <a:srgbClr val="333399"/>
            </a:solidFill>
            <a:prstDash val="solid"/>
          </a:ln>
        </p:spPr>
      </p:sp>
      <p:sp>
        <p:nvSpPr>
          <p:cNvPr id="40" name="Text 37"/>
          <p:cNvSpPr txBox="1"/>
          <p:nvPr/>
        </p:nvSpPr>
        <p:spPr>
          <a:xfrm>
            <a:off x="5575697" y="1433711"/>
            <a:ext cx="3113484"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Systematically find HTTP processing discrepancies that enable request smuggling</a:t>
            </a:r>
            <a:endParaRPr lang="en-US" sz="1551" dirty="0"/>
          </a:p>
        </p:txBody>
      </p:sp>
      <p:sp>
        <p:nvSpPr>
          <p:cNvPr id="41" name="Shape 38"/>
          <p:cNvSpPr/>
          <p:nvPr/>
        </p:nvSpPr>
        <p:spPr>
          <a:xfrm>
            <a:off x="8752681" y="1370211"/>
            <a:ext cx="3400028" cy="1326753"/>
          </a:xfrm>
          <a:prstGeom prst="rect">
            <a:avLst/>
          </a:prstGeom>
          <a:solidFill>
            <a:srgbClr val="D6D6EB"/>
          </a:solidFill>
          <a:ln w="12700">
            <a:solidFill>
              <a:srgbClr val="333399"/>
            </a:solidFill>
            <a:prstDash val="solid"/>
          </a:ln>
        </p:spPr>
      </p:sp>
      <p:sp>
        <p:nvSpPr>
          <p:cNvPr id="42" name="Text 39"/>
          <p:cNvSpPr txBox="1"/>
          <p:nvPr/>
        </p:nvSpPr>
        <p:spPr>
          <a:xfrm>
            <a:off x="8841581" y="1433711"/>
            <a:ext cx="3247628"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Grammar-based differential fuzzing found new request manipulations and server pairs prone to smuggling</a:t>
            </a:r>
            <a:endParaRPr lang="en-US" sz="1551" dirty="0"/>
          </a:p>
        </p:txBody>
      </p:sp>
      <p:sp>
        <p:nvSpPr>
          <p:cNvPr id="43" name="Shape 40"/>
          <p:cNvSpPr/>
          <p:nvPr/>
        </p:nvSpPr>
        <p:spPr>
          <a:xfrm>
            <a:off x="11311" y="3768527"/>
            <a:ext cx="12141399" cy="12700"/>
          </a:xfrm>
          <a:prstGeom prst="rect">
            <a:avLst/>
          </a:prstGeom>
          <a:solidFill>
            <a:srgbClr val="9CA3AF">
              <a:alpha val="20000"/>
            </a:srgbClr>
          </a:solidFill>
          <a:ln/>
        </p:spPr>
      </p:sp>
      <p:sp>
        <p:nvSpPr>
          <p:cNvPr id="44" name="Shape 41"/>
          <p:cNvSpPr/>
          <p:nvPr/>
        </p:nvSpPr>
        <p:spPr>
          <a:xfrm>
            <a:off x="11311" y="2696964"/>
            <a:ext cx="2816621" cy="1084263"/>
          </a:xfrm>
          <a:prstGeom prst="rect">
            <a:avLst/>
          </a:prstGeom>
          <a:solidFill>
            <a:srgbClr val="FFFFFF"/>
          </a:solidFill>
          <a:ln w="12700">
            <a:solidFill>
              <a:srgbClr val="333399"/>
            </a:solidFill>
            <a:prstDash val="solid"/>
          </a:ln>
        </p:spPr>
      </p:sp>
      <p:sp>
        <p:nvSpPr>
          <p:cNvPr id="45" name="Text 42"/>
          <p:cNvSpPr txBox="1"/>
          <p:nvPr/>
        </p:nvSpPr>
        <p:spPr>
          <a:xfrm>
            <a:off x="100211" y="2754115"/>
            <a:ext cx="2664221" cy="94972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J. Chen et al.,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We Still Don’t Have Secure Cross-Domain Requests: an Empirical Study of CORS</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USENIX Security, 2018</a:t>
            </a:r>
            <a:endParaRPr lang="en-US" sz="1551" dirty="0"/>
          </a:p>
        </p:txBody>
      </p:sp>
      <p:sp>
        <p:nvSpPr>
          <p:cNvPr id="46" name="Shape 43"/>
          <p:cNvSpPr/>
          <p:nvPr/>
        </p:nvSpPr>
        <p:spPr>
          <a:xfrm>
            <a:off x="2827933" y="2696964"/>
            <a:ext cx="2658864" cy="1084263"/>
          </a:xfrm>
          <a:prstGeom prst="rect">
            <a:avLst/>
          </a:prstGeom>
          <a:solidFill>
            <a:srgbClr val="FFFFFF"/>
          </a:solidFill>
          <a:ln w="12700">
            <a:solidFill>
              <a:srgbClr val="333399"/>
            </a:solidFill>
            <a:prstDash val="solid"/>
          </a:ln>
        </p:spPr>
      </p:sp>
      <p:sp>
        <p:nvSpPr>
          <p:cNvPr id="47" name="Text 44"/>
          <p:cNvSpPr txBox="1"/>
          <p:nvPr/>
        </p:nvSpPr>
        <p:spPr>
          <a:xfrm>
            <a:off x="2916833" y="2754115"/>
            <a:ext cx="2506464"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Real-world uses of CORS: design, implementation, deployment</a:t>
            </a:r>
            <a:endParaRPr lang="en-US" sz="1551" dirty="0"/>
          </a:p>
        </p:txBody>
      </p:sp>
      <p:sp>
        <p:nvSpPr>
          <p:cNvPr id="48" name="Shape 45"/>
          <p:cNvSpPr/>
          <p:nvPr/>
        </p:nvSpPr>
        <p:spPr>
          <a:xfrm>
            <a:off x="5486797" y="2696964"/>
            <a:ext cx="3265884" cy="1084263"/>
          </a:xfrm>
          <a:prstGeom prst="rect">
            <a:avLst/>
          </a:prstGeom>
          <a:solidFill>
            <a:srgbClr val="FFFFFF"/>
          </a:solidFill>
          <a:ln w="12700">
            <a:solidFill>
              <a:srgbClr val="333399"/>
            </a:solidFill>
            <a:prstDash val="solid"/>
          </a:ln>
        </p:spPr>
      </p:sp>
      <p:sp>
        <p:nvSpPr>
          <p:cNvPr id="49" name="Text 46"/>
          <p:cNvSpPr txBox="1"/>
          <p:nvPr/>
        </p:nvSpPr>
        <p:spPr>
          <a:xfrm>
            <a:off x="5582047" y="2754115"/>
            <a:ext cx="3214291" cy="241300"/>
          </a:xfrm>
          <a:prstGeom prst="rect">
            <a:avLst/>
          </a:prstGeom>
          <a:noFill/>
          <a:ln/>
        </p:spPr>
        <p:txBody>
          <a:bodyPr wrap="none" lIns="0" tIns="0" rIns="0" bIns="0" rtlCol="0" anchor="t"/>
          <a:lstStyle/>
          <a:p>
            <a:pPr algn="l" indent="0" marL="0">
              <a:buNone/>
            </a:pPr>
            <a:r>
              <a:rPr lang="en-US" sz="1551" dirty="0">
                <a:solidFill>
                  <a:srgbClr val="000000"/>
                </a:solidFill>
                <a:latin typeface="Calibri" pitchFamily="34" charset="0"/>
                <a:ea typeface="Calibri" pitchFamily="34" charset="-122"/>
                <a:cs typeface="Calibri" pitchFamily="34" charset="-120"/>
              </a:rPr>
              <a:t>Assess the security of CORS in practice</a:t>
            </a:r>
            <a:endParaRPr lang="en-US" sz="1551" dirty="0"/>
          </a:p>
        </p:txBody>
      </p:sp>
      <p:sp>
        <p:nvSpPr>
          <p:cNvPr id="50" name="Shape 47"/>
          <p:cNvSpPr/>
          <p:nvPr/>
        </p:nvSpPr>
        <p:spPr>
          <a:xfrm>
            <a:off x="8752681" y="2696964"/>
            <a:ext cx="3400028" cy="1084263"/>
          </a:xfrm>
          <a:prstGeom prst="rect">
            <a:avLst/>
          </a:prstGeom>
          <a:solidFill>
            <a:srgbClr val="FFFFFF"/>
          </a:solidFill>
          <a:ln w="12700">
            <a:solidFill>
              <a:srgbClr val="333399"/>
            </a:solidFill>
            <a:prstDash val="solid"/>
          </a:ln>
        </p:spPr>
      </p:sp>
      <p:sp>
        <p:nvSpPr>
          <p:cNvPr id="51" name="Text 48"/>
          <p:cNvSpPr txBox="1"/>
          <p:nvPr/>
        </p:nvSpPr>
        <p:spPr>
          <a:xfrm>
            <a:off x="8841581" y="2754115"/>
            <a:ext cx="3247628" cy="94972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CORS relaxes cross-origin “write” in subtle ways, adds risky trust dependencies and is often misconfigured</a:t>
            </a:r>
            <a:endParaRPr lang="en-US" sz="1551" dirty="0"/>
          </a:p>
        </p:txBody>
      </p:sp>
      <p:sp>
        <p:nvSpPr>
          <p:cNvPr id="52" name="Shape 49"/>
          <p:cNvSpPr/>
          <p:nvPr/>
        </p:nvSpPr>
        <p:spPr>
          <a:xfrm>
            <a:off x="11311" y="4616648"/>
            <a:ext cx="12141399" cy="12700"/>
          </a:xfrm>
          <a:prstGeom prst="rect">
            <a:avLst/>
          </a:prstGeom>
          <a:solidFill>
            <a:srgbClr val="9CA3AF">
              <a:alpha val="20000"/>
            </a:srgbClr>
          </a:solidFill>
          <a:ln/>
        </p:spPr>
      </p:sp>
      <p:sp>
        <p:nvSpPr>
          <p:cNvPr id="53" name="Shape 50"/>
          <p:cNvSpPr/>
          <p:nvPr/>
        </p:nvSpPr>
        <p:spPr>
          <a:xfrm>
            <a:off x="11311" y="3781227"/>
            <a:ext cx="2816621" cy="848121"/>
          </a:xfrm>
          <a:prstGeom prst="rect">
            <a:avLst/>
          </a:prstGeom>
          <a:solidFill>
            <a:srgbClr val="D6D6EB"/>
          </a:solidFill>
          <a:ln w="12700">
            <a:solidFill>
              <a:srgbClr val="333399"/>
            </a:solidFill>
            <a:prstDash val="solid"/>
          </a:ln>
        </p:spPr>
      </p:sp>
      <p:sp>
        <p:nvSpPr>
          <p:cNvPr id="54" name="Text 51"/>
          <p:cNvSpPr txBox="1"/>
          <p:nvPr/>
        </p:nvSpPr>
        <p:spPr>
          <a:xfrm>
            <a:off x="100211" y="3838376"/>
            <a:ext cx="2664221"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A. Cha et al.,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 Principled Approach to GraphQL Query Cost Analysis</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ESEC/FSE, 2020</a:t>
            </a:r>
            <a:endParaRPr lang="en-US" sz="1551" dirty="0"/>
          </a:p>
        </p:txBody>
      </p:sp>
      <p:sp>
        <p:nvSpPr>
          <p:cNvPr id="55" name="Shape 52"/>
          <p:cNvSpPr/>
          <p:nvPr/>
        </p:nvSpPr>
        <p:spPr>
          <a:xfrm>
            <a:off x="2827933" y="3781227"/>
            <a:ext cx="2658864" cy="848121"/>
          </a:xfrm>
          <a:prstGeom prst="rect">
            <a:avLst/>
          </a:prstGeom>
          <a:solidFill>
            <a:srgbClr val="D6D6EB"/>
          </a:solidFill>
          <a:ln w="12700">
            <a:solidFill>
              <a:srgbClr val="333399"/>
            </a:solidFill>
            <a:prstDash val="solid"/>
          </a:ln>
        </p:spPr>
      </p:sp>
      <p:sp>
        <p:nvSpPr>
          <p:cNvPr id="56" name="Text 53"/>
          <p:cNvSpPr txBox="1"/>
          <p:nvPr/>
        </p:nvSpPr>
        <p:spPr>
          <a:xfrm>
            <a:off x="2916833" y="3838376"/>
            <a:ext cx="250646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Query-response corpus for two commercial GraphQL APIs</a:t>
            </a:r>
            <a:endParaRPr lang="en-US" sz="1551" dirty="0"/>
          </a:p>
        </p:txBody>
      </p:sp>
      <p:sp>
        <p:nvSpPr>
          <p:cNvPr id="57" name="Shape 54"/>
          <p:cNvSpPr/>
          <p:nvPr/>
        </p:nvSpPr>
        <p:spPr>
          <a:xfrm>
            <a:off x="5486797" y="3781227"/>
            <a:ext cx="3265884" cy="848121"/>
          </a:xfrm>
          <a:prstGeom prst="rect">
            <a:avLst/>
          </a:prstGeom>
          <a:solidFill>
            <a:srgbClr val="D6D6EB"/>
          </a:solidFill>
          <a:ln w="12700">
            <a:solidFill>
              <a:srgbClr val="333399"/>
            </a:solidFill>
            <a:prstDash val="solid"/>
          </a:ln>
        </p:spPr>
      </p:sp>
      <p:sp>
        <p:nvSpPr>
          <p:cNvPr id="58" name="Text 55"/>
          <p:cNvSpPr txBox="1"/>
          <p:nvPr/>
        </p:nvSpPr>
        <p:spPr>
          <a:xfrm>
            <a:off x="5582047" y="3838376"/>
            <a:ext cx="3112095" cy="241300"/>
          </a:xfrm>
          <a:prstGeom prst="rect">
            <a:avLst/>
          </a:prstGeom>
          <a:noFill/>
          <a:ln/>
        </p:spPr>
        <p:txBody>
          <a:bodyPr wrap="none" lIns="0" tIns="0" rIns="0" bIns="0" rtlCol="0" anchor="t"/>
          <a:lstStyle/>
          <a:p>
            <a:pPr algn="l" indent="0" marL="0">
              <a:buNone/>
            </a:pPr>
            <a:r>
              <a:rPr lang="en-US" sz="1551" dirty="0">
                <a:solidFill>
                  <a:srgbClr val="000000"/>
                </a:solidFill>
                <a:latin typeface="Calibri" pitchFamily="34" charset="0"/>
                <a:ea typeface="Calibri" pitchFamily="34" charset="-122"/>
                <a:cs typeface="Calibri" pitchFamily="34" charset="-120"/>
              </a:rPr>
              <a:t>Estimate query cost before execution</a:t>
            </a:r>
            <a:endParaRPr lang="en-US" sz="1551" dirty="0"/>
          </a:p>
        </p:txBody>
      </p:sp>
      <p:sp>
        <p:nvSpPr>
          <p:cNvPr id="59" name="Shape 56"/>
          <p:cNvSpPr/>
          <p:nvPr/>
        </p:nvSpPr>
        <p:spPr>
          <a:xfrm>
            <a:off x="8752681" y="3781227"/>
            <a:ext cx="3400028" cy="848121"/>
          </a:xfrm>
          <a:prstGeom prst="rect">
            <a:avLst/>
          </a:prstGeom>
          <a:solidFill>
            <a:srgbClr val="D6D6EB"/>
          </a:solidFill>
          <a:ln w="12700">
            <a:solidFill>
              <a:srgbClr val="333399"/>
            </a:solidFill>
            <a:prstDash val="solid"/>
          </a:ln>
        </p:spPr>
      </p:sp>
      <p:sp>
        <p:nvSpPr>
          <p:cNvPr id="60" name="Text 57"/>
          <p:cNvSpPr txBox="1"/>
          <p:nvPr/>
        </p:nvSpPr>
        <p:spPr>
          <a:xfrm>
            <a:off x="8841581" y="3838376"/>
            <a:ext cx="3247628"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Linear-time static analysis gives tight upper bounds; existing analyses over- or under-estimate</a:t>
            </a:r>
            <a:endParaRPr lang="en-US" sz="1551" dirty="0"/>
          </a:p>
        </p:txBody>
      </p:sp>
      <p:sp>
        <p:nvSpPr>
          <p:cNvPr id="61" name="Shape 58"/>
          <p:cNvSpPr/>
          <p:nvPr/>
        </p:nvSpPr>
        <p:spPr>
          <a:xfrm>
            <a:off x="11311" y="5464771"/>
            <a:ext cx="12141399" cy="12700"/>
          </a:xfrm>
          <a:prstGeom prst="rect">
            <a:avLst/>
          </a:prstGeom>
          <a:solidFill>
            <a:srgbClr val="9CA3AF">
              <a:alpha val="20000"/>
            </a:srgbClr>
          </a:solidFill>
          <a:ln/>
        </p:spPr>
      </p:sp>
      <p:sp>
        <p:nvSpPr>
          <p:cNvPr id="62" name="Shape 59"/>
          <p:cNvSpPr/>
          <p:nvPr/>
        </p:nvSpPr>
        <p:spPr>
          <a:xfrm>
            <a:off x="11311" y="4629348"/>
            <a:ext cx="2816621" cy="848121"/>
          </a:xfrm>
          <a:prstGeom prst="rect">
            <a:avLst/>
          </a:prstGeom>
          <a:solidFill>
            <a:srgbClr val="FFFFFF"/>
          </a:solidFill>
          <a:ln w="12700">
            <a:solidFill>
              <a:srgbClr val="333399"/>
            </a:solidFill>
            <a:prstDash val="solid"/>
          </a:ln>
        </p:spPr>
      </p:sp>
      <p:sp>
        <p:nvSpPr>
          <p:cNvPr id="63" name="Text 60"/>
          <p:cNvSpPr txBox="1"/>
          <p:nvPr/>
        </p:nvSpPr>
        <p:spPr>
          <a:xfrm>
            <a:off x="100211" y="4686499"/>
            <a:ext cx="2664221"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O. Hartig, J. Pérez, “</a:t>
            </a:r>
            <a:pPr algn="l" indent="0" marL="0">
              <a:lnSpc>
                <a:spcPts val="1860"/>
              </a:lnSpc>
              <a:buNone/>
            </a:pPr>
            <a:r>
              <a:rPr lang="en-US" sz="1551"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Semantics and Complexity of GraphQL</a:t>
            </a:r>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 WWW, 2018</a:t>
            </a:r>
            <a:endParaRPr lang="en-US" sz="1551" dirty="0"/>
          </a:p>
        </p:txBody>
      </p:sp>
      <p:sp>
        <p:nvSpPr>
          <p:cNvPr id="64" name="Shape 61"/>
          <p:cNvSpPr/>
          <p:nvPr/>
        </p:nvSpPr>
        <p:spPr>
          <a:xfrm>
            <a:off x="2827933" y="4629348"/>
            <a:ext cx="2658864" cy="848121"/>
          </a:xfrm>
          <a:prstGeom prst="rect">
            <a:avLst/>
          </a:prstGeom>
          <a:solidFill>
            <a:srgbClr val="FFFFFF"/>
          </a:solidFill>
          <a:ln w="12700">
            <a:solidFill>
              <a:srgbClr val="333399"/>
            </a:solidFill>
            <a:prstDash val="solid"/>
          </a:ln>
        </p:spPr>
      </p:sp>
      <p:sp>
        <p:nvSpPr>
          <p:cNvPr id="65" name="Text 62"/>
          <p:cNvSpPr txBox="1"/>
          <p:nvPr/>
        </p:nvSpPr>
        <p:spPr>
          <a:xfrm>
            <a:off x="2916833" y="4686499"/>
            <a:ext cx="252928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Formal model; experiments on practical implementations</a:t>
            </a:r>
            <a:endParaRPr lang="en-US" sz="1551" dirty="0"/>
          </a:p>
        </p:txBody>
      </p:sp>
      <p:sp>
        <p:nvSpPr>
          <p:cNvPr id="66" name="Shape 63"/>
          <p:cNvSpPr/>
          <p:nvPr/>
        </p:nvSpPr>
        <p:spPr>
          <a:xfrm>
            <a:off x="5486797" y="4629348"/>
            <a:ext cx="3265884" cy="848121"/>
          </a:xfrm>
          <a:prstGeom prst="rect">
            <a:avLst/>
          </a:prstGeom>
          <a:solidFill>
            <a:srgbClr val="FFFFFF"/>
          </a:solidFill>
          <a:ln w="12700">
            <a:solidFill>
              <a:srgbClr val="333399"/>
            </a:solidFill>
            <a:prstDash val="solid"/>
          </a:ln>
        </p:spPr>
      </p:sp>
      <p:sp>
        <p:nvSpPr>
          <p:cNvPr id="67" name="Text 64"/>
          <p:cNvSpPr txBox="1"/>
          <p:nvPr/>
        </p:nvSpPr>
        <p:spPr>
          <a:xfrm>
            <a:off x="5575697" y="4686499"/>
            <a:ext cx="3113484" cy="477440"/>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Formalise GraphQL and analyse its complexity</a:t>
            </a:r>
            <a:endParaRPr lang="en-US" sz="1551" dirty="0"/>
          </a:p>
        </p:txBody>
      </p:sp>
      <p:sp>
        <p:nvSpPr>
          <p:cNvPr id="68" name="Shape 65"/>
          <p:cNvSpPr/>
          <p:nvPr/>
        </p:nvSpPr>
        <p:spPr>
          <a:xfrm>
            <a:off x="8752681" y="4629348"/>
            <a:ext cx="3400028" cy="848121"/>
          </a:xfrm>
          <a:prstGeom prst="rect">
            <a:avLst/>
          </a:prstGeom>
          <a:solidFill>
            <a:srgbClr val="FFFFFF"/>
          </a:solidFill>
          <a:ln w="12700">
            <a:solidFill>
              <a:srgbClr val="333399"/>
            </a:solidFill>
            <a:prstDash val="solid"/>
          </a:ln>
        </p:spPr>
      </p:sp>
      <p:sp>
        <p:nvSpPr>
          <p:cNvPr id="69" name="Text 66"/>
          <p:cNvSpPr txBox="1"/>
          <p:nvPr/>
        </p:nvSpPr>
        <p:spPr>
          <a:xfrm>
            <a:off x="8841581" y="4686499"/>
            <a:ext cx="3247628" cy="713581"/>
          </a:xfrm>
          <a:prstGeom prst="rect">
            <a:avLst/>
          </a:prstGeom>
          <a:noFill/>
          <a:ln/>
        </p:spPr>
        <p:txBody>
          <a:bodyPr wrap="square" lIns="0" tIns="0" rIns="0" bIns="0" rtlCol="0" anchor="t"/>
          <a:lstStyle/>
          <a:p>
            <a:pPr algn="l" indent="0" marL="0">
              <a:lnSpc>
                <a:spcPts val="1860"/>
              </a:lnSpc>
              <a:buNone/>
            </a:pPr>
            <a:r>
              <a:rPr lang="en-US" sz="1551" dirty="0">
                <a:solidFill>
                  <a:srgbClr val="000000"/>
                </a:solidFill>
                <a:latin typeface="Calibri" pitchFamily="34" charset="0"/>
                <a:ea typeface="Calibri" pitchFamily="34" charset="-122"/>
                <a:cs typeface="Calibri" pitchFamily="34" charset="-120"/>
              </a:rPr>
              <a:t>Evaluation is NL-complete, yet responses can be prohibitively large; size is computable in polynomial time</a:t>
            </a:r>
            <a:endParaRPr lang="en-US" sz="155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73211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Moving the query out of the URI: GET → POST → QUERY</a:t>
            </a:r>
            <a:endParaRPr lang="en-US" sz="2400" dirty="0"/>
          </a:p>
        </p:txBody>
      </p:sp>
      <p:sp>
        <p:nvSpPr>
          <p:cNvPr id="10" name="Shape 7"/>
          <p:cNvSpPr/>
          <p:nvPr/>
        </p:nvSpPr>
        <p:spPr>
          <a:xfrm>
            <a:off x="91281" y="1361281"/>
            <a:ext cx="11806237" cy="3187700"/>
          </a:xfrm>
          <a:prstGeom prst="rect">
            <a:avLst/>
          </a:prstGeom>
          <a:solidFill>
            <a:srgbClr val="FFFFFF"/>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332581" y="1526381"/>
            <a:ext cx="411560" cy="355600"/>
          </a:xfrm>
          <a:prstGeom prst="rect">
            <a:avLst/>
          </a:prstGeom>
        </p:spPr>
      </p:pic>
      <p:pic>
        <p:nvPicPr>
          <p:cNvPr id="12" name="Image 2" descr="Rendered as an image because of CSS transform">    </p:cNvPr>
          <p:cNvPicPr>
            <a:picLocks noChangeAspect="1"/>
          </p:cNvPicPr>
          <p:nvPr/>
        </p:nvPicPr>
        <p:blipFill>
          <a:blip r:embed="rId3"/>
          <a:stretch>
            <a:fillRect/>
          </a:stretch>
        </p:blipFill>
        <p:spPr>
          <a:xfrm>
            <a:off x="881221" y="1526381"/>
            <a:ext cx="960437" cy="355600"/>
          </a:xfrm>
          <a:prstGeom prst="rect">
            <a:avLst/>
          </a:prstGeom>
        </p:spPr>
      </p:pic>
      <p:pic>
        <p:nvPicPr>
          <p:cNvPr id="13" name="Image 3" descr="Rendered as an image because of CSS transform">    </p:cNvPr>
          <p:cNvPicPr>
            <a:picLocks noChangeAspect="1"/>
          </p:cNvPicPr>
          <p:nvPr/>
        </p:nvPicPr>
        <p:blipFill>
          <a:blip r:embed="rId4"/>
          <a:stretch>
            <a:fillRect/>
          </a:stretch>
        </p:blipFill>
        <p:spPr>
          <a:xfrm>
            <a:off x="1841341" y="1526381"/>
            <a:ext cx="137319" cy="355600"/>
          </a:xfrm>
          <a:prstGeom prst="rect">
            <a:avLst/>
          </a:prstGeom>
        </p:spPr>
      </p:pic>
      <p:pic>
        <p:nvPicPr>
          <p:cNvPr id="14" name="Image 4" descr="Rendered as an image because of CSS transform">    </p:cNvPr>
          <p:cNvPicPr>
            <a:picLocks noChangeAspect="1"/>
          </p:cNvPicPr>
          <p:nvPr/>
        </p:nvPicPr>
        <p:blipFill>
          <a:blip r:embed="rId5"/>
          <a:stretch>
            <a:fillRect/>
          </a:stretch>
        </p:blipFill>
        <p:spPr>
          <a:xfrm>
            <a:off x="3350101" y="1526381"/>
            <a:ext cx="137319" cy="355600"/>
          </a:xfrm>
          <a:prstGeom prst="rect">
            <a:avLst/>
          </a:prstGeom>
        </p:spPr>
      </p:pic>
      <p:pic>
        <p:nvPicPr>
          <p:cNvPr id="15" name="Image 5" descr="Rendered as an image because of CSS transform">    </p:cNvPr>
          <p:cNvPicPr>
            <a:picLocks noChangeAspect="1"/>
          </p:cNvPicPr>
          <p:nvPr/>
        </p:nvPicPr>
        <p:blipFill>
          <a:blip r:embed="rId6"/>
          <a:stretch>
            <a:fillRect/>
          </a:stretch>
        </p:blipFill>
        <p:spPr>
          <a:xfrm>
            <a:off x="5956141" y="1526381"/>
            <a:ext cx="137319" cy="355600"/>
          </a:xfrm>
          <a:prstGeom prst="rect">
            <a:avLst/>
          </a:prstGeom>
        </p:spPr>
      </p:pic>
      <p:pic>
        <p:nvPicPr>
          <p:cNvPr id="16" name="Image 6" descr="Rendered as an image because of CSS transform">    </p:cNvPr>
          <p:cNvPicPr>
            <a:picLocks noChangeAspect="1"/>
          </p:cNvPicPr>
          <p:nvPr/>
        </p:nvPicPr>
        <p:blipFill>
          <a:blip r:embed="rId7"/>
          <a:stretch>
            <a:fillRect/>
          </a:stretch>
        </p:blipFill>
        <p:spPr>
          <a:xfrm>
            <a:off x="8562181" y="1526381"/>
            <a:ext cx="1097557" cy="355600"/>
          </a:xfrm>
          <a:prstGeom prst="rect">
            <a:avLst/>
          </a:prstGeom>
        </p:spPr>
      </p:pic>
      <p:pic>
        <p:nvPicPr>
          <p:cNvPr id="17" name="Image 7" descr="Rendered as an image because of CSS transform">    </p:cNvPr>
          <p:cNvPicPr>
            <a:picLocks noChangeAspect="1"/>
          </p:cNvPicPr>
          <p:nvPr/>
        </p:nvPicPr>
        <p:blipFill>
          <a:blip r:embed="rId8"/>
          <a:stretch>
            <a:fillRect/>
          </a:stretch>
        </p:blipFill>
        <p:spPr>
          <a:xfrm>
            <a:off x="332581" y="1881981"/>
            <a:ext cx="2332236" cy="355600"/>
          </a:xfrm>
          <a:prstGeom prst="rect">
            <a:avLst/>
          </a:prstGeom>
        </p:spPr>
      </p:pic>
      <p:pic>
        <p:nvPicPr>
          <p:cNvPr id="18" name="Image 8" descr="Rendered as an image because of CSS transform">    </p:cNvPr>
          <p:cNvPicPr>
            <a:picLocks noChangeAspect="1"/>
          </p:cNvPicPr>
          <p:nvPr/>
        </p:nvPicPr>
        <p:blipFill>
          <a:blip r:embed="rId9"/>
          <a:stretch>
            <a:fillRect/>
          </a:stretch>
        </p:blipFill>
        <p:spPr>
          <a:xfrm>
            <a:off x="1978501" y="1526381"/>
            <a:ext cx="1371997" cy="355600"/>
          </a:xfrm>
          <a:prstGeom prst="rect">
            <a:avLst/>
          </a:prstGeom>
        </p:spPr>
      </p:pic>
      <p:pic>
        <p:nvPicPr>
          <p:cNvPr id="19" name="Image 9" descr="Rendered as an image because of CSS transform">    </p:cNvPr>
          <p:cNvPicPr>
            <a:picLocks noChangeAspect="1"/>
          </p:cNvPicPr>
          <p:nvPr/>
        </p:nvPicPr>
        <p:blipFill>
          <a:blip r:embed="rId10"/>
          <a:stretch>
            <a:fillRect/>
          </a:stretch>
        </p:blipFill>
        <p:spPr>
          <a:xfrm>
            <a:off x="3487261" y="1526381"/>
            <a:ext cx="2469356" cy="355600"/>
          </a:xfrm>
          <a:prstGeom prst="rect">
            <a:avLst/>
          </a:prstGeom>
        </p:spPr>
      </p:pic>
      <p:pic>
        <p:nvPicPr>
          <p:cNvPr id="20" name="Image 10" descr="Rendered as an image because of CSS transform">    </p:cNvPr>
          <p:cNvPicPr>
            <a:picLocks noChangeAspect="1"/>
          </p:cNvPicPr>
          <p:nvPr/>
        </p:nvPicPr>
        <p:blipFill>
          <a:blip r:embed="rId11"/>
          <a:stretch>
            <a:fillRect/>
          </a:stretch>
        </p:blipFill>
        <p:spPr>
          <a:xfrm>
            <a:off x="6093301" y="1526381"/>
            <a:ext cx="2332236" cy="355600"/>
          </a:xfrm>
          <a:prstGeom prst="rect">
            <a:avLst/>
          </a:prstGeom>
        </p:spPr>
      </p:pic>
      <p:pic>
        <p:nvPicPr>
          <p:cNvPr id="21" name="Image 11" descr="Rendered as an image because of CSS transform">    </p:cNvPr>
          <p:cNvPicPr>
            <a:picLocks noChangeAspect="1"/>
          </p:cNvPicPr>
          <p:nvPr/>
        </p:nvPicPr>
        <p:blipFill>
          <a:blip r:embed="rId12"/>
          <a:stretch>
            <a:fillRect/>
          </a:stretch>
        </p:blipFill>
        <p:spPr>
          <a:xfrm>
            <a:off x="4173061" y="1935311"/>
            <a:ext cx="2821781" cy="335161"/>
          </a:xfrm>
          <a:prstGeom prst="rect">
            <a:avLst/>
          </a:prstGeom>
        </p:spPr>
      </p:pic>
      <p:sp>
        <p:nvSpPr>
          <p:cNvPr id="22" name="Shape 8"/>
          <p:cNvSpPr/>
          <p:nvPr/>
        </p:nvSpPr>
        <p:spPr>
          <a:xfrm>
            <a:off x="91281" y="4701381"/>
            <a:ext cx="3833812" cy="946151"/>
          </a:xfrm>
          <a:prstGeom prst="rect">
            <a:avLst/>
          </a:prstGeom>
          <a:solidFill>
            <a:srgbClr val="DAEDEF"/>
          </a:solidFill>
          <a:ln w="12700">
            <a:solidFill>
              <a:srgbClr val="009999"/>
            </a:solidFill>
            <a:prstDash val="solid"/>
          </a:ln>
        </p:spPr>
      </p:sp>
      <p:pic>
        <p:nvPicPr>
          <p:cNvPr id="23" name="Image 12" descr="Rendered as an image because of CSS svg">    </p:cNvPr>
          <p:cNvPicPr>
            <a:picLocks noChangeAspect="1"/>
          </p:cNvPicPr>
          <p:nvPr/>
        </p:nvPicPr>
        <p:blipFill>
          <a:blip r:embed="rId13"/>
          <a:stretch>
            <a:fillRect/>
          </a:stretch>
        </p:blipFill>
        <p:spPr>
          <a:xfrm>
            <a:off x="256381" y="4804172"/>
            <a:ext cx="365720" cy="365720"/>
          </a:xfrm>
          <a:prstGeom prst="rect">
            <a:avLst/>
          </a:prstGeom>
        </p:spPr>
      </p:pic>
      <p:sp>
        <p:nvSpPr>
          <p:cNvPr id="24" name="Text 9"/>
          <p:cNvSpPr txBox="1"/>
          <p:nvPr/>
        </p:nvSpPr>
        <p:spPr>
          <a:xfrm>
            <a:off x="723701" y="4815681"/>
            <a:ext cx="645120"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Safe</a:t>
            </a:r>
            <a:endParaRPr lang="en-US" sz="2200" dirty="0"/>
          </a:p>
        </p:txBody>
      </p:sp>
      <p:sp>
        <p:nvSpPr>
          <p:cNvPr id="25" name="Text 10"/>
          <p:cNvSpPr txBox="1"/>
          <p:nvPr/>
        </p:nvSpPr>
        <p:spPr>
          <a:xfrm>
            <a:off x="662781" y="5222081"/>
            <a:ext cx="2472531"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no state change requested</a:t>
            </a:r>
            <a:endParaRPr lang="en-US" sz="1700" dirty="0"/>
          </a:p>
        </p:txBody>
      </p:sp>
      <p:sp>
        <p:nvSpPr>
          <p:cNvPr id="26" name="Shape 11"/>
          <p:cNvSpPr/>
          <p:nvPr/>
        </p:nvSpPr>
        <p:spPr>
          <a:xfrm>
            <a:off x="4077493" y="4701381"/>
            <a:ext cx="3833812" cy="946151"/>
          </a:xfrm>
          <a:prstGeom prst="rect">
            <a:avLst/>
          </a:prstGeom>
          <a:solidFill>
            <a:srgbClr val="DAEDEF"/>
          </a:solidFill>
          <a:ln w="12700">
            <a:solidFill>
              <a:srgbClr val="009999"/>
            </a:solidFill>
            <a:prstDash val="solid"/>
          </a:ln>
        </p:spPr>
      </p:sp>
      <p:pic>
        <p:nvPicPr>
          <p:cNvPr id="27" name="Image 13" descr="Rendered as an image because of CSS svg">    </p:cNvPr>
          <p:cNvPicPr>
            <a:picLocks noChangeAspect="1"/>
          </p:cNvPicPr>
          <p:nvPr/>
        </p:nvPicPr>
        <p:blipFill>
          <a:blip r:embed="rId14"/>
          <a:stretch>
            <a:fillRect/>
          </a:stretch>
        </p:blipFill>
        <p:spPr>
          <a:xfrm>
            <a:off x="4242593" y="4804172"/>
            <a:ext cx="365720" cy="365720"/>
          </a:xfrm>
          <a:prstGeom prst="rect">
            <a:avLst/>
          </a:prstGeom>
        </p:spPr>
      </p:pic>
      <p:sp>
        <p:nvSpPr>
          <p:cNvPr id="28" name="Text 12"/>
          <p:cNvSpPr txBox="1"/>
          <p:nvPr/>
        </p:nvSpPr>
        <p:spPr>
          <a:xfrm>
            <a:off x="4709915" y="4815681"/>
            <a:ext cx="1523207"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Idempotent</a:t>
            </a:r>
            <a:endParaRPr lang="en-US" sz="2200" dirty="0"/>
          </a:p>
        </p:txBody>
      </p:sp>
      <p:sp>
        <p:nvSpPr>
          <p:cNvPr id="29" name="Text 13"/>
          <p:cNvSpPr txBox="1"/>
          <p:nvPr/>
        </p:nvSpPr>
        <p:spPr>
          <a:xfrm>
            <a:off x="4648993" y="5222081"/>
            <a:ext cx="1373981"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can be retried</a:t>
            </a:r>
            <a:endParaRPr lang="en-US" sz="1700" dirty="0"/>
          </a:p>
        </p:txBody>
      </p:sp>
      <p:sp>
        <p:nvSpPr>
          <p:cNvPr id="30" name="Shape 14"/>
          <p:cNvSpPr/>
          <p:nvPr/>
        </p:nvSpPr>
        <p:spPr>
          <a:xfrm>
            <a:off x="8063707" y="4701381"/>
            <a:ext cx="3833812" cy="946151"/>
          </a:xfrm>
          <a:prstGeom prst="rect">
            <a:avLst/>
          </a:prstGeom>
          <a:solidFill>
            <a:srgbClr val="FFFFFF"/>
          </a:solidFill>
          <a:ln w="25400">
            <a:solidFill>
              <a:srgbClr val="993300"/>
            </a:solidFill>
            <a:prstDash val="solid"/>
          </a:ln>
        </p:spPr>
      </p:sp>
      <p:pic>
        <p:nvPicPr>
          <p:cNvPr id="31" name="Image 14" descr="Rendered as an image because of CSS svg">    </p:cNvPr>
          <p:cNvPicPr>
            <a:picLocks noChangeAspect="1"/>
          </p:cNvPicPr>
          <p:nvPr/>
        </p:nvPicPr>
        <p:blipFill>
          <a:blip r:embed="rId15"/>
          <a:stretch>
            <a:fillRect/>
          </a:stretch>
        </p:blipFill>
        <p:spPr>
          <a:xfrm>
            <a:off x="8241507" y="4816872"/>
            <a:ext cx="365720" cy="365720"/>
          </a:xfrm>
          <a:prstGeom prst="rect">
            <a:avLst/>
          </a:prstGeom>
        </p:spPr>
      </p:pic>
      <p:sp>
        <p:nvSpPr>
          <p:cNvPr id="32" name="Text 15"/>
          <p:cNvSpPr txBox="1"/>
          <p:nvPr/>
        </p:nvSpPr>
        <p:spPr>
          <a:xfrm>
            <a:off x="8708827" y="4828381"/>
            <a:ext cx="1812528"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Body-oriented</a:t>
            </a:r>
            <a:endParaRPr lang="en-US" sz="2200" dirty="0"/>
          </a:p>
        </p:txBody>
      </p:sp>
      <p:sp>
        <p:nvSpPr>
          <p:cNvPr id="33" name="Text 16"/>
          <p:cNvSpPr txBox="1"/>
          <p:nvPr/>
        </p:nvSpPr>
        <p:spPr>
          <a:xfrm>
            <a:off x="8647907" y="5234781"/>
            <a:ext cx="1756371"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query is in the URI</a:t>
            </a:r>
            <a:endParaRPr lang="en-US" sz="1700" dirty="0"/>
          </a:p>
        </p:txBody>
      </p:sp>
      <p:sp>
        <p:nvSpPr>
          <p:cNvPr id="34" name="Shape 17"/>
          <p:cNvSpPr/>
          <p:nvPr/>
        </p:nvSpPr>
        <p:spPr>
          <a:xfrm>
            <a:off x="91281" y="5855295"/>
            <a:ext cx="615355" cy="308372"/>
          </a:xfrm>
          <a:prstGeom prst="roundRect">
            <a:avLst>
              <a:gd name="adj" fmla="val 12355"/>
            </a:avLst>
          </a:prstGeom>
          <a:solidFill>
            <a:srgbClr val="333399"/>
          </a:solidFill>
          <a:ln/>
        </p:spPr>
      </p:sp>
      <p:sp>
        <p:nvSpPr>
          <p:cNvPr id="35" name="Text 18"/>
          <p:cNvSpPr txBox="1"/>
          <p:nvPr/>
        </p:nvSpPr>
        <p:spPr>
          <a:xfrm>
            <a:off x="167481" y="5855295"/>
            <a:ext cx="615355" cy="292100"/>
          </a:xfrm>
          <a:prstGeom prst="rect">
            <a:avLst/>
          </a:prstGeom>
          <a:noFill/>
          <a:ln/>
        </p:spPr>
        <p:txBody>
          <a:bodyPr wrap="none" lIns="0" tIns="0" rIns="0" bIns="0" rtlCol="0" anchor="t"/>
          <a:lstStyle/>
          <a:p>
            <a:pPr algn="l" indent="0" marL="0">
              <a:buNone/>
            </a:pPr>
            <a:r>
              <a:rPr lang="en-US" sz="2024" b="1" dirty="0">
                <a:solidFill>
                  <a:srgbClr val="FFFFFF"/>
                </a:solidFill>
                <a:latin typeface="Courier New" pitchFamily="34" charset="0"/>
                <a:ea typeface="Courier New" pitchFamily="34" charset="-122"/>
                <a:cs typeface="Courier New" pitchFamily="34" charset="-120"/>
              </a:rPr>
              <a:t>GET</a:t>
            </a:r>
            <a:endParaRPr lang="en-US" sz="2024" dirty="0"/>
          </a:p>
        </p:txBody>
      </p:sp>
      <p:sp>
        <p:nvSpPr>
          <p:cNvPr id="36" name="Text 19"/>
          <p:cNvSpPr txBox="1"/>
          <p:nvPr/>
        </p:nvSpPr>
        <p:spPr>
          <a:xfrm>
            <a:off x="833636" y="5838031"/>
            <a:ext cx="7057628"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Safe and idempotent, but the query is squeezed into the URI.</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73211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Moving the query out of the URI: GET → POST → QUERY</a:t>
            </a:r>
            <a:endParaRPr lang="en-US" sz="2400" dirty="0"/>
          </a:p>
        </p:txBody>
      </p:sp>
      <p:sp>
        <p:nvSpPr>
          <p:cNvPr id="10" name="Shape 7"/>
          <p:cNvSpPr/>
          <p:nvPr/>
        </p:nvSpPr>
        <p:spPr>
          <a:xfrm>
            <a:off x="91281" y="1361281"/>
            <a:ext cx="11806237" cy="3187700"/>
          </a:xfrm>
          <a:prstGeom prst="rect">
            <a:avLst/>
          </a:prstGeom>
          <a:solidFill>
            <a:srgbClr val="FFFFFF"/>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332581" y="1526381"/>
            <a:ext cx="548879" cy="355600"/>
          </a:xfrm>
          <a:prstGeom prst="rect">
            <a:avLst/>
          </a:prstGeom>
        </p:spPr>
      </p:pic>
      <p:pic>
        <p:nvPicPr>
          <p:cNvPr id="12" name="Image 2" descr="Rendered as an image because of CSS transform">    </p:cNvPr>
          <p:cNvPicPr>
            <a:picLocks noChangeAspect="1"/>
          </p:cNvPicPr>
          <p:nvPr/>
        </p:nvPicPr>
        <p:blipFill>
          <a:blip r:embed="rId3"/>
          <a:stretch>
            <a:fillRect/>
          </a:stretch>
        </p:blipFill>
        <p:spPr>
          <a:xfrm>
            <a:off x="1018381" y="1526381"/>
            <a:ext cx="960437" cy="355600"/>
          </a:xfrm>
          <a:prstGeom prst="rect">
            <a:avLst/>
          </a:prstGeom>
        </p:spPr>
      </p:pic>
      <p:pic>
        <p:nvPicPr>
          <p:cNvPr id="13" name="Image 3" descr="Rendered as an image because of CSS transform">    </p:cNvPr>
          <p:cNvPicPr>
            <a:picLocks noChangeAspect="1"/>
          </p:cNvPicPr>
          <p:nvPr/>
        </p:nvPicPr>
        <p:blipFill>
          <a:blip r:embed="rId4"/>
          <a:stretch>
            <a:fillRect/>
          </a:stretch>
        </p:blipFill>
        <p:spPr>
          <a:xfrm>
            <a:off x="2115661" y="1526381"/>
            <a:ext cx="1097557" cy="355600"/>
          </a:xfrm>
          <a:prstGeom prst="rect">
            <a:avLst/>
          </a:prstGeom>
        </p:spPr>
      </p:pic>
      <p:pic>
        <p:nvPicPr>
          <p:cNvPr id="14" name="Image 4" descr="Rendered as an image because of CSS transform">    </p:cNvPr>
          <p:cNvPicPr>
            <a:picLocks noChangeAspect="1"/>
          </p:cNvPicPr>
          <p:nvPr/>
        </p:nvPicPr>
        <p:blipFill>
          <a:blip r:embed="rId5"/>
          <a:stretch>
            <a:fillRect/>
          </a:stretch>
        </p:blipFill>
        <p:spPr>
          <a:xfrm>
            <a:off x="332581" y="1881981"/>
            <a:ext cx="2332236" cy="355600"/>
          </a:xfrm>
          <a:prstGeom prst="rect">
            <a:avLst/>
          </a:prstGeom>
        </p:spPr>
      </p:pic>
      <p:pic>
        <p:nvPicPr>
          <p:cNvPr id="15" name="Image 5" descr="Rendered as an image because of CSS transform">    </p:cNvPr>
          <p:cNvPicPr>
            <a:picLocks noChangeAspect="1"/>
          </p:cNvPicPr>
          <p:nvPr/>
        </p:nvPicPr>
        <p:blipFill>
          <a:blip r:embed="rId6"/>
          <a:stretch>
            <a:fillRect/>
          </a:stretch>
        </p:blipFill>
        <p:spPr>
          <a:xfrm>
            <a:off x="332581" y="2237581"/>
            <a:ext cx="4115593" cy="355600"/>
          </a:xfrm>
          <a:prstGeom prst="rect">
            <a:avLst/>
          </a:prstGeom>
        </p:spPr>
      </p:pic>
      <p:pic>
        <p:nvPicPr>
          <p:cNvPr id="16" name="Image 6" descr="Rendered as an image because of CSS transform">    </p:cNvPr>
          <p:cNvPicPr>
            <a:picLocks noChangeAspect="1"/>
          </p:cNvPicPr>
          <p:nvPr/>
        </p:nvPicPr>
        <p:blipFill>
          <a:blip r:embed="rId7"/>
          <a:stretch>
            <a:fillRect/>
          </a:stretch>
        </p:blipFill>
        <p:spPr>
          <a:xfrm>
            <a:off x="332581" y="2948781"/>
            <a:ext cx="137319" cy="355600"/>
          </a:xfrm>
          <a:prstGeom prst="rect">
            <a:avLst/>
          </a:prstGeom>
        </p:spPr>
      </p:pic>
      <p:pic>
        <p:nvPicPr>
          <p:cNvPr id="17" name="Image 7" descr="Rendered as an image because of CSS transform">    </p:cNvPr>
          <p:cNvPicPr>
            <a:picLocks noChangeAspect="1"/>
          </p:cNvPicPr>
          <p:nvPr/>
        </p:nvPicPr>
        <p:blipFill>
          <a:blip r:embed="rId8"/>
          <a:stretch>
            <a:fillRect/>
          </a:stretch>
        </p:blipFill>
        <p:spPr>
          <a:xfrm>
            <a:off x="606901" y="3659981"/>
            <a:ext cx="1646237" cy="355600"/>
          </a:xfrm>
          <a:prstGeom prst="rect">
            <a:avLst/>
          </a:prstGeom>
        </p:spPr>
      </p:pic>
      <p:pic>
        <p:nvPicPr>
          <p:cNvPr id="18" name="Image 8" descr="Rendered as an image because of CSS transform">    </p:cNvPr>
          <p:cNvPicPr>
            <a:picLocks noChangeAspect="1"/>
          </p:cNvPicPr>
          <p:nvPr/>
        </p:nvPicPr>
        <p:blipFill>
          <a:blip r:embed="rId9"/>
          <a:stretch>
            <a:fillRect/>
          </a:stretch>
        </p:blipFill>
        <p:spPr>
          <a:xfrm>
            <a:off x="6230461" y="3659981"/>
            <a:ext cx="137319" cy="355600"/>
          </a:xfrm>
          <a:prstGeom prst="rect">
            <a:avLst/>
          </a:prstGeom>
        </p:spPr>
      </p:pic>
      <p:pic>
        <p:nvPicPr>
          <p:cNvPr id="19" name="Image 9" descr="Rendered as an image because of CSS transform">    </p:cNvPr>
          <p:cNvPicPr>
            <a:picLocks noChangeAspect="1"/>
          </p:cNvPicPr>
          <p:nvPr/>
        </p:nvPicPr>
        <p:blipFill>
          <a:blip r:embed="rId10"/>
          <a:stretch>
            <a:fillRect/>
          </a:stretch>
        </p:blipFill>
        <p:spPr>
          <a:xfrm>
            <a:off x="332581" y="4015581"/>
            <a:ext cx="137319" cy="355600"/>
          </a:xfrm>
          <a:prstGeom prst="rect">
            <a:avLst/>
          </a:prstGeom>
        </p:spPr>
      </p:pic>
      <p:pic>
        <p:nvPicPr>
          <p:cNvPr id="20" name="Image 10" descr="Rendered as an image because of CSS transform">    </p:cNvPr>
          <p:cNvPicPr>
            <a:picLocks noChangeAspect="1"/>
          </p:cNvPicPr>
          <p:nvPr/>
        </p:nvPicPr>
        <p:blipFill>
          <a:blip r:embed="rId11"/>
          <a:stretch>
            <a:fillRect/>
          </a:stretch>
        </p:blipFill>
        <p:spPr>
          <a:xfrm>
            <a:off x="606901" y="3304381"/>
            <a:ext cx="2194917" cy="355600"/>
          </a:xfrm>
          <a:prstGeom prst="rect">
            <a:avLst/>
          </a:prstGeom>
        </p:spPr>
      </p:pic>
      <p:pic>
        <p:nvPicPr>
          <p:cNvPr id="21" name="Image 11" descr="Rendered as an image because of CSS transform">    </p:cNvPr>
          <p:cNvPicPr>
            <a:picLocks noChangeAspect="1"/>
          </p:cNvPicPr>
          <p:nvPr/>
        </p:nvPicPr>
        <p:blipFill>
          <a:blip r:embed="rId12"/>
          <a:stretch>
            <a:fillRect/>
          </a:stretch>
        </p:blipFill>
        <p:spPr>
          <a:xfrm>
            <a:off x="2389981" y="3659981"/>
            <a:ext cx="1783556" cy="355600"/>
          </a:xfrm>
          <a:prstGeom prst="rect">
            <a:avLst/>
          </a:prstGeom>
        </p:spPr>
      </p:pic>
      <p:pic>
        <p:nvPicPr>
          <p:cNvPr id="22" name="Image 12" descr="Rendered as an image because of CSS transform">    </p:cNvPr>
          <p:cNvPicPr>
            <a:picLocks noChangeAspect="1"/>
          </p:cNvPicPr>
          <p:nvPr/>
        </p:nvPicPr>
        <p:blipFill>
          <a:blip r:embed="rId13"/>
          <a:stretch>
            <a:fillRect/>
          </a:stretch>
        </p:blipFill>
        <p:spPr>
          <a:xfrm>
            <a:off x="4310221" y="3659981"/>
            <a:ext cx="1783556" cy="355600"/>
          </a:xfrm>
          <a:prstGeom prst="rect">
            <a:avLst/>
          </a:prstGeom>
        </p:spPr>
      </p:pic>
      <p:pic>
        <p:nvPicPr>
          <p:cNvPr id="23" name="Image 13" descr="Rendered as an image because of CSS transform">    </p:cNvPr>
          <p:cNvPicPr>
            <a:picLocks noChangeAspect="1"/>
          </p:cNvPicPr>
          <p:nvPr/>
        </p:nvPicPr>
        <p:blipFill>
          <a:blip r:embed="rId14"/>
          <a:stretch>
            <a:fillRect/>
          </a:stretch>
        </p:blipFill>
        <p:spPr>
          <a:xfrm>
            <a:off x="3624421" y="2984351"/>
            <a:ext cx="4029075" cy="335161"/>
          </a:xfrm>
          <a:prstGeom prst="rect">
            <a:avLst/>
          </a:prstGeom>
        </p:spPr>
      </p:pic>
      <p:sp>
        <p:nvSpPr>
          <p:cNvPr id="24" name="Shape 8"/>
          <p:cNvSpPr/>
          <p:nvPr/>
        </p:nvSpPr>
        <p:spPr>
          <a:xfrm>
            <a:off x="91281" y="4701381"/>
            <a:ext cx="3833812" cy="946151"/>
          </a:xfrm>
          <a:prstGeom prst="rect">
            <a:avLst/>
          </a:prstGeom>
          <a:solidFill>
            <a:srgbClr val="FFFFFF"/>
          </a:solidFill>
          <a:ln w="25400">
            <a:solidFill>
              <a:srgbClr val="993300"/>
            </a:solidFill>
            <a:prstDash val="solid"/>
          </a:ln>
        </p:spPr>
      </p:sp>
      <p:pic>
        <p:nvPicPr>
          <p:cNvPr id="25" name="Image 14" descr="Rendered as an image because of CSS svg">    </p:cNvPr>
          <p:cNvPicPr>
            <a:picLocks noChangeAspect="1"/>
          </p:cNvPicPr>
          <p:nvPr/>
        </p:nvPicPr>
        <p:blipFill>
          <a:blip r:embed="rId15"/>
          <a:stretch>
            <a:fillRect/>
          </a:stretch>
        </p:blipFill>
        <p:spPr>
          <a:xfrm>
            <a:off x="269081" y="4816872"/>
            <a:ext cx="365720" cy="365720"/>
          </a:xfrm>
          <a:prstGeom prst="rect">
            <a:avLst/>
          </a:prstGeom>
        </p:spPr>
      </p:pic>
      <p:sp>
        <p:nvSpPr>
          <p:cNvPr id="26" name="Text 9"/>
          <p:cNvSpPr txBox="1"/>
          <p:nvPr/>
        </p:nvSpPr>
        <p:spPr>
          <a:xfrm>
            <a:off x="736401" y="4828381"/>
            <a:ext cx="645120"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Safe</a:t>
            </a:r>
            <a:endParaRPr lang="en-US" sz="2200" dirty="0"/>
          </a:p>
        </p:txBody>
      </p:sp>
      <p:sp>
        <p:nvSpPr>
          <p:cNvPr id="27" name="Text 10"/>
          <p:cNvSpPr txBox="1"/>
          <p:nvPr/>
        </p:nvSpPr>
        <p:spPr>
          <a:xfrm>
            <a:off x="675481" y="5234781"/>
            <a:ext cx="160357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not by definition</a:t>
            </a:r>
            <a:endParaRPr lang="en-US" sz="1700" dirty="0"/>
          </a:p>
        </p:txBody>
      </p:sp>
      <p:sp>
        <p:nvSpPr>
          <p:cNvPr id="28" name="Shape 11"/>
          <p:cNvSpPr/>
          <p:nvPr/>
        </p:nvSpPr>
        <p:spPr>
          <a:xfrm>
            <a:off x="4077493" y="4701381"/>
            <a:ext cx="3833812" cy="946151"/>
          </a:xfrm>
          <a:prstGeom prst="rect">
            <a:avLst/>
          </a:prstGeom>
          <a:solidFill>
            <a:srgbClr val="FFFFFF"/>
          </a:solidFill>
          <a:ln w="25400">
            <a:solidFill>
              <a:srgbClr val="993300"/>
            </a:solidFill>
            <a:prstDash val="solid"/>
          </a:ln>
        </p:spPr>
      </p:sp>
      <p:pic>
        <p:nvPicPr>
          <p:cNvPr id="29" name="Image 15" descr="Rendered as an image because of CSS svg">    </p:cNvPr>
          <p:cNvPicPr>
            <a:picLocks noChangeAspect="1"/>
          </p:cNvPicPr>
          <p:nvPr/>
        </p:nvPicPr>
        <p:blipFill>
          <a:blip r:embed="rId16"/>
          <a:stretch>
            <a:fillRect/>
          </a:stretch>
        </p:blipFill>
        <p:spPr>
          <a:xfrm>
            <a:off x="4255293" y="4816872"/>
            <a:ext cx="365720" cy="365720"/>
          </a:xfrm>
          <a:prstGeom prst="rect">
            <a:avLst/>
          </a:prstGeom>
        </p:spPr>
      </p:pic>
      <p:sp>
        <p:nvSpPr>
          <p:cNvPr id="30" name="Text 12"/>
          <p:cNvSpPr txBox="1"/>
          <p:nvPr/>
        </p:nvSpPr>
        <p:spPr>
          <a:xfrm>
            <a:off x="4722615" y="4828381"/>
            <a:ext cx="1523207"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Idempotent</a:t>
            </a:r>
            <a:endParaRPr lang="en-US" sz="2200" dirty="0"/>
          </a:p>
        </p:txBody>
      </p:sp>
      <p:sp>
        <p:nvSpPr>
          <p:cNvPr id="31" name="Text 13"/>
          <p:cNvSpPr txBox="1"/>
          <p:nvPr/>
        </p:nvSpPr>
        <p:spPr>
          <a:xfrm>
            <a:off x="4661693" y="5234781"/>
            <a:ext cx="160357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not by definition</a:t>
            </a:r>
            <a:endParaRPr lang="en-US" sz="1700" dirty="0"/>
          </a:p>
        </p:txBody>
      </p:sp>
      <p:sp>
        <p:nvSpPr>
          <p:cNvPr id="32" name="Shape 14"/>
          <p:cNvSpPr/>
          <p:nvPr/>
        </p:nvSpPr>
        <p:spPr>
          <a:xfrm>
            <a:off x="8063707" y="4701381"/>
            <a:ext cx="3833812" cy="946151"/>
          </a:xfrm>
          <a:prstGeom prst="rect">
            <a:avLst/>
          </a:prstGeom>
          <a:solidFill>
            <a:srgbClr val="DAEDEF"/>
          </a:solidFill>
          <a:ln w="12700">
            <a:solidFill>
              <a:srgbClr val="009999"/>
            </a:solidFill>
            <a:prstDash val="solid"/>
          </a:ln>
        </p:spPr>
      </p:sp>
      <p:pic>
        <p:nvPicPr>
          <p:cNvPr id="33" name="Image 16" descr="Rendered as an image because of CSS svg">    </p:cNvPr>
          <p:cNvPicPr>
            <a:picLocks noChangeAspect="1"/>
          </p:cNvPicPr>
          <p:nvPr/>
        </p:nvPicPr>
        <p:blipFill>
          <a:blip r:embed="rId17"/>
          <a:stretch>
            <a:fillRect/>
          </a:stretch>
        </p:blipFill>
        <p:spPr>
          <a:xfrm>
            <a:off x="8228807" y="4804172"/>
            <a:ext cx="365720" cy="365720"/>
          </a:xfrm>
          <a:prstGeom prst="rect">
            <a:avLst/>
          </a:prstGeom>
        </p:spPr>
      </p:pic>
      <p:sp>
        <p:nvSpPr>
          <p:cNvPr id="34" name="Text 15"/>
          <p:cNvSpPr txBox="1"/>
          <p:nvPr/>
        </p:nvSpPr>
        <p:spPr>
          <a:xfrm>
            <a:off x="8696127" y="4815681"/>
            <a:ext cx="1812528"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Body-oriented</a:t>
            </a:r>
            <a:endParaRPr lang="en-US" sz="2200" dirty="0"/>
          </a:p>
        </p:txBody>
      </p:sp>
      <p:sp>
        <p:nvSpPr>
          <p:cNvPr id="35" name="Text 16"/>
          <p:cNvSpPr txBox="1"/>
          <p:nvPr/>
        </p:nvSpPr>
        <p:spPr>
          <a:xfrm>
            <a:off x="8635207" y="5222081"/>
            <a:ext cx="2122091"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query is in the content</a:t>
            </a:r>
            <a:endParaRPr lang="en-US" sz="1700" dirty="0"/>
          </a:p>
        </p:txBody>
      </p:sp>
      <p:sp>
        <p:nvSpPr>
          <p:cNvPr id="36" name="Shape 17"/>
          <p:cNvSpPr/>
          <p:nvPr/>
        </p:nvSpPr>
        <p:spPr>
          <a:xfrm>
            <a:off x="91281" y="5855295"/>
            <a:ext cx="769540" cy="308372"/>
          </a:xfrm>
          <a:prstGeom prst="roundRect">
            <a:avLst>
              <a:gd name="adj" fmla="val 12355"/>
            </a:avLst>
          </a:prstGeom>
          <a:solidFill>
            <a:srgbClr val="993300"/>
          </a:solidFill>
          <a:ln/>
        </p:spPr>
      </p:sp>
      <p:sp>
        <p:nvSpPr>
          <p:cNvPr id="37" name="Text 18"/>
          <p:cNvSpPr txBox="1"/>
          <p:nvPr/>
        </p:nvSpPr>
        <p:spPr>
          <a:xfrm>
            <a:off x="167481" y="5855295"/>
            <a:ext cx="769540" cy="292100"/>
          </a:xfrm>
          <a:prstGeom prst="rect">
            <a:avLst/>
          </a:prstGeom>
          <a:noFill/>
          <a:ln/>
        </p:spPr>
        <p:txBody>
          <a:bodyPr wrap="none" lIns="0" tIns="0" rIns="0" bIns="0" rtlCol="0" anchor="t"/>
          <a:lstStyle/>
          <a:p>
            <a:pPr algn="l" indent="0" marL="0">
              <a:buNone/>
            </a:pPr>
            <a:r>
              <a:rPr lang="en-US" sz="2024" b="1" dirty="0">
                <a:solidFill>
                  <a:srgbClr val="FFFFFF"/>
                </a:solidFill>
                <a:latin typeface="Courier New" pitchFamily="34" charset="0"/>
                <a:ea typeface="Courier New" pitchFamily="34" charset="-122"/>
                <a:cs typeface="Courier New" pitchFamily="34" charset="-120"/>
              </a:rPr>
              <a:t>POST</a:t>
            </a:r>
            <a:endParaRPr lang="en-US" sz="2024" dirty="0"/>
          </a:p>
        </p:txBody>
      </p:sp>
      <p:sp>
        <p:nvSpPr>
          <p:cNvPr id="38" name="Text 19"/>
          <p:cNvSpPr txBox="1"/>
          <p:nvPr/>
        </p:nvSpPr>
        <p:spPr>
          <a:xfrm>
            <a:off x="987821" y="5838031"/>
            <a:ext cx="6680597"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Query is in the content, but POST only says “process this”.</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73211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Moving the query out of the URI: GET → POST → QUERY</a:t>
            </a:r>
            <a:endParaRPr lang="en-US" sz="2400" dirty="0"/>
          </a:p>
        </p:txBody>
      </p:sp>
      <p:sp>
        <p:nvSpPr>
          <p:cNvPr id="10" name="Shape 7"/>
          <p:cNvSpPr/>
          <p:nvPr/>
        </p:nvSpPr>
        <p:spPr>
          <a:xfrm>
            <a:off x="91281" y="1361281"/>
            <a:ext cx="11806237" cy="3187700"/>
          </a:xfrm>
          <a:prstGeom prst="rect">
            <a:avLst/>
          </a:prstGeom>
          <a:solidFill>
            <a:srgbClr val="FFFFFF"/>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332581" y="1526381"/>
            <a:ext cx="685999" cy="355600"/>
          </a:xfrm>
          <a:prstGeom prst="rect">
            <a:avLst/>
          </a:prstGeom>
        </p:spPr>
      </p:pic>
      <p:pic>
        <p:nvPicPr>
          <p:cNvPr id="12" name="Image 2" descr="Rendered as an image because of CSS transform">    </p:cNvPr>
          <p:cNvPicPr>
            <a:picLocks noChangeAspect="1"/>
          </p:cNvPicPr>
          <p:nvPr/>
        </p:nvPicPr>
        <p:blipFill>
          <a:blip r:embed="rId3"/>
          <a:stretch>
            <a:fillRect/>
          </a:stretch>
        </p:blipFill>
        <p:spPr>
          <a:xfrm>
            <a:off x="1155541" y="1526381"/>
            <a:ext cx="960437" cy="355600"/>
          </a:xfrm>
          <a:prstGeom prst="rect">
            <a:avLst/>
          </a:prstGeom>
        </p:spPr>
      </p:pic>
      <p:pic>
        <p:nvPicPr>
          <p:cNvPr id="13" name="Image 3" descr="Rendered as an image because of CSS transform">    </p:cNvPr>
          <p:cNvPicPr>
            <a:picLocks noChangeAspect="1"/>
          </p:cNvPicPr>
          <p:nvPr/>
        </p:nvPicPr>
        <p:blipFill>
          <a:blip r:embed="rId4"/>
          <a:stretch>
            <a:fillRect/>
          </a:stretch>
        </p:blipFill>
        <p:spPr>
          <a:xfrm>
            <a:off x="2252821" y="1526381"/>
            <a:ext cx="1097559" cy="355600"/>
          </a:xfrm>
          <a:prstGeom prst="rect">
            <a:avLst/>
          </a:prstGeom>
        </p:spPr>
      </p:pic>
      <p:pic>
        <p:nvPicPr>
          <p:cNvPr id="14" name="Image 4" descr="Rendered as an image because of CSS transform">    </p:cNvPr>
          <p:cNvPicPr>
            <a:picLocks noChangeAspect="1"/>
          </p:cNvPicPr>
          <p:nvPr/>
        </p:nvPicPr>
        <p:blipFill>
          <a:blip r:embed="rId5"/>
          <a:stretch>
            <a:fillRect/>
          </a:stretch>
        </p:blipFill>
        <p:spPr>
          <a:xfrm>
            <a:off x="332581" y="1881981"/>
            <a:ext cx="2332236" cy="355600"/>
          </a:xfrm>
          <a:prstGeom prst="rect">
            <a:avLst/>
          </a:prstGeom>
        </p:spPr>
      </p:pic>
      <p:pic>
        <p:nvPicPr>
          <p:cNvPr id="15" name="Image 5" descr="Rendered as an image because of CSS transform">    </p:cNvPr>
          <p:cNvPicPr>
            <a:picLocks noChangeAspect="1"/>
          </p:cNvPicPr>
          <p:nvPr/>
        </p:nvPicPr>
        <p:blipFill>
          <a:blip r:embed="rId6"/>
          <a:stretch>
            <a:fillRect/>
          </a:stretch>
        </p:blipFill>
        <p:spPr>
          <a:xfrm>
            <a:off x="332581" y="2237581"/>
            <a:ext cx="4115593" cy="355600"/>
          </a:xfrm>
          <a:prstGeom prst="rect">
            <a:avLst/>
          </a:prstGeom>
        </p:spPr>
      </p:pic>
      <p:pic>
        <p:nvPicPr>
          <p:cNvPr id="16" name="Image 6" descr="Rendered as an image because of CSS transform">    </p:cNvPr>
          <p:cNvPicPr>
            <a:picLocks noChangeAspect="1"/>
          </p:cNvPicPr>
          <p:nvPr/>
        </p:nvPicPr>
        <p:blipFill>
          <a:blip r:embed="rId7"/>
          <a:stretch>
            <a:fillRect/>
          </a:stretch>
        </p:blipFill>
        <p:spPr>
          <a:xfrm>
            <a:off x="332581" y="2948781"/>
            <a:ext cx="137319" cy="355600"/>
          </a:xfrm>
          <a:prstGeom prst="rect">
            <a:avLst/>
          </a:prstGeom>
        </p:spPr>
      </p:pic>
      <p:pic>
        <p:nvPicPr>
          <p:cNvPr id="17" name="Image 7" descr="Rendered as an image because of CSS transform">    </p:cNvPr>
          <p:cNvPicPr>
            <a:picLocks noChangeAspect="1"/>
          </p:cNvPicPr>
          <p:nvPr/>
        </p:nvPicPr>
        <p:blipFill>
          <a:blip r:embed="rId8"/>
          <a:stretch>
            <a:fillRect/>
          </a:stretch>
        </p:blipFill>
        <p:spPr>
          <a:xfrm>
            <a:off x="606901" y="3659981"/>
            <a:ext cx="1646237" cy="355600"/>
          </a:xfrm>
          <a:prstGeom prst="rect">
            <a:avLst/>
          </a:prstGeom>
        </p:spPr>
      </p:pic>
      <p:pic>
        <p:nvPicPr>
          <p:cNvPr id="18" name="Image 8" descr="Rendered as an image because of CSS transform">    </p:cNvPr>
          <p:cNvPicPr>
            <a:picLocks noChangeAspect="1"/>
          </p:cNvPicPr>
          <p:nvPr/>
        </p:nvPicPr>
        <p:blipFill>
          <a:blip r:embed="rId9"/>
          <a:stretch>
            <a:fillRect/>
          </a:stretch>
        </p:blipFill>
        <p:spPr>
          <a:xfrm>
            <a:off x="6230461" y="3659981"/>
            <a:ext cx="137319" cy="355600"/>
          </a:xfrm>
          <a:prstGeom prst="rect">
            <a:avLst/>
          </a:prstGeom>
        </p:spPr>
      </p:pic>
      <p:pic>
        <p:nvPicPr>
          <p:cNvPr id="19" name="Image 9" descr="Rendered as an image because of CSS transform">    </p:cNvPr>
          <p:cNvPicPr>
            <a:picLocks noChangeAspect="1"/>
          </p:cNvPicPr>
          <p:nvPr/>
        </p:nvPicPr>
        <p:blipFill>
          <a:blip r:embed="rId10"/>
          <a:stretch>
            <a:fillRect/>
          </a:stretch>
        </p:blipFill>
        <p:spPr>
          <a:xfrm>
            <a:off x="332581" y="4015581"/>
            <a:ext cx="137319" cy="355600"/>
          </a:xfrm>
          <a:prstGeom prst="rect">
            <a:avLst/>
          </a:prstGeom>
        </p:spPr>
      </p:pic>
      <p:pic>
        <p:nvPicPr>
          <p:cNvPr id="20" name="Image 10" descr="Rendered as an image because of CSS transform">    </p:cNvPr>
          <p:cNvPicPr>
            <a:picLocks noChangeAspect="1"/>
          </p:cNvPicPr>
          <p:nvPr/>
        </p:nvPicPr>
        <p:blipFill>
          <a:blip r:embed="rId11"/>
          <a:stretch>
            <a:fillRect/>
          </a:stretch>
        </p:blipFill>
        <p:spPr>
          <a:xfrm>
            <a:off x="606901" y="3304381"/>
            <a:ext cx="2194917" cy="355600"/>
          </a:xfrm>
          <a:prstGeom prst="rect">
            <a:avLst/>
          </a:prstGeom>
        </p:spPr>
      </p:pic>
      <p:pic>
        <p:nvPicPr>
          <p:cNvPr id="21" name="Image 11" descr="Rendered as an image because of CSS transform">    </p:cNvPr>
          <p:cNvPicPr>
            <a:picLocks noChangeAspect="1"/>
          </p:cNvPicPr>
          <p:nvPr/>
        </p:nvPicPr>
        <p:blipFill>
          <a:blip r:embed="rId12"/>
          <a:stretch>
            <a:fillRect/>
          </a:stretch>
        </p:blipFill>
        <p:spPr>
          <a:xfrm>
            <a:off x="2389981" y="3659981"/>
            <a:ext cx="1783556" cy="355600"/>
          </a:xfrm>
          <a:prstGeom prst="rect">
            <a:avLst/>
          </a:prstGeom>
        </p:spPr>
      </p:pic>
      <p:pic>
        <p:nvPicPr>
          <p:cNvPr id="22" name="Image 12" descr="Rendered as an image because of CSS transform">    </p:cNvPr>
          <p:cNvPicPr>
            <a:picLocks noChangeAspect="1"/>
          </p:cNvPicPr>
          <p:nvPr/>
        </p:nvPicPr>
        <p:blipFill>
          <a:blip r:embed="rId13"/>
          <a:stretch>
            <a:fillRect/>
          </a:stretch>
        </p:blipFill>
        <p:spPr>
          <a:xfrm>
            <a:off x="4310221" y="3659981"/>
            <a:ext cx="1783556" cy="355600"/>
          </a:xfrm>
          <a:prstGeom prst="rect">
            <a:avLst/>
          </a:prstGeom>
        </p:spPr>
      </p:pic>
      <p:pic>
        <p:nvPicPr>
          <p:cNvPr id="23" name="Image 13" descr="Rendered as an image because of CSS transform">    </p:cNvPr>
          <p:cNvPicPr>
            <a:picLocks noChangeAspect="1"/>
          </p:cNvPicPr>
          <p:nvPr/>
        </p:nvPicPr>
        <p:blipFill>
          <a:blip r:embed="rId14"/>
          <a:stretch>
            <a:fillRect/>
          </a:stretch>
        </p:blipFill>
        <p:spPr>
          <a:xfrm>
            <a:off x="3624421" y="2984351"/>
            <a:ext cx="4029075" cy="335161"/>
          </a:xfrm>
          <a:prstGeom prst="rect">
            <a:avLst/>
          </a:prstGeom>
        </p:spPr>
      </p:pic>
      <p:sp>
        <p:nvSpPr>
          <p:cNvPr id="24" name="Shape 8"/>
          <p:cNvSpPr/>
          <p:nvPr/>
        </p:nvSpPr>
        <p:spPr>
          <a:xfrm>
            <a:off x="91281" y="4701381"/>
            <a:ext cx="3833812" cy="920749"/>
          </a:xfrm>
          <a:prstGeom prst="rect">
            <a:avLst/>
          </a:prstGeom>
          <a:solidFill>
            <a:srgbClr val="FFFFFF"/>
          </a:solidFill>
          <a:ln w="12700">
            <a:solidFill>
              <a:srgbClr val="333399"/>
            </a:solidFill>
            <a:prstDash val="dash"/>
          </a:ln>
        </p:spPr>
      </p:sp>
      <p:pic>
        <p:nvPicPr>
          <p:cNvPr id="25" name="Image 14" descr="Rendered as an image because of CSS svg">    </p:cNvPr>
          <p:cNvPicPr>
            <a:picLocks noChangeAspect="1"/>
          </p:cNvPicPr>
          <p:nvPr/>
        </p:nvPicPr>
        <p:blipFill>
          <a:blip r:embed="rId15"/>
          <a:stretch>
            <a:fillRect/>
          </a:stretch>
        </p:blipFill>
        <p:spPr>
          <a:xfrm>
            <a:off x="256381" y="4804172"/>
            <a:ext cx="365720" cy="365720"/>
          </a:xfrm>
          <a:prstGeom prst="rect">
            <a:avLst/>
          </a:prstGeom>
        </p:spPr>
      </p:pic>
      <p:sp>
        <p:nvSpPr>
          <p:cNvPr id="26" name="Text 9"/>
          <p:cNvSpPr txBox="1"/>
          <p:nvPr/>
        </p:nvSpPr>
        <p:spPr>
          <a:xfrm>
            <a:off x="723701" y="4815681"/>
            <a:ext cx="645120"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Safe</a:t>
            </a:r>
            <a:endParaRPr lang="en-US" sz="2200" dirty="0"/>
          </a:p>
        </p:txBody>
      </p:sp>
      <p:sp>
        <p:nvSpPr>
          <p:cNvPr id="27" name="Text 10"/>
          <p:cNvSpPr txBox="1"/>
          <p:nvPr/>
        </p:nvSpPr>
        <p:spPr>
          <a:xfrm>
            <a:off x="662781" y="5222081"/>
            <a:ext cx="30162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28" name="Shape 11"/>
          <p:cNvSpPr/>
          <p:nvPr/>
        </p:nvSpPr>
        <p:spPr>
          <a:xfrm>
            <a:off x="4077493" y="4701381"/>
            <a:ext cx="3833812" cy="920749"/>
          </a:xfrm>
          <a:prstGeom prst="rect">
            <a:avLst/>
          </a:prstGeom>
          <a:solidFill>
            <a:srgbClr val="FFFFFF"/>
          </a:solidFill>
          <a:ln w="12700">
            <a:solidFill>
              <a:srgbClr val="333399"/>
            </a:solidFill>
            <a:prstDash val="dash"/>
          </a:ln>
        </p:spPr>
      </p:sp>
      <p:pic>
        <p:nvPicPr>
          <p:cNvPr id="29" name="Image 15" descr="Rendered as an image because of CSS svg">    </p:cNvPr>
          <p:cNvPicPr>
            <a:picLocks noChangeAspect="1"/>
          </p:cNvPicPr>
          <p:nvPr/>
        </p:nvPicPr>
        <p:blipFill>
          <a:blip r:embed="rId16"/>
          <a:stretch>
            <a:fillRect/>
          </a:stretch>
        </p:blipFill>
        <p:spPr>
          <a:xfrm>
            <a:off x="4242593" y="4804172"/>
            <a:ext cx="365720" cy="365720"/>
          </a:xfrm>
          <a:prstGeom prst="rect">
            <a:avLst/>
          </a:prstGeom>
        </p:spPr>
      </p:pic>
      <p:sp>
        <p:nvSpPr>
          <p:cNvPr id="30" name="Text 12"/>
          <p:cNvSpPr txBox="1"/>
          <p:nvPr/>
        </p:nvSpPr>
        <p:spPr>
          <a:xfrm>
            <a:off x="4709915" y="4815681"/>
            <a:ext cx="1523207"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Idempotent</a:t>
            </a:r>
            <a:endParaRPr lang="en-US" sz="2200" dirty="0"/>
          </a:p>
        </p:txBody>
      </p:sp>
      <p:sp>
        <p:nvSpPr>
          <p:cNvPr id="31" name="Text 13"/>
          <p:cNvSpPr txBox="1"/>
          <p:nvPr/>
        </p:nvSpPr>
        <p:spPr>
          <a:xfrm>
            <a:off x="4648993" y="5222081"/>
            <a:ext cx="30162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32" name="Shape 14"/>
          <p:cNvSpPr/>
          <p:nvPr/>
        </p:nvSpPr>
        <p:spPr>
          <a:xfrm>
            <a:off x="8063707" y="4701381"/>
            <a:ext cx="3833812" cy="920749"/>
          </a:xfrm>
          <a:prstGeom prst="rect">
            <a:avLst/>
          </a:prstGeom>
          <a:solidFill>
            <a:srgbClr val="FFFFFF"/>
          </a:solidFill>
          <a:ln w="12700">
            <a:solidFill>
              <a:srgbClr val="333399"/>
            </a:solidFill>
            <a:prstDash val="dash"/>
          </a:ln>
        </p:spPr>
      </p:sp>
      <p:pic>
        <p:nvPicPr>
          <p:cNvPr id="33" name="Image 16" descr="Rendered as an image because of CSS svg">    </p:cNvPr>
          <p:cNvPicPr>
            <a:picLocks noChangeAspect="1"/>
          </p:cNvPicPr>
          <p:nvPr/>
        </p:nvPicPr>
        <p:blipFill>
          <a:blip r:embed="rId17"/>
          <a:stretch>
            <a:fillRect/>
          </a:stretch>
        </p:blipFill>
        <p:spPr>
          <a:xfrm>
            <a:off x="8228807" y="4804172"/>
            <a:ext cx="365720" cy="365720"/>
          </a:xfrm>
          <a:prstGeom prst="rect">
            <a:avLst/>
          </a:prstGeom>
        </p:spPr>
      </p:pic>
      <p:sp>
        <p:nvSpPr>
          <p:cNvPr id="34" name="Text 15"/>
          <p:cNvSpPr txBox="1"/>
          <p:nvPr/>
        </p:nvSpPr>
        <p:spPr>
          <a:xfrm>
            <a:off x="8696127" y="4815681"/>
            <a:ext cx="1812528"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Body-oriented</a:t>
            </a:r>
            <a:endParaRPr lang="en-US" sz="2200" dirty="0"/>
          </a:p>
        </p:txBody>
      </p:sp>
      <p:sp>
        <p:nvSpPr>
          <p:cNvPr id="35" name="Text 16"/>
          <p:cNvSpPr txBox="1"/>
          <p:nvPr/>
        </p:nvSpPr>
        <p:spPr>
          <a:xfrm>
            <a:off x="8635207" y="5222081"/>
            <a:ext cx="30162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36" name="Shape 17"/>
          <p:cNvSpPr/>
          <p:nvPr/>
        </p:nvSpPr>
        <p:spPr>
          <a:xfrm>
            <a:off x="91281" y="5829895"/>
            <a:ext cx="923727" cy="308372"/>
          </a:xfrm>
          <a:prstGeom prst="roundRect">
            <a:avLst>
              <a:gd name="adj" fmla="val 12355"/>
            </a:avLst>
          </a:prstGeom>
          <a:solidFill>
            <a:srgbClr val="CC6600"/>
          </a:solidFill>
          <a:ln/>
        </p:spPr>
      </p:sp>
      <p:sp>
        <p:nvSpPr>
          <p:cNvPr id="37" name="Text 18"/>
          <p:cNvSpPr txBox="1"/>
          <p:nvPr/>
        </p:nvSpPr>
        <p:spPr>
          <a:xfrm>
            <a:off x="167481" y="5829895"/>
            <a:ext cx="923727" cy="292100"/>
          </a:xfrm>
          <a:prstGeom prst="rect">
            <a:avLst/>
          </a:prstGeom>
          <a:noFill/>
          <a:ln/>
        </p:spPr>
        <p:txBody>
          <a:bodyPr wrap="none" lIns="0" tIns="0" rIns="0" bIns="0" rtlCol="0" anchor="t"/>
          <a:lstStyle/>
          <a:p>
            <a:pPr algn="l" indent="0" marL="0">
              <a:buNone/>
            </a:pPr>
            <a:r>
              <a:rPr lang="en-US" sz="2024" b="1" dirty="0">
                <a:solidFill>
                  <a:srgbClr val="FFFFFF"/>
                </a:solidFill>
                <a:latin typeface="Courier New" pitchFamily="34" charset="0"/>
                <a:ea typeface="Courier New" pitchFamily="34" charset="-122"/>
                <a:cs typeface="Courier New" pitchFamily="34" charset="-120"/>
              </a:rPr>
              <a:t>QUERY</a:t>
            </a:r>
            <a:endParaRPr lang="en-US" sz="2024" dirty="0"/>
          </a:p>
        </p:txBody>
      </p:sp>
      <p:sp>
        <p:nvSpPr>
          <p:cNvPr id="38" name="Text 19"/>
          <p:cNvSpPr txBox="1"/>
          <p:nvPr/>
        </p:nvSpPr>
        <p:spPr>
          <a:xfrm>
            <a:off x="1142008" y="5812631"/>
            <a:ext cx="6395839"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Query in the content </a:t>
            </a:r>
            <a:pPr algn="l" indent="0" marL="0">
              <a:buNone/>
            </a:pPr>
            <a:r>
              <a:rPr lang="en-US" sz="2200" b="1" dirty="0">
                <a:solidFill>
                  <a:srgbClr val="000000"/>
                </a:solidFill>
                <a:latin typeface="Calibri" pitchFamily="34" charset="0"/>
                <a:ea typeface="Calibri" pitchFamily="34" charset="-122"/>
                <a:cs typeface="Calibri" pitchFamily="34" charset="-120"/>
              </a:rPr>
              <a:t>and</a:t>
            </a:r>
            <a:pPr algn="l" indent="0" marL="0">
              <a:buNone/>
            </a:pPr>
            <a:r>
              <a:rPr lang="en-US" sz="2200" dirty="0">
                <a:solidFill>
                  <a:srgbClr val="000000"/>
                </a:solidFill>
                <a:latin typeface="Calibri" pitchFamily="34" charset="0"/>
                <a:ea typeface="Calibri" pitchFamily="34" charset="-122"/>
                <a:cs typeface="Calibri" pitchFamily="34" charset="-120"/>
              </a:rPr>
              <a:t> safe + idempotent semantics.</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73211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Moving the query out of the URI: GET → POST → QUERY</a:t>
            </a:r>
            <a:endParaRPr lang="en-US" sz="2400" dirty="0"/>
          </a:p>
        </p:txBody>
      </p:sp>
      <p:sp>
        <p:nvSpPr>
          <p:cNvPr id="10" name="Shape 7"/>
          <p:cNvSpPr/>
          <p:nvPr/>
        </p:nvSpPr>
        <p:spPr>
          <a:xfrm>
            <a:off x="91281" y="1361281"/>
            <a:ext cx="11806237" cy="3187700"/>
          </a:xfrm>
          <a:prstGeom prst="rect">
            <a:avLst/>
          </a:prstGeom>
          <a:solidFill>
            <a:srgbClr val="FFFFFF"/>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332581" y="1526381"/>
            <a:ext cx="685999" cy="355600"/>
          </a:xfrm>
          <a:prstGeom prst="rect">
            <a:avLst/>
          </a:prstGeom>
        </p:spPr>
      </p:pic>
      <p:pic>
        <p:nvPicPr>
          <p:cNvPr id="12" name="Image 2" descr="Rendered as an image because of CSS transform">    </p:cNvPr>
          <p:cNvPicPr>
            <a:picLocks noChangeAspect="1"/>
          </p:cNvPicPr>
          <p:nvPr/>
        </p:nvPicPr>
        <p:blipFill>
          <a:blip r:embed="rId3"/>
          <a:stretch>
            <a:fillRect/>
          </a:stretch>
        </p:blipFill>
        <p:spPr>
          <a:xfrm>
            <a:off x="1155541" y="1526381"/>
            <a:ext cx="960437" cy="355600"/>
          </a:xfrm>
          <a:prstGeom prst="rect">
            <a:avLst/>
          </a:prstGeom>
        </p:spPr>
      </p:pic>
      <p:pic>
        <p:nvPicPr>
          <p:cNvPr id="13" name="Image 3" descr="Rendered as an image because of CSS transform">    </p:cNvPr>
          <p:cNvPicPr>
            <a:picLocks noChangeAspect="1"/>
          </p:cNvPicPr>
          <p:nvPr/>
        </p:nvPicPr>
        <p:blipFill>
          <a:blip r:embed="rId4"/>
          <a:stretch>
            <a:fillRect/>
          </a:stretch>
        </p:blipFill>
        <p:spPr>
          <a:xfrm>
            <a:off x="2252821" y="1526381"/>
            <a:ext cx="1097559" cy="355600"/>
          </a:xfrm>
          <a:prstGeom prst="rect">
            <a:avLst/>
          </a:prstGeom>
        </p:spPr>
      </p:pic>
      <p:pic>
        <p:nvPicPr>
          <p:cNvPr id="14" name="Image 4" descr="Rendered as an image because of CSS transform">    </p:cNvPr>
          <p:cNvPicPr>
            <a:picLocks noChangeAspect="1"/>
          </p:cNvPicPr>
          <p:nvPr/>
        </p:nvPicPr>
        <p:blipFill>
          <a:blip r:embed="rId5"/>
          <a:stretch>
            <a:fillRect/>
          </a:stretch>
        </p:blipFill>
        <p:spPr>
          <a:xfrm>
            <a:off x="332581" y="1881981"/>
            <a:ext cx="2332236" cy="355600"/>
          </a:xfrm>
          <a:prstGeom prst="rect">
            <a:avLst/>
          </a:prstGeom>
        </p:spPr>
      </p:pic>
      <p:pic>
        <p:nvPicPr>
          <p:cNvPr id="15" name="Image 5" descr="Rendered as an image because of CSS transform">    </p:cNvPr>
          <p:cNvPicPr>
            <a:picLocks noChangeAspect="1"/>
          </p:cNvPicPr>
          <p:nvPr/>
        </p:nvPicPr>
        <p:blipFill>
          <a:blip r:embed="rId6"/>
          <a:stretch>
            <a:fillRect/>
          </a:stretch>
        </p:blipFill>
        <p:spPr>
          <a:xfrm>
            <a:off x="332581" y="2237581"/>
            <a:ext cx="4115593" cy="355600"/>
          </a:xfrm>
          <a:prstGeom prst="rect">
            <a:avLst/>
          </a:prstGeom>
        </p:spPr>
      </p:pic>
      <p:pic>
        <p:nvPicPr>
          <p:cNvPr id="16" name="Image 6" descr="Rendered as an image because of CSS transform">    </p:cNvPr>
          <p:cNvPicPr>
            <a:picLocks noChangeAspect="1"/>
          </p:cNvPicPr>
          <p:nvPr/>
        </p:nvPicPr>
        <p:blipFill>
          <a:blip r:embed="rId7"/>
          <a:stretch>
            <a:fillRect/>
          </a:stretch>
        </p:blipFill>
        <p:spPr>
          <a:xfrm>
            <a:off x="332581" y="2948781"/>
            <a:ext cx="137319" cy="355600"/>
          </a:xfrm>
          <a:prstGeom prst="rect">
            <a:avLst/>
          </a:prstGeom>
        </p:spPr>
      </p:pic>
      <p:pic>
        <p:nvPicPr>
          <p:cNvPr id="17" name="Image 7" descr="Rendered as an image because of CSS transform">    </p:cNvPr>
          <p:cNvPicPr>
            <a:picLocks noChangeAspect="1"/>
          </p:cNvPicPr>
          <p:nvPr/>
        </p:nvPicPr>
        <p:blipFill>
          <a:blip r:embed="rId8"/>
          <a:stretch>
            <a:fillRect/>
          </a:stretch>
        </p:blipFill>
        <p:spPr>
          <a:xfrm>
            <a:off x="606901" y="3659981"/>
            <a:ext cx="1646237" cy="355600"/>
          </a:xfrm>
          <a:prstGeom prst="rect">
            <a:avLst/>
          </a:prstGeom>
        </p:spPr>
      </p:pic>
      <p:pic>
        <p:nvPicPr>
          <p:cNvPr id="18" name="Image 8" descr="Rendered as an image because of CSS transform">    </p:cNvPr>
          <p:cNvPicPr>
            <a:picLocks noChangeAspect="1"/>
          </p:cNvPicPr>
          <p:nvPr/>
        </p:nvPicPr>
        <p:blipFill>
          <a:blip r:embed="rId9"/>
          <a:stretch>
            <a:fillRect/>
          </a:stretch>
        </p:blipFill>
        <p:spPr>
          <a:xfrm>
            <a:off x="6230461" y="3659981"/>
            <a:ext cx="137319" cy="355600"/>
          </a:xfrm>
          <a:prstGeom prst="rect">
            <a:avLst/>
          </a:prstGeom>
        </p:spPr>
      </p:pic>
      <p:pic>
        <p:nvPicPr>
          <p:cNvPr id="19" name="Image 9" descr="Rendered as an image because of CSS transform">    </p:cNvPr>
          <p:cNvPicPr>
            <a:picLocks noChangeAspect="1"/>
          </p:cNvPicPr>
          <p:nvPr/>
        </p:nvPicPr>
        <p:blipFill>
          <a:blip r:embed="rId10"/>
          <a:stretch>
            <a:fillRect/>
          </a:stretch>
        </p:blipFill>
        <p:spPr>
          <a:xfrm>
            <a:off x="332581" y="4015581"/>
            <a:ext cx="137319" cy="355600"/>
          </a:xfrm>
          <a:prstGeom prst="rect">
            <a:avLst/>
          </a:prstGeom>
        </p:spPr>
      </p:pic>
      <p:pic>
        <p:nvPicPr>
          <p:cNvPr id="20" name="Image 10" descr="Rendered as an image because of CSS transform">    </p:cNvPr>
          <p:cNvPicPr>
            <a:picLocks noChangeAspect="1"/>
          </p:cNvPicPr>
          <p:nvPr/>
        </p:nvPicPr>
        <p:blipFill>
          <a:blip r:embed="rId11"/>
          <a:stretch>
            <a:fillRect/>
          </a:stretch>
        </p:blipFill>
        <p:spPr>
          <a:xfrm>
            <a:off x="606901" y="3304381"/>
            <a:ext cx="2194917" cy="355600"/>
          </a:xfrm>
          <a:prstGeom prst="rect">
            <a:avLst/>
          </a:prstGeom>
        </p:spPr>
      </p:pic>
      <p:pic>
        <p:nvPicPr>
          <p:cNvPr id="21" name="Image 11" descr="Rendered as an image because of CSS transform">    </p:cNvPr>
          <p:cNvPicPr>
            <a:picLocks noChangeAspect="1"/>
          </p:cNvPicPr>
          <p:nvPr/>
        </p:nvPicPr>
        <p:blipFill>
          <a:blip r:embed="rId12"/>
          <a:stretch>
            <a:fillRect/>
          </a:stretch>
        </p:blipFill>
        <p:spPr>
          <a:xfrm>
            <a:off x="2389981" y="3659981"/>
            <a:ext cx="1783556" cy="355600"/>
          </a:xfrm>
          <a:prstGeom prst="rect">
            <a:avLst/>
          </a:prstGeom>
        </p:spPr>
      </p:pic>
      <p:pic>
        <p:nvPicPr>
          <p:cNvPr id="22" name="Image 12" descr="Rendered as an image because of CSS transform">    </p:cNvPr>
          <p:cNvPicPr>
            <a:picLocks noChangeAspect="1"/>
          </p:cNvPicPr>
          <p:nvPr/>
        </p:nvPicPr>
        <p:blipFill>
          <a:blip r:embed="rId13"/>
          <a:stretch>
            <a:fillRect/>
          </a:stretch>
        </p:blipFill>
        <p:spPr>
          <a:xfrm>
            <a:off x="4310221" y="3659981"/>
            <a:ext cx="1783556" cy="355600"/>
          </a:xfrm>
          <a:prstGeom prst="rect">
            <a:avLst/>
          </a:prstGeom>
        </p:spPr>
      </p:pic>
      <p:pic>
        <p:nvPicPr>
          <p:cNvPr id="23" name="Image 13" descr="Rendered as an image because of CSS transform">    </p:cNvPr>
          <p:cNvPicPr>
            <a:picLocks noChangeAspect="1"/>
          </p:cNvPicPr>
          <p:nvPr/>
        </p:nvPicPr>
        <p:blipFill>
          <a:blip r:embed="rId14"/>
          <a:stretch>
            <a:fillRect/>
          </a:stretch>
        </p:blipFill>
        <p:spPr>
          <a:xfrm>
            <a:off x="3624421" y="2984351"/>
            <a:ext cx="4029075" cy="335161"/>
          </a:xfrm>
          <a:prstGeom prst="rect">
            <a:avLst/>
          </a:prstGeom>
        </p:spPr>
      </p:pic>
      <p:sp>
        <p:nvSpPr>
          <p:cNvPr id="24" name="Shape 8"/>
          <p:cNvSpPr/>
          <p:nvPr/>
        </p:nvSpPr>
        <p:spPr>
          <a:xfrm>
            <a:off x="91281" y="4701381"/>
            <a:ext cx="3833812" cy="920749"/>
          </a:xfrm>
          <a:prstGeom prst="rect">
            <a:avLst/>
          </a:prstGeom>
          <a:solidFill>
            <a:srgbClr val="DAEDEF"/>
          </a:solidFill>
          <a:ln w="12700">
            <a:solidFill>
              <a:srgbClr val="009999"/>
            </a:solidFill>
            <a:prstDash val="solid"/>
          </a:ln>
        </p:spPr>
      </p:sp>
      <p:pic>
        <p:nvPicPr>
          <p:cNvPr id="25" name="Image 14" descr="Rendered as an image because of CSS svg">    </p:cNvPr>
          <p:cNvPicPr>
            <a:picLocks noChangeAspect="1"/>
          </p:cNvPicPr>
          <p:nvPr/>
        </p:nvPicPr>
        <p:blipFill>
          <a:blip r:embed="rId15"/>
          <a:stretch>
            <a:fillRect/>
          </a:stretch>
        </p:blipFill>
        <p:spPr>
          <a:xfrm>
            <a:off x="256381" y="4804172"/>
            <a:ext cx="365720" cy="365720"/>
          </a:xfrm>
          <a:prstGeom prst="rect">
            <a:avLst/>
          </a:prstGeom>
        </p:spPr>
      </p:pic>
      <p:sp>
        <p:nvSpPr>
          <p:cNvPr id="26" name="Text 9"/>
          <p:cNvSpPr txBox="1"/>
          <p:nvPr/>
        </p:nvSpPr>
        <p:spPr>
          <a:xfrm>
            <a:off x="723701" y="4815681"/>
            <a:ext cx="645120"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Safe</a:t>
            </a:r>
            <a:endParaRPr lang="en-US" sz="2200" dirty="0"/>
          </a:p>
        </p:txBody>
      </p:sp>
      <p:sp>
        <p:nvSpPr>
          <p:cNvPr id="27" name="Text 10"/>
          <p:cNvSpPr txBox="1"/>
          <p:nvPr/>
        </p:nvSpPr>
        <p:spPr>
          <a:xfrm>
            <a:off x="662781" y="5222081"/>
            <a:ext cx="168870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per RFC 10008 §2</a:t>
            </a:r>
            <a:endParaRPr lang="en-US" sz="1700" dirty="0"/>
          </a:p>
        </p:txBody>
      </p:sp>
      <p:sp>
        <p:nvSpPr>
          <p:cNvPr id="28" name="Shape 11"/>
          <p:cNvSpPr/>
          <p:nvPr/>
        </p:nvSpPr>
        <p:spPr>
          <a:xfrm>
            <a:off x="4077493" y="4701381"/>
            <a:ext cx="3833812" cy="920749"/>
          </a:xfrm>
          <a:prstGeom prst="rect">
            <a:avLst/>
          </a:prstGeom>
          <a:solidFill>
            <a:srgbClr val="FFFFFF"/>
          </a:solidFill>
          <a:ln w="12700">
            <a:solidFill>
              <a:srgbClr val="333399"/>
            </a:solidFill>
            <a:prstDash val="dash"/>
          </a:ln>
        </p:spPr>
      </p:sp>
      <p:pic>
        <p:nvPicPr>
          <p:cNvPr id="29" name="Image 15" descr="Rendered as an image because of CSS svg">    </p:cNvPr>
          <p:cNvPicPr>
            <a:picLocks noChangeAspect="1"/>
          </p:cNvPicPr>
          <p:nvPr/>
        </p:nvPicPr>
        <p:blipFill>
          <a:blip r:embed="rId16"/>
          <a:stretch>
            <a:fillRect/>
          </a:stretch>
        </p:blipFill>
        <p:spPr>
          <a:xfrm>
            <a:off x="4242593" y="4804172"/>
            <a:ext cx="365720" cy="365720"/>
          </a:xfrm>
          <a:prstGeom prst="rect">
            <a:avLst/>
          </a:prstGeom>
        </p:spPr>
      </p:pic>
      <p:sp>
        <p:nvSpPr>
          <p:cNvPr id="30" name="Text 12"/>
          <p:cNvSpPr txBox="1"/>
          <p:nvPr/>
        </p:nvSpPr>
        <p:spPr>
          <a:xfrm>
            <a:off x="4709915" y="4815681"/>
            <a:ext cx="1523207"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Idempotent</a:t>
            </a:r>
            <a:endParaRPr lang="en-US" sz="2200" dirty="0"/>
          </a:p>
        </p:txBody>
      </p:sp>
      <p:sp>
        <p:nvSpPr>
          <p:cNvPr id="31" name="Text 13"/>
          <p:cNvSpPr txBox="1"/>
          <p:nvPr/>
        </p:nvSpPr>
        <p:spPr>
          <a:xfrm>
            <a:off x="4648993" y="5222081"/>
            <a:ext cx="30162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32" name="Shape 14"/>
          <p:cNvSpPr/>
          <p:nvPr/>
        </p:nvSpPr>
        <p:spPr>
          <a:xfrm>
            <a:off x="8063707" y="4701381"/>
            <a:ext cx="3833812" cy="920749"/>
          </a:xfrm>
          <a:prstGeom prst="rect">
            <a:avLst/>
          </a:prstGeom>
          <a:solidFill>
            <a:srgbClr val="FFFFFF"/>
          </a:solidFill>
          <a:ln w="12700">
            <a:solidFill>
              <a:srgbClr val="333399"/>
            </a:solidFill>
            <a:prstDash val="dash"/>
          </a:ln>
        </p:spPr>
      </p:sp>
      <p:pic>
        <p:nvPicPr>
          <p:cNvPr id="33" name="Image 16" descr="Rendered as an image because of CSS svg">    </p:cNvPr>
          <p:cNvPicPr>
            <a:picLocks noChangeAspect="1"/>
          </p:cNvPicPr>
          <p:nvPr/>
        </p:nvPicPr>
        <p:blipFill>
          <a:blip r:embed="rId17"/>
          <a:stretch>
            <a:fillRect/>
          </a:stretch>
        </p:blipFill>
        <p:spPr>
          <a:xfrm>
            <a:off x="8228807" y="4804172"/>
            <a:ext cx="365720" cy="365720"/>
          </a:xfrm>
          <a:prstGeom prst="rect">
            <a:avLst/>
          </a:prstGeom>
        </p:spPr>
      </p:pic>
      <p:sp>
        <p:nvSpPr>
          <p:cNvPr id="34" name="Text 15"/>
          <p:cNvSpPr txBox="1"/>
          <p:nvPr/>
        </p:nvSpPr>
        <p:spPr>
          <a:xfrm>
            <a:off x="8696127" y="4815681"/>
            <a:ext cx="1812528"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Body-oriented</a:t>
            </a:r>
            <a:endParaRPr lang="en-US" sz="2200" dirty="0"/>
          </a:p>
        </p:txBody>
      </p:sp>
      <p:sp>
        <p:nvSpPr>
          <p:cNvPr id="35" name="Text 16"/>
          <p:cNvSpPr txBox="1"/>
          <p:nvPr/>
        </p:nvSpPr>
        <p:spPr>
          <a:xfrm>
            <a:off x="8635207" y="5222081"/>
            <a:ext cx="30162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36" name="Shape 17"/>
          <p:cNvSpPr/>
          <p:nvPr/>
        </p:nvSpPr>
        <p:spPr>
          <a:xfrm>
            <a:off x="91281" y="5829895"/>
            <a:ext cx="923727" cy="308372"/>
          </a:xfrm>
          <a:prstGeom prst="roundRect">
            <a:avLst>
              <a:gd name="adj" fmla="val 12355"/>
            </a:avLst>
          </a:prstGeom>
          <a:solidFill>
            <a:srgbClr val="CC6600"/>
          </a:solidFill>
          <a:ln/>
        </p:spPr>
      </p:sp>
      <p:sp>
        <p:nvSpPr>
          <p:cNvPr id="37" name="Text 18"/>
          <p:cNvSpPr txBox="1"/>
          <p:nvPr/>
        </p:nvSpPr>
        <p:spPr>
          <a:xfrm>
            <a:off x="167481" y="5829895"/>
            <a:ext cx="923727" cy="292100"/>
          </a:xfrm>
          <a:prstGeom prst="rect">
            <a:avLst/>
          </a:prstGeom>
          <a:noFill/>
          <a:ln/>
        </p:spPr>
        <p:txBody>
          <a:bodyPr wrap="none" lIns="0" tIns="0" rIns="0" bIns="0" rtlCol="0" anchor="t"/>
          <a:lstStyle/>
          <a:p>
            <a:pPr algn="l" indent="0" marL="0">
              <a:buNone/>
            </a:pPr>
            <a:r>
              <a:rPr lang="en-US" sz="2024" b="1" dirty="0">
                <a:solidFill>
                  <a:srgbClr val="FFFFFF"/>
                </a:solidFill>
                <a:latin typeface="Courier New" pitchFamily="34" charset="0"/>
                <a:ea typeface="Courier New" pitchFamily="34" charset="-122"/>
                <a:cs typeface="Courier New" pitchFamily="34" charset="-120"/>
              </a:rPr>
              <a:t>QUERY</a:t>
            </a:r>
            <a:endParaRPr lang="en-US" sz="2024" dirty="0"/>
          </a:p>
        </p:txBody>
      </p:sp>
      <p:sp>
        <p:nvSpPr>
          <p:cNvPr id="38" name="Text 19"/>
          <p:cNvSpPr txBox="1"/>
          <p:nvPr/>
        </p:nvSpPr>
        <p:spPr>
          <a:xfrm>
            <a:off x="1142008" y="5812631"/>
            <a:ext cx="6395839"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Query in the content </a:t>
            </a:r>
            <a:pPr algn="l" indent="0" marL="0">
              <a:buNone/>
            </a:pPr>
            <a:r>
              <a:rPr lang="en-US" sz="2200" b="1" dirty="0">
                <a:solidFill>
                  <a:srgbClr val="000000"/>
                </a:solidFill>
                <a:latin typeface="Calibri" pitchFamily="34" charset="0"/>
                <a:ea typeface="Calibri" pitchFamily="34" charset="-122"/>
                <a:cs typeface="Calibri" pitchFamily="34" charset="-120"/>
              </a:rPr>
              <a:t>and</a:t>
            </a:r>
            <a:pPr algn="l" indent="0" marL="0">
              <a:buNone/>
            </a:pPr>
            <a:r>
              <a:rPr lang="en-US" sz="2200" dirty="0">
                <a:solidFill>
                  <a:srgbClr val="000000"/>
                </a:solidFill>
                <a:latin typeface="Calibri" pitchFamily="34" charset="0"/>
                <a:ea typeface="Calibri" pitchFamily="34" charset="-122"/>
                <a:cs typeface="Calibri" pitchFamily="34" charset="-120"/>
              </a:rPr>
              <a:t> safe + idempotent semantics.</a:t>
            </a:r>
            <a:endParaRPr lang="en-US"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73211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Moving the query out of the URI: GET → POST → QUERY</a:t>
            </a:r>
            <a:endParaRPr lang="en-US" sz="2400" dirty="0"/>
          </a:p>
        </p:txBody>
      </p:sp>
      <p:sp>
        <p:nvSpPr>
          <p:cNvPr id="10" name="Shape 7"/>
          <p:cNvSpPr/>
          <p:nvPr/>
        </p:nvSpPr>
        <p:spPr>
          <a:xfrm>
            <a:off x="91281" y="1361281"/>
            <a:ext cx="11806237" cy="3187700"/>
          </a:xfrm>
          <a:prstGeom prst="rect">
            <a:avLst/>
          </a:prstGeom>
          <a:solidFill>
            <a:srgbClr val="FFFFFF"/>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332581" y="1526381"/>
            <a:ext cx="685999" cy="355600"/>
          </a:xfrm>
          <a:prstGeom prst="rect">
            <a:avLst/>
          </a:prstGeom>
        </p:spPr>
      </p:pic>
      <p:pic>
        <p:nvPicPr>
          <p:cNvPr id="12" name="Image 2" descr="Rendered as an image because of CSS transform">    </p:cNvPr>
          <p:cNvPicPr>
            <a:picLocks noChangeAspect="1"/>
          </p:cNvPicPr>
          <p:nvPr/>
        </p:nvPicPr>
        <p:blipFill>
          <a:blip r:embed="rId3"/>
          <a:stretch>
            <a:fillRect/>
          </a:stretch>
        </p:blipFill>
        <p:spPr>
          <a:xfrm>
            <a:off x="1155541" y="1526381"/>
            <a:ext cx="960437" cy="355600"/>
          </a:xfrm>
          <a:prstGeom prst="rect">
            <a:avLst/>
          </a:prstGeom>
        </p:spPr>
      </p:pic>
      <p:pic>
        <p:nvPicPr>
          <p:cNvPr id="13" name="Image 3" descr="Rendered as an image because of CSS transform">    </p:cNvPr>
          <p:cNvPicPr>
            <a:picLocks noChangeAspect="1"/>
          </p:cNvPicPr>
          <p:nvPr/>
        </p:nvPicPr>
        <p:blipFill>
          <a:blip r:embed="rId4"/>
          <a:stretch>
            <a:fillRect/>
          </a:stretch>
        </p:blipFill>
        <p:spPr>
          <a:xfrm>
            <a:off x="2252821" y="1526381"/>
            <a:ext cx="1097559" cy="355600"/>
          </a:xfrm>
          <a:prstGeom prst="rect">
            <a:avLst/>
          </a:prstGeom>
        </p:spPr>
      </p:pic>
      <p:pic>
        <p:nvPicPr>
          <p:cNvPr id="14" name="Image 4" descr="Rendered as an image because of CSS transform">    </p:cNvPr>
          <p:cNvPicPr>
            <a:picLocks noChangeAspect="1"/>
          </p:cNvPicPr>
          <p:nvPr/>
        </p:nvPicPr>
        <p:blipFill>
          <a:blip r:embed="rId5"/>
          <a:stretch>
            <a:fillRect/>
          </a:stretch>
        </p:blipFill>
        <p:spPr>
          <a:xfrm>
            <a:off x="332581" y="1881981"/>
            <a:ext cx="2332236" cy="355600"/>
          </a:xfrm>
          <a:prstGeom prst="rect">
            <a:avLst/>
          </a:prstGeom>
        </p:spPr>
      </p:pic>
      <p:pic>
        <p:nvPicPr>
          <p:cNvPr id="15" name="Image 5" descr="Rendered as an image because of CSS transform">    </p:cNvPr>
          <p:cNvPicPr>
            <a:picLocks noChangeAspect="1"/>
          </p:cNvPicPr>
          <p:nvPr/>
        </p:nvPicPr>
        <p:blipFill>
          <a:blip r:embed="rId6"/>
          <a:stretch>
            <a:fillRect/>
          </a:stretch>
        </p:blipFill>
        <p:spPr>
          <a:xfrm>
            <a:off x="332581" y="2237581"/>
            <a:ext cx="4115593" cy="355600"/>
          </a:xfrm>
          <a:prstGeom prst="rect">
            <a:avLst/>
          </a:prstGeom>
        </p:spPr>
      </p:pic>
      <p:pic>
        <p:nvPicPr>
          <p:cNvPr id="16" name="Image 6" descr="Rendered as an image because of CSS transform">    </p:cNvPr>
          <p:cNvPicPr>
            <a:picLocks noChangeAspect="1"/>
          </p:cNvPicPr>
          <p:nvPr/>
        </p:nvPicPr>
        <p:blipFill>
          <a:blip r:embed="rId7"/>
          <a:stretch>
            <a:fillRect/>
          </a:stretch>
        </p:blipFill>
        <p:spPr>
          <a:xfrm>
            <a:off x="332581" y="2948781"/>
            <a:ext cx="137319" cy="355600"/>
          </a:xfrm>
          <a:prstGeom prst="rect">
            <a:avLst/>
          </a:prstGeom>
        </p:spPr>
      </p:pic>
      <p:pic>
        <p:nvPicPr>
          <p:cNvPr id="17" name="Image 7" descr="Rendered as an image because of CSS transform">    </p:cNvPr>
          <p:cNvPicPr>
            <a:picLocks noChangeAspect="1"/>
          </p:cNvPicPr>
          <p:nvPr/>
        </p:nvPicPr>
        <p:blipFill>
          <a:blip r:embed="rId8"/>
          <a:stretch>
            <a:fillRect/>
          </a:stretch>
        </p:blipFill>
        <p:spPr>
          <a:xfrm>
            <a:off x="606901" y="3659981"/>
            <a:ext cx="1646237" cy="355600"/>
          </a:xfrm>
          <a:prstGeom prst="rect">
            <a:avLst/>
          </a:prstGeom>
        </p:spPr>
      </p:pic>
      <p:pic>
        <p:nvPicPr>
          <p:cNvPr id="18" name="Image 8" descr="Rendered as an image because of CSS transform">    </p:cNvPr>
          <p:cNvPicPr>
            <a:picLocks noChangeAspect="1"/>
          </p:cNvPicPr>
          <p:nvPr/>
        </p:nvPicPr>
        <p:blipFill>
          <a:blip r:embed="rId9"/>
          <a:stretch>
            <a:fillRect/>
          </a:stretch>
        </p:blipFill>
        <p:spPr>
          <a:xfrm>
            <a:off x="6230461" y="3659981"/>
            <a:ext cx="137319" cy="355600"/>
          </a:xfrm>
          <a:prstGeom prst="rect">
            <a:avLst/>
          </a:prstGeom>
        </p:spPr>
      </p:pic>
      <p:pic>
        <p:nvPicPr>
          <p:cNvPr id="19" name="Image 9" descr="Rendered as an image because of CSS transform">    </p:cNvPr>
          <p:cNvPicPr>
            <a:picLocks noChangeAspect="1"/>
          </p:cNvPicPr>
          <p:nvPr/>
        </p:nvPicPr>
        <p:blipFill>
          <a:blip r:embed="rId10"/>
          <a:stretch>
            <a:fillRect/>
          </a:stretch>
        </p:blipFill>
        <p:spPr>
          <a:xfrm>
            <a:off x="332581" y="4015581"/>
            <a:ext cx="137319" cy="355600"/>
          </a:xfrm>
          <a:prstGeom prst="rect">
            <a:avLst/>
          </a:prstGeom>
        </p:spPr>
      </p:pic>
      <p:pic>
        <p:nvPicPr>
          <p:cNvPr id="20" name="Image 10" descr="Rendered as an image because of CSS transform">    </p:cNvPr>
          <p:cNvPicPr>
            <a:picLocks noChangeAspect="1"/>
          </p:cNvPicPr>
          <p:nvPr/>
        </p:nvPicPr>
        <p:blipFill>
          <a:blip r:embed="rId11"/>
          <a:stretch>
            <a:fillRect/>
          </a:stretch>
        </p:blipFill>
        <p:spPr>
          <a:xfrm>
            <a:off x="606901" y="3304381"/>
            <a:ext cx="2194917" cy="355600"/>
          </a:xfrm>
          <a:prstGeom prst="rect">
            <a:avLst/>
          </a:prstGeom>
        </p:spPr>
      </p:pic>
      <p:pic>
        <p:nvPicPr>
          <p:cNvPr id="21" name="Image 11" descr="Rendered as an image because of CSS transform">    </p:cNvPr>
          <p:cNvPicPr>
            <a:picLocks noChangeAspect="1"/>
          </p:cNvPicPr>
          <p:nvPr/>
        </p:nvPicPr>
        <p:blipFill>
          <a:blip r:embed="rId12"/>
          <a:stretch>
            <a:fillRect/>
          </a:stretch>
        </p:blipFill>
        <p:spPr>
          <a:xfrm>
            <a:off x="2389981" y="3659981"/>
            <a:ext cx="1783556" cy="355600"/>
          </a:xfrm>
          <a:prstGeom prst="rect">
            <a:avLst/>
          </a:prstGeom>
        </p:spPr>
      </p:pic>
      <p:pic>
        <p:nvPicPr>
          <p:cNvPr id="22" name="Image 12" descr="Rendered as an image because of CSS transform">    </p:cNvPr>
          <p:cNvPicPr>
            <a:picLocks noChangeAspect="1"/>
          </p:cNvPicPr>
          <p:nvPr/>
        </p:nvPicPr>
        <p:blipFill>
          <a:blip r:embed="rId13"/>
          <a:stretch>
            <a:fillRect/>
          </a:stretch>
        </p:blipFill>
        <p:spPr>
          <a:xfrm>
            <a:off x="4310221" y="3659981"/>
            <a:ext cx="1783556" cy="355600"/>
          </a:xfrm>
          <a:prstGeom prst="rect">
            <a:avLst/>
          </a:prstGeom>
        </p:spPr>
      </p:pic>
      <p:pic>
        <p:nvPicPr>
          <p:cNvPr id="23" name="Image 13" descr="Rendered as an image because of CSS transform">    </p:cNvPr>
          <p:cNvPicPr>
            <a:picLocks noChangeAspect="1"/>
          </p:cNvPicPr>
          <p:nvPr/>
        </p:nvPicPr>
        <p:blipFill>
          <a:blip r:embed="rId14"/>
          <a:stretch>
            <a:fillRect/>
          </a:stretch>
        </p:blipFill>
        <p:spPr>
          <a:xfrm>
            <a:off x="3624421" y="2984351"/>
            <a:ext cx="4029075" cy="335161"/>
          </a:xfrm>
          <a:prstGeom prst="rect">
            <a:avLst/>
          </a:prstGeom>
        </p:spPr>
      </p:pic>
      <p:sp>
        <p:nvSpPr>
          <p:cNvPr id="24" name="Shape 8"/>
          <p:cNvSpPr/>
          <p:nvPr/>
        </p:nvSpPr>
        <p:spPr>
          <a:xfrm>
            <a:off x="91281" y="4701381"/>
            <a:ext cx="3833812" cy="920749"/>
          </a:xfrm>
          <a:prstGeom prst="rect">
            <a:avLst/>
          </a:prstGeom>
          <a:solidFill>
            <a:srgbClr val="DAEDEF"/>
          </a:solidFill>
          <a:ln w="12700">
            <a:solidFill>
              <a:srgbClr val="009999"/>
            </a:solidFill>
            <a:prstDash val="solid"/>
          </a:ln>
        </p:spPr>
      </p:sp>
      <p:pic>
        <p:nvPicPr>
          <p:cNvPr id="25" name="Image 14" descr="Rendered as an image because of CSS svg">    </p:cNvPr>
          <p:cNvPicPr>
            <a:picLocks noChangeAspect="1"/>
          </p:cNvPicPr>
          <p:nvPr/>
        </p:nvPicPr>
        <p:blipFill>
          <a:blip r:embed="rId15"/>
          <a:stretch>
            <a:fillRect/>
          </a:stretch>
        </p:blipFill>
        <p:spPr>
          <a:xfrm>
            <a:off x="256381" y="4804172"/>
            <a:ext cx="365720" cy="365720"/>
          </a:xfrm>
          <a:prstGeom prst="rect">
            <a:avLst/>
          </a:prstGeom>
        </p:spPr>
      </p:pic>
      <p:sp>
        <p:nvSpPr>
          <p:cNvPr id="26" name="Text 9"/>
          <p:cNvSpPr txBox="1"/>
          <p:nvPr/>
        </p:nvSpPr>
        <p:spPr>
          <a:xfrm>
            <a:off x="723701" y="4815681"/>
            <a:ext cx="645120"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Safe</a:t>
            </a:r>
            <a:endParaRPr lang="en-US" sz="2200" dirty="0"/>
          </a:p>
        </p:txBody>
      </p:sp>
      <p:sp>
        <p:nvSpPr>
          <p:cNvPr id="27" name="Text 10"/>
          <p:cNvSpPr txBox="1"/>
          <p:nvPr/>
        </p:nvSpPr>
        <p:spPr>
          <a:xfrm>
            <a:off x="662781" y="5222081"/>
            <a:ext cx="168870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per RFC 10008 §2</a:t>
            </a:r>
            <a:endParaRPr lang="en-US" sz="1700" dirty="0"/>
          </a:p>
        </p:txBody>
      </p:sp>
      <p:sp>
        <p:nvSpPr>
          <p:cNvPr id="28" name="Shape 11"/>
          <p:cNvSpPr/>
          <p:nvPr/>
        </p:nvSpPr>
        <p:spPr>
          <a:xfrm>
            <a:off x="4077493" y="4701381"/>
            <a:ext cx="3833812" cy="920749"/>
          </a:xfrm>
          <a:prstGeom prst="rect">
            <a:avLst/>
          </a:prstGeom>
          <a:solidFill>
            <a:srgbClr val="DAEDEF"/>
          </a:solidFill>
          <a:ln w="12700">
            <a:solidFill>
              <a:srgbClr val="009999"/>
            </a:solidFill>
            <a:prstDash val="solid"/>
          </a:ln>
        </p:spPr>
      </p:sp>
      <p:pic>
        <p:nvPicPr>
          <p:cNvPr id="29" name="Image 15" descr="Rendered as an image because of CSS svg">    </p:cNvPr>
          <p:cNvPicPr>
            <a:picLocks noChangeAspect="1"/>
          </p:cNvPicPr>
          <p:nvPr/>
        </p:nvPicPr>
        <p:blipFill>
          <a:blip r:embed="rId16"/>
          <a:stretch>
            <a:fillRect/>
          </a:stretch>
        </p:blipFill>
        <p:spPr>
          <a:xfrm>
            <a:off x="4242593" y="4804172"/>
            <a:ext cx="365720" cy="365720"/>
          </a:xfrm>
          <a:prstGeom prst="rect">
            <a:avLst/>
          </a:prstGeom>
        </p:spPr>
      </p:pic>
      <p:sp>
        <p:nvSpPr>
          <p:cNvPr id="30" name="Text 12"/>
          <p:cNvSpPr txBox="1"/>
          <p:nvPr/>
        </p:nvSpPr>
        <p:spPr>
          <a:xfrm>
            <a:off x="4709915" y="4815681"/>
            <a:ext cx="1523207"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Idempotent</a:t>
            </a:r>
            <a:endParaRPr lang="en-US" sz="2200" dirty="0"/>
          </a:p>
        </p:txBody>
      </p:sp>
      <p:sp>
        <p:nvSpPr>
          <p:cNvPr id="31" name="Text 13"/>
          <p:cNvSpPr txBox="1"/>
          <p:nvPr/>
        </p:nvSpPr>
        <p:spPr>
          <a:xfrm>
            <a:off x="4648993" y="5222081"/>
            <a:ext cx="168870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per RFC 10008 §2</a:t>
            </a:r>
            <a:endParaRPr lang="en-US" sz="1700" dirty="0"/>
          </a:p>
        </p:txBody>
      </p:sp>
      <p:sp>
        <p:nvSpPr>
          <p:cNvPr id="32" name="Shape 14"/>
          <p:cNvSpPr/>
          <p:nvPr/>
        </p:nvSpPr>
        <p:spPr>
          <a:xfrm>
            <a:off x="8063707" y="4701381"/>
            <a:ext cx="3833812" cy="920749"/>
          </a:xfrm>
          <a:prstGeom prst="rect">
            <a:avLst/>
          </a:prstGeom>
          <a:solidFill>
            <a:srgbClr val="FFFFFF"/>
          </a:solidFill>
          <a:ln w="12700">
            <a:solidFill>
              <a:srgbClr val="333399"/>
            </a:solidFill>
            <a:prstDash val="dash"/>
          </a:ln>
        </p:spPr>
      </p:sp>
      <p:pic>
        <p:nvPicPr>
          <p:cNvPr id="33" name="Image 16" descr="Rendered as an image because of CSS svg">    </p:cNvPr>
          <p:cNvPicPr>
            <a:picLocks noChangeAspect="1"/>
          </p:cNvPicPr>
          <p:nvPr/>
        </p:nvPicPr>
        <p:blipFill>
          <a:blip r:embed="rId17"/>
          <a:stretch>
            <a:fillRect/>
          </a:stretch>
        </p:blipFill>
        <p:spPr>
          <a:xfrm>
            <a:off x="8228807" y="4804172"/>
            <a:ext cx="365720" cy="365720"/>
          </a:xfrm>
          <a:prstGeom prst="rect">
            <a:avLst/>
          </a:prstGeom>
        </p:spPr>
      </p:pic>
      <p:sp>
        <p:nvSpPr>
          <p:cNvPr id="34" name="Text 15"/>
          <p:cNvSpPr txBox="1"/>
          <p:nvPr/>
        </p:nvSpPr>
        <p:spPr>
          <a:xfrm>
            <a:off x="8696127" y="4815681"/>
            <a:ext cx="1812528"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Body-oriented</a:t>
            </a:r>
            <a:endParaRPr lang="en-US" sz="2200" dirty="0"/>
          </a:p>
        </p:txBody>
      </p:sp>
      <p:sp>
        <p:nvSpPr>
          <p:cNvPr id="35" name="Text 16"/>
          <p:cNvSpPr txBox="1"/>
          <p:nvPr/>
        </p:nvSpPr>
        <p:spPr>
          <a:xfrm>
            <a:off x="8635207" y="5222081"/>
            <a:ext cx="30162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36" name="Shape 17"/>
          <p:cNvSpPr/>
          <p:nvPr/>
        </p:nvSpPr>
        <p:spPr>
          <a:xfrm>
            <a:off x="91281" y="5829895"/>
            <a:ext cx="923727" cy="308372"/>
          </a:xfrm>
          <a:prstGeom prst="roundRect">
            <a:avLst>
              <a:gd name="adj" fmla="val 12355"/>
            </a:avLst>
          </a:prstGeom>
          <a:solidFill>
            <a:srgbClr val="CC6600"/>
          </a:solidFill>
          <a:ln/>
        </p:spPr>
      </p:sp>
      <p:sp>
        <p:nvSpPr>
          <p:cNvPr id="37" name="Text 18"/>
          <p:cNvSpPr txBox="1"/>
          <p:nvPr/>
        </p:nvSpPr>
        <p:spPr>
          <a:xfrm>
            <a:off x="167481" y="5829895"/>
            <a:ext cx="923727" cy="292100"/>
          </a:xfrm>
          <a:prstGeom prst="rect">
            <a:avLst/>
          </a:prstGeom>
          <a:noFill/>
          <a:ln/>
        </p:spPr>
        <p:txBody>
          <a:bodyPr wrap="none" lIns="0" tIns="0" rIns="0" bIns="0" rtlCol="0" anchor="t"/>
          <a:lstStyle/>
          <a:p>
            <a:pPr algn="l" indent="0" marL="0">
              <a:buNone/>
            </a:pPr>
            <a:r>
              <a:rPr lang="en-US" sz="2024" b="1" dirty="0">
                <a:solidFill>
                  <a:srgbClr val="FFFFFF"/>
                </a:solidFill>
                <a:latin typeface="Courier New" pitchFamily="34" charset="0"/>
                <a:ea typeface="Courier New" pitchFamily="34" charset="-122"/>
                <a:cs typeface="Courier New" pitchFamily="34" charset="-120"/>
              </a:rPr>
              <a:t>QUERY</a:t>
            </a:r>
            <a:endParaRPr lang="en-US" sz="2024" dirty="0"/>
          </a:p>
        </p:txBody>
      </p:sp>
      <p:sp>
        <p:nvSpPr>
          <p:cNvPr id="38" name="Text 19"/>
          <p:cNvSpPr txBox="1"/>
          <p:nvPr/>
        </p:nvSpPr>
        <p:spPr>
          <a:xfrm>
            <a:off x="1142008" y="5812631"/>
            <a:ext cx="6395839"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Query in the content </a:t>
            </a:r>
            <a:pPr algn="l" indent="0" marL="0">
              <a:buNone/>
            </a:pPr>
            <a:r>
              <a:rPr lang="en-US" sz="2200" b="1" dirty="0">
                <a:solidFill>
                  <a:srgbClr val="000000"/>
                </a:solidFill>
                <a:latin typeface="Calibri" pitchFamily="34" charset="0"/>
                <a:ea typeface="Calibri" pitchFamily="34" charset="-122"/>
                <a:cs typeface="Calibri" pitchFamily="34" charset="-120"/>
              </a:rPr>
              <a:t>and</a:t>
            </a:r>
            <a:pPr algn="l" indent="0" marL="0">
              <a:buNone/>
            </a:pPr>
            <a:r>
              <a:rPr lang="en-US" sz="2200" dirty="0">
                <a:solidFill>
                  <a:srgbClr val="000000"/>
                </a:solidFill>
                <a:latin typeface="Calibri" pitchFamily="34" charset="0"/>
                <a:ea typeface="Calibri" pitchFamily="34" charset="-122"/>
                <a:cs typeface="Calibri" pitchFamily="34" charset="-120"/>
              </a:rPr>
              <a:t> safe + idempotent semantics.</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73211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Moving the query out of the URI: GET → POST → QUERY</a:t>
            </a:r>
            <a:endParaRPr lang="en-US" sz="2400" dirty="0"/>
          </a:p>
        </p:txBody>
      </p:sp>
      <p:sp>
        <p:nvSpPr>
          <p:cNvPr id="10" name="Shape 7"/>
          <p:cNvSpPr/>
          <p:nvPr/>
        </p:nvSpPr>
        <p:spPr>
          <a:xfrm>
            <a:off x="91281" y="1361281"/>
            <a:ext cx="11806237" cy="3187700"/>
          </a:xfrm>
          <a:prstGeom prst="rect">
            <a:avLst/>
          </a:prstGeom>
          <a:solidFill>
            <a:srgbClr val="FFFFFF"/>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332581" y="1526381"/>
            <a:ext cx="685999" cy="355600"/>
          </a:xfrm>
          <a:prstGeom prst="rect">
            <a:avLst/>
          </a:prstGeom>
        </p:spPr>
      </p:pic>
      <p:pic>
        <p:nvPicPr>
          <p:cNvPr id="12" name="Image 2" descr="Rendered as an image because of CSS transform">    </p:cNvPr>
          <p:cNvPicPr>
            <a:picLocks noChangeAspect="1"/>
          </p:cNvPicPr>
          <p:nvPr/>
        </p:nvPicPr>
        <p:blipFill>
          <a:blip r:embed="rId3"/>
          <a:stretch>
            <a:fillRect/>
          </a:stretch>
        </p:blipFill>
        <p:spPr>
          <a:xfrm>
            <a:off x="1155541" y="1526381"/>
            <a:ext cx="960437" cy="355600"/>
          </a:xfrm>
          <a:prstGeom prst="rect">
            <a:avLst/>
          </a:prstGeom>
        </p:spPr>
      </p:pic>
      <p:pic>
        <p:nvPicPr>
          <p:cNvPr id="13" name="Image 3" descr="Rendered as an image because of CSS transform">    </p:cNvPr>
          <p:cNvPicPr>
            <a:picLocks noChangeAspect="1"/>
          </p:cNvPicPr>
          <p:nvPr/>
        </p:nvPicPr>
        <p:blipFill>
          <a:blip r:embed="rId4"/>
          <a:stretch>
            <a:fillRect/>
          </a:stretch>
        </p:blipFill>
        <p:spPr>
          <a:xfrm>
            <a:off x="2252821" y="1526381"/>
            <a:ext cx="1097559" cy="355600"/>
          </a:xfrm>
          <a:prstGeom prst="rect">
            <a:avLst/>
          </a:prstGeom>
        </p:spPr>
      </p:pic>
      <p:pic>
        <p:nvPicPr>
          <p:cNvPr id="14" name="Image 4" descr="Rendered as an image because of CSS transform">    </p:cNvPr>
          <p:cNvPicPr>
            <a:picLocks noChangeAspect="1"/>
          </p:cNvPicPr>
          <p:nvPr/>
        </p:nvPicPr>
        <p:blipFill>
          <a:blip r:embed="rId5"/>
          <a:stretch>
            <a:fillRect/>
          </a:stretch>
        </p:blipFill>
        <p:spPr>
          <a:xfrm>
            <a:off x="332581" y="1881981"/>
            <a:ext cx="2332236" cy="355600"/>
          </a:xfrm>
          <a:prstGeom prst="rect">
            <a:avLst/>
          </a:prstGeom>
        </p:spPr>
      </p:pic>
      <p:pic>
        <p:nvPicPr>
          <p:cNvPr id="15" name="Image 5" descr="Rendered as an image because of CSS transform">    </p:cNvPr>
          <p:cNvPicPr>
            <a:picLocks noChangeAspect="1"/>
          </p:cNvPicPr>
          <p:nvPr/>
        </p:nvPicPr>
        <p:blipFill>
          <a:blip r:embed="rId6"/>
          <a:stretch>
            <a:fillRect/>
          </a:stretch>
        </p:blipFill>
        <p:spPr>
          <a:xfrm>
            <a:off x="332581" y="2237581"/>
            <a:ext cx="4115593" cy="355600"/>
          </a:xfrm>
          <a:prstGeom prst="rect">
            <a:avLst/>
          </a:prstGeom>
        </p:spPr>
      </p:pic>
      <p:pic>
        <p:nvPicPr>
          <p:cNvPr id="16" name="Image 6" descr="Rendered as an image because of CSS transform">    </p:cNvPr>
          <p:cNvPicPr>
            <a:picLocks noChangeAspect="1"/>
          </p:cNvPicPr>
          <p:nvPr/>
        </p:nvPicPr>
        <p:blipFill>
          <a:blip r:embed="rId7"/>
          <a:stretch>
            <a:fillRect/>
          </a:stretch>
        </p:blipFill>
        <p:spPr>
          <a:xfrm>
            <a:off x="332581" y="2948781"/>
            <a:ext cx="137319" cy="355600"/>
          </a:xfrm>
          <a:prstGeom prst="rect">
            <a:avLst/>
          </a:prstGeom>
        </p:spPr>
      </p:pic>
      <p:pic>
        <p:nvPicPr>
          <p:cNvPr id="17" name="Image 7" descr="Rendered as an image because of CSS transform">    </p:cNvPr>
          <p:cNvPicPr>
            <a:picLocks noChangeAspect="1"/>
          </p:cNvPicPr>
          <p:nvPr/>
        </p:nvPicPr>
        <p:blipFill>
          <a:blip r:embed="rId8"/>
          <a:stretch>
            <a:fillRect/>
          </a:stretch>
        </p:blipFill>
        <p:spPr>
          <a:xfrm>
            <a:off x="606901" y="3659981"/>
            <a:ext cx="1646237" cy="355600"/>
          </a:xfrm>
          <a:prstGeom prst="rect">
            <a:avLst/>
          </a:prstGeom>
        </p:spPr>
      </p:pic>
      <p:pic>
        <p:nvPicPr>
          <p:cNvPr id="18" name="Image 8" descr="Rendered as an image because of CSS transform">    </p:cNvPr>
          <p:cNvPicPr>
            <a:picLocks noChangeAspect="1"/>
          </p:cNvPicPr>
          <p:nvPr/>
        </p:nvPicPr>
        <p:blipFill>
          <a:blip r:embed="rId9"/>
          <a:stretch>
            <a:fillRect/>
          </a:stretch>
        </p:blipFill>
        <p:spPr>
          <a:xfrm>
            <a:off x="6230461" y="3659981"/>
            <a:ext cx="137319" cy="355600"/>
          </a:xfrm>
          <a:prstGeom prst="rect">
            <a:avLst/>
          </a:prstGeom>
        </p:spPr>
      </p:pic>
      <p:pic>
        <p:nvPicPr>
          <p:cNvPr id="19" name="Image 9" descr="Rendered as an image because of CSS transform">    </p:cNvPr>
          <p:cNvPicPr>
            <a:picLocks noChangeAspect="1"/>
          </p:cNvPicPr>
          <p:nvPr/>
        </p:nvPicPr>
        <p:blipFill>
          <a:blip r:embed="rId10"/>
          <a:stretch>
            <a:fillRect/>
          </a:stretch>
        </p:blipFill>
        <p:spPr>
          <a:xfrm>
            <a:off x="332581" y="4015581"/>
            <a:ext cx="137319" cy="355600"/>
          </a:xfrm>
          <a:prstGeom prst="rect">
            <a:avLst/>
          </a:prstGeom>
        </p:spPr>
      </p:pic>
      <p:pic>
        <p:nvPicPr>
          <p:cNvPr id="20" name="Image 10" descr="Rendered as an image because of CSS transform">    </p:cNvPr>
          <p:cNvPicPr>
            <a:picLocks noChangeAspect="1"/>
          </p:cNvPicPr>
          <p:nvPr/>
        </p:nvPicPr>
        <p:blipFill>
          <a:blip r:embed="rId11"/>
          <a:stretch>
            <a:fillRect/>
          </a:stretch>
        </p:blipFill>
        <p:spPr>
          <a:xfrm>
            <a:off x="606901" y="3304381"/>
            <a:ext cx="2194917" cy="355600"/>
          </a:xfrm>
          <a:prstGeom prst="rect">
            <a:avLst/>
          </a:prstGeom>
        </p:spPr>
      </p:pic>
      <p:pic>
        <p:nvPicPr>
          <p:cNvPr id="21" name="Image 11" descr="Rendered as an image because of CSS transform">    </p:cNvPr>
          <p:cNvPicPr>
            <a:picLocks noChangeAspect="1"/>
          </p:cNvPicPr>
          <p:nvPr/>
        </p:nvPicPr>
        <p:blipFill>
          <a:blip r:embed="rId12"/>
          <a:stretch>
            <a:fillRect/>
          </a:stretch>
        </p:blipFill>
        <p:spPr>
          <a:xfrm>
            <a:off x="2389981" y="3659981"/>
            <a:ext cx="1783556" cy="355600"/>
          </a:xfrm>
          <a:prstGeom prst="rect">
            <a:avLst/>
          </a:prstGeom>
        </p:spPr>
      </p:pic>
      <p:pic>
        <p:nvPicPr>
          <p:cNvPr id="22" name="Image 12" descr="Rendered as an image because of CSS transform">    </p:cNvPr>
          <p:cNvPicPr>
            <a:picLocks noChangeAspect="1"/>
          </p:cNvPicPr>
          <p:nvPr/>
        </p:nvPicPr>
        <p:blipFill>
          <a:blip r:embed="rId13"/>
          <a:stretch>
            <a:fillRect/>
          </a:stretch>
        </p:blipFill>
        <p:spPr>
          <a:xfrm>
            <a:off x="4310221" y="3659981"/>
            <a:ext cx="1783556" cy="355600"/>
          </a:xfrm>
          <a:prstGeom prst="rect">
            <a:avLst/>
          </a:prstGeom>
        </p:spPr>
      </p:pic>
      <p:pic>
        <p:nvPicPr>
          <p:cNvPr id="23" name="Image 13" descr="Rendered as an image because of CSS transform">    </p:cNvPr>
          <p:cNvPicPr>
            <a:picLocks noChangeAspect="1"/>
          </p:cNvPicPr>
          <p:nvPr/>
        </p:nvPicPr>
        <p:blipFill>
          <a:blip r:embed="rId14"/>
          <a:stretch>
            <a:fillRect/>
          </a:stretch>
        </p:blipFill>
        <p:spPr>
          <a:xfrm>
            <a:off x="3624421" y="2984351"/>
            <a:ext cx="4029075" cy="335161"/>
          </a:xfrm>
          <a:prstGeom prst="rect">
            <a:avLst/>
          </a:prstGeom>
        </p:spPr>
      </p:pic>
      <p:sp>
        <p:nvSpPr>
          <p:cNvPr id="24" name="Shape 8"/>
          <p:cNvSpPr/>
          <p:nvPr/>
        </p:nvSpPr>
        <p:spPr>
          <a:xfrm>
            <a:off x="91281" y="4701381"/>
            <a:ext cx="3833812" cy="920749"/>
          </a:xfrm>
          <a:prstGeom prst="rect">
            <a:avLst/>
          </a:prstGeom>
          <a:solidFill>
            <a:srgbClr val="DAEDEF"/>
          </a:solidFill>
          <a:ln w="12700">
            <a:solidFill>
              <a:srgbClr val="009999"/>
            </a:solidFill>
            <a:prstDash val="solid"/>
          </a:ln>
        </p:spPr>
      </p:sp>
      <p:pic>
        <p:nvPicPr>
          <p:cNvPr id="25" name="Image 14" descr="Rendered as an image because of CSS svg">    </p:cNvPr>
          <p:cNvPicPr>
            <a:picLocks noChangeAspect="1"/>
          </p:cNvPicPr>
          <p:nvPr/>
        </p:nvPicPr>
        <p:blipFill>
          <a:blip r:embed="rId15"/>
          <a:stretch>
            <a:fillRect/>
          </a:stretch>
        </p:blipFill>
        <p:spPr>
          <a:xfrm>
            <a:off x="256381" y="4804172"/>
            <a:ext cx="365720" cy="365720"/>
          </a:xfrm>
          <a:prstGeom prst="rect">
            <a:avLst/>
          </a:prstGeom>
        </p:spPr>
      </p:pic>
      <p:sp>
        <p:nvSpPr>
          <p:cNvPr id="26" name="Text 9"/>
          <p:cNvSpPr txBox="1"/>
          <p:nvPr/>
        </p:nvSpPr>
        <p:spPr>
          <a:xfrm>
            <a:off x="723701" y="4815681"/>
            <a:ext cx="645120"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Safe</a:t>
            </a:r>
            <a:endParaRPr lang="en-US" sz="2200" dirty="0"/>
          </a:p>
        </p:txBody>
      </p:sp>
      <p:sp>
        <p:nvSpPr>
          <p:cNvPr id="27" name="Text 10"/>
          <p:cNvSpPr txBox="1"/>
          <p:nvPr/>
        </p:nvSpPr>
        <p:spPr>
          <a:xfrm>
            <a:off x="662781" y="5222081"/>
            <a:ext cx="168870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per RFC 10008 §2</a:t>
            </a:r>
            <a:endParaRPr lang="en-US" sz="1700" dirty="0"/>
          </a:p>
        </p:txBody>
      </p:sp>
      <p:sp>
        <p:nvSpPr>
          <p:cNvPr id="28" name="Shape 11"/>
          <p:cNvSpPr/>
          <p:nvPr/>
        </p:nvSpPr>
        <p:spPr>
          <a:xfrm>
            <a:off x="4077493" y="4701381"/>
            <a:ext cx="3833812" cy="920749"/>
          </a:xfrm>
          <a:prstGeom prst="rect">
            <a:avLst/>
          </a:prstGeom>
          <a:solidFill>
            <a:srgbClr val="DAEDEF"/>
          </a:solidFill>
          <a:ln w="12700">
            <a:solidFill>
              <a:srgbClr val="009999"/>
            </a:solidFill>
            <a:prstDash val="solid"/>
          </a:ln>
        </p:spPr>
      </p:sp>
      <p:pic>
        <p:nvPicPr>
          <p:cNvPr id="29" name="Image 15" descr="Rendered as an image because of CSS svg">    </p:cNvPr>
          <p:cNvPicPr>
            <a:picLocks noChangeAspect="1"/>
          </p:cNvPicPr>
          <p:nvPr/>
        </p:nvPicPr>
        <p:blipFill>
          <a:blip r:embed="rId16"/>
          <a:stretch>
            <a:fillRect/>
          </a:stretch>
        </p:blipFill>
        <p:spPr>
          <a:xfrm>
            <a:off x="4242593" y="4804172"/>
            <a:ext cx="365720" cy="365720"/>
          </a:xfrm>
          <a:prstGeom prst="rect">
            <a:avLst/>
          </a:prstGeom>
        </p:spPr>
      </p:pic>
      <p:sp>
        <p:nvSpPr>
          <p:cNvPr id="30" name="Text 12"/>
          <p:cNvSpPr txBox="1"/>
          <p:nvPr/>
        </p:nvSpPr>
        <p:spPr>
          <a:xfrm>
            <a:off x="4709915" y="4815681"/>
            <a:ext cx="1523207"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Idempotent</a:t>
            </a:r>
            <a:endParaRPr lang="en-US" sz="2200" dirty="0"/>
          </a:p>
        </p:txBody>
      </p:sp>
      <p:sp>
        <p:nvSpPr>
          <p:cNvPr id="31" name="Text 13"/>
          <p:cNvSpPr txBox="1"/>
          <p:nvPr/>
        </p:nvSpPr>
        <p:spPr>
          <a:xfrm>
            <a:off x="4648993" y="5222081"/>
            <a:ext cx="1688703"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per RFC 10008 §2</a:t>
            </a:r>
            <a:endParaRPr lang="en-US" sz="1700" dirty="0"/>
          </a:p>
        </p:txBody>
      </p:sp>
      <p:sp>
        <p:nvSpPr>
          <p:cNvPr id="32" name="Shape 14"/>
          <p:cNvSpPr/>
          <p:nvPr/>
        </p:nvSpPr>
        <p:spPr>
          <a:xfrm>
            <a:off x="8063707" y="4701381"/>
            <a:ext cx="3833812" cy="920749"/>
          </a:xfrm>
          <a:prstGeom prst="rect">
            <a:avLst/>
          </a:prstGeom>
          <a:solidFill>
            <a:srgbClr val="DAEDEF"/>
          </a:solidFill>
          <a:ln w="12700">
            <a:solidFill>
              <a:srgbClr val="009999"/>
            </a:solidFill>
            <a:prstDash val="solid"/>
          </a:ln>
        </p:spPr>
      </p:sp>
      <p:pic>
        <p:nvPicPr>
          <p:cNvPr id="33" name="Image 16" descr="Rendered as an image because of CSS svg">    </p:cNvPr>
          <p:cNvPicPr>
            <a:picLocks noChangeAspect="1"/>
          </p:cNvPicPr>
          <p:nvPr/>
        </p:nvPicPr>
        <p:blipFill>
          <a:blip r:embed="rId17"/>
          <a:stretch>
            <a:fillRect/>
          </a:stretch>
        </p:blipFill>
        <p:spPr>
          <a:xfrm>
            <a:off x="8228807" y="4804172"/>
            <a:ext cx="365720" cy="365720"/>
          </a:xfrm>
          <a:prstGeom prst="rect">
            <a:avLst/>
          </a:prstGeom>
        </p:spPr>
      </p:pic>
      <p:sp>
        <p:nvSpPr>
          <p:cNvPr id="34" name="Text 15"/>
          <p:cNvSpPr txBox="1"/>
          <p:nvPr/>
        </p:nvSpPr>
        <p:spPr>
          <a:xfrm>
            <a:off x="8696127" y="4815681"/>
            <a:ext cx="1812528" cy="342900"/>
          </a:xfrm>
          <a:prstGeom prst="rect">
            <a:avLst/>
          </a:prstGeom>
          <a:noFill/>
          <a:ln/>
        </p:spPr>
        <p:txBody>
          <a:bodyPr wrap="none" lIns="0" tIns="0" rIns="0" bIns="0" rtlCol="0" anchor="t"/>
          <a:lstStyle/>
          <a:p>
            <a:pPr algn="l" indent="0" marL="0">
              <a:buNone/>
            </a:pPr>
            <a:r>
              <a:rPr lang="en-US" sz="2200" b="1" dirty="0">
                <a:solidFill>
                  <a:srgbClr val="000000"/>
                </a:solidFill>
                <a:latin typeface="Calibri" pitchFamily="34" charset="0"/>
                <a:ea typeface="Calibri" pitchFamily="34" charset="-122"/>
                <a:cs typeface="Calibri" pitchFamily="34" charset="-120"/>
              </a:rPr>
              <a:t>Body-oriented</a:t>
            </a:r>
            <a:endParaRPr lang="en-US" sz="2200" dirty="0"/>
          </a:p>
        </p:txBody>
      </p:sp>
      <p:sp>
        <p:nvSpPr>
          <p:cNvPr id="35" name="Text 16"/>
          <p:cNvSpPr txBox="1"/>
          <p:nvPr/>
        </p:nvSpPr>
        <p:spPr>
          <a:xfrm>
            <a:off x="8635207" y="5222081"/>
            <a:ext cx="2122091"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query is in the content</a:t>
            </a:r>
            <a:endParaRPr lang="en-US" sz="1700" dirty="0"/>
          </a:p>
        </p:txBody>
      </p:sp>
      <p:sp>
        <p:nvSpPr>
          <p:cNvPr id="36" name="Shape 17"/>
          <p:cNvSpPr/>
          <p:nvPr/>
        </p:nvSpPr>
        <p:spPr>
          <a:xfrm>
            <a:off x="91281" y="5829895"/>
            <a:ext cx="923727" cy="308372"/>
          </a:xfrm>
          <a:prstGeom prst="roundRect">
            <a:avLst>
              <a:gd name="adj" fmla="val 12355"/>
            </a:avLst>
          </a:prstGeom>
          <a:solidFill>
            <a:srgbClr val="CC6600"/>
          </a:solidFill>
          <a:ln/>
        </p:spPr>
      </p:sp>
      <p:sp>
        <p:nvSpPr>
          <p:cNvPr id="37" name="Text 18"/>
          <p:cNvSpPr txBox="1"/>
          <p:nvPr/>
        </p:nvSpPr>
        <p:spPr>
          <a:xfrm>
            <a:off x="167481" y="5829895"/>
            <a:ext cx="923727" cy="292100"/>
          </a:xfrm>
          <a:prstGeom prst="rect">
            <a:avLst/>
          </a:prstGeom>
          <a:noFill/>
          <a:ln/>
        </p:spPr>
        <p:txBody>
          <a:bodyPr wrap="none" lIns="0" tIns="0" rIns="0" bIns="0" rtlCol="0" anchor="t"/>
          <a:lstStyle/>
          <a:p>
            <a:pPr algn="l" indent="0" marL="0">
              <a:buNone/>
            </a:pPr>
            <a:r>
              <a:rPr lang="en-US" sz="2024" b="1" dirty="0">
                <a:solidFill>
                  <a:srgbClr val="FFFFFF"/>
                </a:solidFill>
                <a:latin typeface="Courier New" pitchFamily="34" charset="0"/>
                <a:ea typeface="Courier New" pitchFamily="34" charset="-122"/>
                <a:cs typeface="Courier New" pitchFamily="34" charset="-120"/>
              </a:rPr>
              <a:t>QUERY</a:t>
            </a:r>
            <a:endParaRPr lang="en-US" sz="2024" dirty="0"/>
          </a:p>
        </p:txBody>
      </p:sp>
      <p:sp>
        <p:nvSpPr>
          <p:cNvPr id="38" name="Text 19"/>
          <p:cNvSpPr txBox="1"/>
          <p:nvPr/>
        </p:nvSpPr>
        <p:spPr>
          <a:xfrm>
            <a:off x="1142008" y="5812631"/>
            <a:ext cx="6395839"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Query in the content </a:t>
            </a:r>
            <a:pPr algn="l" indent="0" marL="0">
              <a:buNone/>
            </a:pPr>
            <a:r>
              <a:rPr lang="en-US" sz="2200" b="1" dirty="0">
                <a:solidFill>
                  <a:srgbClr val="000000"/>
                </a:solidFill>
                <a:latin typeface="Calibri" pitchFamily="34" charset="0"/>
                <a:ea typeface="Calibri" pitchFamily="34" charset="-122"/>
                <a:cs typeface="Calibri" pitchFamily="34" charset="-120"/>
              </a:rPr>
              <a:t>and</a:t>
            </a:r>
            <a:pPr algn="l" indent="0" marL="0">
              <a:buNone/>
            </a:pPr>
            <a:r>
              <a:rPr lang="en-US" sz="2200" dirty="0">
                <a:solidFill>
                  <a:srgbClr val="000000"/>
                </a:solidFill>
                <a:latin typeface="Calibri" pitchFamily="34" charset="0"/>
                <a:ea typeface="Calibri" pitchFamily="34" charset="-122"/>
                <a:cs typeface="Calibri" pitchFamily="34" charset="-120"/>
              </a:rPr>
              <a:t> safe + idempotent semantics.</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Text 9"/>
          <p:cNvSpPr txBox="1"/>
          <p:nvPr/>
        </p:nvSpPr>
        <p:spPr>
          <a:xfrm>
            <a:off x="230981" y="1828601"/>
            <a:ext cx="76219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3" name="Shape 10"/>
          <p:cNvSpPr/>
          <p:nvPr/>
        </p:nvSpPr>
        <p:spPr>
          <a:xfrm>
            <a:off x="904280" y="1793081"/>
            <a:ext cx="254000" cy="254000"/>
          </a:xfrm>
          <a:prstGeom prst="roundRect">
            <a:avLst>
              <a:gd name="adj" fmla="val 50000"/>
            </a:avLst>
          </a:prstGeom>
          <a:solidFill>
            <a:srgbClr val="333399"/>
          </a:solidFill>
          <a:ln/>
        </p:spPr>
      </p:sp>
      <p:sp>
        <p:nvSpPr>
          <p:cNvPr id="14" name="Text 11"/>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2"/>
          <p:cNvSpPr txBox="1"/>
          <p:nvPr/>
        </p:nvSpPr>
        <p:spPr>
          <a:xfrm>
            <a:off x="1158280" y="1828601"/>
            <a:ext cx="884237" cy="228600"/>
          </a:xfrm>
          <a:prstGeom prst="rect">
            <a:avLst/>
          </a:prstGeom>
          <a:noFill/>
          <a:ln/>
        </p:spPr>
        <p:txBody>
          <a:bodyPr wrap="none" lIns="0" tIns="0" rIns="0" bIns="0" rtlCol="0" anchor="t"/>
          <a:lstStyle/>
          <a:p>
            <a:pPr algn="l" indent="0" marL="0">
              <a:buNone/>
            </a:pPr>
            <a:pPr algn="l"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6" name="Shape 13"/>
          <p:cNvSpPr/>
          <p:nvPr/>
        </p:nvSpPr>
        <p:spPr>
          <a:xfrm>
            <a:off x="1953617" y="1793081"/>
            <a:ext cx="254000" cy="254000"/>
          </a:xfrm>
          <a:prstGeom prst="roundRect">
            <a:avLst>
              <a:gd name="adj" fmla="val 50000"/>
            </a:avLst>
          </a:prstGeom>
          <a:solidFill>
            <a:srgbClr val="333399"/>
          </a:solidFill>
          <a:ln/>
        </p:spPr>
      </p:sp>
      <p:sp>
        <p:nvSpPr>
          <p:cNvPr id="17" name="Text 14"/>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5"/>
          <p:cNvSpPr txBox="1"/>
          <p:nvPr/>
        </p:nvSpPr>
        <p:spPr>
          <a:xfrm>
            <a:off x="2207617" y="1828601"/>
            <a:ext cx="1249957" cy="228600"/>
          </a:xfrm>
          <a:prstGeom prst="rect">
            <a:avLst/>
          </a:prstGeom>
          <a:noFill/>
          <a:ln/>
        </p:spPr>
        <p:txBody>
          <a:bodyPr wrap="none" lIns="0" tIns="0" rIns="0" bIns="0" rtlCol="0" anchor="t"/>
          <a:lstStyle/>
          <a:p>
            <a:pPr algn="l" indent="0" marL="0">
              <a:buNone/>
            </a:pPr>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19" name="Text 16"/>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0" name="Text 17"/>
          <p:cNvSpPr txBox="1"/>
          <p:nvPr/>
        </p:nvSpPr>
        <p:spPr>
          <a:xfrm>
            <a:off x="230981" y="2421731"/>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1" name="Shape 18"/>
          <p:cNvSpPr/>
          <p:nvPr/>
        </p:nvSpPr>
        <p:spPr>
          <a:xfrm>
            <a:off x="3952676" y="2386211"/>
            <a:ext cx="254000" cy="254000"/>
          </a:xfrm>
          <a:prstGeom prst="roundRect">
            <a:avLst>
              <a:gd name="adj" fmla="val 50000"/>
            </a:avLst>
          </a:prstGeom>
          <a:solidFill>
            <a:srgbClr val="333399"/>
          </a:solidFill>
          <a:ln/>
        </p:spPr>
      </p:sp>
      <p:sp>
        <p:nvSpPr>
          <p:cNvPr id="22" name="Text 19"/>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4" name="Text 21"/>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25" name="Shape 22"/>
          <p:cNvSpPr/>
          <p:nvPr/>
        </p:nvSpPr>
        <p:spPr>
          <a:xfrm>
            <a:off x="3099197" y="3273821"/>
            <a:ext cx="254000" cy="254000"/>
          </a:xfrm>
          <a:prstGeom prst="roundRect">
            <a:avLst>
              <a:gd name="adj" fmla="val 50000"/>
            </a:avLst>
          </a:prstGeom>
          <a:solidFill>
            <a:srgbClr val="333399"/>
          </a:solidFill>
          <a:ln/>
        </p:spPr>
      </p:sp>
      <p:sp>
        <p:nvSpPr>
          <p:cNvPr id="26" name="Text 23"/>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4"/>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28" name="Text 25"/>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29" name="Text 26"/>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0" name="Shape 27"/>
          <p:cNvSpPr/>
          <p:nvPr/>
        </p:nvSpPr>
        <p:spPr>
          <a:xfrm>
            <a:off x="6085681" y="1704181"/>
            <a:ext cx="5811837" cy="2251671"/>
          </a:xfrm>
          <a:prstGeom prst="rect">
            <a:avLst/>
          </a:prstGeom>
          <a:solidFill>
            <a:srgbClr val="FFFFFF"/>
          </a:solidFill>
          <a:ln w="12700">
            <a:solidFill>
              <a:srgbClr val="333399"/>
            </a:solidFill>
            <a:prstDash val="solid"/>
          </a:ln>
        </p:spPr>
      </p:sp>
      <p:sp>
        <p:nvSpPr>
          <p:cNvPr id="31" name="Text 28"/>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2" name="Text 29"/>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3" name="Text 30"/>
          <p:cNvSpPr txBox="1"/>
          <p:nvPr/>
        </p:nvSpPr>
        <p:spPr>
          <a:xfrm>
            <a:off x="6225381" y="2417564"/>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34" name="Shape 31"/>
          <p:cNvSpPr/>
          <p:nvPr/>
        </p:nvSpPr>
        <p:spPr>
          <a:xfrm>
            <a:off x="9947076" y="2382044"/>
            <a:ext cx="254000" cy="254000"/>
          </a:xfrm>
          <a:prstGeom prst="roundRect">
            <a:avLst>
              <a:gd name="adj" fmla="val 50000"/>
            </a:avLst>
          </a:prstGeom>
          <a:solidFill>
            <a:srgbClr val="333399"/>
          </a:solidFill>
          <a:ln/>
        </p:spPr>
      </p:sp>
      <p:sp>
        <p:nvSpPr>
          <p:cNvPr id="35" name="Text 32"/>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33"/>
          <p:cNvSpPr txBox="1"/>
          <p:nvPr/>
        </p:nvSpPr>
        <p:spPr>
          <a:xfrm>
            <a:off x="6225381" y="2716212"/>
            <a:ext cx="271323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37" name="Shape 34"/>
          <p:cNvSpPr/>
          <p:nvPr/>
        </p:nvSpPr>
        <p:spPr>
          <a:xfrm>
            <a:off x="8849717" y="2680692"/>
            <a:ext cx="254000" cy="254000"/>
          </a:xfrm>
          <a:prstGeom prst="roundRect">
            <a:avLst>
              <a:gd name="adj" fmla="val 50000"/>
            </a:avLst>
          </a:prstGeom>
          <a:solidFill>
            <a:srgbClr val="333399"/>
          </a:solidFill>
          <a:ln/>
        </p:spPr>
      </p:sp>
      <p:sp>
        <p:nvSpPr>
          <p:cNvPr id="38" name="Text 35"/>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6"/>
          <p:cNvSpPr txBox="1"/>
          <p:nvPr/>
        </p:nvSpPr>
        <p:spPr>
          <a:xfrm>
            <a:off x="6225381" y="3014861"/>
            <a:ext cx="36887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0" name="Shape 37"/>
          <p:cNvSpPr/>
          <p:nvPr/>
        </p:nvSpPr>
        <p:spPr>
          <a:xfrm>
            <a:off x="9825236" y="2979340"/>
            <a:ext cx="254000" cy="254000"/>
          </a:xfrm>
          <a:prstGeom prst="roundRect">
            <a:avLst>
              <a:gd name="adj" fmla="val 50000"/>
            </a:avLst>
          </a:prstGeom>
          <a:solidFill>
            <a:srgbClr val="333399"/>
          </a:solidFill>
          <a:ln/>
        </p:spPr>
      </p:sp>
      <p:sp>
        <p:nvSpPr>
          <p:cNvPr id="41" name="Text 38"/>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2" name="Text 39"/>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Text 14"/>
          <p:cNvSpPr txBox="1"/>
          <p:nvPr/>
        </p:nvSpPr>
        <p:spPr>
          <a:xfrm>
            <a:off x="1280319" y="1828601"/>
            <a:ext cx="76219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8" name="Shape 15"/>
          <p:cNvSpPr/>
          <p:nvPr/>
        </p:nvSpPr>
        <p:spPr>
          <a:xfrm>
            <a:off x="1953617" y="1793081"/>
            <a:ext cx="254000" cy="254000"/>
          </a:xfrm>
          <a:prstGeom prst="roundRect">
            <a:avLst>
              <a:gd name="adj" fmla="val 50000"/>
            </a:avLst>
          </a:prstGeom>
          <a:solidFill>
            <a:srgbClr val="333399"/>
          </a:solidFill>
          <a:ln/>
        </p:spPr>
      </p:sp>
      <p:sp>
        <p:nvSpPr>
          <p:cNvPr id="19" name="Text 16"/>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7"/>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1" name="Text 18"/>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2" name="Text 19"/>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3" name="Text 20"/>
          <p:cNvSpPr txBox="1"/>
          <p:nvPr/>
        </p:nvSpPr>
        <p:spPr>
          <a:xfrm>
            <a:off x="230981" y="2421731"/>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4" name="Shape 21"/>
          <p:cNvSpPr/>
          <p:nvPr/>
        </p:nvSpPr>
        <p:spPr>
          <a:xfrm>
            <a:off x="3952676" y="2386211"/>
            <a:ext cx="254000" cy="254000"/>
          </a:xfrm>
          <a:prstGeom prst="roundRect">
            <a:avLst>
              <a:gd name="adj" fmla="val 50000"/>
            </a:avLst>
          </a:prstGeom>
          <a:solidFill>
            <a:srgbClr val="333399"/>
          </a:solidFill>
          <a:ln/>
        </p:spPr>
      </p:sp>
      <p:sp>
        <p:nvSpPr>
          <p:cNvPr id="25" name="Text 22"/>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3"/>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7" name="Text 24"/>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28" name="Shape 25"/>
          <p:cNvSpPr/>
          <p:nvPr/>
        </p:nvSpPr>
        <p:spPr>
          <a:xfrm>
            <a:off x="3099197" y="3273821"/>
            <a:ext cx="254000" cy="254000"/>
          </a:xfrm>
          <a:prstGeom prst="roundRect">
            <a:avLst>
              <a:gd name="adj" fmla="val 50000"/>
            </a:avLst>
          </a:prstGeom>
          <a:solidFill>
            <a:srgbClr val="333399"/>
          </a:solidFill>
          <a:ln/>
        </p:spPr>
      </p:sp>
      <p:sp>
        <p:nvSpPr>
          <p:cNvPr id="29" name="Text 26"/>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7"/>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1" name="Text 28"/>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2" name="Text 29"/>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3" name="Shape 30"/>
          <p:cNvSpPr/>
          <p:nvPr/>
        </p:nvSpPr>
        <p:spPr>
          <a:xfrm>
            <a:off x="6085681" y="1704181"/>
            <a:ext cx="5811837" cy="2251671"/>
          </a:xfrm>
          <a:prstGeom prst="rect">
            <a:avLst/>
          </a:prstGeom>
          <a:solidFill>
            <a:srgbClr val="FFFFFF"/>
          </a:solidFill>
          <a:ln w="12700">
            <a:solidFill>
              <a:srgbClr val="333399"/>
            </a:solidFill>
            <a:prstDash val="solid"/>
          </a:ln>
        </p:spPr>
      </p:sp>
      <p:sp>
        <p:nvSpPr>
          <p:cNvPr id="34" name="Text 31"/>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5" name="Text 32"/>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6" name="Text 33"/>
          <p:cNvSpPr txBox="1"/>
          <p:nvPr/>
        </p:nvSpPr>
        <p:spPr>
          <a:xfrm>
            <a:off x="6225381" y="2417564"/>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37" name="Shape 34"/>
          <p:cNvSpPr/>
          <p:nvPr/>
        </p:nvSpPr>
        <p:spPr>
          <a:xfrm>
            <a:off x="9947076" y="2382044"/>
            <a:ext cx="254000" cy="254000"/>
          </a:xfrm>
          <a:prstGeom prst="roundRect">
            <a:avLst>
              <a:gd name="adj" fmla="val 50000"/>
            </a:avLst>
          </a:prstGeom>
          <a:solidFill>
            <a:srgbClr val="333399"/>
          </a:solidFill>
          <a:ln/>
        </p:spPr>
      </p:sp>
      <p:sp>
        <p:nvSpPr>
          <p:cNvPr id="38" name="Text 35"/>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9" name="Text 36"/>
          <p:cNvSpPr txBox="1"/>
          <p:nvPr/>
        </p:nvSpPr>
        <p:spPr>
          <a:xfrm>
            <a:off x="6225381" y="2716212"/>
            <a:ext cx="271323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0" name="Shape 37"/>
          <p:cNvSpPr/>
          <p:nvPr/>
        </p:nvSpPr>
        <p:spPr>
          <a:xfrm>
            <a:off x="8849717" y="2680692"/>
            <a:ext cx="254000" cy="254000"/>
          </a:xfrm>
          <a:prstGeom prst="roundRect">
            <a:avLst>
              <a:gd name="adj" fmla="val 50000"/>
            </a:avLst>
          </a:prstGeom>
          <a:solidFill>
            <a:srgbClr val="333399"/>
          </a:solidFill>
          <a:ln/>
        </p:spPr>
      </p:sp>
      <p:sp>
        <p:nvSpPr>
          <p:cNvPr id="41" name="Text 38"/>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2" name="Text 39"/>
          <p:cNvSpPr txBox="1"/>
          <p:nvPr/>
        </p:nvSpPr>
        <p:spPr>
          <a:xfrm>
            <a:off x="6225381" y="3014861"/>
            <a:ext cx="36887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3" name="Shape 40"/>
          <p:cNvSpPr/>
          <p:nvPr/>
        </p:nvSpPr>
        <p:spPr>
          <a:xfrm>
            <a:off x="9825236" y="2979340"/>
            <a:ext cx="254000" cy="254000"/>
          </a:xfrm>
          <a:prstGeom prst="roundRect">
            <a:avLst>
              <a:gd name="adj" fmla="val 50000"/>
            </a:avLst>
          </a:prstGeom>
          <a:solidFill>
            <a:srgbClr val="333399"/>
          </a:solidFill>
          <a:ln/>
        </p:spPr>
      </p:sp>
      <p:sp>
        <p:nvSpPr>
          <p:cNvPr id="44" name="Text 41"/>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5" name="Text 42"/>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46" name="Shape 43"/>
          <p:cNvSpPr/>
          <p:nvPr/>
        </p:nvSpPr>
        <p:spPr>
          <a:xfrm>
            <a:off x="91281" y="4418012"/>
            <a:ext cx="254000" cy="254000"/>
          </a:xfrm>
          <a:prstGeom prst="roundRect">
            <a:avLst>
              <a:gd name="adj" fmla="val 50000"/>
            </a:avLst>
          </a:prstGeom>
          <a:solidFill>
            <a:srgbClr val="333399"/>
          </a:solidFill>
          <a:ln/>
        </p:spPr>
      </p:sp>
      <p:sp>
        <p:nvSpPr>
          <p:cNvPr id="47" name="Text 44"/>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8" name="Text 45"/>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Shape 14"/>
          <p:cNvSpPr/>
          <p:nvPr/>
        </p:nvSpPr>
        <p:spPr>
          <a:xfrm>
            <a:off x="1280319" y="1828601"/>
            <a:ext cx="609799" cy="2286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18" name="Text 15"/>
          <p:cNvSpPr txBox="1"/>
          <p:nvPr/>
        </p:nvSpPr>
        <p:spPr>
          <a:xfrm>
            <a:off x="1204119"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9" name="Shape 16"/>
          <p:cNvSpPr/>
          <p:nvPr/>
        </p:nvSpPr>
        <p:spPr>
          <a:xfrm>
            <a:off x="1953617" y="1793081"/>
            <a:ext cx="254000" cy="254000"/>
          </a:xfrm>
          <a:prstGeom prst="roundRect">
            <a:avLst>
              <a:gd name="adj" fmla="val 50000"/>
            </a:avLst>
          </a:prstGeom>
          <a:solidFill>
            <a:srgbClr val="333399"/>
          </a:solidFill>
          <a:ln/>
        </p:spPr>
      </p:sp>
      <p:sp>
        <p:nvSpPr>
          <p:cNvPr id="20" name="Text 17"/>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2" name="Text 19"/>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3" name="Text 20"/>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4" name="Text 21"/>
          <p:cNvSpPr txBox="1"/>
          <p:nvPr/>
        </p:nvSpPr>
        <p:spPr>
          <a:xfrm>
            <a:off x="230981" y="2421731"/>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5" name="Shape 22"/>
          <p:cNvSpPr/>
          <p:nvPr/>
        </p:nvSpPr>
        <p:spPr>
          <a:xfrm>
            <a:off x="3952676" y="2386211"/>
            <a:ext cx="254000" cy="254000"/>
          </a:xfrm>
          <a:prstGeom prst="roundRect">
            <a:avLst>
              <a:gd name="adj" fmla="val 50000"/>
            </a:avLst>
          </a:prstGeom>
          <a:solidFill>
            <a:srgbClr val="333399"/>
          </a:solidFill>
          <a:ln/>
        </p:spPr>
      </p:sp>
      <p:sp>
        <p:nvSpPr>
          <p:cNvPr id="26" name="Text 23"/>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8" name="Text 25"/>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29" name="Shape 26"/>
          <p:cNvSpPr/>
          <p:nvPr/>
        </p:nvSpPr>
        <p:spPr>
          <a:xfrm>
            <a:off x="3099197" y="3273821"/>
            <a:ext cx="254000" cy="254000"/>
          </a:xfrm>
          <a:prstGeom prst="roundRect">
            <a:avLst>
              <a:gd name="adj" fmla="val 50000"/>
            </a:avLst>
          </a:prstGeom>
          <a:solidFill>
            <a:srgbClr val="333399"/>
          </a:solidFill>
          <a:ln/>
        </p:spPr>
      </p:sp>
      <p:sp>
        <p:nvSpPr>
          <p:cNvPr id="30" name="Text 27"/>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8"/>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2" name="Text 29"/>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3" name="Text 30"/>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4" name="Shape 31"/>
          <p:cNvSpPr/>
          <p:nvPr/>
        </p:nvSpPr>
        <p:spPr>
          <a:xfrm>
            <a:off x="6085681" y="1704181"/>
            <a:ext cx="5811837" cy="2251671"/>
          </a:xfrm>
          <a:prstGeom prst="rect">
            <a:avLst/>
          </a:prstGeom>
          <a:solidFill>
            <a:srgbClr val="FFFFFF"/>
          </a:solidFill>
          <a:ln w="12700">
            <a:solidFill>
              <a:srgbClr val="333399"/>
            </a:solidFill>
            <a:prstDash val="solid"/>
          </a:ln>
        </p:spPr>
      </p:sp>
      <p:sp>
        <p:nvSpPr>
          <p:cNvPr id="35" name="Text 32"/>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6" name="Text 33"/>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7" name="Text 34"/>
          <p:cNvSpPr txBox="1"/>
          <p:nvPr/>
        </p:nvSpPr>
        <p:spPr>
          <a:xfrm>
            <a:off x="6225381" y="2417564"/>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38" name="Shape 35"/>
          <p:cNvSpPr/>
          <p:nvPr/>
        </p:nvSpPr>
        <p:spPr>
          <a:xfrm>
            <a:off x="9947076" y="2382044"/>
            <a:ext cx="254000" cy="254000"/>
          </a:xfrm>
          <a:prstGeom prst="roundRect">
            <a:avLst>
              <a:gd name="adj" fmla="val 50000"/>
            </a:avLst>
          </a:prstGeom>
          <a:solidFill>
            <a:srgbClr val="333399"/>
          </a:solidFill>
          <a:ln/>
        </p:spPr>
      </p:sp>
      <p:sp>
        <p:nvSpPr>
          <p:cNvPr id="39" name="Text 36"/>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7"/>
          <p:cNvSpPr txBox="1"/>
          <p:nvPr/>
        </p:nvSpPr>
        <p:spPr>
          <a:xfrm>
            <a:off x="6225381" y="2716212"/>
            <a:ext cx="271323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1" name="Shape 38"/>
          <p:cNvSpPr/>
          <p:nvPr/>
        </p:nvSpPr>
        <p:spPr>
          <a:xfrm>
            <a:off x="8849717" y="2680692"/>
            <a:ext cx="254000" cy="254000"/>
          </a:xfrm>
          <a:prstGeom prst="roundRect">
            <a:avLst>
              <a:gd name="adj" fmla="val 50000"/>
            </a:avLst>
          </a:prstGeom>
          <a:solidFill>
            <a:srgbClr val="333399"/>
          </a:solidFill>
          <a:ln/>
        </p:spPr>
      </p:sp>
      <p:sp>
        <p:nvSpPr>
          <p:cNvPr id="42" name="Text 39"/>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3" name="Text 40"/>
          <p:cNvSpPr txBox="1"/>
          <p:nvPr/>
        </p:nvSpPr>
        <p:spPr>
          <a:xfrm>
            <a:off x="6225381" y="3014861"/>
            <a:ext cx="36887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4" name="Shape 41"/>
          <p:cNvSpPr/>
          <p:nvPr/>
        </p:nvSpPr>
        <p:spPr>
          <a:xfrm>
            <a:off x="9825236" y="2979340"/>
            <a:ext cx="254000" cy="254000"/>
          </a:xfrm>
          <a:prstGeom prst="roundRect">
            <a:avLst>
              <a:gd name="adj" fmla="val 50000"/>
            </a:avLst>
          </a:prstGeom>
          <a:solidFill>
            <a:srgbClr val="333399"/>
          </a:solidFill>
          <a:ln/>
        </p:spPr>
      </p:sp>
      <p:sp>
        <p:nvSpPr>
          <p:cNvPr id="45" name="Text 42"/>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6" name="Text 43"/>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47" name="Shape 44"/>
          <p:cNvSpPr/>
          <p:nvPr/>
        </p:nvSpPr>
        <p:spPr>
          <a:xfrm>
            <a:off x="91281" y="4418012"/>
            <a:ext cx="254000" cy="254000"/>
          </a:xfrm>
          <a:prstGeom prst="roundRect">
            <a:avLst>
              <a:gd name="adj" fmla="val 50000"/>
            </a:avLst>
          </a:prstGeom>
          <a:solidFill>
            <a:srgbClr val="333399"/>
          </a:solidFill>
          <a:ln/>
        </p:spPr>
      </p:sp>
      <p:sp>
        <p:nvSpPr>
          <p:cNvPr id="48" name="Text 45"/>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9" name="Text 46"/>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
        <p:nvSpPr>
          <p:cNvPr id="50" name="Shape 47"/>
          <p:cNvSpPr/>
          <p:nvPr/>
        </p:nvSpPr>
        <p:spPr>
          <a:xfrm>
            <a:off x="91281" y="4754563"/>
            <a:ext cx="254000" cy="254000"/>
          </a:xfrm>
          <a:prstGeom prst="roundRect">
            <a:avLst>
              <a:gd name="adj" fmla="val 50000"/>
            </a:avLst>
          </a:prstGeom>
          <a:solidFill>
            <a:srgbClr val="333399"/>
          </a:solidFill>
          <a:ln/>
        </p:spPr>
      </p:sp>
      <p:sp>
        <p:nvSpPr>
          <p:cNvPr id="51" name="Text 48"/>
          <p:cNvSpPr txBox="1"/>
          <p:nvPr/>
        </p:nvSpPr>
        <p:spPr>
          <a:xfrm>
            <a:off x="176411"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2" name="Text 49"/>
          <p:cNvSpPr txBox="1"/>
          <p:nvPr/>
        </p:nvSpPr>
        <p:spPr>
          <a:xfrm>
            <a:off x="434181" y="4739283"/>
            <a:ext cx="40848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Target</a:t>
            </a:r>
            <a:pPr algn="l" indent="0" marL="0">
              <a:buNone/>
            </a:pPr>
            <a:r>
              <a:rPr lang="en-US" sz="1800" dirty="0">
                <a:solidFill>
                  <a:srgbClr val="000000"/>
                </a:solidFill>
                <a:latin typeface="Calibri" pitchFamily="34" charset="0"/>
                <a:ea typeface="Calibri" pitchFamily="34" charset="-122"/>
                <a:cs typeface="Calibri" pitchFamily="34" charset="-120"/>
              </a:rPr>
              <a:t>: the resource that scopes the query</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Shape 14"/>
          <p:cNvSpPr/>
          <p:nvPr/>
        </p:nvSpPr>
        <p:spPr>
          <a:xfrm>
            <a:off x="1280319"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204119"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9" name="Shape 16"/>
          <p:cNvSpPr/>
          <p:nvPr/>
        </p:nvSpPr>
        <p:spPr>
          <a:xfrm>
            <a:off x="1953617" y="1793081"/>
            <a:ext cx="254000" cy="254000"/>
          </a:xfrm>
          <a:prstGeom prst="roundRect">
            <a:avLst>
              <a:gd name="adj" fmla="val 50000"/>
            </a:avLst>
          </a:prstGeom>
          <a:solidFill>
            <a:srgbClr val="333399"/>
          </a:solidFill>
          <a:ln/>
        </p:spPr>
      </p:sp>
      <p:sp>
        <p:nvSpPr>
          <p:cNvPr id="20" name="Text 17"/>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2" name="Text 19"/>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3" name="Text 20"/>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4" name="Shape 21"/>
          <p:cNvSpPr/>
          <p:nvPr/>
        </p:nvSpPr>
        <p:spPr>
          <a:xfrm>
            <a:off x="230981" y="2421731"/>
            <a:ext cx="3658195" cy="2286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25" name="Text 22"/>
          <p:cNvSpPr txBox="1"/>
          <p:nvPr/>
        </p:nvSpPr>
        <p:spPr>
          <a:xfrm>
            <a:off x="154781" y="2421731"/>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6" name="Shape 23"/>
          <p:cNvSpPr/>
          <p:nvPr/>
        </p:nvSpPr>
        <p:spPr>
          <a:xfrm>
            <a:off x="3952676" y="2386211"/>
            <a:ext cx="254000" cy="254000"/>
          </a:xfrm>
          <a:prstGeom prst="roundRect">
            <a:avLst>
              <a:gd name="adj" fmla="val 50000"/>
            </a:avLst>
          </a:prstGeom>
          <a:solidFill>
            <a:srgbClr val="333399"/>
          </a:solidFill>
          <a:ln/>
        </p:spPr>
      </p:sp>
      <p:sp>
        <p:nvSpPr>
          <p:cNvPr id="27" name="Text 24"/>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9" name="Text 26"/>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30" name="Shape 27"/>
          <p:cNvSpPr/>
          <p:nvPr/>
        </p:nvSpPr>
        <p:spPr>
          <a:xfrm>
            <a:off x="3099197" y="3273821"/>
            <a:ext cx="254000" cy="254000"/>
          </a:xfrm>
          <a:prstGeom prst="roundRect">
            <a:avLst>
              <a:gd name="adj" fmla="val 50000"/>
            </a:avLst>
          </a:prstGeom>
          <a:solidFill>
            <a:srgbClr val="333399"/>
          </a:solidFill>
          <a:ln/>
        </p:spPr>
      </p:sp>
      <p:sp>
        <p:nvSpPr>
          <p:cNvPr id="31" name="Text 28"/>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29"/>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3" name="Text 30"/>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4" name="Text 31"/>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5" name="Shape 32"/>
          <p:cNvSpPr/>
          <p:nvPr/>
        </p:nvSpPr>
        <p:spPr>
          <a:xfrm>
            <a:off x="6085681" y="1704181"/>
            <a:ext cx="5811837" cy="2251671"/>
          </a:xfrm>
          <a:prstGeom prst="rect">
            <a:avLst/>
          </a:prstGeom>
          <a:solidFill>
            <a:srgbClr val="FFFFFF"/>
          </a:solidFill>
          <a:ln w="12700">
            <a:solidFill>
              <a:srgbClr val="333399"/>
            </a:solidFill>
            <a:prstDash val="solid"/>
          </a:ln>
        </p:spPr>
      </p:sp>
      <p:sp>
        <p:nvSpPr>
          <p:cNvPr id="36" name="Text 33"/>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7" name="Text 34"/>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8" name="Text 35"/>
          <p:cNvSpPr txBox="1"/>
          <p:nvPr/>
        </p:nvSpPr>
        <p:spPr>
          <a:xfrm>
            <a:off x="6225381" y="2417564"/>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39" name="Shape 36"/>
          <p:cNvSpPr/>
          <p:nvPr/>
        </p:nvSpPr>
        <p:spPr>
          <a:xfrm>
            <a:off x="9947076" y="2382044"/>
            <a:ext cx="254000" cy="254000"/>
          </a:xfrm>
          <a:prstGeom prst="roundRect">
            <a:avLst>
              <a:gd name="adj" fmla="val 50000"/>
            </a:avLst>
          </a:prstGeom>
          <a:solidFill>
            <a:srgbClr val="333399"/>
          </a:solidFill>
          <a:ln/>
        </p:spPr>
      </p:sp>
      <p:sp>
        <p:nvSpPr>
          <p:cNvPr id="40" name="Text 37"/>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8"/>
          <p:cNvSpPr txBox="1"/>
          <p:nvPr/>
        </p:nvSpPr>
        <p:spPr>
          <a:xfrm>
            <a:off x="6225381" y="2716212"/>
            <a:ext cx="271323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2" name="Shape 39"/>
          <p:cNvSpPr/>
          <p:nvPr/>
        </p:nvSpPr>
        <p:spPr>
          <a:xfrm>
            <a:off x="8849717" y="2680692"/>
            <a:ext cx="254000" cy="254000"/>
          </a:xfrm>
          <a:prstGeom prst="roundRect">
            <a:avLst>
              <a:gd name="adj" fmla="val 50000"/>
            </a:avLst>
          </a:prstGeom>
          <a:solidFill>
            <a:srgbClr val="333399"/>
          </a:solidFill>
          <a:ln/>
        </p:spPr>
      </p:sp>
      <p:sp>
        <p:nvSpPr>
          <p:cNvPr id="43" name="Text 40"/>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4" name="Text 41"/>
          <p:cNvSpPr txBox="1"/>
          <p:nvPr/>
        </p:nvSpPr>
        <p:spPr>
          <a:xfrm>
            <a:off x="6225381" y="3014861"/>
            <a:ext cx="36887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5" name="Shape 42"/>
          <p:cNvSpPr/>
          <p:nvPr/>
        </p:nvSpPr>
        <p:spPr>
          <a:xfrm>
            <a:off x="9825236" y="2979340"/>
            <a:ext cx="254000" cy="254000"/>
          </a:xfrm>
          <a:prstGeom prst="roundRect">
            <a:avLst>
              <a:gd name="adj" fmla="val 50000"/>
            </a:avLst>
          </a:prstGeom>
          <a:solidFill>
            <a:srgbClr val="333399"/>
          </a:solidFill>
          <a:ln/>
        </p:spPr>
      </p:sp>
      <p:sp>
        <p:nvSpPr>
          <p:cNvPr id="46" name="Text 43"/>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7" name="Text 44"/>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48" name="Shape 45"/>
          <p:cNvSpPr/>
          <p:nvPr/>
        </p:nvSpPr>
        <p:spPr>
          <a:xfrm>
            <a:off x="91281" y="4418012"/>
            <a:ext cx="254000" cy="254000"/>
          </a:xfrm>
          <a:prstGeom prst="roundRect">
            <a:avLst>
              <a:gd name="adj" fmla="val 50000"/>
            </a:avLst>
          </a:prstGeom>
          <a:solidFill>
            <a:srgbClr val="333399"/>
          </a:solidFill>
          <a:ln/>
        </p:spPr>
      </p:sp>
      <p:sp>
        <p:nvSpPr>
          <p:cNvPr id="49" name="Text 46"/>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0" name="Text 47"/>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
        <p:nvSpPr>
          <p:cNvPr id="51" name="Shape 48"/>
          <p:cNvSpPr/>
          <p:nvPr/>
        </p:nvSpPr>
        <p:spPr>
          <a:xfrm>
            <a:off x="91281" y="4754563"/>
            <a:ext cx="254000" cy="254000"/>
          </a:xfrm>
          <a:prstGeom prst="roundRect">
            <a:avLst>
              <a:gd name="adj" fmla="val 50000"/>
            </a:avLst>
          </a:prstGeom>
          <a:solidFill>
            <a:srgbClr val="333399"/>
          </a:solidFill>
          <a:ln/>
        </p:spPr>
      </p:sp>
      <p:sp>
        <p:nvSpPr>
          <p:cNvPr id="52" name="Text 49"/>
          <p:cNvSpPr txBox="1"/>
          <p:nvPr/>
        </p:nvSpPr>
        <p:spPr>
          <a:xfrm>
            <a:off x="176411"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3" name="Text 50"/>
          <p:cNvSpPr txBox="1"/>
          <p:nvPr/>
        </p:nvSpPr>
        <p:spPr>
          <a:xfrm>
            <a:off x="434181" y="4739283"/>
            <a:ext cx="40848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Target</a:t>
            </a:r>
            <a:pPr algn="l" indent="0" marL="0">
              <a:buNone/>
            </a:pPr>
            <a:r>
              <a:rPr lang="en-US" sz="1800" dirty="0">
                <a:solidFill>
                  <a:srgbClr val="000000"/>
                </a:solidFill>
                <a:latin typeface="Calibri" pitchFamily="34" charset="0"/>
                <a:ea typeface="Calibri" pitchFamily="34" charset="-122"/>
                <a:cs typeface="Calibri" pitchFamily="34" charset="-120"/>
              </a:rPr>
              <a:t>: the resource that scopes the query</a:t>
            </a:r>
            <a:endParaRPr lang="en-US" sz="1800" dirty="0"/>
          </a:p>
        </p:txBody>
      </p:sp>
      <p:sp>
        <p:nvSpPr>
          <p:cNvPr id="54" name="Shape 51"/>
          <p:cNvSpPr/>
          <p:nvPr/>
        </p:nvSpPr>
        <p:spPr>
          <a:xfrm>
            <a:off x="91281" y="5091112"/>
            <a:ext cx="254000" cy="254000"/>
          </a:xfrm>
          <a:prstGeom prst="roundRect">
            <a:avLst>
              <a:gd name="adj" fmla="val 50000"/>
            </a:avLst>
          </a:prstGeom>
          <a:solidFill>
            <a:srgbClr val="333399"/>
          </a:solidFill>
          <a:ln/>
        </p:spPr>
      </p:sp>
      <p:sp>
        <p:nvSpPr>
          <p:cNvPr id="55" name="Text 52"/>
          <p:cNvSpPr txBox="1"/>
          <p:nvPr/>
        </p:nvSpPr>
        <p:spPr>
          <a:xfrm>
            <a:off x="176411"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6" name="Text 53"/>
          <p:cNvSpPr txBox="1"/>
          <p:nvPr/>
        </p:nvSpPr>
        <p:spPr>
          <a:xfrm>
            <a:off x="434181" y="5075833"/>
            <a:ext cx="49823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Content-Type</a:t>
            </a:r>
            <a:pPr algn="l" indent="0" marL="0">
              <a:buNone/>
            </a:pPr>
            <a:r>
              <a:rPr lang="en-US" sz="1800" dirty="0">
                <a:solidFill>
                  <a:srgbClr val="000000"/>
                </a:solidFill>
                <a:latin typeface="Calibri" pitchFamily="34" charset="0"/>
                <a:ea typeface="Calibri" pitchFamily="34" charset="-122"/>
                <a:cs typeface="Calibri" pitchFamily="34" charset="-120"/>
              </a:rPr>
              <a:t>: REQUIRED, never sniffed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§2.1]</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Shape 14"/>
          <p:cNvSpPr/>
          <p:nvPr/>
        </p:nvSpPr>
        <p:spPr>
          <a:xfrm>
            <a:off x="1280319"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204119"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9" name="Shape 16"/>
          <p:cNvSpPr/>
          <p:nvPr/>
        </p:nvSpPr>
        <p:spPr>
          <a:xfrm>
            <a:off x="1953617" y="1793081"/>
            <a:ext cx="254000" cy="254000"/>
          </a:xfrm>
          <a:prstGeom prst="roundRect">
            <a:avLst>
              <a:gd name="adj" fmla="val 50000"/>
            </a:avLst>
          </a:prstGeom>
          <a:solidFill>
            <a:srgbClr val="333399"/>
          </a:solidFill>
          <a:ln/>
        </p:spPr>
      </p:sp>
      <p:sp>
        <p:nvSpPr>
          <p:cNvPr id="20" name="Text 17"/>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2" name="Text 19"/>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3" name="Text 20"/>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4" name="Shape 21"/>
          <p:cNvSpPr/>
          <p:nvPr/>
        </p:nvSpPr>
        <p:spPr>
          <a:xfrm>
            <a:off x="230981" y="2421731"/>
            <a:ext cx="365819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5" name="Text 22"/>
          <p:cNvSpPr txBox="1"/>
          <p:nvPr/>
        </p:nvSpPr>
        <p:spPr>
          <a:xfrm>
            <a:off x="154781" y="2421731"/>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6" name="Shape 23"/>
          <p:cNvSpPr/>
          <p:nvPr/>
        </p:nvSpPr>
        <p:spPr>
          <a:xfrm>
            <a:off x="3952676" y="2386211"/>
            <a:ext cx="254000" cy="254000"/>
          </a:xfrm>
          <a:prstGeom prst="roundRect">
            <a:avLst>
              <a:gd name="adj" fmla="val 50000"/>
            </a:avLst>
          </a:prstGeom>
          <a:solidFill>
            <a:srgbClr val="333399"/>
          </a:solidFill>
          <a:ln/>
        </p:spPr>
      </p:sp>
      <p:sp>
        <p:nvSpPr>
          <p:cNvPr id="27" name="Text 24"/>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9" name="Shape 26"/>
          <p:cNvSpPr/>
          <p:nvPr/>
        </p:nvSpPr>
        <p:spPr>
          <a:xfrm>
            <a:off x="230981" y="3273821"/>
            <a:ext cx="5435600" cy="887611"/>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30" name="Text 27"/>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31" name="Shape 28"/>
          <p:cNvSpPr/>
          <p:nvPr/>
        </p:nvSpPr>
        <p:spPr>
          <a:xfrm>
            <a:off x="3099197" y="3273821"/>
            <a:ext cx="254000" cy="254000"/>
          </a:xfrm>
          <a:prstGeom prst="roundRect">
            <a:avLst>
              <a:gd name="adj" fmla="val 50000"/>
            </a:avLst>
          </a:prstGeom>
          <a:solidFill>
            <a:srgbClr val="333399"/>
          </a:solidFill>
          <a:ln/>
        </p:spPr>
      </p:sp>
      <p:sp>
        <p:nvSpPr>
          <p:cNvPr id="32" name="Text 29"/>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4" name="Text 31"/>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5" name="Text 32"/>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6" name="Shape 33"/>
          <p:cNvSpPr/>
          <p:nvPr/>
        </p:nvSpPr>
        <p:spPr>
          <a:xfrm>
            <a:off x="6085681" y="1704181"/>
            <a:ext cx="5811837" cy="2251671"/>
          </a:xfrm>
          <a:prstGeom prst="rect">
            <a:avLst/>
          </a:prstGeom>
          <a:solidFill>
            <a:srgbClr val="FFFFFF"/>
          </a:solidFill>
          <a:ln w="12700">
            <a:solidFill>
              <a:srgbClr val="333399"/>
            </a:solidFill>
            <a:prstDash val="solid"/>
          </a:ln>
        </p:spPr>
      </p:sp>
      <p:sp>
        <p:nvSpPr>
          <p:cNvPr id="37" name="Text 34"/>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8" name="Text 35"/>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9" name="Text 36"/>
          <p:cNvSpPr txBox="1"/>
          <p:nvPr/>
        </p:nvSpPr>
        <p:spPr>
          <a:xfrm>
            <a:off x="6225381" y="2417564"/>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40" name="Shape 37"/>
          <p:cNvSpPr/>
          <p:nvPr/>
        </p:nvSpPr>
        <p:spPr>
          <a:xfrm>
            <a:off x="9947076" y="2382044"/>
            <a:ext cx="254000" cy="254000"/>
          </a:xfrm>
          <a:prstGeom prst="roundRect">
            <a:avLst>
              <a:gd name="adj" fmla="val 50000"/>
            </a:avLst>
          </a:prstGeom>
          <a:solidFill>
            <a:srgbClr val="333399"/>
          </a:solidFill>
          <a:ln/>
        </p:spPr>
      </p:sp>
      <p:sp>
        <p:nvSpPr>
          <p:cNvPr id="41" name="Text 38"/>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2" name="Text 39"/>
          <p:cNvSpPr txBox="1"/>
          <p:nvPr/>
        </p:nvSpPr>
        <p:spPr>
          <a:xfrm>
            <a:off x="6225381" y="2716212"/>
            <a:ext cx="271323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3" name="Shape 40"/>
          <p:cNvSpPr/>
          <p:nvPr/>
        </p:nvSpPr>
        <p:spPr>
          <a:xfrm>
            <a:off x="8849717" y="2680692"/>
            <a:ext cx="254000" cy="254000"/>
          </a:xfrm>
          <a:prstGeom prst="roundRect">
            <a:avLst>
              <a:gd name="adj" fmla="val 50000"/>
            </a:avLst>
          </a:prstGeom>
          <a:solidFill>
            <a:srgbClr val="333399"/>
          </a:solidFill>
          <a:ln/>
        </p:spPr>
      </p:sp>
      <p:sp>
        <p:nvSpPr>
          <p:cNvPr id="44" name="Text 41"/>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5" name="Text 42"/>
          <p:cNvSpPr txBox="1"/>
          <p:nvPr/>
        </p:nvSpPr>
        <p:spPr>
          <a:xfrm>
            <a:off x="6225381" y="3014861"/>
            <a:ext cx="36887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6" name="Shape 43"/>
          <p:cNvSpPr/>
          <p:nvPr/>
        </p:nvSpPr>
        <p:spPr>
          <a:xfrm>
            <a:off x="9825236" y="2979340"/>
            <a:ext cx="254000" cy="254000"/>
          </a:xfrm>
          <a:prstGeom prst="roundRect">
            <a:avLst>
              <a:gd name="adj" fmla="val 50000"/>
            </a:avLst>
          </a:prstGeom>
          <a:solidFill>
            <a:srgbClr val="333399"/>
          </a:solidFill>
          <a:ln/>
        </p:spPr>
      </p:sp>
      <p:sp>
        <p:nvSpPr>
          <p:cNvPr id="47" name="Text 44"/>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8" name="Text 45"/>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49" name="Shape 46"/>
          <p:cNvSpPr/>
          <p:nvPr/>
        </p:nvSpPr>
        <p:spPr>
          <a:xfrm>
            <a:off x="91281" y="4418012"/>
            <a:ext cx="254000" cy="254000"/>
          </a:xfrm>
          <a:prstGeom prst="roundRect">
            <a:avLst>
              <a:gd name="adj" fmla="val 50000"/>
            </a:avLst>
          </a:prstGeom>
          <a:solidFill>
            <a:srgbClr val="333399"/>
          </a:solidFill>
          <a:ln/>
        </p:spPr>
      </p:sp>
      <p:sp>
        <p:nvSpPr>
          <p:cNvPr id="50" name="Text 47"/>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1" name="Text 48"/>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
        <p:nvSpPr>
          <p:cNvPr id="52" name="Shape 49"/>
          <p:cNvSpPr/>
          <p:nvPr/>
        </p:nvSpPr>
        <p:spPr>
          <a:xfrm>
            <a:off x="91281" y="4754563"/>
            <a:ext cx="254000" cy="254000"/>
          </a:xfrm>
          <a:prstGeom prst="roundRect">
            <a:avLst>
              <a:gd name="adj" fmla="val 50000"/>
            </a:avLst>
          </a:prstGeom>
          <a:solidFill>
            <a:srgbClr val="333399"/>
          </a:solidFill>
          <a:ln/>
        </p:spPr>
      </p:sp>
      <p:sp>
        <p:nvSpPr>
          <p:cNvPr id="53" name="Text 50"/>
          <p:cNvSpPr txBox="1"/>
          <p:nvPr/>
        </p:nvSpPr>
        <p:spPr>
          <a:xfrm>
            <a:off x="176411"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4" name="Text 51"/>
          <p:cNvSpPr txBox="1"/>
          <p:nvPr/>
        </p:nvSpPr>
        <p:spPr>
          <a:xfrm>
            <a:off x="434181" y="4739283"/>
            <a:ext cx="40848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Target</a:t>
            </a:r>
            <a:pPr algn="l" indent="0" marL="0">
              <a:buNone/>
            </a:pPr>
            <a:r>
              <a:rPr lang="en-US" sz="1800" dirty="0">
                <a:solidFill>
                  <a:srgbClr val="000000"/>
                </a:solidFill>
                <a:latin typeface="Calibri" pitchFamily="34" charset="0"/>
                <a:ea typeface="Calibri" pitchFamily="34" charset="-122"/>
                <a:cs typeface="Calibri" pitchFamily="34" charset="-120"/>
              </a:rPr>
              <a:t>: the resource that scopes the query</a:t>
            </a:r>
            <a:endParaRPr lang="en-US" sz="1800" dirty="0"/>
          </a:p>
        </p:txBody>
      </p:sp>
      <p:sp>
        <p:nvSpPr>
          <p:cNvPr id="55" name="Shape 52"/>
          <p:cNvSpPr/>
          <p:nvPr/>
        </p:nvSpPr>
        <p:spPr>
          <a:xfrm>
            <a:off x="91281" y="5091112"/>
            <a:ext cx="254000" cy="254000"/>
          </a:xfrm>
          <a:prstGeom prst="roundRect">
            <a:avLst>
              <a:gd name="adj" fmla="val 50000"/>
            </a:avLst>
          </a:prstGeom>
          <a:solidFill>
            <a:srgbClr val="333399"/>
          </a:solidFill>
          <a:ln/>
        </p:spPr>
      </p:sp>
      <p:sp>
        <p:nvSpPr>
          <p:cNvPr id="56" name="Text 53"/>
          <p:cNvSpPr txBox="1"/>
          <p:nvPr/>
        </p:nvSpPr>
        <p:spPr>
          <a:xfrm>
            <a:off x="176411"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7" name="Text 54"/>
          <p:cNvSpPr txBox="1"/>
          <p:nvPr/>
        </p:nvSpPr>
        <p:spPr>
          <a:xfrm>
            <a:off x="434181" y="5075833"/>
            <a:ext cx="49823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Content-Type</a:t>
            </a:r>
            <a:pPr algn="l" indent="0" marL="0">
              <a:buNone/>
            </a:pPr>
            <a:r>
              <a:rPr lang="en-US" sz="1800" dirty="0">
                <a:solidFill>
                  <a:srgbClr val="000000"/>
                </a:solidFill>
                <a:latin typeface="Calibri" pitchFamily="34" charset="0"/>
                <a:ea typeface="Calibri" pitchFamily="34" charset="-122"/>
                <a:cs typeface="Calibri" pitchFamily="34" charset="-120"/>
              </a:rPr>
              <a:t>: REQUIRED, never sniffed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§2.1]</a:t>
            </a:r>
            <a:endParaRPr lang="en-US" sz="1800" dirty="0"/>
          </a:p>
        </p:txBody>
      </p:sp>
      <p:sp>
        <p:nvSpPr>
          <p:cNvPr id="58" name="Shape 55"/>
          <p:cNvSpPr/>
          <p:nvPr/>
        </p:nvSpPr>
        <p:spPr>
          <a:xfrm>
            <a:off x="91281" y="5713412"/>
            <a:ext cx="254000" cy="254000"/>
          </a:xfrm>
          <a:prstGeom prst="roundRect">
            <a:avLst>
              <a:gd name="adj" fmla="val 50000"/>
            </a:avLst>
          </a:prstGeom>
          <a:solidFill>
            <a:srgbClr val="333399"/>
          </a:solidFill>
          <a:ln/>
        </p:spPr>
      </p:sp>
      <p:sp>
        <p:nvSpPr>
          <p:cNvPr id="59" name="Text 56"/>
          <p:cNvSpPr txBox="1"/>
          <p:nvPr/>
        </p:nvSpPr>
        <p:spPr>
          <a:xfrm>
            <a:off x="176411" y="57451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7"/>
          <p:cNvSpPr txBox="1"/>
          <p:nvPr/>
        </p:nvSpPr>
        <p:spPr>
          <a:xfrm>
            <a:off x="434181" y="5698133"/>
            <a:ext cx="411241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a:t>
            </a:r>
            <a:pPr algn="l" indent="0" marL="0">
              <a:buNone/>
            </a:pPr>
            <a:r>
              <a:rPr lang="en-US" sz="1800" dirty="0">
                <a:solidFill>
                  <a:srgbClr val="000000"/>
                </a:solidFill>
                <a:latin typeface="Calibri" pitchFamily="34" charset="0"/>
                <a:ea typeface="Calibri" pitchFamily="34" charset="-122"/>
                <a:cs typeface="Calibri" pitchFamily="34" charset="-120"/>
              </a:rPr>
              <a:t>: the query itself (“query content”)</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Shape 14"/>
          <p:cNvSpPr/>
          <p:nvPr/>
        </p:nvSpPr>
        <p:spPr>
          <a:xfrm>
            <a:off x="1280319"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204119"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9" name="Shape 16"/>
          <p:cNvSpPr/>
          <p:nvPr/>
        </p:nvSpPr>
        <p:spPr>
          <a:xfrm>
            <a:off x="1953617" y="1793081"/>
            <a:ext cx="254000" cy="254000"/>
          </a:xfrm>
          <a:prstGeom prst="roundRect">
            <a:avLst>
              <a:gd name="adj" fmla="val 50000"/>
            </a:avLst>
          </a:prstGeom>
          <a:solidFill>
            <a:srgbClr val="333399"/>
          </a:solidFill>
          <a:ln/>
        </p:spPr>
      </p:sp>
      <p:sp>
        <p:nvSpPr>
          <p:cNvPr id="20" name="Text 17"/>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2" name="Text 19"/>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3" name="Text 20"/>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4" name="Shape 21"/>
          <p:cNvSpPr/>
          <p:nvPr/>
        </p:nvSpPr>
        <p:spPr>
          <a:xfrm>
            <a:off x="230981" y="2421731"/>
            <a:ext cx="365819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5" name="Text 22"/>
          <p:cNvSpPr txBox="1"/>
          <p:nvPr/>
        </p:nvSpPr>
        <p:spPr>
          <a:xfrm>
            <a:off x="154781" y="2421731"/>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6" name="Shape 23"/>
          <p:cNvSpPr/>
          <p:nvPr/>
        </p:nvSpPr>
        <p:spPr>
          <a:xfrm>
            <a:off x="3952676" y="2386211"/>
            <a:ext cx="254000" cy="254000"/>
          </a:xfrm>
          <a:prstGeom prst="roundRect">
            <a:avLst>
              <a:gd name="adj" fmla="val 50000"/>
            </a:avLst>
          </a:prstGeom>
          <a:solidFill>
            <a:srgbClr val="333399"/>
          </a:solidFill>
          <a:ln/>
        </p:spPr>
      </p:sp>
      <p:sp>
        <p:nvSpPr>
          <p:cNvPr id="27" name="Text 24"/>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9" name="Shape 26"/>
          <p:cNvSpPr/>
          <p:nvPr/>
        </p:nvSpPr>
        <p:spPr>
          <a:xfrm>
            <a:off x="230981" y="3273821"/>
            <a:ext cx="5435600" cy="887611"/>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0" name="Text 27"/>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31" name="Shape 28"/>
          <p:cNvSpPr/>
          <p:nvPr/>
        </p:nvSpPr>
        <p:spPr>
          <a:xfrm>
            <a:off x="3099197" y="3273821"/>
            <a:ext cx="254000" cy="254000"/>
          </a:xfrm>
          <a:prstGeom prst="roundRect">
            <a:avLst>
              <a:gd name="adj" fmla="val 50000"/>
            </a:avLst>
          </a:prstGeom>
          <a:solidFill>
            <a:srgbClr val="333399"/>
          </a:solidFill>
          <a:ln/>
        </p:spPr>
      </p:sp>
      <p:sp>
        <p:nvSpPr>
          <p:cNvPr id="32" name="Text 29"/>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4" name="Text 31"/>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5" name="Text 32"/>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6" name="Shape 33"/>
          <p:cNvSpPr/>
          <p:nvPr/>
        </p:nvSpPr>
        <p:spPr>
          <a:xfrm>
            <a:off x="6085681" y="1704181"/>
            <a:ext cx="5811837" cy="2251671"/>
          </a:xfrm>
          <a:prstGeom prst="rect">
            <a:avLst/>
          </a:prstGeom>
          <a:solidFill>
            <a:srgbClr val="FFFFFF"/>
          </a:solidFill>
          <a:ln w="12700">
            <a:solidFill>
              <a:srgbClr val="333399"/>
            </a:solidFill>
            <a:prstDash val="solid"/>
          </a:ln>
        </p:spPr>
      </p:sp>
      <p:sp>
        <p:nvSpPr>
          <p:cNvPr id="37" name="Text 34"/>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8" name="Text 35"/>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9" name="Shape 36"/>
          <p:cNvSpPr/>
          <p:nvPr/>
        </p:nvSpPr>
        <p:spPr>
          <a:xfrm>
            <a:off x="6225381" y="2417564"/>
            <a:ext cx="3658195" cy="2286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40" name="Text 37"/>
          <p:cNvSpPr txBox="1"/>
          <p:nvPr/>
        </p:nvSpPr>
        <p:spPr>
          <a:xfrm>
            <a:off x="6149181" y="2417564"/>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41" name="Shape 38"/>
          <p:cNvSpPr/>
          <p:nvPr/>
        </p:nvSpPr>
        <p:spPr>
          <a:xfrm>
            <a:off x="9947076" y="2382044"/>
            <a:ext cx="254000" cy="254000"/>
          </a:xfrm>
          <a:prstGeom prst="roundRect">
            <a:avLst>
              <a:gd name="adj" fmla="val 50000"/>
            </a:avLst>
          </a:prstGeom>
          <a:solidFill>
            <a:srgbClr val="333399"/>
          </a:solidFill>
          <a:ln/>
        </p:spPr>
      </p:sp>
      <p:sp>
        <p:nvSpPr>
          <p:cNvPr id="42" name="Text 39"/>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3" name="Text 40"/>
          <p:cNvSpPr txBox="1"/>
          <p:nvPr/>
        </p:nvSpPr>
        <p:spPr>
          <a:xfrm>
            <a:off x="6225381" y="2716212"/>
            <a:ext cx="271323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4" name="Shape 41"/>
          <p:cNvSpPr/>
          <p:nvPr/>
        </p:nvSpPr>
        <p:spPr>
          <a:xfrm>
            <a:off x="8849717" y="2680692"/>
            <a:ext cx="254000" cy="254000"/>
          </a:xfrm>
          <a:prstGeom prst="roundRect">
            <a:avLst>
              <a:gd name="adj" fmla="val 50000"/>
            </a:avLst>
          </a:prstGeom>
          <a:solidFill>
            <a:srgbClr val="333399"/>
          </a:solidFill>
          <a:ln/>
        </p:spPr>
      </p:sp>
      <p:sp>
        <p:nvSpPr>
          <p:cNvPr id="45" name="Text 42"/>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6" name="Text 43"/>
          <p:cNvSpPr txBox="1"/>
          <p:nvPr/>
        </p:nvSpPr>
        <p:spPr>
          <a:xfrm>
            <a:off x="6225381" y="3014861"/>
            <a:ext cx="36887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7" name="Shape 44"/>
          <p:cNvSpPr/>
          <p:nvPr/>
        </p:nvSpPr>
        <p:spPr>
          <a:xfrm>
            <a:off x="9825236" y="2979340"/>
            <a:ext cx="254000" cy="254000"/>
          </a:xfrm>
          <a:prstGeom prst="roundRect">
            <a:avLst>
              <a:gd name="adj" fmla="val 50000"/>
            </a:avLst>
          </a:prstGeom>
          <a:solidFill>
            <a:srgbClr val="333399"/>
          </a:solidFill>
          <a:ln/>
        </p:spPr>
      </p:sp>
      <p:sp>
        <p:nvSpPr>
          <p:cNvPr id="48" name="Text 45"/>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9" name="Text 46"/>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50" name="Shape 47"/>
          <p:cNvSpPr/>
          <p:nvPr/>
        </p:nvSpPr>
        <p:spPr>
          <a:xfrm>
            <a:off x="91281" y="4418012"/>
            <a:ext cx="254000" cy="254000"/>
          </a:xfrm>
          <a:prstGeom prst="roundRect">
            <a:avLst>
              <a:gd name="adj" fmla="val 50000"/>
            </a:avLst>
          </a:prstGeom>
          <a:solidFill>
            <a:srgbClr val="333399"/>
          </a:solidFill>
          <a:ln/>
        </p:spPr>
      </p:sp>
      <p:sp>
        <p:nvSpPr>
          <p:cNvPr id="51" name="Text 48"/>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2" name="Text 49"/>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
        <p:nvSpPr>
          <p:cNvPr id="53" name="Shape 50"/>
          <p:cNvSpPr/>
          <p:nvPr/>
        </p:nvSpPr>
        <p:spPr>
          <a:xfrm>
            <a:off x="6121400" y="4418012"/>
            <a:ext cx="254000" cy="254000"/>
          </a:xfrm>
          <a:prstGeom prst="roundRect">
            <a:avLst>
              <a:gd name="adj" fmla="val 50000"/>
            </a:avLst>
          </a:prstGeom>
          <a:solidFill>
            <a:srgbClr val="333399"/>
          </a:solidFill>
          <a:ln/>
        </p:spPr>
      </p:sp>
      <p:sp>
        <p:nvSpPr>
          <p:cNvPr id="54" name="Text 51"/>
          <p:cNvSpPr txBox="1"/>
          <p:nvPr/>
        </p:nvSpPr>
        <p:spPr>
          <a:xfrm>
            <a:off x="6206529"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5" name="Text 52"/>
          <p:cNvSpPr txBox="1"/>
          <p:nvPr/>
        </p:nvSpPr>
        <p:spPr>
          <a:xfrm>
            <a:off x="6464300" y="4402733"/>
            <a:ext cx="483155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Accept-Query</a:t>
            </a:r>
            <a:pPr algn="l" indent="0" marL="0">
              <a:buNone/>
            </a:pPr>
            <a:r>
              <a:rPr lang="en-US" sz="1800" dirty="0">
                <a:solidFill>
                  <a:srgbClr val="000000"/>
                </a:solidFill>
                <a:latin typeface="Calibri" pitchFamily="34" charset="0"/>
                <a:ea typeface="Calibri" pitchFamily="34" charset="-122"/>
                <a:cs typeface="Calibri" pitchFamily="34" charset="-120"/>
              </a:rPr>
              <a:t>: query formats accepted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§3]</a:t>
            </a:r>
            <a:endParaRPr lang="en-US" sz="1800" dirty="0"/>
          </a:p>
        </p:txBody>
      </p:sp>
      <p:sp>
        <p:nvSpPr>
          <p:cNvPr id="56" name="Shape 53"/>
          <p:cNvSpPr/>
          <p:nvPr/>
        </p:nvSpPr>
        <p:spPr>
          <a:xfrm>
            <a:off x="91281" y="4754563"/>
            <a:ext cx="254000" cy="254000"/>
          </a:xfrm>
          <a:prstGeom prst="roundRect">
            <a:avLst>
              <a:gd name="adj" fmla="val 50000"/>
            </a:avLst>
          </a:prstGeom>
          <a:solidFill>
            <a:srgbClr val="333399"/>
          </a:solidFill>
          <a:ln/>
        </p:spPr>
      </p:sp>
      <p:sp>
        <p:nvSpPr>
          <p:cNvPr id="57" name="Text 54"/>
          <p:cNvSpPr txBox="1"/>
          <p:nvPr/>
        </p:nvSpPr>
        <p:spPr>
          <a:xfrm>
            <a:off x="176411"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8" name="Text 55"/>
          <p:cNvSpPr txBox="1"/>
          <p:nvPr/>
        </p:nvSpPr>
        <p:spPr>
          <a:xfrm>
            <a:off x="434181" y="4739283"/>
            <a:ext cx="40848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Target</a:t>
            </a:r>
            <a:pPr algn="l" indent="0" marL="0">
              <a:buNone/>
            </a:pPr>
            <a:r>
              <a:rPr lang="en-US" sz="1800" dirty="0">
                <a:solidFill>
                  <a:srgbClr val="000000"/>
                </a:solidFill>
                <a:latin typeface="Calibri" pitchFamily="34" charset="0"/>
                <a:ea typeface="Calibri" pitchFamily="34" charset="-122"/>
                <a:cs typeface="Calibri" pitchFamily="34" charset="-120"/>
              </a:rPr>
              <a:t>: the resource that scopes the query</a:t>
            </a:r>
            <a:endParaRPr lang="en-US" sz="1800" dirty="0"/>
          </a:p>
        </p:txBody>
      </p:sp>
      <p:sp>
        <p:nvSpPr>
          <p:cNvPr id="59" name="Shape 56"/>
          <p:cNvSpPr/>
          <p:nvPr/>
        </p:nvSpPr>
        <p:spPr>
          <a:xfrm>
            <a:off x="91281" y="5091112"/>
            <a:ext cx="254000" cy="254000"/>
          </a:xfrm>
          <a:prstGeom prst="roundRect">
            <a:avLst>
              <a:gd name="adj" fmla="val 50000"/>
            </a:avLst>
          </a:prstGeom>
          <a:solidFill>
            <a:srgbClr val="333399"/>
          </a:solidFill>
          <a:ln/>
        </p:spPr>
      </p:sp>
      <p:sp>
        <p:nvSpPr>
          <p:cNvPr id="60" name="Text 57"/>
          <p:cNvSpPr txBox="1"/>
          <p:nvPr/>
        </p:nvSpPr>
        <p:spPr>
          <a:xfrm>
            <a:off x="176411"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1" name="Text 58"/>
          <p:cNvSpPr txBox="1"/>
          <p:nvPr/>
        </p:nvSpPr>
        <p:spPr>
          <a:xfrm>
            <a:off x="434181" y="5075833"/>
            <a:ext cx="49823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Content-Type</a:t>
            </a:r>
            <a:pPr algn="l" indent="0" marL="0">
              <a:buNone/>
            </a:pPr>
            <a:r>
              <a:rPr lang="en-US" sz="1800" dirty="0">
                <a:solidFill>
                  <a:srgbClr val="000000"/>
                </a:solidFill>
                <a:latin typeface="Calibri" pitchFamily="34" charset="0"/>
                <a:ea typeface="Calibri" pitchFamily="34" charset="-122"/>
                <a:cs typeface="Calibri" pitchFamily="34" charset="-120"/>
              </a:rPr>
              <a:t>: REQUIRED, never sniffed </a:t>
            </a:r>
            <a:pPr algn="l" indent="0" marL="0">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§2.1]</a:t>
            </a:r>
            <a:endParaRPr lang="en-US" sz="1800" dirty="0"/>
          </a:p>
        </p:txBody>
      </p:sp>
      <p:sp>
        <p:nvSpPr>
          <p:cNvPr id="62" name="Shape 59"/>
          <p:cNvSpPr/>
          <p:nvPr/>
        </p:nvSpPr>
        <p:spPr>
          <a:xfrm>
            <a:off x="91281" y="5713412"/>
            <a:ext cx="254000" cy="254000"/>
          </a:xfrm>
          <a:prstGeom prst="roundRect">
            <a:avLst>
              <a:gd name="adj" fmla="val 50000"/>
            </a:avLst>
          </a:prstGeom>
          <a:solidFill>
            <a:srgbClr val="333399"/>
          </a:solidFill>
          <a:ln/>
        </p:spPr>
      </p:sp>
      <p:sp>
        <p:nvSpPr>
          <p:cNvPr id="63" name="Text 60"/>
          <p:cNvSpPr txBox="1"/>
          <p:nvPr/>
        </p:nvSpPr>
        <p:spPr>
          <a:xfrm>
            <a:off x="176411" y="57451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4" name="Text 61"/>
          <p:cNvSpPr txBox="1"/>
          <p:nvPr/>
        </p:nvSpPr>
        <p:spPr>
          <a:xfrm>
            <a:off x="434181" y="5698133"/>
            <a:ext cx="411241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a:t>
            </a:r>
            <a:pPr algn="l" indent="0" marL="0">
              <a:buNone/>
            </a:pPr>
            <a:r>
              <a:rPr lang="en-US" sz="1800" dirty="0">
                <a:solidFill>
                  <a:srgbClr val="000000"/>
                </a:solidFill>
                <a:latin typeface="Calibri" pitchFamily="34" charset="0"/>
                <a:ea typeface="Calibri" pitchFamily="34" charset="-122"/>
                <a:cs typeface="Calibri" pitchFamily="34" charset="-120"/>
              </a:rPr>
              <a:t>: the query itself (“query content”)</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Shape 14"/>
          <p:cNvSpPr/>
          <p:nvPr/>
        </p:nvSpPr>
        <p:spPr>
          <a:xfrm>
            <a:off x="1280319"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204119"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9" name="Shape 16"/>
          <p:cNvSpPr/>
          <p:nvPr/>
        </p:nvSpPr>
        <p:spPr>
          <a:xfrm>
            <a:off x="1953617" y="1793081"/>
            <a:ext cx="254000" cy="254000"/>
          </a:xfrm>
          <a:prstGeom prst="roundRect">
            <a:avLst>
              <a:gd name="adj" fmla="val 50000"/>
            </a:avLst>
          </a:prstGeom>
          <a:solidFill>
            <a:srgbClr val="333399"/>
          </a:solidFill>
          <a:ln/>
        </p:spPr>
      </p:sp>
      <p:sp>
        <p:nvSpPr>
          <p:cNvPr id="20" name="Text 17"/>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2" name="Text 19"/>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3" name="Text 20"/>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4" name="Shape 21"/>
          <p:cNvSpPr/>
          <p:nvPr/>
        </p:nvSpPr>
        <p:spPr>
          <a:xfrm>
            <a:off x="230981" y="2421731"/>
            <a:ext cx="365819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5" name="Text 22"/>
          <p:cNvSpPr txBox="1"/>
          <p:nvPr/>
        </p:nvSpPr>
        <p:spPr>
          <a:xfrm>
            <a:off x="154781" y="2421731"/>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6" name="Shape 23"/>
          <p:cNvSpPr/>
          <p:nvPr/>
        </p:nvSpPr>
        <p:spPr>
          <a:xfrm>
            <a:off x="3952676" y="2386211"/>
            <a:ext cx="254000" cy="254000"/>
          </a:xfrm>
          <a:prstGeom prst="roundRect">
            <a:avLst>
              <a:gd name="adj" fmla="val 50000"/>
            </a:avLst>
          </a:prstGeom>
          <a:solidFill>
            <a:srgbClr val="333399"/>
          </a:solidFill>
          <a:ln/>
        </p:spPr>
      </p:sp>
      <p:sp>
        <p:nvSpPr>
          <p:cNvPr id="27" name="Text 24"/>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9" name="Shape 26"/>
          <p:cNvSpPr/>
          <p:nvPr/>
        </p:nvSpPr>
        <p:spPr>
          <a:xfrm>
            <a:off x="230981" y="3273821"/>
            <a:ext cx="5435600" cy="887611"/>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0" name="Text 27"/>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31" name="Shape 28"/>
          <p:cNvSpPr/>
          <p:nvPr/>
        </p:nvSpPr>
        <p:spPr>
          <a:xfrm>
            <a:off x="3099197" y="3273821"/>
            <a:ext cx="254000" cy="254000"/>
          </a:xfrm>
          <a:prstGeom prst="roundRect">
            <a:avLst>
              <a:gd name="adj" fmla="val 50000"/>
            </a:avLst>
          </a:prstGeom>
          <a:solidFill>
            <a:srgbClr val="333399"/>
          </a:solidFill>
          <a:ln/>
        </p:spPr>
      </p:sp>
      <p:sp>
        <p:nvSpPr>
          <p:cNvPr id="32" name="Text 29"/>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4" name="Text 31"/>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5" name="Text 32"/>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6" name="Shape 33"/>
          <p:cNvSpPr/>
          <p:nvPr/>
        </p:nvSpPr>
        <p:spPr>
          <a:xfrm>
            <a:off x="6085681" y="1704181"/>
            <a:ext cx="5811837" cy="2251671"/>
          </a:xfrm>
          <a:prstGeom prst="rect">
            <a:avLst/>
          </a:prstGeom>
          <a:solidFill>
            <a:srgbClr val="FFFFFF"/>
          </a:solidFill>
          <a:ln w="12700">
            <a:solidFill>
              <a:srgbClr val="333399"/>
            </a:solidFill>
            <a:prstDash val="solid"/>
          </a:ln>
        </p:spPr>
      </p:sp>
      <p:sp>
        <p:nvSpPr>
          <p:cNvPr id="37" name="Text 34"/>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8" name="Text 35"/>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9" name="Shape 36"/>
          <p:cNvSpPr/>
          <p:nvPr/>
        </p:nvSpPr>
        <p:spPr>
          <a:xfrm>
            <a:off x="6225381" y="2417564"/>
            <a:ext cx="365819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40" name="Text 37"/>
          <p:cNvSpPr txBox="1"/>
          <p:nvPr/>
        </p:nvSpPr>
        <p:spPr>
          <a:xfrm>
            <a:off x="6149181" y="2417564"/>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41" name="Shape 38"/>
          <p:cNvSpPr/>
          <p:nvPr/>
        </p:nvSpPr>
        <p:spPr>
          <a:xfrm>
            <a:off x="9947076" y="2382044"/>
            <a:ext cx="254000" cy="254000"/>
          </a:xfrm>
          <a:prstGeom prst="roundRect">
            <a:avLst>
              <a:gd name="adj" fmla="val 50000"/>
            </a:avLst>
          </a:prstGeom>
          <a:solidFill>
            <a:srgbClr val="333399"/>
          </a:solidFill>
          <a:ln/>
        </p:spPr>
      </p:sp>
      <p:sp>
        <p:nvSpPr>
          <p:cNvPr id="42" name="Text 39"/>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3" name="Shape 40"/>
          <p:cNvSpPr/>
          <p:nvPr/>
        </p:nvSpPr>
        <p:spPr>
          <a:xfrm>
            <a:off x="6225381" y="2716212"/>
            <a:ext cx="2560836" cy="2286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44" name="Text 41"/>
          <p:cNvSpPr txBox="1"/>
          <p:nvPr/>
        </p:nvSpPr>
        <p:spPr>
          <a:xfrm>
            <a:off x="6149181" y="2716212"/>
            <a:ext cx="2713236"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5" name="Shape 42"/>
          <p:cNvSpPr/>
          <p:nvPr/>
        </p:nvSpPr>
        <p:spPr>
          <a:xfrm>
            <a:off x="8849717" y="2680692"/>
            <a:ext cx="254000" cy="254000"/>
          </a:xfrm>
          <a:prstGeom prst="roundRect">
            <a:avLst>
              <a:gd name="adj" fmla="val 50000"/>
            </a:avLst>
          </a:prstGeom>
          <a:solidFill>
            <a:srgbClr val="333399"/>
          </a:solidFill>
          <a:ln/>
        </p:spPr>
      </p:sp>
      <p:sp>
        <p:nvSpPr>
          <p:cNvPr id="46" name="Text 43"/>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7" name="Shape 44"/>
          <p:cNvSpPr/>
          <p:nvPr/>
        </p:nvSpPr>
        <p:spPr>
          <a:xfrm>
            <a:off x="6225381" y="3014861"/>
            <a:ext cx="3536355" cy="228600"/>
          </a:xfrm>
          <a:prstGeom prst="rect">
            <a:avLst/>
          </a:prstGeom>
          <a:solidFill>
            <a:srgbClr val="BBE0E3"/>
          </a:solidFill>
          <a:ln/>
          <a:effectLst>
            <a:outerShdw sx="100000" sy="100000" kx="0" ky="0" algn="bl" rotWithShape="0" blurRad="135467" dist="67733" dir="16200000">
              <a:srgbClr val="CC6600">
                <a:alpha val="100000"/>
              </a:srgbClr>
            </a:outerShdw>
          </a:effectLst>
        </p:spPr>
      </p:sp>
      <p:sp>
        <p:nvSpPr>
          <p:cNvPr id="48" name="Text 45"/>
          <p:cNvSpPr txBox="1"/>
          <p:nvPr/>
        </p:nvSpPr>
        <p:spPr>
          <a:xfrm>
            <a:off x="6149181" y="3014861"/>
            <a:ext cx="368875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9" name="Shape 46"/>
          <p:cNvSpPr/>
          <p:nvPr/>
        </p:nvSpPr>
        <p:spPr>
          <a:xfrm>
            <a:off x="9825236" y="2979340"/>
            <a:ext cx="254000" cy="254000"/>
          </a:xfrm>
          <a:prstGeom prst="roundRect">
            <a:avLst>
              <a:gd name="adj" fmla="val 50000"/>
            </a:avLst>
          </a:prstGeom>
          <a:solidFill>
            <a:srgbClr val="333399"/>
          </a:solidFill>
          <a:ln/>
        </p:spPr>
      </p:sp>
      <p:sp>
        <p:nvSpPr>
          <p:cNvPr id="50" name="Text 47"/>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51" name="Text 48"/>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52" name="Shape 49"/>
          <p:cNvSpPr/>
          <p:nvPr/>
        </p:nvSpPr>
        <p:spPr>
          <a:xfrm>
            <a:off x="91281" y="4418012"/>
            <a:ext cx="254000" cy="254000"/>
          </a:xfrm>
          <a:prstGeom prst="roundRect">
            <a:avLst>
              <a:gd name="adj" fmla="val 50000"/>
            </a:avLst>
          </a:prstGeom>
          <a:solidFill>
            <a:srgbClr val="333399"/>
          </a:solidFill>
          <a:ln/>
        </p:spPr>
      </p:sp>
      <p:sp>
        <p:nvSpPr>
          <p:cNvPr id="53" name="Text 50"/>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4" name="Text 51"/>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
        <p:nvSpPr>
          <p:cNvPr id="55" name="Shape 52"/>
          <p:cNvSpPr/>
          <p:nvPr/>
        </p:nvSpPr>
        <p:spPr>
          <a:xfrm>
            <a:off x="6121400" y="4418012"/>
            <a:ext cx="254000" cy="254000"/>
          </a:xfrm>
          <a:prstGeom prst="roundRect">
            <a:avLst>
              <a:gd name="adj" fmla="val 50000"/>
            </a:avLst>
          </a:prstGeom>
          <a:solidFill>
            <a:srgbClr val="333399"/>
          </a:solidFill>
          <a:ln/>
        </p:spPr>
      </p:sp>
      <p:sp>
        <p:nvSpPr>
          <p:cNvPr id="56" name="Text 53"/>
          <p:cNvSpPr txBox="1"/>
          <p:nvPr/>
        </p:nvSpPr>
        <p:spPr>
          <a:xfrm>
            <a:off x="6206529"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7" name="Text 54"/>
          <p:cNvSpPr txBox="1"/>
          <p:nvPr/>
        </p:nvSpPr>
        <p:spPr>
          <a:xfrm>
            <a:off x="6464300" y="4402733"/>
            <a:ext cx="483155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Accept-Query</a:t>
            </a:r>
            <a:pPr algn="l" indent="0" marL="0">
              <a:buNone/>
            </a:pPr>
            <a:r>
              <a:rPr lang="en-US" sz="1800" dirty="0">
                <a:solidFill>
                  <a:srgbClr val="000000"/>
                </a:solidFill>
                <a:latin typeface="Calibri" pitchFamily="34" charset="0"/>
                <a:ea typeface="Calibri" pitchFamily="34" charset="-122"/>
                <a:cs typeface="Calibri" pitchFamily="34" charset="-120"/>
              </a:rPr>
              <a:t>: query formats accepted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§3]</a:t>
            </a:r>
            <a:endParaRPr lang="en-US" sz="1800" dirty="0"/>
          </a:p>
        </p:txBody>
      </p:sp>
      <p:sp>
        <p:nvSpPr>
          <p:cNvPr id="58" name="Shape 55"/>
          <p:cNvSpPr/>
          <p:nvPr/>
        </p:nvSpPr>
        <p:spPr>
          <a:xfrm>
            <a:off x="91281" y="4754563"/>
            <a:ext cx="254000" cy="254000"/>
          </a:xfrm>
          <a:prstGeom prst="roundRect">
            <a:avLst>
              <a:gd name="adj" fmla="val 50000"/>
            </a:avLst>
          </a:prstGeom>
          <a:solidFill>
            <a:srgbClr val="333399"/>
          </a:solidFill>
          <a:ln/>
        </p:spPr>
      </p:sp>
      <p:sp>
        <p:nvSpPr>
          <p:cNvPr id="59" name="Text 56"/>
          <p:cNvSpPr txBox="1"/>
          <p:nvPr/>
        </p:nvSpPr>
        <p:spPr>
          <a:xfrm>
            <a:off x="176411"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0" name="Text 57"/>
          <p:cNvSpPr txBox="1"/>
          <p:nvPr/>
        </p:nvSpPr>
        <p:spPr>
          <a:xfrm>
            <a:off x="434181" y="4739283"/>
            <a:ext cx="40848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Target</a:t>
            </a:r>
            <a:pPr algn="l" indent="0" marL="0">
              <a:buNone/>
            </a:pPr>
            <a:r>
              <a:rPr lang="en-US" sz="1800" dirty="0">
                <a:solidFill>
                  <a:srgbClr val="000000"/>
                </a:solidFill>
                <a:latin typeface="Calibri" pitchFamily="34" charset="0"/>
                <a:ea typeface="Calibri" pitchFamily="34" charset="-122"/>
                <a:cs typeface="Calibri" pitchFamily="34" charset="-120"/>
              </a:rPr>
              <a:t>: the resource that scopes the query</a:t>
            </a:r>
            <a:endParaRPr lang="en-US" sz="1800" dirty="0"/>
          </a:p>
        </p:txBody>
      </p:sp>
      <p:sp>
        <p:nvSpPr>
          <p:cNvPr id="61" name="Shape 58"/>
          <p:cNvSpPr/>
          <p:nvPr/>
        </p:nvSpPr>
        <p:spPr>
          <a:xfrm>
            <a:off x="6121400" y="4754563"/>
            <a:ext cx="254000" cy="254000"/>
          </a:xfrm>
          <a:prstGeom prst="roundRect">
            <a:avLst>
              <a:gd name="adj" fmla="val 50000"/>
            </a:avLst>
          </a:prstGeom>
          <a:solidFill>
            <a:srgbClr val="333399"/>
          </a:solidFill>
          <a:ln/>
        </p:spPr>
      </p:sp>
      <p:sp>
        <p:nvSpPr>
          <p:cNvPr id="62" name="Text 59"/>
          <p:cNvSpPr txBox="1"/>
          <p:nvPr/>
        </p:nvSpPr>
        <p:spPr>
          <a:xfrm>
            <a:off x="6206529"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3" name="Text 60"/>
          <p:cNvSpPr txBox="1"/>
          <p:nvPr/>
        </p:nvSpPr>
        <p:spPr>
          <a:xfrm>
            <a:off x="6464300" y="4739283"/>
            <a:ext cx="4799608"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Location</a:t>
            </a:r>
            <a:pPr algn="l" indent="0" marL="0">
              <a:buNone/>
            </a:pPr>
            <a:r>
              <a:rPr lang="en-US" sz="1800" dirty="0">
                <a:solidFill>
                  <a:srgbClr val="000000"/>
                </a:solidFill>
                <a:latin typeface="Calibri" pitchFamily="34" charset="0"/>
                <a:ea typeface="Calibri" pitchFamily="34" charset="-122"/>
                <a:cs typeface="Calibri" pitchFamily="34" charset="-120"/>
              </a:rPr>
              <a:t>: GET here repeats the query </a:t>
            </a:r>
            <a:pPr algn="l" indent="0" marL="0">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§2.4]</a:t>
            </a:r>
            <a:endParaRPr lang="en-US" sz="1800" dirty="0"/>
          </a:p>
        </p:txBody>
      </p:sp>
      <p:sp>
        <p:nvSpPr>
          <p:cNvPr id="64" name="Shape 61"/>
          <p:cNvSpPr/>
          <p:nvPr/>
        </p:nvSpPr>
        <p:spPr>
          <a:xfrm>
            <a:off x="91281" y="5091112"/>
            <a:ext cx="254000" cy="254000"/>
          </a:xfrm>
          <a:prstGeom prst="roundRect">
            <a:avLst>
              <a:gd name="adj" fmla="val 50000"/>
            </a:avLst>
          </a:prstGeom>
          <a:solidFill>
            <a:srgbClr val="333399"/>
          </a:solidFill>
          <a:ln/>
        </p:spPr>
      </p:sp>
      <p:sp>
        <p:nvSpPr>
          <p:cNvPr id="65" name="Text 62"/>
          <p:cNvSpPr txBox="1"/>
          <p:nvPr/>
        </p:nvSpPr>
        <p:spPr>
          <a:xfrm>
            <a:off x="176411"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6" name="Text 63"/>
          <p:cNvSpPr txBox="1"/>
          <p:nvPr/>
        </p:nvSpPr>
        <p:spPr>
          <a:xfrm>
            <a:off x="434181" y="5075833"/>
            <a:ext cx="49823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Content-Type</a:t>
            </a:r>
            <a:pPr algn="l" indent="0" marL="0">
              <a:buNone/>
            </a:pPr>
            <a:r>
              <a:rPr lang="en-US" sz="1800" dirty="0">
                <a:solidFill>
                  <a:srgbClr val="000000"/>
                </a:solidFill>
                <a:latin typeface="Calibri" pitchFamily="34" charset="0"/>
                <a:ea typeface="Calibri" pitchFamily="34" charset="-122"/>
                <a:cs typeface="Calibri" pitchFamily="34" charset="-120"/>
              </a:rPr>
              <a:t>: REQUIRED, never sniffed </a:t>
            </a:r>
            <a:pPr algn="l" indent="0" marL="0">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§2.1]</a:t>
            </a:r>
            <a:endParaRPr lang="en-US" sz="1800" dirty="0"/>
          </a:p>
        </p:txBody>
      </p:sp>
      <p:sp>
        <p:nvSpPr>
          <p:cNvPr id="67" name="Shape 64"/>
          <p:cNvSpPr/>
          <p:nvPr/>
        </p:nvSpPr>
        <p:spPr>
          <a:xfrm>
            <a:off x="6121400" y="5091112"/>
            <a:ext cx="254000" cy="254000"/>
          </a:xfrm>
          <a:prstGeom prst="roundRect">
            <a:avLst>
              <a:gd name="adj" fmla="val 50000"/>
            </a:avLst>
          </a:prstGeom>
          <a:solidFill>
            <a:srgbClr val="333399"/>
          </a:solidFill>
          <a:ln/>
        </p:spPr>
      </p:sp>
      <p:sp>
        <p:nvSpPr>
          <p:cNvPr id="68" name="Text 65"/>
          <p:cNvSpPr txBox="1"/>
          <p:nvPr/>
        </p:nvSpPr>
        <p:spPr>
          <a:xfrm>
            <a:off x="6206529"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6121400" y="5075833"/>
            <a:ext cx="5801519" cy="539751"/>
          </a:xfrm>
          <a:prstGeom prst="rect">
            <a:avLst/>
          </a:prstGeom>
          <a:noFill/>
          <a:ln/>
        </p:spPr>
        <p:txBody>
          <a:bodyPr wrap="square" lIns="0" tIns="0" rIns="0" bIns="0" rtlCol="0" anchor="t"/>
          <a:lstStyle/>
          <a:p>
            <a:pPr algn="l" indent="0" marL="0">
              <a:lnSpc>
                <a:spcPts val="2751"/>
              </a:lnSpc>
              <a:buNone/>
            </a:pPr>
            <a:r>
              <a:rPr lang="en-US" sz="1800" b="1" dirty="0">
                <a:solidFill>
                  <a:srgbClr val="000000"/>
                </a:solidFill>
                <a:latin typeface="Calibri" pitchFamily="34" charset="0"/>
                <a:ea typeface="Calibri" pitchFamily="34" charset="-122"/>
                <a:cs typeface="Calibri" pitchFamily="34" charset="-120"/>
              </a:rPr>
              <a:t>Content-Location</a:t>
            </a:r>
            <a:pPr algn="l" indent="0" marL="0">
              <a:lnSpc>
                <a:spcPts val="2751"/>
              </a:lnSpc>
              <a:buNone/>
            </a:pPr>
            <a:r>
              <a:rPr lang="en-US" sz="1800" dirty="0">
                <a:solidFill>
                  <a:srgbClr val="000000"/>
                </a:solidFill>
                <a:latin typeface="Calibri" pitchFamily="34" charset="0"/>
                <a:ea typeface="Calibri" pitchFamily="34" charset="-122"/>
                <a:cs typeface="Calibri" pitchFamily="34" charset="-120"/>
              </a:rPr>
              <a:t>: GET here fetches this result </a:t>
            </a:r>
            <a:pPr algn="l" indent="0" marL="0">
              <a:lnSpc>
                <a:spcPts val="2751"/>
              </a:lnSpc>
              <a:buNone/>
            </a:pPr>
            <a:r>
              <a:rPr lang="en-US" sz="1300" u="sng" dirty="0">
                <a:solidFill>
                  <a:srgbClr val="00999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§2.3]</a:t>
            </a:r>
            <a:endParaRPr lang="en-US" sz="1800" dirty="0"/>
          </a:p>
        </p:txBody>
      </p:sp>
      <p:sp>
        <p:nvSpPr>
          <p:cNvPr id="70" name="Shape 67"/>
          <p:cNvSpPr/>
          <p:nvPr/>
        </p:nvSpPr>
        <p:spPr>
          <a:xfrm>
            <a:off x="91281" y="5713412"/>
            <a:ext cx="254000" cy="254000"/>
          </a:xfrm>
          <a:prstGeom prst="roundRect">
            <a:avLst>
              <a:gd name="adj" fmla="val 50000"/>
            </a:avLst>
          </a:prstGeom>
          <a:solidFill>
            <a:srgbClr val="333399"/>
          </a:solidFill>
          <a:ln/>
        </p:spPr>
      </p:sp>
      <p:sp>
        <p:nvSpPr>
          <p:cNvPr id="71" name="Text 68"/>
          <p:cNvSpPr txBox="1"/>
          <p:nvPr/>
        </p:nvSpPr>
        <p:spPr>
          <a:xfrm>
            <a:off x="176411" y="57451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2" name="Text 69"/>
          <p:cNvSpPr txBox="1"/>
          <p:nvPr/>
        </p:nvSpPr>
        <p:spPr>
          <a:xfrm>
            <a:off x="434181" y="5698133"/>
            <a:ext cx="411241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a:t>
            </a:r>
            <a:pPr algn="l" indent="0" marL="0">
              <a:buNone/>
            </a:pPr>
            <a:r>
              <a:rPr lang="en-US" sz="1800" dirty="0">
                <a:solidFill>
                  <a:srgbClr val="000000"/>
                </a:solidFill>
                <a:latin typeface="Calibri" pitchFamily="34" charset="0"/>
                <a:ea typeface="Calibri" pitchFamily="34" charset="-122"/>
                <a:cs typeface="Calibri" pitchFamily="34" charset="-120"/>
              </a:rPr>
              <a:t>: the query itself (“query content”)</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2153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Anatomy of a QUERY exchange (RFC 10008)</a:t>
            </a:r>
            <a:endParaRPr lang="en-US" sz="2400" dirty="0"/>
          </a:p>
        </p:txBody>
      </p:sp>
      <p:sp>
        <p:nvSpPr>
          <p:cNvPr id="10" name="Text 7"/>
          <p:cNvSpPr txBox="1"/>
          <p:nvPr/>
        </p:nvSpPr>
        <p:spPr>
          <a:xfrm>
            <a:off x="91281" y="1386681"/>
            <a:ext cx="835819"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Request</a:t>
            </a:r>
            <a:endParaRPr lang="en-US" sz="1600" dirty="0"/>
          </a:p>
        </p:txBody>
      </p:sp>
      <p:sp>
        <p:nvSpPr>
          <p:cNvPr id="11" name="Shape 8"/>
          <p:cNvSpPr/>
          <p:nvPr/>
        </p:nvSpPr>
        <p:spPr>
          <a:xfrm>
            <a:off x="91281" y="1704181"/>
            <a:ext cx="5715000" cy="2546152"/>
          </a:xfrm>
          <a:prstGeom prst="rect">
            <a:avLst/>
          </a:prstGeom>
          <a:solidFill>
            <a:srgbClr val="FFFFFF"/>
          </a:solidFill>
          <a:ln w="12700">
            <a:solidFill>
              <a:srgbClr val="333399"/>
            </a:solidFill>
            <a:prstDash val="solid"/>
          </a:ln>
        </p:spPr>
      </p:sp>
      <p:sp>
        <p:nvSpPr>
          <p:cNvPr id="12" name="Shape 9"/>
          <p:cNvSpPr/>
          <p:nvPr/>
        </p:nvSpPr>
        <p:spPr>
          <a:xfrm>
            <a:off x="230981"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3" name="Text 10"/>
          <p:cNvSpPr txBox="1"/>
          <p:nvPr/>
        </p:nvSpPr>
        <p:spPr>
          <a:xfrm>
            <a:off x="154781"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14" name="Shape 11"/>
          <p:cNvSpPr/>
          <p:nvPr/>
        </p:nvSpPr>
        <p:spPr>
          <a:xfrm>
            <a:off x="904280" y="1793081"/>
            <a:ext cx="254000" cy="254000"/>
          </a:xfrm>
          <a:prstGeom prst="roundRect">
            <a:avLst>
              <a:gd name="adj" fmla="val 50000"/>
            </a:avLst>
          </a:prstGeom>
          <a:solidFill>
            <a:srgbClr val="333399"/>
          </a:solidFill>
          <a:ln/>
        </p:spPr>
      </p:sp>
      <p:sp>
        <p:nvSpPr>
          <p:cNvPr id="15" name="Text 12"/>
          <p:cNvSpPr txBox="1"/>
          <p:nvPr/>
        </p:nvSpPr>
        <p:spPr>
          <a:xfrm>
            <a:off x="989409"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158280"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17" name="Shape 14"/>
          <p:cNvSpPr/>
          <p:nvPr/>
        </p:nvSpPr>
        <p:spPr>
          <a:xfrm>
            <a:off x="1280319" y="1828601"/>
            <a:ext cx="609799"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18" name="Text 15"/>
          <p:cNvSpPr txBox="1"/>
          <p:nvPr/>
        </p:nvSpPr>
        <p:spPr>
          <a:xfrm>
            <a:off x="1204119" y="1828601"/>
            <a:ext cx="762199"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/feed</a:t>
            </a:r>
            <a:endParaRPr lang="en-US" sz="1600" dirty="0"/>
          </a:p>
        </p:txBody>
      </p:sp>
      <p:sp>
        <p:nvSpPr>
          <p:cNvPr id="19" name="Shape 16"/>
          <p:cNvSpPr/>
          <p:nvPr/>
        </p:nvSpPr>
        <p:spPr>
          <a:xfrm>
            <a:off x="1953617" y="1793081"/>
            <a:ext cx="254000" cy="254000"/>
          </a:xfrm>
          <a:prstGeom prst="roundRect">
            <a:avLst>
              <a:gd name="adj" fmla="val 50000"/>
            </a:avLst>
          </a:prstGeom>
          <a:solidFill>
            <a:srgbClr val="333399"/>
          </a:solidFill>
          <a:ln/>
        </p:spPr>
      </p:sp>
      <p:sp>
        <p:nvSpPr>
          <p:cNvPr id="20" name="Text 17"/>
          <p:cNvSpPr txBox="1"/>
          <p:nvPr/>
        </p:nvSpPr>
        <p:spPr>
          <a:xfrm>
            <a:off x="2038747" y="182483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txBox="1"/>
          <p:nvPr/>
        </p:nvSpPr>
        <p:spPr>
          <a:xfrm>
            <a:off x="2207617" y="1828601"/>
            <a:ext cx="2744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a:t>
            </a:r>
            <a:endParaRPr lang="en-US" sz="1600" dirty="0"/>
          </a:p>
        </p:txBody>
      </p:sp>
      <p:sp>
        <p:nvSpPr>
          <p:cNvPr id="22" name="Text 19"/>
          <p:cNvSpPr txBox="1"/>
          <p:nvPr/>
        </p:nvSpPr>
        <p:spPr>
          <a:xfrm>
            <a:off x="2329656" y="1828601"/>
            <a:ext cx="1127919"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HTTP/1.1</a:t>
            </a:r>
            <a:endParaRPr lang="en-US" sz="1600" dirty="0"/>
          </a:p>
        </p:txBody>
      </p:sp>
      <p:sp>
        <p:nvSpPr>
          <p:cNvPr id="23" name="Text 20"/>
          <p:cNvSpPr txBox="1"/>
          <p:nvPr/>
        </p:nvSpPr>
        <p:spPr>
          <a:xfrm>
            <a:off x="230981" y="2117129"/>
            <a:ext cx="222547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Host: example.org</a:t>
            </a:r>
            <a:endParaRPr lang="en-US" sz="1600" dirty="0"/>
          </a:p>
        </p:txBody>
      </p:sp>
      <p:sp>
        <p:nvSpPr>
          <p:cNvPr id="24" name="Shape 21"/>
          <p:cNvSpPr/>
          <p:nvPr/>
        </p:nvSpPr>
        <p:spPr>
          <a:xfrm>
            <a:off x="230981" y="2421731"/>
            <a:ext cx="365819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25" name="Text 22"/>
          <p:cNvSpPr txBox="1"/>
          <p:nvPr/>
        </p:nvSpPr>
        <p:spPr>
          <a:xfrm>
            <a:off x="154781" y="2421731"/>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26" name="Shape 23"/>
          <p:cNvSpPr/>
          <p:nvPr/>
        </p:nvSpPr>
        <p:spPr>
          <a:xfrm>
            <a:off x="3952676" y="2386211"/>
            <a:ext cx="254000" cy="254000"/>
          </a:xfrm>
          <a:prstGeom prst="roundRect">
            <a:avLst>
              <a:gd name="adj" fmla="val 50000"/>
            </a:avLst>
          </a:prstGeom>
          <a:solidFill>
            <a:srgbClr val="333399"/>
          </a:solidFill>
          <a:ln/>
        </p:spPr>
      </p:sp>
      <p:sp>
        <p:nvSpPr>
          <p:cNvPr id="27" name="Text 24"/>
          <p:cNvSpPr txBox="1"/>
          <p:nvPr/>
        </p:nvSpPr>
        <p:spPr>
          <a:xfrm>
            <a:off x="4037807" y="241796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230981" y="2710260"/>
            <a:ext cx="3078956"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Accept: application/json</a:t>
            </a:r>
            <a:endParaRPr lang="en-US" sz="1600" dirty="0"/>
          </a:p>
        </p:txBody>
      </p:sp>
      <p:sp>
        <p:nvSpPr>
          <p:cNvPr id="29" name="Shape 26"/>
          <p:cNvSpPr/>
          <p:nvPr/>
        </p:nvSpPr>
        <p:spPr>
          <a:xfrm>
            <a:off x="230981" y="3273821"/>
            <a:ext cx="5435600" cy="887611"/>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30" name="Text 27"/>
          <p:cNvSpPr txBox="1"/>
          <p:nvPr/>
        </p:nvSpPr>
        <p:spPr>
          <a:xfrm>
            <a:off x="230981" y="3309343"/>
            <a:ext cx="2957116"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 "q": "cybersecurity",</a:t>
            </a:r>
            <a:endParaRPr lang="en-US" sz="1600" dirty="0"/>
          </a:p>
        </p:txBody>
      </p:sp>
      <p:sp>
        <p:nvSpPr>
          <p:cNvPr id="31" name="Shape 28"/>
          <p:cNvSpPr/>
          <p:nvPr/>
        </p:nvSpPr>
        <p:spPr>
          <a:xfrm>
            <a:off x="3099197" y="3273821"/>
            <a:ext cx="254000" cy="254000"/>
          </a:xfrm>
          <a:prstGeom prst="roundRect">
            <a:avLst>
              <a:gd name="adj" fmla="val 50000"/>
            </a:avLst>
          </a:prstGeom>
          <a:solidFill>
            <a:srgbClr val="333399"/>
          </a:solidFill>
          <a:ln/>
        </p:spPr>
      </p:sp>
      <p:sp>
        <p:nvSpPr>
          <p:cNvPr id="32" name="Text 29"/>
          <p:cNvSpPr txBox="1"/>
          <p:nvPr/>
        </p:nvSpPr>
        <p:spPr>
          <a:xfrm>
            <a:off x="3184327" y="330557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230981" y="3597871"/>
            <a:ext cx="429835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"limit": 20, "sort": "relevance",</a:t>
            </a:r>
            <a:endParaRPr lang="en-US" sz="1600" dirty="0"/>
          </a:p>
        </p:txBody>
      </p:sp>
      <p:sp>
        <p:nvSpPr>
          <p:cNvPr id="34" name="Text 31"/>
          <p:cNvSpPr txBox="1"/>
          <p:nvPr/>
        </p:nvSpPr>
        <p:spPr>
          <a:xfrm>
            <a:off x="230981" y="3892352"/>
            <a:ext cx="3810595"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"filters": { "year": 2026 } }</a:t>
            </a:r>
            <a:endParaRPr lang="en-US" sz="1600" dirty="0"/>
          </a:p>
        </p:txBody>
      </p:sp>
      <p:sp>
        <p:nvSpPr>
          <p:cNvPr id="35" name="Text 32"/>
          <p:cNvSpPr txBox="1"/>
          <p:nvPr/>
        </p:nvSpPr>
        <p:spPr>
          <a:xfrm>
            <a:off x="6085681" y="1386681"/>
            <a:ext cx="957857" cy="241300"/>
          </a:xfrm>
          <a:prstGeom prst="rect">
            <a:avLst/>
          </a:prstGeom>
          <a:noFill/>
          <a:ln/>
        </p:spPr>
        <p:txBody>
          <a:bodyPr wrap="none" lIns="0" tIns="0" rIns="0" bIns="0" rtlCol="0" anchor="t"/>
          <a:lstStyle/>
          <a:p>
            <a:pPr algn="l" indent="0" marL="0">
              <a:buNone/>
            </a:pPr>
            <a:r>
              <a:rPr lang="en-US" sz="1600" b="1" dirty="0">
                <a:solidFill>
                  <a:srgbClr val="993300"/>
                </a:solidFill>
                <a:latin typeface="Calibri" pitchFamily="34" charset="0"/>
                <a:ea typeface="Calibri" pitchFamily="34" charset="-122"/>
                <a:cs typeface="Calibri" pitchFamily="34" charset="-120"/>
              </a:rPr>
              <a:t>Response</a:t>
            </a:r>
            <a:endParaRPr lang="en-US" sz="1600" dirty="0"/>
          </a:p>
        </p:txBody>
      </p:sp>
      <p:sp>
        <p:nvSpPr>
          <p:cNvPr id="36" name="Shape 33"/>
          <p:cNvSpPr/>
          <p:nvPr/>
        </p:nvSpPr>
        <p:spPr>
          <a:xfrm>
            <a:off x="6085681" y="1704181"/>
            <a:ext cx="5811837" cy="2251671"/>
          </a:xfrm>
          <a:prstGeom prst="rect">
            <a:avLst/>
          </a:prstGeom>
          <a:solidFill>
            <a:srgbClr val="FFFFFF"/>
          </a:solidFill>
          <a:ln w="12700">
            <a:solidFill>
              <a:srgbClr val="333399"/>
            </a:solidFill>
            <a:prstDash val="solid"/>
          </a:ln>
        </p:spPr>
      </p:sp>
      <p:sp>
        <p:nvSpPr>
          <p:cNvPr id="37" name="Text 34"/>
          <p:cNvSpPr txBox="1"/>
          <p:nvPr/>
        </p:nvSpPr>
        <p:spPr>
          <a:xfrm>
            <a:off x="6225381" y="1818481"/>
            <a:ext cx="198159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HTTP/1.1 200 OK</a:t>
            </a:r>
            <a:endParaRPr lang="en-US" sz="1600" dirty="0"/>
          </a:p>
        </p:txBody>
      </p:sp>
      <p:sp>
        <p:nvSpPr>
          <p:cNvPr id="38" name="Text 35"/>
          <p:cNvSpPr txBox="1"/>
          <p:nvPr/>
        </p:nvSpPr>
        <p:spPr>
          <a:xfrm>
            <a:off x="6225381" y="2112963"/>
            <a:ext cx="3810595"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Content-Type: application/json</a:t>
            </a:r>
            <a:endParaRPr lang="en-US" sz="1600" dirty="0"/>
          </a:p>
        </p:txBody>
      </p:sp>
      <p:sp>
        <p:nvSpPr>
          <p:cNvPr id="39" name="Shape 36"/>
          <p:cNvSpPr/>
          <p:nvPr/>
        </p:nvSpPr>
        <p:spPr>
          <a:xfrm>
            <a:off x="6225381" y="2417564"/>
            <a:ext cx="365819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40" name="Text 37"/>
          <p:cNvSpPr txBox="1"/>
          <p:nvPr/>
        </p:nvSpPr>
        <p:spPr>
          <a:xfrm>
            <a:off x="6149181" y="2417564"/>
            <a:ext cx="381059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Accept-Query: application/json</a:t>
            </a:r>
            <a:endParaRPr lang="en-US" sz="1600" dirty="0"/>
          </a:p>
        </p:txBody>
      </p:sp>
      <p:sp>
        <p:nvSpPr>
          <p:cNvPr id="41" name="Shape 38"/>
          <p:cNvSpPr/>
          <p:nvPr/>
        </p:nvSpPr>
        <p:spPr>
          <a:xfrm>
            <a:off x="9947076" y="2382044"/>
            <a:ext cx="254000" cy="254000"/>
          </a:xfrm>
          <a:prstGeom prst="roundRect">
            <a:avLst>
              <a:gd name="adj" fmla="val 50000"/>
            </a:avLst>
          </a:prstGeom>
          <a:solidFill>
            <a:srgbClr val="333399"/>
          </a:solidFill>
          <a:ln/>
        </p:spPr>
      </p:sp>
      <p:sp>
        <p:nvSpPr>
          <p:cNvPr id="42" name="Text 39"/>
          <p:cNvSpPr txBox="1"/>
          <p:nvPr/>
        </p:nvSpPr>
        <p:spPr>
          <a:xfrm>
            <a:off x="10032207" y="241379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3" name="Shape 40"/>
          <p:cNvSpPr/>
          <p:nvPr/>
        </p:nvSpPr>
        <p:spPr>
          <a:xfrm>
            <a:off x="6225381" y="2716212"/>
            <a:ext cx="2560836"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44" name="Text 41"/>
          <p:cNvSpPr txBox="1"/>
          <p:nvPr/>
        </p:nvSpPr>
        <p:spPr>
          <a:xfrm>
            <a:off x="6149181" y="2716212"/>
            <a:ext cx="2713236"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Location: /queries/42</a:t>
            </a:r>
            <a:endParaRPr lang="en-US" sz="1600" dirty="0"/>
          </a:p>
        </p:txBody>
      </p:sp>
      <p:sp>
        <p:nvSpPr>
          <p:cNvPr id="45" name="Shape 42"/>
          <p:cNvSpPr/>
          <p:nvPr/>
        </p:nvSpPr>
        <p:spPr>
          <a:xfrm>
            <a:off x="8849717" y="2680692"/>
            <a:ext cx="254000" cy="254000"/>
          </a:xfrm>
          <a:prstGeom prst="roundRect">
            <a:avLst>
              <a:gd name="adj" fmla="val 50000"/>
            </a:avLst>
          </a:prstGeom>
          <a:solidFill>
            <a:srgbClr val="333399"/>
          </a:solidFill>
          <a:ln/>
        </p:spPr>
      </p:sp>
      <p:sp>
        <p:nvSpPr>
          <p:cNvPr id="46" name="Text 43"/>
          <p:cNvSpPr txBox="1"/>
          <p:nvPr/>
        </p:nvSpPr>
        <p:spPr>
          <a:xfrm>
            <a:off x="8934847" y="271244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7" name="Shape 44"/>
          <p:cNvSpPr/>
          <p:nvPr/>
        </p:nvSpPr>
        <p:spPr>
          <a:xfrm>
            <a:off x="6225381" y="3014861"/>
            <a:ext cx="3536355" cy="228600"/>
          </a:xfrm>
          <a:prstGeom prst="rect">
            <a:avLst/>
          </a:prstGeom>
          <a:solidFill>
            <a:srgbClr val="D6D6EB"/>
          </a:solidFill>
          <a:ln/>
          <a:effectLst>
            <a:outerShdw sx="100000" sy="100000" kx="0" ky="0" algn="bl" rotWithShape="0" blurRad="135467" dist="67733" dir="16200000">
              <a:srgbClr val="333399">
                <a:alpha val="100000"/>
              </a:srgbClr>
            </a:outerShdw>
          </a:effectLst>
        </p:spPr>
      </p:sp>
      <p:sp>
        <p:nvSpPr>
          <p:cNvPr id="48" name="Text 45"/>
          <p:cNvSpPr txBox="1"/>
          <p:nvPr/>
        </p:nvSpPr>
        <p:spPr>
          <a:xfrm>
            <a:off x="6149181" y="3014861"/>
            <a:ext cx="3688755" cy="228600"/>
          </a:xfrm>
          <a:prstGeom prst="rect">
            <a:avLst/>
          </a:prstGeom>
          <a:noFill/>
          <a:ln/>
        </p:spPr>
        <p:txBody>
          <a:bodyPr wrap="none" lIns="0" tIns="0" rIns="0" bIns="0" rtlCol="0" anchor="ctr"/>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Content-Location: /results/17</a:t>
            </a:r>
            <a:endParaRPr lang="en-US" sz="1600" dirty="0"/>
          </a:p>
        </p:txBody>
      </p:sp>
      <p:sp>
        <p:nvSpPr>
          <p:cNvPr id="49" name="Shape 46"/>
          <p:cNvSpPr/>
          <p:nvPr/>
        </p:nvSpPr>
        <p:spPr>
          <a:xfrm>
            <a:off x="9825236" y="2979340"/>
            <a:ext cx="254000" cy="254000"/>
          </a:xfrm>
          <a:prstGeom prst="roundRect">
            <a:avLst>
              <a:gd name="adj" fmla="val 50000"/>
            </a:avLst>
          </a:prstGeom>
          <a:solidFill>
            <a:srgbClr val="333399"/>
          </a:solidFill>
          <a:ln/>
        </p:spPr>
      </p:sp>
      <p:sp>
        <p:nvSpPr>
          <p:cNvPr id="50" name="Text 47"/>
          <p:cNvSpPr txBox="1"/>
          <p:nvPr/>
        </p:nvSpPr>
        <p:spPr>
          <a:xfrm>
            <a:off x="9910365" y="3011091"/>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51" name="Text 48"/>
          <p:cNvSpPr txBox="1"/>
          <p:nvPr/>
        </p:nvSpPr>
        <p:spPr>
          <a:xfrm>
            <a:off x="6225381" y="3597871"/>
            <a:ext cx="1737717" cy="228600"/>
          </a:xfrm>
          <a:prstGeom prst="rect">
            <a:avLst/>
          </a:prstGeom>
          <a:noFill/>
          <a:ln/>
        </p:spPr>
        <p:txBody>
          <a:bodyPr wrap="none" lIns="0" tIns="0" rIns="0" bIns="0" rtlCol="0" anchor="t"/>
          <a:lstStyle/>
          <a:p>
            <a:pPr algn="l" indent="0" marL="0">
              <a:buNone/>
            </a:pPr>
            <a:r>
              <a:rPr lang="en-US" sz="1600" dirty="0">
                <a:solidFill>
                  <a:srgbClr val="000000"/>
                </a:solidFill>
                <a:latin typeface="Courier New" pitchFamily="34" charset="0"/>
                <a:ea typeface="Courier New" pitchFamily="34" charset="-122"/>
                <a:cs typeface="Courier New" pitchFamily="34" charset="-120"/>
              </a:rPr>
              <a:t>[ …results… ]</a:t>
            </a:r>
            <a:endParaRPr lang="en-US" sz="1600" dirty="0"/>
          </a:p>
        </p:txBody>
      </p:sp>
      <p:sp>
        <p:nvSpPr>
          <p:cNvPr id="52" name="Shape 49"/>
          <p:cNvSpPr/>
          <p:nvPr/>
        </p:nvSpPr>
        <p:spPr>
          <a:xfrm>
            <a:off x="91281" y="4418012"/>
            <a:ext cx="254000" cy="254000"/>
          </a:xfrm>
          <a:prstGeom prst="roundRect">
            <a:avLst>
              <a:gd name="adj" fmla="val 50000"/>
            </a:avLst>
          </a:prstGeom>
          <a:solidFill>
            <a:srgbClr val="333399"/>
          </a:solidFill>
          <a:ln/>
        </p:spPr>
      </p:sp>
      <p:sp>
        <p:nvSpPr>
          <p:cNvPr id="53" name="Text 50"/>
          <p:cNvSpPr txBox="1"/>
          <p:nvPr/>
        </p:nvSpPr>
        <p:spPr>
          <a:xfrm>
            <a:off x="176411"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4" name="Text 51"/>
          <p:cNvSpPr txBox="1"/>
          <p:nvPr/>
        </p:nvSpPr>
        <p:spPr>
          <a:xfrm>
            <a:off x="434181" y="4402733"/>
            <a:ext cx="36445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a:t>
            </a:r>
            <a:pPr algn="l" indent="0" marL="0">
              <a:buNone/>
            </a:pPr>
            <a:r>
              <a:rPr lang="en-US" sz="1800" dirty="0">
                <a:solidFill>
                  <a:srgbClr val="000000"/>
                </a:solidFill>
                <a:latin typeface="Calibri" pitchFamily="34" charset="0"/>
                <a:ea typeface="Calibri" pitchFamily="34" charset="-122"/>
                <a:cs typeface="Calibri" pitchFamily="34" charset="-120"/>
              </a:rPr>
              <a:t>: safe + idempotent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[IANA registry]</a:t>
            </a:r>
            <a:endParaRPr lang="en-US" sz="1800" dirty="0"/>
          </a:p>
        </p:txBody>
      </p:sp>
      <p:sp>
        <p:nvSpPr>
          <p:cNvPr id="55" name="Shape 52"/>
          <p:cNvSpPr/>
          <p:nvPr/>
        </p:nvSpPr>
        <p:spPr>
          <a:xfrm>
            <a:off x="6121400" y="4418012"/>
            <a:ext cx="254000" cy="254000"/>
          </a:xfrm>
          <a:prstGeom prst="roundRect">
            <a:avLst>
              <a:gd name="adj" fmla="val 50000"/>
            </a:avLst>
          </a:prstGeom>
          <a:solidFill>
            <a:srgbClr val="333399"/>
          </a:solidFill>
          <a:ln/>
        </p:spPr>
      </p:sp>
      <p:sp>
        <p:nvSpPr>
          <p:cNvPr id="56" name="Text 53"/>
          <p:cNvSpPr txBox="1"/>
          <p:nvPr/>
        </p:nvSpPr>
        <p:spPr>
          <a:xfrm>
            <a:off x="6206529" y="44497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7" name="Text 54"/>
          <p:cNvSpPr txBox="1"/>
          <p:nvPr/>
        </p:nvSpPr>
        <p:spPr>
          <a:xfrm>
            <a:off x="6464300" y="4402733"/>
            <a:ext cx="483155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Accept-Query</a:t>
            </a:r>
            <a:pPr algn="l" indent="0" marL="0">
              <a:buNone/>
            </a:pPr>
            <a:r>
              <a:rPr lang="en-US" sz="1800" dirty="0">
                <a:solidFill>
                  <a:srgbClr val="000000"/>
                </a:solidFill>
                <a:latin typeface="Calibri" pitchFamily="34" charset="0"/>
                <a:ea typeface="Calibri" pitchFamily="34" charset="-122"/>
                <a:cs typeface="Calibri" pitchFamily="34" charset="-120"/>
              </a:rPr>
              <a:t>: query formats accepted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§3]</a:t>
            </a:r>
            <a:endParaRPr lang="en-US" sz="1800" dirty="0"/>
          </a:p>
        </p:txBody>
      </p:sp>
      <p:sp>
        <p:nvSpPr>
          <p:cNvPr id="58" name="Shape 55"/>
          <p:cNvSpPr/>
          <p:nvPr/>
        </p:nvSpPr>
        <p:spPr>
          <a:xfrm>
            <a:off x="91281" y="4754563"/>
            <a:ext cx="254000" cy="254000"/>
          </a:xfrm>
          <a:prstGeom prst="roundRect">
            <a:avLst>
              <a:gd name="adj" fmla="val 50000"/>
            </a:avLst>
          </a:prstGeom>
          <a:solidFill>
            <a:srgbClr val="333399"/>
          </a:solidFill>
          <a:ln/>
        </p:spPr>
      </p:sp>
      <p:sp>
        <p:nvSpPr>
          <p:cNvPr id="59" name="Text 56"/>
          <p:cNvSpPr txBox="1"/>
          <p:nvPr/>
        </p:nvSpPr>
        <p:spPr>
          <a:xfrm>
            <a:off x="176411"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0" name="Text 57"/>
          <p:cNvSpPr txBox="1"/>
          <p:nvPr/>
        </p:nvSpPr>
        <p:spPr>
          <a:xfrm>
            <a:off x="434181" y="4739283"/>
            <a:ext cx="40848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Target</a:t>
            </a:r>
            <a:pPr algn="l" indent="0" marL="0">
              <a:buNone/>
            </a:pPr>
            <a:r>
              <a:rPr lang="en-US" sz="1800" dirty="0">
                <a:solidFill>
                  <a:srgbClr val="000000"/>
                </a:solidFill>
                <a:latin typeface="Calibri" pitchFamily="34" charset="0"/>
                <a:ea typeface="Calibri" pitchFamily="34" charset="-122"/>
                <a:cs typeface="Calibri" pitchFamily="34" charset="-120"/>
              </a:rPr>
              <a:t>: the resource that scopes the query</a:t>
            </a:r>
            <a:endParaRPr lang="en-US" sz="1800" dirty="0"/>
          </a:p>
        </p:txBody>
      </p:sp>
      <p:sp>
        <p:nvSpPr>
          <p:cNvPr id="61" name="Shape 58"/>
          <p:cNvSpPr/>
          <p:nvPr/>
        </p:nvSpPr>
        <p:spPr>
          <a:xfrm>
            <a:off x="6121400" y="4754563"/>
            <a:ext cx="254000" cy="254000"/>
          </a:xfrm>
          <a:prstGeom prst="roundRect">
            <a:avLst>
              <a:gd name="adj" fmla="val 50000"/>
            </a:avLst>
          </a:prstGeom>
          <a:solidFill>
            <a:srgbClr val="333399"/>
          </a:solidFill>
          <a:ln/>
        </p:spPr>
      </p:sp>
      <p:sp>
        <p:nvSpPr>
          <p:cNvPr id="62" name="Text 59"/>
          <p:cNvSpPr txBox="1"/>
          <p:nvPr/>
        </p:nvSpPr>
        <p:spPr>
          <a:xfrm>
            <a:off x="6206529" y="4786312"/>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3" name="Text 60"/>
          <p:cNvSpPr txBox="1"/>
          <p:nvPr/>
        </p:nvSpPr>
        <p:spPr>
          <a:xfrm>
            <a:off x="6464300" y="4739283"/>
            <a:ext cx="4799608"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Location</a:t>
            </a:r>
            <a:pPr algn="l" indent="0" marL="0">
              <a:buNone/>
            </a:pPr>
            <a:r>
              <a:rPr lang="en-US" sz="1800" dirty="0">
                <a:solidFill>
                  <a:srgbClr val="000000"/>
                </a:solidFill>
                <a:latin typeface="Calibri" pitchFamily="34" charset="0"/>
                <a:ea typeface="Calibri" pitchFamily="34" charset="-122"/>
                <a:cs typeface="Calibri" pitchFamily="34" charset="-120"/>
              </a:rPr>
              <a:t>: GET here repeats the query </a:t>
            </a:r>
            <a:pPr algn="l" indent="0" marL="0">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§2.4]</a:t>
            </a:r>
            <a:endParaRPr lang="en-US" sz="1800" dirty="0"/>
          </a:p>
        </p:txBody>
      </p:sp>
      <p:sp>
        <p:nvSpPr>
          <p:cNvPr id="64" name="Shape 61"/>
          <p:cNvSpPr/>
          <p:nvPr/>
        </p:nvSpPr>
        <p:spPr>
          <a:xfrm>
            <a:off x="91281" y="5091112"/>
            <a:ext cx="254000" cy="254000"/>
          </a:xfrm>
          <a:prstGeom prst="roundRect">
            <a:avLst>
              <a:gd name="adj" fmla="val 50000"/>
            </a:avLst>
          </a:prstGeom>
          <a:solidFill>
            <a:srgbClr val="333399"/>
          </a:solidFill>
          <a:ln/>
        </p:spPr>
      </p:sp>
      <p:sp>
        <p:nvSpPr>
          <p:cNvPr id="65" name="Text 62"/>
          <p:cNvSpPr txBox="1"/>
          <p:nvPr/>
        </p:nvSpPr>
        <p:spPr>
          <a:xfrm>
            <a:off x="176411"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6" name="Text 63"/>
          <p:cNvSpPr txBox="1"/>
          <p:nvPr/>
        </p:nvSpPr>
        <p:spPr>
          <a:xfrm>
            <a:off x="434181" y="5075833"/>
            <a:ext cx="49823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Content-Type</a:t>
            </a:r>
            <a:pPr algn="l" indent="0" marL="0">
              <a:buNone/>
            </a:pPr>
            <a:r>
              <a:rPr lang="en-US" sz="1800" dirty="0">
                <a:solidFill>
                  <a:srgbClr val="000000"/>
                </a:solidFill>
                <a:latin typeface="Calibri" pitchFamily="34" charset="0"/>
                <a:ea typeface="Calibri" pitchFamily="34" charset="-122"/>
                <a:cs typeface="Calibri" pitchFamily="34" charset="-120"/>
              </a:rPr>
              <a:t>: REQUIRED, never sniffed </a:t>
            </a:r>
            <a:pPr algn="l" indent="0" marL="0">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§2.1]</a:t>
            </a:r>
            <a:endParaRPr lang="en-US" sz="1800" dirty="0"/>
          </a:p>
        </p:txBody>
      </p:sp>
      <p:sp>
        <p:nvSpPr>
          <p:cNvPr id="67" name="Shape 64"/>
          <p:cNvSpPr/>
          <p:nvPr/>
        </p:nvSpPr>
        <p:spPr>
          <a:xfrm>
            <a:off x="6121400" y="5091112"/>
            <a:ext cx="254000" cy="254000"/>
          </a:xfrm>
          <a:prstGeom prst="roundRect">
            <a:avLst>
              <a:gd name="adj" fmla="val 50000"/>
            </a:avLst>
          </a:prstGeom>
          <a:solidFill>
            <a:srgbClr val="333399"/>
          </a:solidFill>
          <a:ln/>
        </p:spPr>
      </p:sp>
      <p:sp>
        <p:nvSpPr>
          <p:cNvPr id="68" name="Text 65"/>
          <p:cNvSpPr txBox="1"/>
          <p:nvPr/>
        </p:nvSpPr>
        <p:spPr>
          <a:xfrm>
            <a:off x="6206529" y="51228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6121400" y="5075833"/>
            <a:ext cx="5801519" cy="539751"/>
          </a:xfrm>
          <a:prstGeom prst="rect">
            <a:avLst/>
          </a:prstGeom>
          <a:noFill/>
          <a:ln/>
        </p:spPr>
        <p:txBody>
          <a:bodyPr wrap="square" lIns="0" tIns="0" rIns="0" bIns="0" rtlCol="0" anchor="t"/>
          <a:lstStyle/>
          <a:p>
            <a:pPr algn="l" indent="0" marL="0">
              <a:lnSpc>
                <a:spcPts val="2751"/>
              </a:lnSpc>
              <a:buNone/>
            </a:pPr>
            <a:r>
              <a:rPr lang="en-US" sz="1800" b="1" dirty="0">
                <a:solidFill>
                  <a:srgbClr val="000000"/>
                </a:solidFill>
                <a:latin typeface="Calibri" pitchFamily="34" charset="0"/>
                <a:ea typeface="Calibri" pitchFamily="34" charset="-122"/>
                <a:cs typeface="Calibri" pitchFamily="34" charset="-120"/>
              </a:rPr>
              <a:t>Content-Location</a:t>
            </a:r>
            <a:pPr algn="l" indent="0" marL="0">
              <a:lnSpc>
                <a:spcPts val="2751"/>
              </a:lnSpc>
              <a:buNone/>
            </a:pPr>
            <a:r>
              <a:rPr lang="en-US" sz="1800" dirty="0">
                <a:solidFill>
                  <a:srgbClr val="000000"/>
                </a:solidFill>
                <a:latin typeface="Calibri" pitchFamily="34" charset="0"/>
                <a:ea typeface="Calibri" pitchFamily="34" charset="-122"/>
                <a:cs typeface="Calibri" pitchFamily="34" charset="-120"/>
              </a:rPr>
              <a:t>: GET here fetches this result </a:t>
            </a:r>
            <a:pPr algn="l" indent="0" marL="0">
              <a:lnSpc>
                <a:spcPts val="2751"/>
              </a:lnSpc>
              <a:buNone/>
            </a:pPr>
            <a:r>
              <a:rPr lang="en-US" sz="1300" u="sng" dirty="0">
                <a:solidFill>
                  <a:srgbClr val="00999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§2.3]</a:t>
            </a:r>
            <a:endParaRPr lang="en-US" sz="1800" dirty="0"/>
          </a:p>
        </p:txBody>
      </p:sp>
      <p:sp>
        <p:nvSpPr>
          <p:cNvPr id="70" name="Shape 67"/>
          <p:cNvSpPr/>
          <p:nvPr/>
        </p:nvSpPr>
        <p:spPr>
          <a:xfrm>
            <a:off x="91281" y="5713412"/>
            <a:ext cx="254000" cy="254000"/>
          </a:xfrm>
          <a:prstGeom prst="roundRect">
            <a:avLst>
              <a:gd name="adj" fmla="val 50000"/>
            </a:avLst>
          </a:prstGeom>
          <a:solidFill>
            <a:srgbClr val="333399"/>
          </a:solidFill>
          <a:ln/>
        </p:spPr>
      </p:sp>
      <p:sp>
        <p:nvSpPr>
          <p:cNvPr id="71" name="Text 68"/>
          <p:cNvSpPr txBox="1"/>
          <p:nvPr/>
        </p:nvSpPr>
        <p:spPr>
          <a:xfrm>
            <a:off x="176411" y="5745163"/>
            <a:ext cx="236140" cy="190500"/>
          </a:xfrm>
          <a:prstGeom prst="rect">
            <a:avLst/>
          </a:prstGeom>
          <a:noFill/>
          <a:ln/>
        </p:spPr>
        <p:txBody>
          <a:bodyPr wrap="non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2" name="Text 69"/>
          <p:cNvSpPr txBox="1"/>
          <p:nvPr/>
        </p:nvSpPr>
        <p:spPr>
          <a:xfrm>
            <a:off x="434181" y="5698133"/>
            <a:ext cx="411241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Content</a:t>
            </a:r>
            <a:pPr algn="l" indent="0" marL="0">
              <a:buNone/>
            </a:pPr>
            <a:r>
              <a:rPr lang="en-US" sz="1800" dirty="0">
                <a:solidFill>
                  <a:srgbClr val="000000"/>
                </a:solidFill>
                <a:latin typeface="Calibri" pitchFamily="34" charset="0"/>
                <a:ea typeface="Calibri" pitchFamily="34" charset="-122"/>
                <a:cs typeface="Calibri" pitchFamily="34" charset="-120"/>
              </a:rPr>
              <a:t>: the query itself (“query content”)</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15</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299323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GET vs POST vs QUERY</a:t>
            </a:r>
            <a:endParaRPr lang="en-US" sz="2400" dirty="0"/>
          </a:p>
        </p:txBody>
      </p:sp>
      <p:sp>
        <p:nvSpPr>
          <p:cNvPr id="10" name="Shape 7"/>
          <p:cNvSpPr/>
          <p:nvPr/>
        </p:nvSpPr>
        <p:spPr>
          <a:xfrm>
            <a:off x="97631" y="1765101"/>
            <a:ext cx="11793537" cy="12700"/>
          </a:xfrm>
          <a:prstGeom prst="rect">
            <a:avLst/>
          </a:prstGeom>
          <a:solidFill>
            <a:srgbClr val="9CA3AF">
              <a:alpha val="20000"/>
            </a:srgbClr>
          </a:solidFill>
          <a:ln/>
        </p:spPr>
      </p:sp>
      <p:sp>
        <p:nvSpPr>
          <p:cNvPr id="11" name="Shape 8"/>
          <p:cNvSpPr/>
          <p:nvPr/>
        </p:nvSpPr>
        <p:spPr>
          <a:xfrm>
            <a:off x="97631" y="1367631"/>
            <a:ext cx="2948384" cy="410171"/>
          </a:xfrm>
          <a:prstGeom prst="rect">
            <a:avLst/>
          </a:prstGeom>
          <a:solidFill>
            <a:srgbClr val="FFFFFF"/>
          </a:solidFill>
          <a:ln/>
        </p:spPr>
      </p:sp>
      <p:sp>
        <p:nvSpPr>
          <p:cNvPr id="12" name="Shape 9"/>
          <p:cNvSpPr/>
          <p:nvPr/>
        </p:nvSpPr>
        <p:spPr>
          <a:xfrm>
            <a:off x="97631" y="1367631"/>
            <a:ext cx="2948384" cy="12700"/>
          </a:xfrm>
          <a:prstGeom prst="rect">
            <a:avLst/>
          </a:prstGeom>
          <a:solidFill>
            <a:srgbClr val="333399"/>
          </a:solidFill>
          <a:ln/>
        </p:spPr>
      </p:sp>
      <p:sp>
        <p:nvSpPr>
          <p:cNvPr id="13" name="Shape 10"/>
          <p:cNvSpPr/>
          <p:nvPr/>
        </p:nvSpPr>
        <p:spPr>
          <a:xfrm>
            <a:off x="3033316" y="1367631"/>
            <a:ext cx="12700" cy="410171"/>
          </a:xfrm>
          <a:prstGeom prst="rect">
            <a:avLst/>
          </a:prstGeom>
          <a:solidFill>
            <a:srgbClr val="333399"/>
          </a:solidFill>
          <a:ln/>
        </p:spPr>
      </p:sp>
      <p:sp>
        <p:nvSpPr>
          <p:cNvPr id="14" name="Shape 11"/>
          <p:cNvSpPr/>
          <p:nvPr/>
        </p:nvSpPr>
        <p:spPr>
          <a:xfrm>
            <a:off x="97631" y="1752401"/>
            <a:ext cx="2948384" cy="25400"/>
          </a:xfrm>
          <a:prstGeom prst="rect">
            <a:avLst/>
          </a:prstGeom>
          <a:solidFill>
            <a:srgbClr val="333399"/>
          </a:solidFill>
          <a:ln/>
        </p:spPr>
      </p:sp>
      <p:sp>
        <p:nvSpPr>
          <p:cNvPr id="15" name="Shape 12"/>
          <p:cNvSpPr/>
          <p:nvPr/>
        </p:nvSpPr>
        <p:spPr>
          <a:xfrm>
            <a:off x="97631" y="1367631"/>
            <a:ext cx="12700" cy="410171"/>
          </a:xfrm>
          <a:prstGeom prst="rect">
            <a:avLst/>
          </a:prstGeom>
          <a:solidFill>
            <a:srgbClr val="333399"/>
          </a:solidFill>
          <a:ln/>
        </p:spPr>
      </p:sp>
      <p:sp>
        <p:nvSpPr>
          <p:cNvPr id="16" name="Text 13"/>
          <p:cNvSpPr txBox="1"/>
          <p:nvPr/>
        </p:nvSpPr>
        <p:spPr>
          <a:xfrm>
            <a:off x="1080691" y="1417439"/>
            <a:ext cx="9820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Property</a:t>
            </a:r>
            <a:endParaRPr lang="en-US" sz="1800" dirty="0"/>
          </a:p>
        </p:txBody>
      </p:sp>
      <p:sp>
        <p:nvSpPr>
          <p:cNvPr id="17" name="Shape 14"/>
          <p:cNvSpPr/>
          <p:nvPr/>
        </p:nvSpPr>
        <p:spPr>
          <a:xfrm>
            <a:off x="3046016" y="1367631"/>
            <a:ext cx="3116263" cy="410171"/>
          </a:xfrm>
          <a:prstGeom prst="rect">
            <a:avLst/>
          </a:prstGeom>
          <a:solidFill>
            <a:srgbClr val="FFFFFF"/>
          </a:solidFill>
          <a:ln/>
        </p:spPr>
      </p:sp>
      <p:sp>
        <p:nvSpPr>
          <p:cNvPr id="18" name="Shape 15"/>
          <p:cNvSpPr/>
          <p:nvPr/>
        </p:nvSpPr>
        <p:spPr>
          <a:xfrm>
            <a:off x="3046016" y="1367631"/>
            <a:ext cx="3116263" cy="12700"/>
          </a:xfrm>
          <a:prstGeom prst="rect">
            <a:avLst/>
          </a:prstGeom>
          <a:solidFill>
            <a:srgbClr val="333399"/>
          </a:solidFill>
          <a:ln/>
        </p:spPr>
      </p:sp>
      <p:sp>
        <p:nvSpPr>
          <p:cNvPr id="19" name="Shape 16"/>
          <p:cNvSpPr/>
          <p:nvPr/>
        </p:nvSpPr>
        <p:spPr>
          <a:xfrm>
            <a:off x="6149579" y="1367631"/>
            <a:ext cx="12700" cy="410171"/>
          </a:xfrm>
          <a:prstGeom prst="rect">
            <a:avLst/>
          </a:prstGeom>
          <a:solidFill>
            <a:srgbClr val="333399"/>
          </a:solidFill>
          <a:ln/>
        </p:spPr>
      </p:sp>
      <p:sp>
        <p:nvSpPr>
          <p:cNvPr id="20" name="Shape 17"/>
          <p:cNvSpPr/>
          <p:nvPr/>
        </p:nvSpPr>
        <p:spPr>
          <a:xfrm>
            <a:off x="3046016" y="1752401"/>
            <a:ext cx="3116263" cy="25400"/>
          </a:xfrm>
          <a:prstGeom prst="rect">
            <a:avLst/>
          </a:prstGeom>
          <a:solidFill>
            <a:srgbClr val="333399"/>
          </a:solidFill>
          <a:ln/>
        </p:spPr>
      </p:sp>
      <p:sp>
        <p:nvSpPr>
          <p:cNvPr id="21" name="Shape 18"/>
          <p:cNvSpPr/>
          <p:nvPr/>
        </p:nvSpPr>
        <p:spPr>
          <a:xfrm>
            <a:off x="3046016" y="1367631"/>
            <a:ext cx="12700" cy="410171"/>
          </a:xfrm>
          <a:prstGeom prst="rect">
            <a:avLst/>
          </a:prstGeom>
          <a:solidFill>
            <a:srgbClr val="333399"/>
          </a:solidFill>
          <a:ln/>
        </p:spPr>
      </p:sp>
      <p:sp>
        <p:nvSpPr>
          <p:cNvPr id="22" name="Shape 19"/>
          <p:cNvSpPr/>
          <p:nvPr/>
        </p:nvSpPr>
        <p:spPr>
          <a:xfrm>
            <a:off x="4310657" y="1424781"/>
            <a:ext cx="586979" cy="289520"/>
          </a:xfrm>
          <a:prstGeom prst="roundRect">
            <a:avLst>
              <a:gd name="adj" fmla="val 13160"/>
            </a:avLst>
          </a:prstGeom>
          <a:solidFill>
            <a:srgbClr val="333399"/>
          </a:solidFill>
          <a:ln/>
        </p:spPr>
      </p:sp>
      <p:sp>
        <p:nvSpPr>
          <p:cNvPr id="23" name="Text 20"/>
          <p:cNvSpPr txBox="1"/>
          <p:nvPr/>
        </p:nvSpPr>
        <p:spPr>
          <a:xfrm>
            <a:off x="4234457" y="1424781"/>
            <a:ext cx="739379" cy="289520"/>
          </a:xfrm>
          <a:prstGeom prst="rect">
            <a:avLst/>
          </a:prstGeom>
          <a:noFill/>
          <a:ln/>
        </p:spPr>
        <p:txBody>
          <a:bodyPr wrap="non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GET</a:t>
            </a:r>
            <a:endParaRPr lang="en-US" sz="1900" dirty="0"/>
          </a:p>
        </p:txBody>
      </p:sp>
      <p:sp>
        <p:nvSpPr>
          <p:cNvPr id="24" name="Shape 21"/>
          <p:cNvSpPr/>
          <p:nvPr/>
        </p:nvSpPr>
        <p:spPr>
          <a:xfrm>
            <a:off x="6162279" y="1367631"/>
            <a:ext cx="2143919" cy="410171"/>
          </a:xfrm>
          <a:prstGeom prst="rect">
            <a:avLst/>
          </a:prstGeom>
          <a:solidFill>
            <a:srgbClr val="FFFFFF"/>
          </a:solidFill>
          <a:ln/>
        </p:spPr>
      </p:sp>
      <p:sp>
        <p:nvSpPr>
          <p:cNvPr id="25" name="Shape 22"/>
          <p:cNvSpPr/>
          <p:nvPr/>
        </p:nvSpPr>
        <p:spPr>
          <a:xfrm>
            <a:off x="6162279" y="1367631"/>
            <a:ext cx="2143919" cy="12700"/>
          </a:xfrm>
          <a:prstGeom prst="rect">
            <a:avLst/>
          </a:prstGeom>
          <a:solidFill>
            <a:srgbClr val="333399"/>
          </a:solidFill>
          <a:ln/>
        </p:spPr>
      </p:sp>
      <p:sp>
        <p:nvSpPr>
          <p:cNvPr id="26" name="Shape 23"/>
          <p:cNvSpPr/>
          <p:nvPr/>
        </p:nvSpPr>
        <p:spPr>
          <a:xfrm>
            <a:off x="8293497" y="1367631"/>
            <a:ext cx="12700" cy="410171"/>
          </a:xfrm>
          <a:prstGeom prst="rect">
            <a:avLst/>
          </a:prstGeom>
          <a:solidFill>
            <a:srgbClr val="333399"/>
          </a:solidFill>
          <a:ln/>
        </p:spPr>
      </p:sp>
      <p:sp>
        <p:nvSpPr>
          <p:cNvPr id="27" name="Shape 24"/>
          <p:cNvSpPr/>
          <p:nvPr/>
        </p:nvSpPr>
        <p:spPr>
          <a:xfrm>
            <a:off x="6162279" y="1752401"/>
            <a:ext cx="2143919" cy="25400"/>
          </a:xfrm>
          <a:prstGeom prst="rect">
            <a:avLst/>
          </a:prstGeom>
          <a:solidFill>
            <a:srgbClr val="333399"/>
          </a:solidFill>
          <a:ln/>
        </p:spPr>
      </p:sp>
      <p:sp>
        <p:nvSpPr>
          <p:cNvPr id="28" name="Shape 25"/>
          <p:cNvSpPr/>
          <p:nvPr/>
        </p:nvSpPr>
        <p:spPr>
          <a:xfrm>
            <a:off x="6162279" y="1367631"/>
            <a:ext cx="12700" cy="410171"/>
          </a:xfrm>
          <a:prstGeom prst="rect">
            <a:avLst/>
          </a:prstGeom>
          <a:solidFill>
            <a:srgbClr val="333399"/>
          </a:solidFill>
          <a:ln/>
        </p:spPr>
      </p:sp>
      <p:sp>
        <p:nvSpPr>
          <p:cNvPr id="29" name="Shape 26"/>
          <p:cNvSpPr/>
          <p:nvPr/>
        </p:nvSpPr>
        <p:spPr>
          <a:xfrm>
            <a:off x="6868319" y="1424781"/>
            <a:ext cx="731639" cy="289520"/>
          </a:xfrm>
          <a:prstGeom prst="roundRect">
            <a:avLst>
              <a:gd name="adj" fmla="val 13160"/>
            </a:avLst>
          </a:prstGeom>
          <a:solidFill>
            <a:srgbClr val="993300"/>
          </a:solidFill>
          <a:ln/>
        </p:spPr>
      </p:sp>
      <p:sp>
        <p:nvSpPr>
          <p:cNvPr id="30" name="Text 27"/>
          <p:cNvSpPr txBox="1"/>
          <p:nvPr/>
        </p:nvSpPr>
        <p:spPr>
          <a:xfrm>
            <a:off x="6792119" y="1424781"/>
            <a:ext cx="884039" cy="289520"/>
          </a:xfrm>
          <a:prstGeom prst="rect">
            <a:avLst/>
          </a:prstGeom>
          <a:noFill/>
          <a:ln/>
        </p:spPr>
        <p:txBody>
          <a:bodyPr wrap="non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POST</a:t>
            </a:r>
            <a:endParaRPr lang="en-US" sz="1900" dirty="0"/>
          </a:p>
        </p:txBody>
      </p:sp>
      <p:sp>
        <p:nvSpPr>
          <p:cNvPr id="31" name="Shape 28"/>
          <p:cNvSpPr/>
          <p:nvPr/>
        </p:nvSpPr>
        <p:spPr>
          <a:xfrm>
            <a:off x="97631" y="2189956"/>
            <a:ext cx="11793537" cy="12700"/>
          </a:xfrm>
          <a:prstGeom prst="rect">
            <a:avLst/>
          </a:prstGeom>
          <a:solidFill>
            <a:srgbClr val="9CA3AF">
              <a:alpha val="20000"/>
            </a:srgbClr>
          </a:solidFill>
          <a:ln/>
        </p:spPr>
      </p:sp>
      <p:sp>
        <p:nvSpPr>
          <p:cNvPr id="32" name="Shape 29"/>
          <p:cNvSpPr/>
          <p:nvPr/>
        </p:nvSpPr>
        <p:spPr>
          <a:xfrm>
            <a:off x="97631" y="1777801"/>
            <a:ext cx="2948384" cy="424855"/>
          </a:xfrm>
          <a:prstGeom prst="rect">
            <a:avLst/>
          </a:prstGeom>
          <a:solidFill>
            <a:srgbClr val="D6D6EB"/>
          </a:solidFill>
          <a:ln w="12700">
            <a:solidFill>
              <a:srgbClr val="333399"/>
            </a:solidFill>
            <a:prstDash val="solid"/>
          </a:ln>
        </p:spPr>
      </p:sp>
      <p:sp>
        <p:nvSpPr>
          <p:cNvPr id="33" name="Text 30"/>
          <p:cNvSpPr txBox="1"/>
          <p:nvPr/>
        </p:nvSpPr>
        <p:spPr>
          <a:xfrm>
            <a:off x="205581" y="1841301"/>
            <a:ext cx="223837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 input carried in</a:t>
            </a:r>
            <a:endParaRPr lang="en-US" sz="1800" dirty="0"/>
          </a:p>
        </p:txBody>
      </p:sp>
      <p:sp>
        <p:nvSpPr>
          <p:cNvPr id="34" name="Shape 31"/>
          <p:cNvSpPr/>
          <p:nvPr/>
        </p:nvSpPr>
        <p:spPr>
          <a:xfrm>
            <a:off x="3046016" y="1777801"/>
            <a:ext cx="3116263" cy="424855"/>
          </a:xfrm>
          <a:prstGeom prst="rect">
            <a:avLst/>
          </a:prstGeom>
          <a:solidFill>
            <a:srgbClr val="D6D6EB"/>
          </a:solidFill>
          <a:ln w="12700">
            <a:solidFill>
              <a:srgbClr val="333399"/>
            </a:solidFill>
            <a:prstDash val="solid"/>
          </a:ln>
        </p:spPr>
      </p:sp>
      <p:sp>
        <p:nvSpPr>
          <p:cNvPr id="35" name="Text 32"/>
          <p:cNvSpPr txBox="1"/>
          <p:nvPr/>
        </p:nvSpPr>
        <p:spPr>
          <a:xfrm>
            <a:off x="3153965" y="1841301"/>
            <a:ext cx="2189560"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URI query component</a:t>
            </a:r>
            <a:endParaRPr lang="en-US" sz="1800" dirty="0"/>
          </a:p>
        </p:txBody>
      </p:sp>
      <p:sp>
        <p:nvSpPr>
          <p:cNvPr id="36" name="Shape 33"/>
          <p:cNvSpPr/>
          <p:nvPr/>
        </p:nvSpPr>
        <p:spPr>
          <a:xfrm>
            <a:off x="6162279" y="1777801"/>
            <a:ext cx="2143919" cy="424855"/>
          </a:xfrm>
          <a:prstGeom prst="rect">
            <a:avLst/>
          </a:prstGeom>
          <a:solidFill>
            <a:srgbClr val="D6D6EB"/>
          </a:solidFill>
          <a:ln w="12700">
            <a:solidFill>
              <a:srgbClr val="333399"/>
            </a:solidFill>
            <a:prstDash val="solid"/>
          </a:ln>
        </p:spPr>
      </p:sp>
      <p:sp>
        <p:nvSpPr>
          <p:cNvPr id="37" name="Text 34"/>
          <p:cNvSpPr txBox="1"/>
          <p:nvPr/>
        </p:nvSpPr>
        <p:spPr>
          <a:xfrm>
            <a:off x="6270228" y="1841301"/>
            <a:ext cx="167104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Request content</a:t>
            </a:r>
            <a:endParaRPr lang="en-US" sz="1800" dirty="0"/>
          </a:p>
        </p:txBody>
      </p:sp>
      <p:sp>
        <p:nvSpPr>
          <p:cNvPr id="38" name="Shape 35"/>
          <p:cNvSpPr/>
          <p:nvPr/>
        </p:nvSpPr>
        <p:spPr>
          <a:xfrm>
            <a:off x="97631" y="2608461"/>
            <a:ext cx="11793537" cy="12700"/>
          </a:xfrm>
          <a:prstGeom prst="rect">
            <a:avLst/>
          </a:prstGeom>
          <a:solidFill>
            <a:srgbClr val="9CA3AF">
              <a:alpha val="20000"/>
            </a:srgbClr>
          </a:solidFill>
          <a:ln/>
        </p:spPr>
      </p:sp>
      <p:sp>
        <p:nvSpPr>
          <p:cNvPr id="39" name="Shape 36"/>
          <p:cNvSpPr/>
          <p:nvPr/>
        </p:nvSpPr>
        <p:spPr>
          <a:xfrm>
            <a:off x="97631" y="2202656"/>
            <a:ext cx="2948384" cy="418505"/>
          </a:xfrm>
          <a:prstGeom prst="rect">
            <a:avLst/>
          </a:prstGeom>
          <a:solidFill>
            <a:srgbClr val="FFFFFF"/>
          </a:solidFill>
          <a:ln w="12700">
            <a:solidFill>
              <a:srgbClr val="333399"/>
            </a:solidFill>
            <a:prstDash val="solid"/>
          </a:ln>
        </p:spPr>
      </p:sp>
      <p:sp>
        <p:nvSpPr>
          <p:cNvPr id="40" name="Text 37"/>
          <p:cNvSpPr txBox="1"/>
          <p:nvPr/>
        </p:nvSpPr>
        <p:spPr>
          <a:xfrm>
            <a:off x="205581" y="2259807"/>
            <a:ext cx="55562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Safe</a:t>
            </a:r>
            <a:endParaRPr lang="en-US" sz="1800" dirty="0"/>
          </a:p>
        </p:txBody>
      </p:sp>
      <p:sp>
        <p:nvSpPr>
          <p:cNvPr id="41" name="Shape 38"/>
          <p:cNvSpPr/>
          <p:nvPr/>
        </p:nvSpPr>
        <p:spPr>
          <a:xfrm>
            <a:off x="3046016" y="2202656"/>
            <a:ext cx="3116263" cy="418505"/>
          </a:xfrm>
          <a:prstGeom prst="rect">
            <a:avLst/>
          </a:prstGeom>
          <a:solidFill>
            <a:srgbClr val="FFFFFF"/>
          </a:solidFill>
          <a:ln w="12700">
            <a:solidFill>
              <a:srgbClr val="333399"/>
            </a:solidFill>
            <a:prstDash val="solid"/>
          </a:ln>
        </p:spPr>
      </p:sp>
      <p:sp>
        <p:nvSpPr>
          <p:cNvPr id="42" name="Text 39"/>
          <p:cNvSpPr txBox="1"/>
          <p:nvPr/>
        </p:nvSpPr>
        <p:spPr>
          <a:xfrm>
            <a:off x="3153965" y="2259807"/>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43" name="Shape 40"/>
          <p:cNvSpPr/>
          <p:nvPr/>
        </p:nvSpPr>
        <p:spPr>
          <a:xfrm>
            <a:off x="6162279" y="2202656"/>
            <a:ext cx="2143919" cy="418505"/>
          </a:xfrm>
          <a:prstGeom prst="rect">
            <a:avLst/>
          </a:prstGeom>
          <a:solidFill>
            <a:srgbClr val="FFFFFF"/>
          </a:solidFill>
          <a:ln w="12700">
            <a:solidFill>
              <a:srgbClr val="333399"/>
            </a:solidFill>
            <a:prstDash val="solid"/>
          </a:ln>
        </p:spPr>
      </p:sp>
      <p:sp>
        <p:nvSpPr>
          <p:cNvPr id="44" name="Text 41"/>
          <p:cNvSpPr txBox="1"/>
          <p:nvPr/>
        </p:nvSpPr>
        <p:spPr>
          <a:xfrm>
            <a:off x="6270228" y="2259807"/>
            <a:ext cx="189864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Not by definition</a:t>
            </a:r>
            <a:endParaRPr lang="en-US" sz="1800" dirty="0"/>
          </a:p>
        </p:txBody>
      </p:sp>
      <p:sp>
        <p:nvSpPr>
          <p:cNvPr id="45" name="Shape 42"/>
          <p:cNvSpPr/>
          <p:nvPr/>
        </p:nvSpPr>
        <p:spPr>
          <a:xfrm>
            <a:off x="97631" y="3026965"/>
            <a:ext cx="11793537" cy="12700"/>
          </a:xfrm>
          <a:prstGeom prst="rect">
            <a:avLst/>
          </a:prstGeom>
          <a:solidFill>
            <a:srgbClr val="9CA3AF">
              <a:alpha val="20000"/>
            </a:srgbClr>
          </a:solidFill>
          <a:ln/>
        </p:spPr>
      </p:sp>
      <p:sp>
        <p:nvSpPr>
          <p:cNvPr id="46" name="Shape 43"/>
          <p:cNvSpPr/>
          <p:nvPr/>
        </p:nvSpPr>
        <p:spPr>
          <a:xfrm>
            <a:off x="97631" y="2621161"/>
            <a:ext cx="2948384" cy="418505"/>
          </a:xfrm>
          <a:prstGeom prst="rect">
            <a:avLst/>
          </a:prstGeom>
          <a:solidFill>
            <a:srgbClr val="D6D6EB"/>
          </a:solidFill>
          <a:ln w="12700">
            <a:solidFill>
              <a:srgbClr val="333399"/>
            </a:solidFill>
            <a:prstDash val="solid"/>
          </a:ln>
        </p:spPr>
      </p:sp>
      <p:sp>
        <p:nvSpPr>
          <p:cNvPr id="47" name="Text 44"/>
          <p:cNvSpPr txBox="1"/>
          <p:nvPr/>
        </p:nvSpPr>
        <p:spPr>
          <a:xfrm>
            <a:off x="205581" y="2678311"/>
            <a:ext cx="12739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Idempotent</a:t>
            </a:r>
            <a:endParaRPr lang="en-US" sz="1800" dirty="0"/>
          </a:p>
        </p:txBody>
      </p:sp>
      <p:sp>
        <p:nvSpPr>
          <p:cNvPr id="48" name="Shape 45"/>
          <p:cNvSpPr/>
          <p:nvPr/>
        </p:nvSpPr>
        <p:spPr>
          <a:xfrm>
            <a:off x="3046016" y="2621161"/>
            <a:ext cx="3116263" cy="418505"/>
          </a:xfrm>
          <a:prstGeom prst="rect">
            <a:avLst/>
          </a:prstGeom>
          <a:solidFill>
            <a:srgbClr val="D6D6EB"/>
          </a:solidFill>
          <a:ln w="12700">
            <a:solidFill>
              <a:srgbClr val="333399"/>
            </a:solidFill>
            <a:prstDash val="solid"/>
          </a:ln>
        </p:spPr>
      </p:sp>
      <p:sp>
        <p:nvSpPr>
          <p:cNvPr id="49" name="Text 46"/>
          <p:cNvSpPr txBox="1"/>
          <p:nvPr/>
        </p:nvSpPr>
        <p:spPr>
          <a:xfrm>
            <a:off x="3153965" y="2678311"/>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50" name="Shape 47"/>
          <p:cNvSpPr/>
          <p:nvPr/>
        </p:nvSpPr>
        <p:spPr>
          <a:xfrm>
            <a:off x="6162279" y="2621161"/>
            <a:ext cx="2143919" cy="418505"/>
          </a:xfrm>
          <a:prstGeom prst="rect">
            <a:avLst/>
          </a:prstGeom>
          <a:solidFill>
            <a:srgbClr val="D6D6EB"/>
          </a:solidFill>
          <a:ln w="12700">
            <a:solidFill>
              <a:srgbClr val="333399"/>
            </a:solidFill>
            <a:prstDash val="solid"/>
          </a:ln>
        </p:spPr>
      </p:sp>
      <p:sp>
        <p:nvSpPr>
          <p:cNvPr id="51" name="Text 48"/>
          <p:cNvSpPr txBox="1"/>
          <p:nvPr/>
        </p:nvSpPr>
        <p:spPr>
          <a:xfrm>
            <a:off x="6270228" y="2678311"/>
            <a:ext cx="189864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Not by definition</a:t>
            </a:r>
            <a:endParaRPr lang="en-US" sz="1800" dirty="0"/>
          </a:p>
        </p:txBody>
      </p:sp>
      <p:sp>
        <p:nvSpPr>
          <p:cNvPr id="52" name="Shape 49"/>
          <p:cNvSpPr/>
          <p:nvPr/>
        </p:nvSpPr>
        <p:spPr>
          <a:xfrm>
            <a:off x="97631" y="3445471"/>
            <a:ext cx="11793537" cy="12700"/>
          </a:xfrm>
          <a:prstGeom prst="rect">
            <a:avLst/>
          </a:prstGeom>
          <a:solidFill>
            <a:srgbClr val="9CA3AF">
              <a:alpha val="20000"/>
            </a:srgbClr>
          </a:solidFill>
          <a:ln/>
        </p:spPr>
      </p:sp>
      <p:sp>
        <p:nvSpPr>
          <p:cNvPr id="53" name="Shape 50"/>
          <p:cNvSpPr/>
          <p:nvPr/>
        </p:nvSpPr>
        <p:spPr>
          <a:xfrm>
            <a:off x="97631" y="3039665"/>
            <a:ext cx="2948384" cy="418505"/>
          </a:xfrm>
          <a:prstGeom prst="rect">
            <a:avLst/>
          </a:prstGeom>
          <a:solidFill>
            <a:srgbClr val="FFFFFF"/>
          </a:solidFill>
          <a:ln w="12700">
            <a:solidFill>
              <a:srgbClr val="333399"/>
            </a:solidFill>
            <a:prstDash val="solid"/>
          </a:ln>
        </p:spPr>
      </p:sp>
      <p:sp>
        <p:nvSpPr>
          <p:cNvPr id="54" name="Text 51"/>
          <p:cNvSpPr txBox="1"/>
          <p:nvPr/>
        </p:nvSpPr>
        <p:spPr>
          <a:xfrm>
            <a:off x="205581" y="3096816"/>
            <a:ext cx="231318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Large, structured input</a:t>
            </a:r>
            <a:endParaRPr lang="en-US" sz="1800" dirty="0"/>
          </a:p>
        </p:txBody>
      </p:sp>
      <p:sp>
        <p:nvSpPr>
          <p:cNvPr id="55" name="Shape 52"/>
          <p:cNvSpPr/>
          <p:nvPr/>
        </p:nvSpPr>
        <p:spPr>
          <a:xfrm>
            <a:off x="3046016" y="3039665"/>
            <a:ext cx="3116263" cy="418505"/>
          </a:xfrm>
          <a:prstGeom prst="rect">
            <a:avLst/>
          </a:prstGeom>
          <a:solidFill>
            <a:srgbClr val="FFFFFF"/>
          </a:solidFill>
          <a:ln w="12700">
            <a:solidFill>
              <a:srgbClr val="333399"/>
            </a:solidFill>
            <a:prstDash val="solid"/>
          </a:ln>
        </p:spPr>
      </p:sp>
      <p:sp>
        <p:nvSpPr>
          <p:cNvPr id="56" name="Text 53"/>
          <p:cNvSpPr txBox="1"/>
          <p:nvPr/>
        </p:nvSpPr>
        <p:spPr>
          <a:xfrm>
            <a:off x="3153965" y="3096816"/>
            <a:ext cx="2976165"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Awkward: URI limits, encoding</a:t>
            </a:r>
            <a:endParaRPr lang="en-US" sz="1800" dirty="0"/>
          </a:p>
        </p:txBody>
      </p:sp>
      <p:sp>
        <p:nvSpPr>
          <p:cNvPr id="57" name="Shape 54"/>
          <p:cNvSpPr/>
          <p:nvPr/>
        </p:nvSpPr>
        <p:spPr>
          <a:xfrm>
            <a:off x="6162279" y="3039665"/>
            <a:ext cx="2143919" cy="418505"/>
          </a:xfrm>
          <a:prstGeom prst="rect">
            <a:avLst/>
          </a:prstGeom>
          <a:solidFill>
            <a:srgbClr val="FFFFFF"/>
          </a:solidFill>
          <a:ln w="12700">
            <a:solidFill>
              <a:srgbClr val="333399"/>
            </a:solidFill>
            <a:prstDash val="solid"/>
          </a:ln>
        </p:spPr>
      </p:sp>
      <p:sp>
        <p:nvSpPr>
          <p:cNvPr id="58" name="Text 55"/>
          <p:cNvSpPr txBox="1"/>
          <p:nvPr/>
        </p:nvSpPr>
        <p:spPr>
          <a:xfrm>
            <a:off x="6270228" y="3096816"/>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59" name="Shape 56"/>
          <p:cNvSpPr/>
          <p:nvPr/>
        </p:nvSpPr>
        <p:spPr>
          <a:xfrm>
            <a:off x="97631" y="3863975"/>
            <a:ext cx="11793537" cy="12700"/>
          </a:xfrm>
          <a:prstGeom prst="rect">
            <a:avLst/>
          </a:prstGeom>
          <a:solidFill>
            <a:srgbClr val="9CA3AF">
              <a:alpha val="20000"/>
            </a:srgbClr>
          </a:solidFill>
          <a:ln/>
        </p:spPr>
      </p:sp>
      <p:sp>
        <p:nvSpPr>
          <p:cNvPr id="60" name="Shape 57"/>
          <p:cNvSpPr/>
          <p:nvPr/>
        </p:nvSpPr>
        <p:spPr>
          <a:xfrm>
            <a:off x="97631" y="3458171"/>
            <a:ext cx="2948384" cy="418505"/>
          </a:xfrm>
          <a:prstGeom prst="rect">
            <a:avLst/>
          </a:prstGeom>
          <a:solidFill>
            <a:srgbClr val="D6D6EB"/>
          </a:solidFill>
          <a:ln w="12700">
            <a:solidFill>
              <a:srgbClr val="333399"/>
            </a:solidFill>
            <a:prstDash val="solid"/>
          </a:ln>
        </p:spPr>
      </p:sp>
      <p:sp>
        <p:nvSpPr>
          <p:cNvPr id="61" name="Text 58"/>
          <p:cNvSpPr txBox="1"/>
          <p:nvPr/>
        </p:nvSpPr>
        <p:spPr>
          <a:xfrm>
            <a:off x="205581" y="3515320"/>
            <a:ext cx="89177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Caching</a:t>
            </a:r>
            <a:endParaRPr lang="en-US" sz="1800" dirty="0"/>
          </a:p>
        </p:txBody>
      </p:sp>
      <p:sp>
        <p:nvSpPr>
          <p:cNvPr id="62" name="Shape 59"/>
          <p:cNvSpPr/>
          <p:nvPr/>
        </p:nvSpPr>
        <p:spPr>
          <a:xfrm>
            <a:off x="3046016" y="3458171"/>
            <a:ext cx="3116263" cy="418505"/>
          </a:xfrm>
          <a:prstGeom prst="rect">
            <a:avLst/>
          </a:prstGeom>
          <a:solidFill>
            <a:srgbClr val="D6D6EB"/>
          </a:solidFill>
          <a:ln w="12700">
            <a:solidFill>
              <a:srgbClr val="333399"/>
            </a:solidFill>
            <a:prstDash val="solid"/>
          </a:ln>
        </p:spPr>
      </p:sp>
      <p:sp>
        <p:nvSpPr>
          <p:cNvPr id="63" name="Text 60"/>
          <p:cNvSpPr txBox="1"/>
          <p:nvPr/>
        </p:nvSpPr>
        <p:spPr>
          <a:xfrm>
            <a:off x="3153965" y="3515320"/>
            <a:ext cx="2762845"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Mature; key = method + URI</a:t>
            </a:r>
            <a:endParaRPr lang="en-US" sz="1800" dirty="0"/>
          </a:p>
        </p:txBody>
      </p:sp>
      <p:sp>
        <p:nvSpPr>
          <p:cNvPr id="64" name="Shape 61"/>
          <p:cNvSpPr/>
          <p:nvPr/>
        </p:nvSpPr>
        <p:spPr>
          <a:xfrm>
            <a:off x="6162279" y="3458171"/>
            <a:ext cx="2143919" cy="418505"/>
          </a:xfrm>
          <a:prstGeom prst="rect">
            <a:avLst/>
          </a:prstGeom>
          <a:solidFill>
            <a:srgbClr val="D6D6EB"/>
          </a:solidFill>
          <a:ln w="12700">
            <a:solidFill>
              <a:srgbClr val="333399"/>
            </a:solidFill>
            <a:prstDash val="solid"/>
          </a:ln>
        </p:spPr>
      </p:sp>
      <p:sp>
        <p:nvSpPr>
          <p:cNvPr id="65" name="Text 62"/>
          <p:cNvSpPr txBox="1"/>
          <p:nvPr/>
        </p:nvSpPr>
        <p:spPr>
          <a:xfrm>
            <a:off x="6270228" y="3515320"/>
            <a:ext cx="202783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Rarely implemented</a:t>
            </a:r>
            <a:endParaRPr lang="en-US" sz="1800" dirty="0"/>
          </a:p>
        </p:txBody>
      </p:sp>
      <p:sp>
        <p:nvSpPr>
          <p:cNvPr id="66" name="Shape 63"/>
          <p:cNvSpPr/>
          <p:nvPr/>
        </p:nvSpPr>
        <p:spPr>
          <a:xfrm>
            <a:off x="97631" y="4282480"/>
            <a:ext cx="11793537" cy="12700"/>
          </a:xfrm>
          <a:prstGeom prst="rect">
            <a:avLst/>
          </a:prstGeom>
          <a:solidFill>
            <a:srgbClr val="9CA3AF">
              <a:alpha val="20000"/>
            </a:srgbClr>
          </a:solidFill>
          <a:ln/>
        </p:spPr>
      </p:sp>
      <p:sp>
        <p:nvSpPr>
          <p:cNvPr id="67" name="Shape 64"/>
          <p:cNvSpPr/>
          <p:nvPr/>
        </p:nvSpPr>
        <p:spPr>
          <a:xfrm>
            <a:off x="97631" y="3876675"/>
            <a:ext cx="2948384" cy="418505"/>
          </a:xfrm>
          <a:prstGeom prst="rect">
            <a:avLst/>
          </a:prstGeom>
          <a:solidFill>
            <a:srgbClr val="FFFFFF"/>
          </a:solidFill>
          <a:ln w="12700">
            <a:solidFill>
              <a:srgbClr val="333399"/>
            </a:solidFill>
            <a:prstDash val="solid"/>
          </a:ln>
        </p:spPr>
      </p:sp>
      <p:sp>
        <p:nvSpPr>
          <p:cNvPr id="68" name="Text 65"/>
          <p:cNvSpPr txBox="1"/>
          <p:nvPr/>
        </p:nvSpPr>
        <p:spPr>
          <a:xfrm>
            <a:off x="205581" y="3933825"/>
            <a:ext cx="1787327"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URI for the query</a:t>
            </a:r>
            <a:endParaRPr lang="en-US" sz="1800" dirty="0"/>
          </a:p>
        </p:txBody>
      </p:sp>
      <p:sp>
        <p:nvSpPr>
          <p:cNvPr id="69" name="Shape 66"/>
          <p:cNvSpPr/>
          <p:nvPr/>
        </p:nvSpPr>
        <p:spPr>
          <a:xfrm>
            <a:off x="3046016" y="3876675"/>
            <a:ext cx="3116263" cy="418505"/>
          </a:xfrm>
          <a:prstGeom prst="rect">
            <a:avLst/>
          </a:prstGeom>
          <a:solidFill>
            <a:srgbClr val="FFFFFF"/>
          </a:solidFill>
          <a:ln w="12700">
            <a:solidFill>
              <a:srgbClr val="333399"/>
            </a:solidFill>
            <a:prstDash val="solid"/>
          </a:ln>
        </p:spPr>
      </p:sp>
      <p:sp>
        <p:nvSpPr>
          <p:cNvPr id="70" name="Text 67"/>
          <p:cNvSpPr txBox="1"/>
          <p:nvPr/>
        </p:nvSpPr>
        <p:spPr>
          <a:xfrm>
            <a:off x="3153965" y="3933825"/>
            <a:ext cx="1727001"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Yes, by definition</a:t>
            </a:r>
            <a:endParaRPr lang="en-US" sz="1800" dirty="0"/>
          </a:p>
        </p:txBody>
      </p:sp>
      <p:sp>
        <p:nvSpPr>
          <p:cNvPr id="71" name="Shape 68"/>
          <p:cNvSpPr/>
          <p:nvPr/>
        </p:nvSpPr>
        <p:spPr>
          <a:xfrm>
            <a:off x="6162279" y="3876675"/>
            <a:ext cx="2143919" cy="418505"/>
          </a:xfrm>
          <a:prstGeom prst="rect">
            <a:avLst/>
          </a:prstGeom>
          <a:solidFill>
            <a:srgbClr val="FFFFFF"/>
          </a:solidFill>
          <a:ln w="12700">
            <a:solidFill>
              <a:srgbClr val="333399"/>
            </a:solidFill>
            <a:prstDash val="solid"/>
          </a:ln>
        </p:spPr>
      </p:sp>
      <p:sp>
        <p:nvSpPr>
          <p:cNvPr id="72" name="Text 69"/>
          <p:cNvSpPr txBox="1"/>
          <p:nvPr/>
        </p:nvSpPr>
        <p:spPr>
          <a:xfrm>
            <a:off x="6270228" y="3933825"/>
            <a:ext cx="420688"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No</a:t>
            </a:r>
            <a:endParaRPr lang="en-US" sz="1800" dirty="0"/>
          </a:p>
        </p:txBody>
      </p:sp>
      <p:sp>
        <p:nvSpPr>
          <p:cNvPr id="73" name="Shape 70"/>
          <p:cNvSpPr/>
          <p:nvPr/>
        </p:nvSpPr>
        <p:spPr>
          <a:xfrm>
            <a:off x="97631" y="4700984"/>
            <a:ext cx="11793537" cy="12700"/>
          </a:xfrm>
          <a:prstGeom prst="rect">
            <a:avLst/>
          </a:prstGeom>
          <a:solidFill>
            <a:srgbClr val="9CA3AF">
              <a:alpha val="20000"/>
            </a:srgbClr>
          </a:solidFill>
          <a:ln/>
        </p:spPr>
      </p:sp>
      <p:sp>
        <p:nvSpPr>
          <p:cNvPr id="74" name="Shape 71"/>
          <p:cNvSpPr/>
          <p:nvPr/>
        </p:nvSpPr>
        <p:spPr>
          <a:xfrm>
            <a:off x="97631" y="4295180"/>
            <a:ext cx="2948384" cy="418505"/>
          </a:xfrm>
          <a:prstGeom prst="rect">
            <a:avLst/>
          </a:prstGeom>
          <a:solidFill>
            <a:srgbClr val="D6D6EB"/>
          </a:solidFill>
          <a:ln w="12700">
            <a:solidFill>
              <a:srgbClr val="333399"/>
            </a:solidFill>
            <a:prstDash val="solid"/>
          </a:ln>
        </p:spPr>
      </p:sp>
      <p:sp>
        <p:nvSpPr>
          <p:cNvPr id="75" name="Text 72"/>
          <p:cNvSpPr txBox="1"/>
          <p:nvPr/>
        </p:nvSpPr>
        <p:spPr>
          <a:xfrm>
            <a:off x="205581" y="4352329"/>
            <a:ext cx="193357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Ecosystem support</a:t>
            </a:r>
            <a:endParaRPr lang="en-US" sz="1800" dirty="0"/>
          </a:p>
        </p:txBody>
      </p:sp>
      <p:sp>
        <p:nvSpPr>
          <p:cNvPr id="76" name="Shape 73"/>
          <p:cNvSpPr/>
          <p:nvPr/>
        </p:nvSpPr>
        <p:spPr>
          <a:xfrm>
            <a:off x="3046016" y="4295180"/>
            <a:ext cx="3116263" cy="418505"/>
          </a:xfrm>
          <a:prstGeom prst="rect">
            <a:avLst/>
          </a:prstGeom>
          <a:solidFill>
            <a:srgbClr val="D6D6EB"/>
          </a:solidFill>
          <a:ln w="12700">
            <a:solidFill>
              <a:srgbClr val="333399"/>
            </a:solidFill>
            <a:prstDash val="solid"/>
          </a:ln>
        </p:spPr>
      </p:sp>
      <p:sp>
        <p:nvSpPr>
          <p:cNvPr id="77" name="Text 74"/>
          <p:cNvSpPr txBox="1"/>
          <p:nvPr/>
        </p:nvSpPr>
        <p:spPr>
          <a:xfrm>
            <a:off x="3153965" y="4352329"/>
            <a:ext cx="84236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Mature</a:t>
            </a:r>
            <a:endParaRPr lang="en-US" sz="1800" dirty="0"/>
          </a:p>
        </p:txBody>
      </p:sp>
      <p:sp>
        <p:nvSpPr>
          <p:cNvPr id="78" name="Shape 75"/>
          <p:cNvSpPr/>
          <p:nvPr/>
        </p:nvSpPr>
        <p:spPr>
          <a:xfrm>
            <a:off x="6162279" y="4295180"/>
            <a:ext cx="2143919" cy="418505"/>
          </a:xfrm>
          <a:prstGeom prst="rect">
            <a:avLst/>
          </a:prstGeom>
          <a:solidFill>
            <a:srgbClr val="D6D6EB"/>
          </a:solidFill>
          <a:ln w="12700">
            <a:solidFill>
              <a:srgbClr val="333399"/>
            </a:solidFill>
            <a:prstDash val="solid"/>
          </a:ln>
        </p:spPr>
      </p:sp>
      <p:sp>
        <p:nvSpPr>
          <p:cNvPr id="79" name="Text 76"/>
          <p:cNvSpPr txBox="1"/>
          <p:nvPr/>
        </p:nvSpPr>
        <p:spPr>
          <a:xfrm>
            <a:off x="6270228" y="4352329"/>
            <a:ext cx="84236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Mature</a:t>
            </a:r>
            <a:endParaRPr lang="en-US" sz="1800" dirty="0"/>
          </a:p>
        </p:txBody>
      </p:sp>
      <p:sp>
        <p:nvSpPr>
          <p:cNvPr id="80" name="Shape 77"/>
          <p:cNvSpPr/>
          <p:nvPr/>
        </p:nvSpPr>
        <p:spPr>
          <a:xfrm>
            <a:off x="97631" y="5119489"/>
            <a:ext cx="11793537" cy="12700"/>
          </a:xfrm>
          <a:prstGeom prst="rect">
            <a:avLst/>
          </a:prstGeom>
          <a:solidFill>
            <a:srgbClr val="9CA3AF">
              <a:alpha val="20000"/>
            </a:srgbClr>
          </a:solidFill>
          <a:ln/>
        </p:spPr>
      </p:sp>
      <p:sp>
        <p:nvSpPr>
          <p:cNvPr id="81" name="Shape 78"/>
          <p:cNvSpPr/>
          <p:nvPr/>
        </p:nvSpPr>
        <p:spPr>
          <a:xfrm>
            <a:off x="97631" y="4713684"/>
            <a:ext cx="2948384" cy="418505"/>
          </a:xfrm>
          <a:prstGeom prst="rect">
            <a:avLst/>
          </a:prstGeom>
          <a:solidFill>
            <a:srgbClr val="FFFFFF"/>
          </a:solidFill>
          <a:ln w="12700">
            <a:solidFill>
              <a:srgbClr val="333399"/>
            </a:solidFill>
            <a:prstDash val="solid"/>
          </a:ln>
        </p:spPr>
      </p:sp>
      <p:sp>
        <p:nvSpPr>
          <p:cNvPr id="82" name="Text 79"/>
          <p:cNvSpPr txBox="1"/>
          <p:nvPr/>
        </p:nvSpPr>
        <p:spPr>
          <a:xfrm>
            <a:off x="205581" y="4770835"/>
            <a:ext cx="1730971"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Primary purpose</a:t>
            </a:r>
            <a:endParaRPr lang="en-US" sz="1800" dirty="0"/>
          </a:p>
        </p:txBody>
      </p:sp>
      <p:sp>
        <p:nvSpPr>
          <p:cNvPr id="83" name="Shape 80"/>
          <p:cNvSpPr/>
          <p:nvPr/>
        </p:nvSpPr>
        <p:spPr>
          <a:xfrm>
            <a:off x="3046016" y="4713684"/>
            <a:ext cx="3116263" cy="418505"/>
          </a:xfrm>
          <a:prstGeom prst="rect">
            <a:avLst/>
          </a:prstGeom>
          <a:solidFill>
            <a:srgbClr val="FFFFFF"/>
          </a:solidFill>
          <a:ln w="12700">
            <a:solidFill>
              <a:srgbClr val="333399"/>
            </a:solidFill>
            <a:prstDash val="solid"/>
          </a:ln>
        </p:spPr>
      </p:sp>
      <p:sp>
        <p:nvSpPr>
          <p:cNvPr id="84" name="Text 81"/>
          <p:cNvSpPr txBox="1"/>
          <p:nvPr/>
        </p:nvSpPr>
        <p:spPr>
          <a:xfrm>
            <a:off x="3153965" y="4770835"/>
            <a:ext cx="968375"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Retrieval</a:t>
            </a:r>
            <a:endParaRPr lang="en-US" sz="1800" dirty="0"/>
          </a:p>
        </p:txBody>
      </p:sp>
      <p:sp>
        <p:nvSpPr>
          <p:cNvPr id="85" name="Shape 82"/>
          <p:cNvSpPr/>
          <p:nvPr/>
        </p:nvSpPr>
        <p:spPr>
          <a:xfrm>
            <a:off x="6162279" y="4713684"/>
            <a:ext cx="2143919" cy="418505"/>
          </a:xfrm>
          <a:prstGeom prst="rect">
            <a:avLst/>
          </a:prstGeom>
          <a:solidFill>
            <a:srgbClr val="FFFFFF"/>
          </a:solidFill>
          <a:ln w="12700">
            <a:solidFill>
              <a:srgbClr val="333399"/>
            </a:solidFill>
            <a:prstDash val="solid"/>
          </a:ln>
        </p:spPr>
      </p:sp>
      <p:sp>
        <p:nvSpPr>
          <p:cNvPr id="86" name="Text 83"/>
          <p:cNvSpPr txBox="1"/>
          <p:nvPr/>
        </p:nvSpPr>
        <p:spPr>
          <a:xfrm>
            <a:off x="6270228" y="4770835"/>
            <a:ext cx="191908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General processing</a:t>
            </a:r>
            <a:endParaRPr lang="en-US" sz="1800" dirty="0"/>
          </a:p>
        </p:txBody>
      </p:sp>
      <p:sp>
        <p:nvSpPr>
          <p:cNvPr id="87" name="Text 84"/>
          <p:cNvSpPr txBox="1"/>
          <p:nvPr/>
        </p:nvSpPr>
        <p:spPr>
          <a:xfrm>
            <a:off x="91281" y="5240139"/>
            <a:ext cx="6016427" cy="228600"/>
          </a:xfrm>
          <a:prstGeom prst="rect">
            <a:avLst/>
          </a:prstGeom>
          <a:noFill/>
          <a:ln/>
        </p:spPr>
        <p:txBody>
          <a:bodyPr wrap="none" lIns="0" tIns="0" rIns="0" bIns="0" rtlCol="0" anchor="t"/>
          <a:lstStyle/>
          <a:p>
            <a:pPr algn="l" indent="0" marL="0">
              <a:buNone/>
            </a:pPr>
            <a:r>
              <a:rPr lang="en-US" sz="15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§1]</a:t>
            </a:r>
            <a:pPr algn="l" indent="0" marL="0">
              <a:buNone/>
            </a:pPr>
            <a:r>
              <a:rPr lang="en-US" sz="1500" dirty="0">
                <a:solidFill>
                  <a:srgbClr val="000000"/>
                </a:solidFill>
                <a:latin typeface="Calibri" pitchFamily="34" charset="0"/>
                <a:ea typeface="Calibri" pitchFamily="34" charset="-122"/>
                <a:cs typeface="Calibri" pitchFamily="34" charset="-120"/>
              </a:rPr>
              <a:t> Table 1 ·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a:t>
            </a:r>
            <a:pPr algn="l" indent="0" marL="0">
              <a:buNone/>
            </a:pPr>
            <a:r>
              <a:rPr lang="en-US" sz="1500" dirty="0">
                <a:solidFill>
                  <a:srgbClr val="000000"/>
                </a:solidFill>
                <a:latin typeface="Calibri" pitchFamily="34" charset="0"/>
                <a:ea typeface="Calibri" pitchFamily="34" charset="-122"/>
                <a:cs typeface="Calibri" pitchFamily="34" charset="-120"/>
              </a:rPr>
              <a:t> · </a:t>
            </a:r>
            <a:pPr algn="l" indent="0" marL="0">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§9.2.3]</a:t>
            </a:r>
            <a:pPr algn="l" indent="0" marL="0">
              <a:buNone/>
            </a:pPr>
            <a:r>
              <a:rPr lang="en-US" sz="1500" dirty="0">
                <a:solidFill>
                  <a:srgbClr val="000000"/>
                </a:solidFill>
                <a:latin typeface="Calibri" pitchFamily="34" charset="0"/>
                <a:ea typeface="Calibri" pitchFamily="34" charset="-122"/>
                <a:cs typeface="Calibri" pitchFamily="34" charset="-120"/>
              </a:rPr>
              <a:t> · </a:t>
            </a:r>
            <a:pPr algn="l" indent="0" marL="0">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9111 §2]</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15</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299323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GET vs POST vs QUERY</a:t>
            </a:r>
            <a:endParaRPr lang="en-US" sz="2400" dirty="0"/>
          </a:p>
        </p:txBody>
      </p:sp>
      <p:sp>
        <p:nvSpPr>
          <p:cNvPr id="10" name="Shape 7"/>
          <p:cNvSpPr/>
          <p:nvPr/>
        </p:nvSpPr>
        <p:spPr>
          <a:xfrm>
            <a:off x="97631" y="1765101"/>
            <a:ext cx="11793537" cy="12700"/>
          </a:xfrm>
          <a:prstGeom prst="rect">
            <a:avLst/>
          </a:prstGeom>
          <a:solidFill>
            <a:srgbClr val="9CA3AF">
              <a:alpha val="20000"/>
            </a:srgbClr>
          </a:solidFill>
          <a:ln/>
        </p:spPr>
      </p:sp>
      <p:sp>
        <p:nvSpPr>
          <p:cNvPr id="11" name="Shape 8"/>
          <p:cNvSpPr/>
          <p:nvPr/>
        </p:nvSpPr>
        <p:spPr>
          <a:xfrm>
            <a:off x="97631" y="1367631"/>
            <a:ext cx="2948384" cy="410171"/>
          </a:xfrm>
          <a:prstGeom prst="rect">
            <a:avLst/>
          </a:prstGeom>
          <a:solidFill>
            <a:srgbClr val="FFFFFF"/>
          </a:solidFill>
          <a:ln/>
        </p:spPr>
      </p:sp>
      <p:sp>
        <p:nvSpPr>
          <p:cNvPr id="12" name="Shape 9"/>
          <p:cNvSpPr/>
          <p:nvPr/>
        </p:nvSpPr>
        <p:spPr>
          <a:xfrm>
            <a:off x="97631" y="1367631"/>
            <a:ext cx="2948384" cy="12700"/>
          </a:xfrm>
          <a:prstGeom prst="rect">
            <a:avLst/>
          </a:prstGeom>
          <a:solidFill>
            <a:srgbClr val="333399"/>
          </a:solidFill>
          <a:ln/>
        </p:spPr>
      </p:sp>
      <p:sp>
        <p:nvSpPr>
          <p:cNvPr id="13" name="Shape 10"/>
          <p:cNvSpPr/>
          <p:nvPr/>
        </p:nvSpPr>
        <p:spPr>
          <a:xfrm>
            <a:off x="3033316" y="1367631"/>
            <a:ext cx="12700" cy="410171"/>
          </a:xfrm>
          <a:prstGeom prst="rect">
            <a:avLst/>
          </a:prstGeom>
          <a:solidFill>
            <a:srgbClr val="333399"/>
          </a:solidFill>
          <a:ln/>
        </p:spPr>
      </p:sp>
      <p:sp>
        <p:nvSpPr>
          <p:cNvPr id="14" name="Shape 11"/>
          <p:cNvSpPr/>
          <p:nvPr/>
        </p:nvSpPr>
        <p:spPr>
          <a:xfrm>
            <a:off x="97631" y="1752401"/>
            <a:ext cx="2948384" cy="25400"/>
          </a:xfrm>
          <a:prstGeom prst="rect">
            <a:avLst/>
          </a:prstGeom>
          <a:solidFill>
            <a:srgbClr val="333399"/>
          </a:solidFill>
          <a:ln/>
        </p:spPr>
      </p:sp>
      <p:sp>
        <p:nvSpPr>
          <p:cNvPr id="15" name="Shape 12"/>
          <p:cNvSpPr/>
          <p:nvPr/>
        </p:nvSpPr>
        <p:spPr>
          <a:xfrm>
            <a:off x="97631" y="1367631"/>
            <a:ext cx="12700" cy="410171"/>
          </a:xfrm>
          <a:prstGeom prst="rect">
            <a:avLst/>
          </a:prstGeom>
          <a:solidFill>
            <a:srgbClr val="333399"/>
          </a:solidFill>
          <a:ln/>
        </p:spPr>
      </p:sp>
      <p:sp>
        <p:nvSpPr>
          <p:cNvPr id="16" name="Text 13"/>
          <p:cNvSpPr txBox="1"/>
          <p:nvPr/>
        </p:nvSpPr>
        <p:spPr>
          <a:xfrm>
            <a:off x="1080691" y="1417439"/>
            <a:ext cx="9820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Property</a:t>
            </a:r>
            <a:endParaRPr lang="en-US" sz="1800" dirty="0"/>
          </a:p>
        </p:txBody>
      </p:sp>
      <p:sp>
        <p:nvSpPr>
          <p:cNvPr id="17" name="Shape 14"/>
          <p:cNvSpPr/>
          <p:nvPr/>
        </p:nvSpPr>
        <p:spPr>
          <a:xfrm>
            <a:off x="3046016" y="1367631"/>
            <a:ext cx="3116263" cy="410171"/>
          </a:xfrm>
          <a:prstGeom prst="rect">
            <a:avLst/>
          </a:prstGeom>
          <a:solidFill>
            <a:srgbClr val="FFFFFF"/>
          </a:solidFill>
          <a:ln/>
        </p:spPr>
      </p:sp>
      <p:sp>
        <p:nvSpPr>
          <p:cNvPr id="18" name="Shape 15"/>
          <p:cNvSpPr/>
          <p:nvPr/>
        </p:nvSpPr>
        <p:spPr>
          <a:xfrm>
            <a:off x="3046016" y="1367631"/>
            <a:ext cx="3116263" cy="12700"/>
          </a:xfrm>
          <a:prstGeom prst="rect">
            <a:avLst/>
          </a:prstGeom>
          <a:solidFill>
            <a:srgbClr val="333399"/>
          </a:solidFill>
          <a:ln/>
        </p:spPr>
      </p:sp>
      <p:sp>
        <p:nvSpPr>
          <p:cNvPr id="19" name="Shape 16"/>
          <p:cNvSpPr/>
          <p:nvPr/>
        </p:nvSpPr>
        <p:spPr>
          <a:xfrm>
            <a:off x="6149579" y="1367631"/>
            <a:ext cx="12700" cy="410171"/>
          </a:xfrm>
          <a:prstGeom prst="rect">
            <a:avLst/>
          </a:prstGeom>
          <a:solidFill>
            <a:srgbClr val="333399"/>
          </a:solidFill>
          <a:ln/>
        </p:spPr>
      </p:sp>
      <p:sp>
        <p:nvSpPr>
          <p:cNvPr id="20" name="Shape 17"/>
          <p:cNvSpPr/>
          <p:nvPr/>
        </p:nvSpPr>
        <p:spPr>
          <a:xfrm>
            <a:off x="3046016" y="1752401"/>
            <a:ext cx="3116263" cy="25400"/>
          </a:xfrm>
          <a:prstGeom prst="rect">
            <a:avLst/>
          </a:prstGeom>
          <a:solidFill>
            <a:srgbClr val="333399"/>
          </a:solidFill>
          <a:ln/>
        </p:spPr>
      </p:sp>
      <p:sp>
        <p:nvSpPr>
          <p:cNvPr id="21" name="Shape 18"/>
          <p:cNvSpPr/>
          <p:nvPr/>
        </p:nvSpPr>
        <p:spPr>
          <a:xfrm>
            <a:off x="3046016" y="1367631"/>
            <a:ext cx="12700" cy="410171"/>
          </a:xfrm>
          <a:prstGeom prst="rect">
            <a:avLst/>
          </a:prstGeom>
          <a:solidFill>
            <a:srgbClr val="333399"/>
          </a:solidFill>
          <a:ln/>
        </p:spPr>
      </p:sp>
      <p:sp>
        <p:nvSpPr>
          <p:cNvPr id="22" name="Shape 19"/>
          <p:cNvSpPr/>
          <p:nvPr/>
        </p:nvSpPr>
        <p:spPr>
          <a:xfrm>
            <a:off x="4310657" y="1424781"/>
            <a:ext cx="586979" cy="289520"/>
          </a:xfrm>
          <a:prstGeom prst="roundRect">
            <a:avLst>
              <a:gd name="adj" fmla="val 13160"/>
            </a:avLst>
          </a:prstGeom>
          <a:solidFill>
            <a:srgbClr val="333399"/>
          </a:solidFill>
          <a:ln/>
        </p:spPr>
      </p:sp>
      <p:sp>
        <p:nvSpPr>
          <p:cNvPr id="23" name="Text 20"/>
          <p:cNvSpPr txBox="1"/>
          <p:nvPr/>
        </p:nvSpPr>
        <p:spPr>
          <a:xfrm>
            <a:off x="4234457" y="1424781"/>
            <a:ext cx="739379" cy="289520"/>
          </a:xfrm>
          <a:prstGeom prst="rect">
            <a:avLst/>
          </a:prstGeom>
          <a:noFill/>
          <a:ln/>
        </p:spPr>
        <p:txBody>
          <a:bodyPr wrap="non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GET</a:t>
            </a:r>
            <a:endParaRPr lang="en-US" sz="1900" dirty="0"/>
          </a:p>
        </p:txBody>
      </p:sp>
      <p:sp>
        <p:nvSpPr>
          <p:cNvPr id="24" name="Shape 21"/>
          <p:cNvSpPr/>
          <p:nvPr/>
        </p:nvSpPr>
        <p:spPr>
          <a:xfrm>
            <a:off x="6162279" y="1367631"/>
            <a:ext cx="2143919" cy="410171"/>
          </a:xfrm>
          <a:prstGeom prst="rect">
            <a:avLst/>
          </a:prstGeom>
          <a:solidFill>
            <a:srgbClr val="FFFFFF"/>
          </a:solidFill>
          <a:ln/>
        </p:spPr>
      </p:sp>
      <p:sp>
        <p:nvSpPr>
          <p:cNvPr id="25" name="Shape 22"/>
          <p:cNvSpPr/>
          <p:nvPr/>
        </p:nvSpPr>
        <p:spPr>
          <a:xfrm>
            <a:off x="6162279" y="1367631"/>
            <a:ext cx="2143919" cy="12700"/>
          </a:xfrm>
          <a:prstGeom prst="rect">
            <a:avLst/>
          </a:prstGeom>
          <a:solidFill>
            <a:srgbClr val="333399"/>
          </a:solidFill>
          <a:ln/>
        </p:spPr>
      </p:sp>
      <p:sp>
        <p:nvSpPr>
          <p:cNvPr id="26" name="Shape 23"/>
          <p:cNvSpPr/>
          <p:nvPr/>
        </p:nvSpPr>
        <p:spPr>
          <a:xfrm>
            <a:off x="8293497" y="1367631"/>
            <a:ext cx="12700" cy="410171"/>
          </a:xfrm>
          <a:prstGeom prst="rect">
            <a:avLst/>
          </a:prstGeom>
          <a:solidFill>
            <a:srgbClr val="333399"/>
          </a:solidFill>
          <a:ln/>
        </p:spPr>
      </p:sp>
      <p:sp>
        <p:nvSpPr>
          <p:cNvPr id="27" name="Shape 24"/>
          <p:cNvSpPr/>
          <p:nvPr/>
        </p:nvSpPr>
        <p:spPr>
          <a:xfrm>
            <a:off x="6162279" y="1752401"/>
            <a:ext cx="2143919" cy="25400"/>
          </a:xfrm>
          <a:prstGeom prst="rect">
            <a:avLst/>
          </a:prstGeom>
          <a:solidFill>
            <a:srgbClr val="333399"/>
          </a:solidFill>
          <a:ln/>
        </p:spPr>
      </p:sp>
      <p:sp>
        <p:nvSpPr>
          <p:cNvPr id="28" name="Shape 25"/>
          <p:cNvSpPr/>
          <p:nvPr/>
        </p:nvSpPr>
        <p:spPr>
          <a:xfrm>
            <a:off x="6162279" y="1367631"/>
            <a:ext cx="12700" cy="410171"/>
          </a:xfrm>
          <a:prstGeom prst="rect">
            <a:avLst/>
          </a:prstGeom>
          <a:solidFill>
            <a:srgbClr val="333399"/>
          </a:solidFill>
          <a:ln/>
        </p:spPr>
      </p:sp>
      <p:sp>
        <p:nvSpPr>
          <p:cNvPr id="29" name="Shape 26"/>
          <p:cNvSpPr/>
          <p:nvPr/>
        </p:nvSpPr>
        <p:spPr>
          <a:xfrm>
            <a:off x="6868319" y="1424781"/>
            <a:ext cx="731639" cy="289520"/>
          </a:xfrm>
          <a:prstGeom prst="roundRect">
            <a:avLst>
              <a:gd name="adj" fmla="val 13160"/>
            </a:avLst>
          </a:prstGeom>
          <a:solidFill>
            <a:srgbClr val="993300"/>
          </a:solidFill>
          <a:ln/>
        </p:spPr>
      </p:sp>
      <p:sp>
        <p:nvSpPr>
          <p:cNvPr id="30" name="Text 27"/>
          <p:cNvSpPr txBox="1"/>
          <p:nvPr/>
        </p:nvSpPr>
        <p:spPr>
          <a:xfrm>
            <a:off x="6792119" y="1424781"/>
            <a:ext cx="884039" cy="289520"/>
          </a:xfrm>
          <a:prstGeom prst="rect">
            <a:avLst/>
          </a:prstGeom>
          <a:noFill/>
          <a:ln/>
        </p:spPr>
        <p:txBody>
          <a:bodyPr wrap="non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POST</a:t>
            </a:r>
            <a:endParaRPr lang="en-US" sz="1900" dirty="0"/>
          </a:p>
        </p:txBody>
      </p:sp>
      <p:sp>
        <p:nvSpPr>
          <p:cNvPr id="31" name="Shape 28"/>
          <p:cNvSpPr/>
          <p:nvPr/>
        </p:nvSpPr>
        <p:spPr>
          <a:xfrm>
            <a:off x="8306197" y="1367631"/>
            <a:ext cx="3584972" cy="410171"/>
          </a:xfrm>
          <a:prstGeom prst="rect">
            <a:avLst/>
          </a:prstGeom>
          <a:solidFill>
            <a:srgbClr val="FFFFFF"/>
          </a:solidFill>
          <a:ln/>
        </p:spPr>
      </p:sp>
      <p:sp>
        <p:nvSpPr>
          <p:cNvPr id="32" name="Shape 29"/>
          <p:cNvSpPr/>
          <p:nvPr/>
        </p:nvSpPr>
        <p:spPr>
          <a:xfrm>
            <a:off x="8306197" y="1367631"/>
            <a:ext cx="3584972" cy="12700"/>
          </a:xfrm>
          <a:prstGeom prst="rect">
            <a:avLst/>
          </a:prstGeom>
          <a:solidFill>
            <a:srgbClr val="333399"/>
          </a:solidFill>
          <a:ln/>
        </p:spPr>
      </p:sp>
      <p:sp>
        <p:nvSpPr>
          <p:cNvPr id="33" name="Shape 30"/>
          <p:cNvSpPr/>
          <p:nvPr/>
        </p:nvSpPr>
        <p:spPr>
          <a:xfrm>
            <a:off x="11878469" y="1367631"/>
            <a:ext cx="12700" cy="410171"/>
          </a:xfrm>
          <a:prstGeom prst="rect">
            <a:avLst/>
          </a:prstGeom>
          <a:solidFill>
            <a:srgbClr val="333399"/>
          </a:solidFill>
          <a:ln/>
        </p:spPr>
      </p:sp>
      <p:sp>
        <p:nvSpPr>
          <p:cNvPr id="34" name="Shape 31"/>
          <p:cNvSpPr/>
          <p:nvPr/>
        </p:nvSpPr>
        <p:spPr>
          <a:xfrm>
            <a:off x="8306197" y="1752401"/>
            <a:ext cx="3584972" cy="25400"/>
          </a:xfrm>
          <a:prstGeom prst="rect">
            <a:avLst/>
          </a:prstGeom>
          <a:solidFill>
            <a:srgbClr val="333399"/>
          </a:solidFill>
          <a:ln/>
        </p:spPr>
      </p:sp>
      <p:sp>
        <p:nvSpPr>
          <p:cNvPr id="35" name="Shape 32"/>
          <p:cNvSpPr/>
          <p:nvPr/>
        </p:nvSpPr>
        <p:spPr>
          <a:xfrm>
            <a:off x="8306197" y="1367631"/>
            <a:ext cx="12700" cy="410171"/>
          </a:xfrm>
          <a:prstGeom prst="rect">
            <a:avLst/>
          </a:prstGeom>
          <a:solidFill>
            <a:srgbClr val="333399"/>
          </a:solidFill>
          <a:ln/>
        </p:spPr>
      </p:sp>
      <p:sp>
        <p:nvSpPr>
          <p:cNvPr id="36" name="Shape 33"/>
          <p:cNvSpPr/>
          <p:nvPr/>
        </p:nvSpPr>
        <p:spPr>
          <a:xfrm>
            <a:off x="9660335" y="1424781"/>
            <a:ext cx="876499" cy="289520"/>
          </a:xfrm>
          <a:prstGeom prst="roundRect">
            <a:avLst>
              <a:gd name="adj" fmla="val 13160"/>
            </a:avLst>
          </a:prstGeom>
          <a:solidFill>
            <a:srgbClr val="CC6600"/>
          </a:solidFill>
          <a:ln/>
        </p:spPr>
      </p:sp>
      <p:sp>
        <p:nvSpPr>
          <p:cNvPr id="37" name="Text 34"/>
          <p:cNvSpPr txBox="1"/>
          <p:nvPr/>
        </p:nvSpPr>
        <p:spPr>
          <a:xfrm>
            <a:off x="9584135" y="1424781"/>
            <a:ext cx="1028899" cy="289520"/>
          </a:xfrm>
          <a:prstGeom prst="rect">
            <a:avLst/>
          </a:prstGeom>
          <a:noFill/>
          <a:ln/>
        </p:spPr>
        <p:txBody>
          <a:bodyPr wrap="non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QUERY</a:t>
            </a:r>
            <a:endParaRPr lang="en-US" sz="1900" dirty="0"/>
          </a:p>
        </p:txBody>
      </p:sp>
      <p:sp>
        <p:nvSpPr>
          <p:cNvPr id="38" name="Shape 35"/>
          <p:cNvSpPr/>
          <p:nvPr/>
        </p:nvSpPr>
        <p:spPr>
          <a:xfrm>
            <a:off x="97631" y="2189956"/>
            <a:ext cx="11793537" cy="12700"/>
          </a:xfrm>
          <a:prstGeom prst="rect">
            <a:avLst/>
          </a:prstGeom>
          <a:solidFill>
            <a:srgbClr val="9CA3AF">
              <a:alpha val="20000"/>
            </a:srgbClr>
          </a:solidFill>
          <a:ln/>
        </p:spPr>
      </p:sp>
      <p:sp>
        <p:nvSpPr>
          <p:cNvPr id="39" name="Shape 36"/>
          <p:cNvSpPr/>
          <p:nvPr/>
        </p:nvSpPr>
        <p:spPr>
          <a:xfrm>
            <a:off x="97631" y="1777801"/>
            <a:ext cx="2948384" cy="424855"/>
          </a:xfrm>
          <a:prstGeom prst="rect">
            <a:avLst/>
          </a:prstGeom>
          <a:solidFill>
            <a:srgbClr val="D6D6EB"/>
          </a:solidFill>
          <a:ln w="12700">
            <a:solidFill>
              <a:srgbClr val="333399"/>
            </a:solidFill>
            <a:prstDash val="solid"/>
          </a:ln>
        </p:spPr>
      </p:sp>
      <p:sp>
        <p:nvSpPr>
          <p:cNvPr id="40" name="Text 37"/>
          <p:cNvSpPr txBox="1"/>
          <p:nvPr/>
        </p:nvSpPr>
        <p:spPr>
          <a:xfrm>
            <a:off x="205581" y="1841301"/>
            <a:ext cx="223837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Query input carried in</a:t>
            </a:r>
            <a:endParaRPr lang="en-US" sz="1800" dirty="0"/>
          </a:p>
        </p:txBody>
      </p:sp>
      <p:sp>
        <p:nvSpPr>
          <p:cNvPr id="41" name="Shape 38"/>
          <p:cNvSpPr/>
          <p:nvPr/>
        </p:nvSpPr>
        <p:spPr>
          <a:xfrm>
            <a:off x="3046016" y="1777801"/>
            <a:ext cx="3116263" cy="424855"/>
          </a:xfrm>
          <a:prstGeom prst="rect">
            <a:avLst/>
          </a:prstGeom>
          <a:solidFill>
            <a:srgbClr val="D6D6EB"/>
          </a:solidFill>
          <a:ln w="12700">
            <a:solidFill>
              <a:srgbClr val="333399"/>
            </a:solidFill>
            <a:prstDash val="solid"/>
          </a:ln>
        </p:spPr>
      </p:sp>
      <p:sp>
        <p:nvSpPr>
          <p:cNvPr id="42" name="Text 39"/>
          <p:cNvSpPr txBox="1"/>
          <p:nvPr/>
        </p:nvSpPr>
        <p:spPr>
          <a:xfrm>
            <a:off x="3153965" y="1841301"/>
            <a:ext cx="2189560"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URI query component</a:t>
            </a:r>
            <a:endParaRPr lang="en-US" sz="1800" dirty="0"/>
          </a:p>
        </p:txBody>
      </p:sp>
      <p:sp>
        <p:nvSpPr>
          <p:cNvPr id="43" name="Shape 40"/>
          <p:cNvSpPr/>
          <p:nvPr/>
        </p:nvSpPr>
        <p:spPr>
          <a:xfrm>
            <a:off x="6162279" y="1777801"/>
            <a:ext cx="2143919" cy="424855"/>
          </a:xfrm>
          <a:prstGeom prst="rect">
            <a:avLst/>
          </a:prstGeom>
          <a:solidFill>
            <a:srgbClr val="D6D6EB"/>
          </a:solidFill>
          <a:ln w="12700">
            <a:solidFill>
              <a:srgbClr val="333399"/>
            </a:solidFill>
            <a:prstDash val="solid"/>
          </a:ln>
        </p:spPr>
      </p:sp>
      <p:sp>
        <p:nvSpPr>
          <p:cNvPr id="44" name="Text 41"/>
          <p:cNvSpPr txBox="1"/>
          <p:nvPr/>
        </p:nvSpPr>
        <p:spPr>
          <a:xfrm>
            <a:off x="6270228" y="1841301"/>
            <a:ext cx="167104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Request content</a:t>
            </a:r>
            <a:endParaRPr lang="en-US" sz="1800" dirty="0"/>
          </a:p>
        </p:txBody>
      </p:sp>
      <p:sp>
        <p:nvSpPr>
          <p:cNvPr id="45" name="Shape 42"/>
          <p:cNvSpPr/>
          <p:nvPr/>
        </p:nvSpPr>
        <p:spPr>
          <a:xfrm>
            <a:off x="8306197" y="1777801"/>
            <a:ext cx="3584972" cy="424855"/>
          </a:xfrm>
          <a:prstGeom prst="rect">
            <a:avLst/>
          </a:prstGeom>
          <a:solidFill>
            <a:srgbClr val="D6D6EB"/>
          </a:solidFill>
          <a:ln w="12700">
            <a:solidFill>
              <a:srgbClr val="333399"/>
            </a:solidFill>
            <a:prstDash val="solid"/>
          </a:ln>
        </p:spPr>
      </p:sp>
      <p:sp>
        <p:nvSpPr>
          <p:cNvPr id="46" name="Text 43"/>
          <p:cNvSpPr txBox="1"/>
          <p:nvPr/>
        </p:nvSpPr>
        <p:spPr>
          <a:xfrm>
            <a:off x="8414147" y="1841301"/>
            <a:ext cx="167104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Request content</a:t>
            </a:r>
            <a:endParaRPr lang="en-US" sz="1800" dirty="0"/>
          </a:p>
        </p:txBody>
      </p:sp>
      <p:sp>
        <p:nvSpPr>
          <p:cNvPr id="47" name="Shape 44"/>
          <p:cNvSpPr/>
          <p:nvPr/>
        </p:nvSpPr>
        <p:spPr>
          <a:xfrm>
            <a:off x="97631" y="2608461"/>
            <a:ext cx="11793537" cy="12700"/>
          </a:xfrm>
          <a:prstGeom prst="rect">
            <a:avLst/>
          </a:prstGeom>
          <a:solidFill>
            <a:srgbClr val="9CA3AF">
              <a:alpha val="20000"/>
            </a:srgbClr>
          </a:solidFill>
          <a:ln/>
        </p:spPr>
      </p:sp>
      <p:sp>
        <p:nvSpPr>
          <p:cNvPr id="48" name="Shape 45"/>
          <p:cNvSpPr/>
          <p:nvPr/>
        </p:nvSpPr>
        <p:spPr>
          <a:xfrm>
            <a:off x="97631" y="2202656"/>
            <a:ext cx="2948384" cy="418505"/>
          </a:xfrm>
          <a:prstGeom prst="rect">
            <a:avLst/>
          </a:prstGeom>
          <a:solidFill>
            <a:srgbClr val="FFFFFF"/>
          </a:solidFill>
          <a:ln w="12700">
            <a:solidFill>
              <a:srgbClr val="333399"/>
            </a:solidFill>
            <a:prstDash val="solid"/>
          </a:ln>
        </p:spPr>
      </p:sp>
      <p:sp>
        <p:nvSpPr>
          <p:cNvPr id="49" name="Text 46"/>
          <p:cNvSpPr txBox="1"/>
          <p:nvPr/>
        </p:nvSpPr>
        <p:spPr>
          <a:xfrm>
            <a:off x="205581" y="2259807"/>
            <a:ext cx="55562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Safe</a:t>
            </a:r>
            <a:endParaRPr lang="en-US" sz="1800" dirty="0"/>
          </a:p>
        </p:txBody>
      </p:sp>
      <p:sp>
        <p:nvSpPr>
          <p:cNvPr id="50" name="Shape 47"/>
          <p:cNvSpPr/>
          <p:nvPr/>
        </p:nvSpPr>
        <p:spPr>
          <a:xfrm>
            <a:off x="3046016" y="2202656"/>
            <a:ext cx="3116263" cy="418505"/>
          </a:xfrm>
          <a:prstGeom prst="rect">
            <a:avLst/>
          </a:prstGeom>
          <a:solidFill>
            <a:srgbClr val="FFFFFF"/>
          </a:solidFill>
          <a:ln w="12700">
            <a:solidFill>
              <a:srgbClr val="333399"/>
            </a:solidFill>
            <a:prstDash val="solid"/>
          </a:ln>
        </p:spPr>
      </p:sp>
      <p:sp>
        <p:nvSpPr>
          <p:cNvPr id="51" name="Text 48"/>
          <p:cNvSpPr txBox="1"/>
          <p:nvPr/>
        </p:nvSpPr>
        <p:spPr>
          <a:xfrm>
            <a:off x="3153965" y="2259807"/>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52" name="Shape 49"/>
          <p:cNvSpPr/>
          <p:nvPr/>
        </p:nvSpPr>
        <p:spPr>
          <a:xfrm>
            <a:off x="6162279" y="2202656"/>
            <a:ext cx="2143919" cy="418505"/>
          </a:xfrm>
          <a:prstGeom prst="rect">
            <a:avLst/>
          </a:prstGeom>
          <a:solidFill>
            <a:srgbClr val="FFFFFF"/>
          </a:solidFill>
          <a:ln w="12700">
            <a:solidFill>
              <a:srgbClr val="333399"/>
            </a:solidFill>
            <a:prstDash val="solid"/>
          </a:ln>
        </p:spPr>
      </p:sp>
      <p:sp>
        <p:nvSpPr>
          <p:cNvPr id="53" name="Text 50"/>
          <p:cNvSpPr txBox="1"/>
          <p:nvPr/>
        </p:nvSpPr>
        <p:spPr>
          <a:xfrm>
            <a:off x="6270228" y="2259807"/>
            <a:ext cx="189864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Not by definition</a:t>
            </a:r>
            <a:endParaRPr lang="en-US" sz="1800" dirty="0"/>
          </a:p>
        </p:txBody>
      </p:sp>
      <p:sp>
        <p:nvSpPr>
          <p:cNvPr id="54" name="Shape 51"/>
          <p:cNvSpPr/>
          <p:nvPr/>
        </p:nvSpPr>
        <p:spPr>
          <a:xfrm>
            <a:off x="8306197" y="2202656"/>
            <a:ext cx="3584972" cy="418505"/>
          </a:xfrm>
          <a:prstGeom prst="rect">
            <a:avLst/>
          </a:prstGeom>
          <a:solidFill>
            <a:srgbClr val="FFFFFF"/>
          </a:solidFill>
          <a:ln w="12700">
            <a:solidFill>
              <a:srgbClr val="333399"/>
            </a:solidFill>
            <a:prstDash val="solid"/>
          </a:ln>
        </p:spPr>
      </p:sp>
      <p:sp>
        <p:nvSpPr>
          <p:cNvPr id="55" name="Text 52"/>
          <p:cNvSpPr txBox="1"/>
          <p:nvPr/>
        </p:nvSpPr>
        <p:spPr>
          <a:xfrm>
            <a:off x="8414147" y="2259807"/>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56" name="Shape 53"/>
          <p:cNvSpPr/>
          <p:nvPr/>
        </p:nvSpPr>
        <p:spPr>
          <a:xfrm>
            <a:off x="97631" y="3026965"/>
            <a:ext cx="11793537" cy="12700"/>
          </a:xfrm>
          <a:prstGeom prst="rect">
            <a:avLst/>
          </a:prstGeom>
          <a:solidFill>
            <a:srgbClr val="9CA3AF">
              <a:alpha val="20000"/>
            </a:srgbClr>
          </a:solidFill>
          <a:ln/>
        </p:spPr>
      </p:sp>
      <p:sp>
        <p:nvSpPr>
          <p:cNvPr id="57" name="Shape 54"/>
          <p:cNvSpPr/>
          <p:nvPr/>
        </p:nvSpPr>
        <p:spPr>
          <a:xfrm>
            <a:off x="97631" y="2621161"/>
            <a:ext cx="2948384" cy="418505"/>
          </a:xfrm>
          <a:prstGeom prst="rect">
            <a:avLst/>
          </a:prstGeom>
          <a:solidFill>
            <a:srgbClr val="D6D6EB"/>
          </a:solidFill>
          <a:ln w="12700">
            <a:solidFill>
              <a:srgbClr val="333399"/>
            </a:solidFill>
            <a:prstDash val="solid"/>
          </a:ln>
        </p:spPr>
      </p:sp>
      <p:sp>
        <p:nvSpPr>
          <p:cNvPr id="58" name="Text 55"/>
          <p:cNvSpPr txBox="1"/>
          <p:nvPr/>
        </p:nvSpPr>
        <p:spPr>
          <a:xfrm>
            <a:off x="205581" y="2678311"/>
            <a:ext cx="127396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Idempotent</a:t>
            </a:r>
            <a:endParaRPr lang="en-US" sz="1800" dirty="0"/>
          </a:p>
        </p:txBody>
      </p:sp>
      <p:sp>
        <p:nvSpPr>
          <p:cNvPr id="59" name="Shape 56"/>
          <p:cNvSpPr/>
          <p:nvPr/>
        </p:nvSpPr>
        <p:spPr>
          <a:xfrm>
            <a:off x="3046016" y="2621161"/>
            <a:ext cx="3116263" cy="418505"/>
          </a:xfrm>
          <a:prstGeom prst="rect">
            <a:avLst/>
          </a:prstGeom>
          <a:solidFill>
            <a:srgbClr val="D6D6EB"/>
          </a:solidFill>
          <a:ln w="12700">
            <a:solidFill>
              <a:srgbClr val="333399"/>
            </a:solidFill>
            <a:prstDash val="solid"/>
          </a:ln>
        </p:spPr>
      </p:sp>
      <p:sp>
        <p:nvSpPr>
          <p:cNvPr id="60" name="Text 57"/>
          <p:cNvSpPr txBox="1"/>
          <p:nvPr/>
        </p:nvSpPr>
        <p:spPr>
          <a:xfrm>
            <a:off x="3153965" y="2678311"/>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61" name="Shape 58"/>
          <p:cNvSpPr/>
          <p:nvPr/>
        </p:nvSpPr>
        <p:spPr>
          <a:xfrm>
            <a:off x="6162279" y="2621161"/>
            <a:ext cx="2143919" cy="418505"/>
          </a:xfrm>
          <a:prstGeom prst="rect">
            <a:avLst/>
          </a:prstGeom>
          <a:solidFill>
            <a:srgbClr val="D6D6EB"/>
          </a:solidFill>
          <a:ln w="12700">
            <a:solidFill>
              <a:srgbClr val="333399"/>
            </a:solidFill>
            <a:prstDash val="solid"/>
          </a:ln>
        </p:spPr>
      </p:sp>
      <p:sp>
        <p:nvSpPr>
          <p:cNvPr id="62" name="Text 59"/>
          <p:cNvSpPr txBox="1"/>
          <p:nvPr/>
        </p:nvSpPr>
        <p:spPr>
          <a:xfrm>
            <a:off x="6270228" y="2678311"/>
            <a:ext cx="189864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Not by definition</a:t>
            </a:r>
            <a:endParaRPr lang="en-US" sz="1800" dirty="0"/>
          </a:p>
        </p:txBody>
      </p:sp>
      <p:sp>
        <p:nvSpPr>
          <p:cNvPr id="63" name="Shape 60"/>
          <p:cNvSpPr/>
          <p:nvPr/>
        </p:nvSpPr>
        <p:spPr>
          <a:xfrm>
            <a:off x="8306197" y="2621161"/>
            <a:ext cx="3584972" cy="418505"/>
          </a:xfrm>
          <a:prstGeom prst="rect">
            <a:avLst/>
          </a:prstGeom>
          <a:solidFill>
            <a:srgbClr val="D6D6EB"/>
          </a:solidFill>
          <a:ln w="12700">
            <a:solidFill>
              <a:srgbClr val="333399"/>
            </a:solidFill>
            <a:prstDash val="solid"/>
          </a:ln>
        </p:spPr>
      </p:sp>
      <p:sp>
        <p:nvSpPr>
          <p:cNvPr id="64" name="Text 61"/>
          <p:cNvSpPr txBox="1"/>
          <p:nvPr/>
        </p:nvSpPr>
        <p:spPr>
          <a:xfrm>
            <a:off x="8414147" y="2678311"/>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65" name="Shape 62"/>
          <p:cNvSpPr/>
          <p:nvPr/>
        </p:nvSpPr>
        <p:spPr>
          <a:xfrm>
            <a:off x="97631" y="3445471"/>
            <a:ext cx="11793537" cy="12700"/>
          </a:xfrm>
          <a:prstGeom prst="rect">
            <a:avLst/>
          </a:prstGeom>
          <a:solidFill>
            <a:srgbClr val="9CA3AF">
              <a:alpha val="20000"/>
            </a:srgbClr>
          </a:solidFill>
          <a:ln/>
        </p:spPr>
      </p:sp>
      <p:sp>
        <p:nvSpPr>
          <p:cNvPr id="66" name="Shape 63"/>
          <p:cNvSpPr/>
          <p:nvPr/>
        </p:nvSpPr>
        <p:spPr>
          <a:xfrm>
            <a:off x="97631" y="3039665"/>
            <a:ext cx="2948384" cy="418505"/>
          </a:xfrm>
          <a:prstGeom prst="rect">
            <a:avLst/>
          </a:prstGeom>
          <a:solidFill>
            <a:srgbClr val="FFFFFF"/>
          </a:solidFill>
          <a:ln w="12700">
            <a:solidFill>
              <a:srgbClr val="333399"/>
            </a:solidFill>
            <a:prstDash val="solid"/>
          </a:ln>
        </p:spPr>
      </p:sp>
      <p:sp>
        <p:nvSpPr>
          <p:cNvPr id="67" name="Text 64"/>
          <p:cNvSpPr txBox="1"/>
          <p:nvPr/>
        </p:nvSpPr>
        <p:spPr>
          <a:xfrm>
            <a:off x="205581" y="3096816"/>
            <a:ext cx="231318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Large, structured input</a:t>
            </a:r>
            <a:endParaRPr lang="en-US" sz="1800" dirty="0"/>
          </a:p>
        </p:txBody>
      </p:sp>
      <p:sp>
        <p:nvSpPr>
          <p:cNvPr id="68" name="Shape 65"/>
          <p:cNvSpPr/>
          <p:nvPr/>
        </p:nvSpPr>
        <p:spPr>
          <a:xfrm>
            <a:off x="3046016" y="3039665"/>
            <a:ext cx="3116263" cy="418505"/>
          </a:xfrm>
          <a:prstGeom prst="rect">
            <a:avLst/>
          </a:prstGeom>
          <a:solidFill>
            <a:srgbClr val="FFFFFF"/>
          </a:solidFill>
          <a:ln w="12700">
            <a:solidFill>
              <a:srgbClr val="333399"/>
            </a:solidFill>
            <a:prstDash val="solid"/>
          </a:ln>
        </p:spPr>
      </p:sp>
      <p:sp>
        <p:nvSpPr>
          <p:cNvPr id="69" name="Text 66"/>
          <p:cNvSpPr txBox="1"/>
          <p:nvPr/>
        </p:nvSpPr>
        <p:spPr>
          <a:xfrm>
            <a:off x="3153965" y="3096816"/>
            <a:ext cx="2976165"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Awkward: URI limits, encoding</a:t>
            </a:r>
            <a:endParaRPr lang="en-US" sz="1800" dirty="0"/>
          </a:p>
        </p:txBody>
      </p:sp>
      <p:sp>
        <p:nvSpPr>
          <p:cNvPr id="70" name="Shape 67"/>
          <p:cNvSpPr/>
          <p:nvPr/>
        </p:nvSpPr>
        <p:spPr>
          <a:xfrm>
            <a:off x="6162279" y="3039665"/>
            <a:ext cx="2143919" cy="418505"/>
          </a:xfrm>
          <a:prstGeom prst="rect">
            <a:avLst/>
          </a:prstGeom>
          <a:solidFill>
            <a:srgbClr val="FFFFFF"/>
          </a:solidFill>
          <a:ln w="12700">
            <a:solidFill>
              <a:srgbClr val="333399"/>
            </a:solidFill>
            <a:prstDash val="solid"/>
          </a:ln>
        </p:spPr>
      </p:sp>
      <p:sp>
        <p:nvSpPr>
          <p:cNvPr id="71" name="Text 68"/>
          <p:cNvSpPr txBox="1"/>
          <p:nvPr/>
        </p:nvSpPr>
        <p:spPr>
          <a:xfrm>
            <a:off x="6270228" y="3096816"/>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72" name="Shape 69"/>
          <p:cNvSpPr/>
          <p:nvPr/>
        </p:nvSpPr>
        <p:spPr>
          <a:xfrm>
            <a:off x="8306197" y="3039665"/>
            <a:ext cx="3584972" cy="418505"/>
          </a:xfrm>
          <a:prstGeom prst="rect">
            <a:avLst/>
          </a:prstGeom>
          <a:solidFill>
            <a:srgbClr val="FFFFFF"/>
          </a:solidFill>
          <a:ln w="12700">
            <a:solidFill>
              <a:srgbClr val="333399"/>
            </a:solidFill>
            <a:prstDash val="solid"/>
          </a:ln>
        </p:spPr>
      </p:sp>
      <p:sp>
        <p:nvSpPr>
          <p:cNvPr id="73" name="Text 70"/>
          <p:cNvSpPr txBox="1"/>
          <p:nvPr/>
        </p:nvSpPr>
        <p:spPr>
          <a:xfrm>
            <a:off x="8414147" y="3096816"/>
            <a:ext cx="677069" cy="279400"/>
          </a:xfrm>
          <a:prstGeom prst="rect">
            <a:avLst/>
          </a:prstGeom>
          <a:noFill/>
          <a:ln/>
        </p:spPr>
        <p:txBody>
          <a:bodyPr wrap="none" lIns="0" tIns="0" rIns="0" bIns="0" rtlCol="0" anchor="t"/>
          <a:lstStyle/>
          <a:p>
            <a:pPr algn="l" indent="0" marL="0">
              <a:buNone/>
            </a:pPr>
            <a:r>
              <a:rPr lang="en-US" sz="1800" b="1" dirty="0">
                <a:solidFill>
                  <a:srgbClr val="009999"/>
                </a:solidFill>
                <a:latin typeface="Calibri" pitchFamily="34" charset="0"/>
                <a:ea typeface="Calibri" pitchFamily="34" charset="-122"/>
                <a:cs typeface="Calibri" pitchFamily="34" charset="-120"/>
              </a:rPr>
              <a:t>✓</a:t>
            </a:r>
            <a:pPr algn="l" indent="0" marL="0">
              <a:buNone/>
            </a:pPr>
            <a:r>
              <a:rPr lang="en-US" sz="1800" dirty="0">
                <a:solidFill>
                  <a:srgbClr val="000000"/>
                </a:solidFill>
                <a:latin typeface="Calibri" pitchFamily="34" charset="0"/>
                <a:ea typeface="Calibri" pitchFamily="34" charset="-122"/>
                <a:cs typeface="Calibri" pitchFamily="34" charset="-120"/>
              </a:rPr>
              <a:t> Yes</a:t>
            </a:r>
            <a:endParaRPr lang="en-US" sz="1800" dirty="0"/>
          </a:p>
        </p:txBody>
      </p:sp>
      <p:sp>
        <p:nvSpPr>
          <p:cNvPr id="74" name="Shape 71"/>
          <p:cNvSpPr/>
          <p:nvPr/>
        </p:nvSpPr>
        <p:spPr>
          <a:xfrm>
            <a:off x="97631" y="3863975"/>
            <a:ext cx="11793537" cy="12700"/>
          </a:xfrm>
          <a:prstGeom prst="rect">
            <a:avLst/>
          </a:prstGeom>
          <a:solidFill>
            <a:srgbClr val="9CA3AF">
              <a:alpha val="20000"/>
            </a:srgbClr>
          </a:solidFill>
          <a:ln/>
        </p:spPr>
      </p:sp>
      <p:sp>
        <p:nvSpPr>
          <p:cNvPr id="75" name="Shape 72"/>
          <p:cNvSpPr/>
          <p:nvPr/>
        </p:nvSpPr>
        <p:spPr>
          <a:xfrm>
            <a:off x="97631" y="3458171"/>
            <a:ext cx="2948384" cy="418505"/>
          </a:xfrm>
          <a:prstGeom prst="rect">
            <a:avLst/>
          </a:prstGeom>
          <a:solidFill>
            <a:srgbClr val="D6D6EB"/>
          </a:solidFill>
          <a:ln w="12700">
            <a:solidFill>
              <a:srgbClr val="333399"/>
            </a:solidFill>
            <a:prstDash val="solid"/>
          </a:ln>
        </p:spPr>
      </p:sp>
      <p:sp>
        <p:nvSpPr>
          <p:cNvPr id="76" name="Text 73"/>
          <p:cNvSpPr txBox="1"/>
          <p:nvPr/>
        </p:nvSpPr>
        <p:spPr>
          <a:xfrm>
            <a:off x="205581" y="3515320"/>
            <a:ext cx="89177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Caching</a:t>
            </a:r>
            <a:endParaRPr lang="en-US" sz="1800" dirty="0"/>
          </a:p>
        </p:txBody>
      </p:sp>
      <p:sp>
        <p:nvSpPr>
          <p:cNvPr id="77" name="Shape 74"/>
          <p:cNvSpPr/>
          <p:nvPr/>
        </p:nvSpPr>
        <p:spPr>
          <a:xfrm>
            <a:off x="3046016" y="3458171"/>
            <a:ext cx="3116263" cy="418505"/>
          </a:xfrm>
          <a:prstGeom prst="rect">
            <a:avLst/>
          </a:prstGeom>
          <a:solidFill>
            <a:srgbClr val="D6D6EB"/>
          </a:solidFill>
          <a:ln w="12700">
            <a:solidFill>
              <a:srgbClr val="333399"/>
            </a:solidFill>
            <a:prstDash val="solid"/>
          </a:ln>
        </p:spPr>
      </p:sp>
      <p:sp>
        <p:nvSpPr>
          <p:cNvPr id="78" name="Text 75"/>
          <p:cNvSpPr txBox="1"/>
          <p:nvPr/>
        </p:nvSpPr>
        <p:spPr>
          <a:xfrm>
            <a:off x="3153965" y="3515320"/>
            <a:ext cx="2762845"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Mature; key = method + URI</a:t>
            </a:r>
            <a:endParaRPr lang="en-US" sz="1800" dirty="0"/>
          </a:p>
        </p:txBody>
      </p:sp>
      <p:sp>
        <p:nvSpPr>
          <p:cNvPr id="79" name="Shape 76"/>
          <p:cNvSpPr/>
          <p:nvPr/>
        </p:nvSpPr>
        <p:spPr>
          <a:xfrm>
            <a:off x="6162279" y="3458171"/>
            <a:ext cx="2143919" cy="418505"/>
          </a:xfrm>
          <a:prstGeom prst="rect">
            <a:avLst/>
          </a:prstGeom>
          <a:solidFill>
            <a:srgbClr val="D6D6EB"/>
          </a:solidFill>
          <a:ln w="12700">
            <a:solidFill>
              <a:srgbClr val="333399"/>
            </a:solidFill>
            <a:prstDash val="solid"/>
          </a:ln>
        </p:spPr>
      </p:sp>
      <p:sp>
        <p:nvSpPr>
          <p:cNvPr id="80" name="Text 77"/>
          <p:cNvSpPr txBox="1"/>
          <p:nvPr/>
        </p:nvSpPr>
        <p:spPr>
          <a:xfrm>
            <a:off x="6270228" y="3515320"/>
            <a:ext cx="202783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Rarely implemented</a:t>
            </a:r>
            <a:endParaRPr lang="en-US" sz="1800" dirty="0"/>
          </a:p>
        </p:txBody>
      </p:sp>
      <p:sp>
        <p:nvSpPr>
          <p:cNvPr id="81" name="Shape 78"/>
          <p:cNvSpPr/>
          <p:nvPr/>
        </p:nvSpPr>
        <p:spPr>
          <a:xfrm>
            <a:off x="8306197" y="3458171"/>
            <a:ext cx="3584972" cy="418505"/>
          </a:xfrm>
          <a:prstGeom prst="rect">
            <a:avLst/>
          </a:prstGeom>
          <a:solidFill>
            <a:srgbClr val="D6D6EB"/>
          </a:solidFill>
          <a:ln w="12700">
            <a:solidFill>
              <a:srgbClr val="333399"/>
            </a:solidFill>
            <a:prstDash val="solid"/>
          </a:ln>
        </p:spPr>
      </p:sp>
      <p:sp>
        <p:nvSpPr>
          <p:cNvPr id="82" name="Text 79"/>
          <p:cNvSpPr txBox="1"/>
          <p:nvPr/>
        </p:nvSpPr>
        <p:spPr>
          <a:xfrm>
            <a:off x="8414147" y="3515320"/>
            <a:ext cx="343316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Allowed; key MUST include content</a:t>
            </a:r>
            <a:endParaRPr lang="en-US" sz="1800" dirty="0"/>
          </a:p>
        </p:txBody>
      </p:sp>
      <p:sp>
        <p:nvSpPr>
          <p:cNvPr id="83" name="Shape 80"/>
          <p:cNvSpPr/>
          <p:nvPr/>
        </p:nvSpPr>
        <p:spPr>
          <a:xfrm>
            <a:off x="97631" y="4282480"/>
            <a:ext cx="11793537" cy="12700"/>
          </a:xfrm>
          <a:prstGeom prst="rect">
            <a:avLst/>
          </a:prstGeom>
          <a:solidFill>
            <a:srgbClr val="9CA3AF">
              <a:alpha val="20000"/>
            </a:srgbClr>
          </a:solidFill>
          <a:ln/>
        </p:spPr>
      </p:sp>
      <p:sp>
        <p:nvSpPr>
          <p:cNvPr id="84" name="Shape 81"/>
          <p:cNvSpPr/>
          <p:nvPr/>
        </p:nvSpPr>
        <p:spPr>
          <a:xfrm>
            <a:off x="97631" y="3876675"/>
            <a:ext cx="2948384" cy="418505"/>
          </a:xfrm>
          <a:prstGeom prst="rect">
            <a:avLst/>
          </a:prstGeom>
          <a:solidFill>
            <a:srgbClr val="FFFFFF"/>
          </a:solidFill>
          <a:ln w="12700">
            <a:solidFill>
              <a:srgbClr val="333399"/>
            </a:solidFill>
            <a:prstDash val="solid"/>
          </a:ln>
        </p:spPr>
      </p:sp>
      <p:sp>
        <p:nvSpPr>
          <p:cNvPr id="85" name="Text 82"/>
          <p:cNvSpPr txBox="1"/>
          <p:nvPr/>
        </p:nvSpPr>
        <p:spPr>
          <a:xfrm>
            <a:off x="205581" y="3933825"/>
            <a:ext cx="1787327"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URI for the query</a:t>
            </a:r>
            <a:endParaRPr lang="en-US" sz="1800" dirty="0"/>
          </a:p>
        </p:txBody>
      </p:sp>
      <p:sp>
        <p:nvSpPr>
          <p:cNvPr id="86" name="Shape 83"/>
          <p:cNvSpPr/>
          <p:nvPr/>
        </p:nvSpPr>
        <p:spPr>
          <a:xfrm>
            <a:off x="3046016" y="3876675"/>
            <a:ext cx="3116263" cy="418505"/>
          </a:xfrm>
          <a:prstGeom prst="rect">
            <a:avLst/>
          </a:prstGeom>
          <a:solidFill>
            <a:srgbClr val="FFFFFF"/>
          </a:solidFill>
          <a:ln w="12700">
            <a:solidFill>
              <a:srgbClr val="333399"/>
            </a:solidFill>
            <a:prstDash val="solid"/>
          </a:ln>
        </p:spPr>
      </p:sp>
      <p:sp>
        <p:nvSpPr>
          <p:cNvPr id="87" name="Text 84"/>
          <p:cNvSpPr txBox="1"/>
          <p:nvPr/>
        </p:nvSpPr>
        <p:spPr>
          <a:xfrm>
            <a:off x="3153965" y="3933825"/>
            <a:ext cx="1727001"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Yes, by definition</a:t>
            </a:r>
            <a:endParaRPr lang="en-US" sz="1800" dirty="0"/>
          </a:p>
        </p:txBody>
      </p:sp>
      <p:sp>
        <p:nvSpPr>
          <p:cNvPr id="88" name="Shape 85"/>
          <p:cNvSpPr/>
          <p:nvPr/>
        </p:nvSpPr>
        <p:spPr>
          <a:xfrm>
            <a:off x="6162279" y="3876675"/>
            <a:ext cx="2143919" cy="418505"/>
          </a:xfrm>
          <a:prstGeom prst="rect">
            <a:avLst/>
          </a:prstGeom>
          <a:solidFill>
            <a:srgbClr val="FFFFFF"/>
          </a:solidFill>
          <a:ln w="12700">
            <a:solidFill>
              <a:srgbClr val="333399"/>
            </a:solidFill>
            <a:prstDash val="solid"/>
          </a:ln>
        </p:spPr>
      </p:sp>
      <p:sp>
        <p:nvSpPr>
          <p:cNvPr id="89" name="Text 86"/>
          <p:cNvSpPr txBox="1"/>
          <p:nvPr/>
        </p:nvSpPr>
        <p:spPr>
          <a:xfrm>
            <a:off x="6270228" y="3933825"/>
            <a:ext cx="420688"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No</a:t>
            </a:r>
            <a:endParaRPr lang="en-US" sz="1800" dirty="0"/>
          </a:p>
        </p:txBody>
      </p:sp>
      <p:sp>
        <p:nvSpPr>
          <p:cNvPr id="90" name="Shape 87"/>
          <p:cNvSpPr/>
          <p:nvPr/>
        </p:nvSpPr>
        <p:spPr>
          <a:xfrm>
            <a:off x="8306197" y="3876675"/>
            <a:ext cx="3584972" cy="418505"/>
          </a:xfrm>
          <a:prstGeom prst="rect">
            <a:avLst/>
          </a:prstGeom>
          <a:solidFill>
            <a:srgbClr val="FFFFFF"/>
          </a:solidFill>
          <a:ln w="12700">
            <a:solidFill>
              <a:srgbClr val="333399"/>
            </a:solidFill>
            <a:prstDash val="solid"/>
          </a:ln>
        </p:spPr>
      </p:sp>
      <p:sp>
        <p:nvSpPr>
          <p:cNvPr id="91" name="Text 88"/>
          <p:cNvSpPr txBox="1"/>
          <p:nvPr/>
        </p:nvSpPr>
        <p:spPr>
          <a:xfrm>
            <a:off x="8414147" y="3933825"/>
            <a:ext cx="193000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Optional (Location)</a:t>
            </a:r>
            <a:endParaRPr lang="en-US" sz="1800" dirty="0"/>
          </a:p>
        </p:txBody>
      </p:sp>
      <p:sp>
        <p:nvSpPr>
          <p:cNvPr id="92" name="Shape 89"/>
          <p:cNvSpPr/>
          <p:nvPr/>
        </p:nvSpPr>
        <p:spPr>
          <a:xfrm>
            <a:off x="97631" y="4700984"/>
            <a:ext cx="11793537" cy="12700"/>
          </a:xfrm>
          <a:prstGeom prst="rect">
            <a:avLst/>
          </a:prstGeom>
          <a:solidFill>
            <a:srgbClr val="9CA3AF">
              <a:alpha val="20000"/>
            </a:srgbClr>
          </a:solidFill>
          <a:ln/>
        </p:spPr>
      </p:sp>
      <p:sp>
        <p:nvSpPr>
          <p:cNvPr id="93" name="Shape 90"/>
          <p:cNvSpPr/>
          <p:nvPr/>
        </p:nvSpPr>
        <p:spPr>
          <a:xfrm>
            <a:off x="97631" y="4295180"/>
            <a:ext cx="2948384" cy="418505"/>
          </a:xfrm>
          <a:prstGeom prst="rect">
            <a:avLst/>
          </a:prstGeom>
          <a:solidFill>
            <a:srgbClr val="D6D6EB"/>
          </a:solidFill>
          <a:ln w="12700">
            <a:solidFill>
              <a:srgbClr val="333399"/>
            </a:solidFill>
            <a:prstDash val="solid"/>
          </a:ln>
        </p:spPr>
      </p:sp>
      <p:sp>
        <p:nvSpPr>
          <p:cNvPr id="94" name="Text 91"/>
          <p:cNvSpPr txBox="1"/>
          <p:nvPr/>
        </p:nvSpPr>
        <p:spPr>
          <a:xfrm>
            <a:off x="205581" y="4352329"/>
            <a:ext cx="193357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Ecosystem support</a:t>
            </a:r>
            <a:endParaRPr lang="en-US" sz="1800" dirty="0"/>
          </a:p>
        </p:txBody>
      </p:sp>
      <p:sp>
        <p:nvSpPr>
          <p:cNvPr id="95" name="Shape 92"/>
          <p:cNvSpPr/>
          <p:nvPr/>
        </p:nvSpPr>
        <p:spPr>
          <a:xfrm>
            <a:off x="3046016" y="4295180"/>
            <a:ext cx="3116263" cy="418505"/>
          </a:xfrm>
          <a:prstGeom prst="rect">
            <a:avLst/>
          </a:prstGeom>
          <a:solidFill>
            <a:srgbClr val="D6D6EB"/>
          </a:solidFill>
          <a:ln w="12700">
            <a:solidFill>
              <a:srgbClr val="333399"/>
            </a:solidFill>
            <a:prstDash val="solid"/>
          </a:ln>
        </p:spPr>
      </p:sp>
      <p:sp>
        <p:nvSpPr>
          <p:cNvPr id="96" name="Text 93"/>
          <p:cNvSpPr txBox="1"/>
          <p:nvPr/>
        </p:nvSpPr>
        <p:spPr>
          <a:xfrm>
            <a:off x="3153965" y="4352329"/>
            <a:ext cx="84236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Mature</a:t>
            </a:r>
            <a:endParaRPr lang="en-US" sz="1800" dirty="0"/>
          </a:p>
        </p:txBody>
      </p:sp>
      <p:sp>
        <p:nvSpPr>
          <p:cNvPr id="97" name="Shape 94"/>
          <p:cNvSpPr/>
          <p:nvPr/>
        </p:nvSpPr>
        <p:spPr>
          <a:xfrm>
            <a:off x="6162279" y="4295180"/>
            <a:ext cx="2143919" cy="418505"/>
          </a:xfrm>
          <a:prstGeom prst="rect">
            <a:avLst/>
          </a:prstGeom>
          <a:solidFill>
            <a:srgbClr val="D6D6EB"/>
          </a:solidFill>
          <a:ln w="12700">
            <a:solidFill>
              <a:srgbClr val="333399"/>
            </a:solidFill>
            <a:prstDash val="solid"/>
          </a:ln>
        </p:spPr>
      </p:sp>
      <p:sp>
        <p:nvSpPr>
          <p:cNvPr id="98" name="Text 95"/>
          <p:cNvSpPr txBox="1"/>
          <p:nvPr/>
        </p:nvSpPr>
        <p:spPr>
          <a:xfrm>
            <a:off x="6270228" y="4352329"/>
            <a:ext cx="84236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Mature</a:t>
            </a:r>
            <a:endParaRPr lang="en-US" sz="1800" dirty="0"/>
          </a:p>
        </p:txBody>
      </p:sp>
      <p:sp>
        <p:nvSpPr>
          <p:cNvPr id="99" name="Shape 96"/>
          <p:cNvSpPr/>
          <p:nvPr/>
        </p:nvSpPr>
        <p:spPr>
          <a:xfrm>
            <a:off x="8306197" y="4295180"/>
            <a:ext cx="3584972" cy="418505"/>
          </a:xfrm>
          <a:prstGeom prst="rect">
            <a:avLst/>
          </a:prstGeom>
          <a:solidFill>
            <a:srgbClr val="D6D6EB"/>
          </a:solidFill>
          <a:ln w="12700">
            <a:solidFill>
              <a:srgbClr val="333399"/>
            </a:solidFill>
            <a:prstDash val="solid"/>
          </a:ln>
        </p:spPr>
      </p:sp>
      <p:sp>
        <p:nvSpPr>
          <p:cNvPr id="100" name="Text 97"/>
          <p:cNvSpPr txBox="1"/>
          <p:nvPr/>
        </p:nvSpPr>
        <p:spPr>
          <a:xfrm>
            <a:off x="8414147" y="4352329"/>
            <a:ext cx="167858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Emerging (2026)</a:t>
            </a:r>
            <a:endParaRPr lang="en-US" sz="1800" dirty="0"/>
          </a:p>
        </p:txBody>
      </p:sp>
      <p:sp>
        <p:nvSpPr>
          <p:cNvPr id="101" name="Shape 98"/>
          <p:cNvSpPr/>
          <p:nvPr/>
        </p:nvSpPr>
        <p:spPr>
          <a:xfrm>
            <a:off x="97631" y="5119489"/>
            <a:ext cx="11793537" cy="12700"/>
          </a:xfrm>
          <a:prstGeom prst="rect">
            <a:avLst/>
          </a:prstGeom>
          <a:solidFill>
            <a:srgbClr val="9CA3AF">
              <a:alpha val="20000"/>
            </a:srgbClr>
          </a:solidFill>
          <a:ln/>
        </p:spPr>
      </p:sp>
      <p:sp>
        <p:nvSpPr>
          <p:cNvPr id="102" name="Shape 99"/>
          <p:cNvSpPr/>
          <p:nvPr/>
        </p:nvSpPr>
        <p:spPr>
          <a:xfrm>
            <a:off x="97631" y="4713684"/>
            <a:ext cx="2948384" cy="418505"/>
          </a:xfrm>
          <a:prstGeom prst="rect">
            <a:avLst/>
          </a:prstGeom>
          <a:solidFill>
            <a:srgbClr val="FFFFFF"/>
          </a:solidFill>
          <a:ln w="12700">
            <a:solidFill>
              <a:srgbClr val="333399"/>
            </a:solidFill>
            <a:prstDash val="solid"/>
          </a:ln>
        </p:spPr>
      </p:sp>
      <p:sp>
        <p:nvSpPr>
          <p:cNvPr id="103" name="Text 100"/>
          <p:cNvSpPr txBox="1"/>
          <p:nvPr/>
        </p:nvSpPr>
        <p:spPr>
          <a:xfrm>
            <a:off x="205581" y="4770835"/>
            <a:ext cx="1730971"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Primary purpose</a:t>
            </a:r>
            <a:endParaRPr lang="en-US" sz="1800" dirty="0"/>
          </a:p>
        </p:txBody>
      </p:sp>
      <p:sp>
        <p:nvSpPr>
          <p:cNvPr id="104" name="Shape 101"/>
          <p:cNvSpPr/>
          <p:nvPr/>
        </p:nvSpPr>
        <p:spPr>
          <a:xfrm>
            <a:off x="3046016" y="4713684"/>
            <a:ext cx="3116263" cy="418505"/>
          </a:xfrm>
          <a:prstGeom prst="rect">
            <a:avLst/>
          </a:prstGeom>
          <a:solidFill>
            <a:srgbClr val="FFFFFF"/>
          </a:solidFill>
          <a:ln w="12700">
            <a:solidFill>
              <a:srgbClr val="333399"/>
            </a:solidFill>
            <a:prstDash val="solid"/>
          </a:ln>
        </p:spPr>
      </p:sp>
      <p:sp>
        <p:nvSpPr>
          <p:cNvPr id="105" name="Text 102"/>
          <p:cNvSpPr txBox="1"/>
          <p:nvPr/>
        </p:nvSpPr>
        <p:spPr>
          <a:xfrm>
            <a:off x="3153965" y="4770835"/>
            <a:ext cx="968375"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Retrieval</a:t>
            </a:r>
            <a:endParaRPr lang="en-US" sz="1800" dirty="0"/>
          </a:p>
        </p:txBody>
      </p:sp>
      <p:sp>
        <p:nvSpPr>
          <p:cNvPr id="106" name="Shape 103"/>
          <p:cNvSpPr/>
          <p:nvPr/>
        </p:nvSpPr>
        <p:spPr>
          <a:xfrm>
            <a:off x="6162279" y="4713684"/>
            <a:ext cx="2143919" cy="418505"/>
          </a:xfrm>
          <a:prstGeom prst="rect">
            <a:avLst/>
          </a:prstGeom>
          <a:solidFill>
            <a:srgbClr val="FFFFFF"/>
          </a:solidFill>
          <a:ln w="12700">
            <a:solidFill>
              <a:srgbClr val="333399"/>
            </a:solidFill>
            <a:prstDash val="solid"/>
          </a:ln>
        </p:spPr>
      </p:sp>
      <p:sp>
        <p:nvSpPr>
          <p:cNvPr id="107" name="Text 104"/>
          <p:cNvSpPr txBox="1"/>
          <p:nvPr/>
        </p:nvSpPr>
        <p:spPr>
          <a:xfrm>
            <a:off x="6270228" y="4770835"/>
            <a:ext cx="191908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General processing</a:t>
            </a:r>
            <a:endParaRPr lang="en-US" sz="1800" dirty="0"/>
          </a:p>
        </p:txBody>
      </p:sp>
      <p:sp>
        <p:nvSpPr>
          <p:cNvPr id="108" name="Shape 105"/>
          <p:cNvSpPr/>
          <p:nvPr/>
        </p:nvSpPr>
        <p:spPr>
          <a:xfrm>
            <a:off x="8306197" y="4713684"/>
            <a:ext cx="3584972" cy="418505"/>
          </a:xfrm>
          <a:prstGeom prst="rect">
            <a:avLst/>
          </a:prstGeom>
          <a:solidFill>
            <a:srgbClr val="FFFFFF"/>
          </a:solidFill>
          <a:ln w="12700">
            <a:solidFill>
              <a:srgbClr val="333399"/>
            </a:solidFill>
            <a:prstDash val="solid"/>
          </a:ln>
        </p:spPr>
      </p:sp>
      <p:sp>
        <p:nvSpPr>
          <p:cNvPr id="109" name="Text 106"/>
          <p:cNvSpPr txBox="1"/>
          <p:nvPr/>
        </p:nvSpPr>
        <p:spPr>
          <a:xfrm>
            <a:off x="8414147" y="4770835"/>
            <a:ext cx="236497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Safe query with content</a:t>
            </a:r>
            <a:endParaRPr lang="en-US" sz="1800" dirty="0"/>
          </a:p>
        </p:txBody>
      </p:sp>
      <p:sp>
        <p:nvSpPr>
          <p:cNvPr id="110" name="Text 107"/>
          <p:cNvSpPr txBox="1"/>
          <p:nvPr/>
        </p:nvSpPr>
        <p:spPr>
          <a:xfrm>
            <a:off x="91281" y="5240139"/>
            <a:ext cx="6016427" cy="228600"/>
          </a:xfrm>
          <a:prstGeom prst="rect">
            <a:avLst/>
          </a:prstGeom>
          <a:noFill/>
          <a:ln/>
        </p:spPr>
        <p:txBody>
          <a:bodyPr wrap="none" lIns="0" tIns="0" rIns="0" bIns="0" rtlCol="0" anchor="t"/>
          <a:lstStyle/>
          <a:p>
            <a:pPr algn="l" indent="0" marL="0">
              <a:buNone/>
            </a:pPr>
            <a:r>
              <a:rPr lang="en-US" sz="15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§1]</a:t>
            </a:r>
            <a:pPr algn="l" indent="0" marL="0">
              <a:buNone/>
            </a:pPr>
            <a:r>
              <a:rPr lang="en-US" sz="1500" dirty="0">
                <a:solidFill>
                  <a:srgbClr val="000000"/>
                </a:solidFill>
                <a:latin typeface="Calibri" pitchFamily="34" charset="0"/>
                <a:ea typeface="Calibri" pitchFamily="34" charset="-122"/>
                <a:cs typeface="Calibri" pitchFamily="34" charset="-120"/>
              </a:rPr>
              <a:t> Table 1 · </a:t>
            </a:r>
            <a:pPr algn="l" indent="0" marL="0">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a:t>
            </a:r>
            <a:pPr algn="l" indent="0" marL="0">
              <a:buNone/>
            </a:pPr>
            <a:r>
              <a:rPr lang="en-US" sz="1500" dirty="0">
                <a:solidFill>
                  <a:srgbClr val="000000"/>
                </a:solidFill>
                <a:latin typeface="Calibri" pitchFamily="34" charset="0"/>
                <a:ea typeface="Calibri" pitchFamily="34" charset="-122"/>
                <a:cs typeface="Calibri" pitchFamily="34" charset="-120"/>
              </a:rPr>
              <a:t> · </a:t>
            </a:r>
            <a:pPr algn="l" indent="0" marL="0">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§9.2.3]</a:t>
            </a:r>
            <a:pPr algn="l" indent="0" marL="0">
              <a:buNone/>
            </a:pPr>
            <a:r>
              <a:rPr lang="en-US" sz="1500" dirty="0">
                <a:solidFill>
                  <a:srgbClr val="000000"/>
                </a:solidFill>
                <a:latin typeface="Calibri" pitchFamily="34" charset="0"/>
                <a:ea typeface="Calibri" pitchFamily="34" charset="-122"/>
                <a:cs typeface="Calibri" pitchFamily="34" charset="-120"/>
              </a:rPr>
              <a:t> · </a:t>
            </a:r>
            <a:pPr algn="l" indent="0" marL="0">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9111 §2]</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98117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 secure · Idempotent ≠ harmless</a:t>
            </a:r>
            <a:endParaRPr lang="en-US" sz="2400" dirty="0"/>
          </a:p>
        </p:txBody>
      </p:sp>
      <p:sp>
        <p:nvSpPr>
          <p:cNvPr id="10" name="Shape 7"/>
          <p:cNvSpPr/>
          <p:nvPr/>
        </p:nvSpPr>
        <p:spPr>
          <a:xfrm>
            <a:off x="91281" y="1361281"/>
            <a:ext cx="4953000" cy="1165225"/>
          </a:xfrm>
          <a:prstGeom prst="rect">
            <a:avLst/>
          </a:prstGeom>
          <a:solidFill>
            <a:srgbClr val="D6D6EB"/>
          </a:solidFill>
          <a:ln w="12700">
            <a:solidFill>
              <a:srgbClr val="333399"/>
            </a:solidFill>
            <a:prstDash val="solid"/>
          </a:ln>
        </p:spPr>
      </p:sp>
      <p:sp>
        <p:nvSpPr>
          <p:cNvPr id="11" name="Text 8"/>
          <p:cNvSpPr txBox="1"/>
          <p:nvPr/>
        </p:nvSpPr>
        <p:spPr>
          <a:xfrm>
            <a:off x="256381" y="1475581"/>
            <a:ext cx="6226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Safe</a:t>
            </a:r>
            <a:endParaRPr lang="en-US" sz="2100" dirty="0"/>
          </a:p>
        </p:txBody>
      </p:sp>
      <p:sp>
        <p:nvSpPr>
          <p:cNvPr id="12" name="Text 9"/>
          <p:cNvSpPr txBox="1"/>
          <p:nvPr/>
        </p:nvSpPr>
        <p:spPr>
          <a:xfrm>
            <a:off x="256381" y="1808956"/>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“the client does not request, and does not expect, any state change”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13" name="Shape 10"/>
          <p:cNvSpPr/>
          <p:nvPr/>
        </p:nvSpPr>
        <p:spPr>
          <a:xfrm>
            <a:off x="91281" y="2678907"/>
            <a:ext cx="4953000" cy="1165225"/>
          </a:xfrm>
          <a:prstGeom prst="rect">
            <a:avLst/>
          </a:prstGeom>
          <a:solidFill>
            <a:srgbClr val="D6D6EB"/>
          </a:solidFill>
          <a:ln w="12700">
            <a:solidFill>
              <a:srgbClr val="333399"/>
            </a:solidFill>
            <a:prstDash val="solid"/>
          </a:ln>
        </p:spPr>
      </p:sp>
      <p:sp>
        <p:nvSpPr>
          <p:cNvPr id="14" name="Text 11"/>
          <p:cNvSpPr txBox="1"/>
          <p:nvPr/>
        </p:nvSpPr>
        <p:spPr>
          <a:xfrm>
            <a:off x="256381" y="2793207"/>
            <a:ext cx="14608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Idempotent</a:t>
            </a:r>
            <a:endParaRPr lang="en-US" sz="2100" dirty="0"/>
          </a:p>
        </p:txBody>
      </p:sp>
      <p:sp>
        <p:nvSpPr>
          <p:cNvPr id="15" name="Text 12"/>
          <p:cNvSpPr txBox="1"/>
          <p:nvPr/>
        </p:nvSpPr>
        <p:spPr>
          <a:xfrm>
            <a:off x="256381" y="3126581"/>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several identical requests have the same </a:t>
            </a:r>
            <a:pPr algn="l" indent="0" marL="0">
              <a:lnSpc>
                <a:spcPts val="2375"/>
              </a:lnSpc>
              <a:buNone/>
            </a:pPr>
            <a:r>
              <a:rPr lang="en-US" sz="1900" i="1" dirty="0">
                <a:solidFill>
                  <a:srgbClr val="000000"/>
                </a:solidFill>
                <a:latin typeface="Calibri" pitchFamily="34" charset="0"/>
                <a:ea typeface="Calibri" pitchFamily="34" charset="-122"/>
                <a:cs typeface="Calibri" pitchFamily="34" charset="-120"/>
              </a:rPr>
              <a:t>intended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effect as 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1900" dirty="0"/>
          </a:p>
        </p:txBody>
      </p:sp>
      <p:sp>
        <p:nvSpPr>
          <p:cNvPr id="16" name="Shape 13"/>
          <p:cNvSpPr/>
          <p:nvPr/>
        </p:nvSpPr>
        <p:spPr>
          <a:xfrm>
            <a:off x="91281" y="3996531"/>
            <a:ext cx="4953000" cy="1492251"/>
          </a:xfrm>
          <a:prstGeom prst="rect">
            <a:avLst/>
          </a:prstGeom>
          <a:solidFill>
            <a:srgbClr val="FFFFFF"/>
          </a:solidFill>
          <a:ln w="25400">
            <a:solidFill>
              <a:srgbClr val="CC6600"/>
            </a:solidFill>
            <a:prstDash val="solid"/>
          </a:ln>
        </p:spPr>
      </p:sp>
      <p:sp>
        <p:nvSpPr>
          <p:cNvPr id="17" name="Text 14"/>
          <p:cNvSpPr txBox="1"/>
          <p:nvPr/>
        </p:nvSpPr>
        <p:spPr>
          <a:xfrm>
            <a:off x="269081" y="4123531"/>
            <a:ext cx="3665140"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Both describe the client’s intent</a:t>
            </a:r>
            <a:endParaRPr lang="en-US" sz="2100" dirty="0"/>
          </a:p>
        </p:txBody>
      </p:sp>
      <p:sp>
        <p:nvSpPr>
          <p:cNvPr id="18" name="Text 15"/>
          <p:cNvSpPr txBox="1"/>
          <p:nvPr/>
        </p:nvSpPr>
        <p:spPr>
          <a:xfrm>
            <a:off x="269081" y="4456907"/>
            <a:ext cx="4622800"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RFC 9110: safety “does not prevent an implementation from including behavior that is potentially harmful”.</a:t>
            </a:r>
            <a:endParaRPr lang="en-US" sz="1900" dirty="0"/>
          </a:p>
        </p:txBody>
      </p:sp>
      <p:sp>
        <p:nvSpPr>
          <p:cNvPr id="19" name="Text 16"/>
          <p:cNvSpPr txBox="1"/>
          <p:nvPr/>
        </p:nvSpPr>
        <p:spPr>
          <a:xfrm>
            <a:off x="5374481" y="1399381"/>
            <a:ext cx="5094485"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A safe, idempotent QUERY can still enable:</a:t>
            </a:r>
            <a:endParaRPr 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98117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 secure · Idempotent ≠ harmless</a:t>
            </a:r>
            <a:endParaRPr lang="en-US" sz="2400" dirty="0"/>
          </a:p>
        </p:txBody>
      </p:sp>
      <p:sp>
        <p:nvSpPr>
          <p:cNvPr id="10" name="Shape 7"/>
          <p:cNvSpPr/>
          <p:nvPr/>
        </p:nvSpPr>
        <p:spPr>
          <a:xfrm>
            <a:off x="91281" y="1361281"/>
            <a:ext cx="4953000" cy="1165225"/>
          </a:xfrm>
          <a:prstGeom prst="rect">
            <a:avLst/>
          </a:prstGeom>
          <a:solidFill>
            <a:srgbClr val="D6D6EB"/>
          </a:solidFill>
          <a:ln w="12700">
            <a:solidFill>
              <a:srgbClr val="333399"/>
            </a:solidFill>
            <a:prstDash val="solid"/>
          </a:ln>
        </p:spPr>
      </p:sp>
      <p:sp>
        <p:nvSpPr>
          <p:cNvPr id="11" name="Text 8"/>
          <p:cNvSpPr txBox="1"/>
          <p:nvPr/>
        </p:nvSpPr>
        <p:spPr>
          <a:xfrm>
            <a:off x="256381" y="1475581"/>
            <a:ext cx="6226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Safe</a:t>
            </a:r>
            <a:endParaRPr lang="en-US" sz="2100" dirty="0"/>
          </a:p>
        </p:txBody>
      </p:sp>
      <p:sp>
        <p:nvSpPr>
          <p:cNvPr id="12" name="Text 9"/>
          <p:cNvSpPr txBox="1"/>
          <p:nvPr/>
        </p:nvSpPr>
        <p:spPr>
          <a:xfrm>
            <a:off x="256381" y="1808956"/>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“the client does not request, and does not expect, any state change”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13" name="Shape 10"/>
          <p:cNvSpPr/>
          <p:nvPr/>
        </p:nvSpPr>
        <p:spPr>
          <a:xfrm>
            <a:off x="91281" y="2678907"/>
            <a:ext cx="4953000" cy="1165225"/>
          </a:xfrm>
          <a:prstGeom prst="rect">
            <a:avLst/>
          </a:prstGeom>
          <a:solidFill>
            <a:srgbClr val="D6D6EB"/>
          </a:solidFill>
          <a:ln w="12700">
            <a:solidFill>
              <a:srgbClr val="333399"/>
            </a:solidFill>
            <a:prstDash val="solid"/>
          </a:ln>
        </p:spPr>
      </p:sp>
      <p:sp>
        <p:nvSpPr>
          <p:cNvPr id="14" name="Text 11"/>
          <p:cNvSpPr txBox="1"/>
          <p:nvPr/>
        </p:nvSpPr>
        <p:spPr>
          <a:xfrm>
            <a:off x="256381" y="2793207"/>
            <a:ext cx="14608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Idempotent</a:t>
            </a:r>
            <a:endParaRPr lang="en-US" sz="2100" dirty="0"/>
          </a:p>
        </p:txBody>
      </p:sp>
      <p:sp>
        <p:nvSpPr>
          <p:cNvPr id="15" name="Text 12"/>
          <p:cNvSpPr txBox="1"/>
          <p:nvPr/>
        </p:nvSpPr>
        <p:spPr>
          <a:xfrm>
            <a:off x="256381" y="3126581"/>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several identical requests have the same </a:t>
            </a:r>
            <a:pPr algn="l" indent="0" marL="0">
              <a:lnSpc>
                <a:spcPts val="2375"/>
              </a:lnSpc>
              <a:buNone/>
            </a:pPr>
            <a:r>
              <a:rPr lang="en-US" sz="1900" i="1" dirty="0">
                <a:solidFill>
                  <a:srgbClr val="000000"/>
                </a:solidFill>
                <a:latin typeface="Calibri" pitchFamily="34" charset="0"/>
                <a:ea typeface="Calibri" pitchFamily="34" charset="-122"/>
                <a:cs typeface="Calibri" pitchFamily="34" charset="-120"/>
              </a:rPr>
              <a:t>intended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effect as 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1900" dirty="0"/>
          </a:p>
        </p:txBody>
      </p:sp>
      <p:sp>
        <p:nvSpPr>
          <p:cNvPr id="16" name="Shape 13"/>
          <p:cNvSpPr/>
          <p:nvPr/>
        </p:nvSpPr>
        <p:spPr>
          <a:xfrm>
            <a:off x="91281" y="3996531"/>
            <a:ext cx="4953000" cy="1492251"/>
          </a:xfrm>
          <a:prstGeom prst="rect">
            <a:avLst/>
          </a:prstGeom>
          <a:solidFill>
            <a:srgbClr val="FFFFFF"/>
          </a:solidFill>
          <a:ln w="25400">
            <a:solidFill>
              <a:srgbClr val="CC6600"/>
            </a:solidFill>
            <a:prstDash val="solid"/>
          </a:ln>
        </p:spPr>
      </p:sp>
      <p:sp>
        <p:nvSpPr>
          <p:cNvPr id="17" name="Text 14"/>
          <p:cNvSpPr txBox="1"/>
          <p:nvPr/>
        </p:nvSpPr>
        <p:spPr>
          <a:xfrm>
            <a:off x="269081" y="4123531"/>
            <a:ext cx="3665140"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Both describe the client’s intent</a:t>
            </a:r>
            <a:endParaRPr lang="en-US" sz="2100" dirty="0"/>
          </a:p>
        </p:txBody>
      </p:sp>
      <p:sp>
        <p:nvSpPr>
          <p:cNvPr id="18" name="Text 15"/>
          <p:cNvSpPr txBox="1"/>
          <p:nvPr/>
        </p:nvSpPr>
        <p:spPr>
          <a:xfrm>
            <a:off x="269081" y="4456907"/>
            <a:ext cx="4622800"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RFC 9110: safety “does not prevent an implementation from including behavior that is potentially harmful”.</a:t>
            </a:r>
            <a:endParaRPr lang="en-US" sz="1900" dirty="0"/>
          </a:p>
        </p:txBody>
      </p:sp>
      <p:sp>
        <p:nvSpPr>
          <p:cNvPr id="19" name="Text 16"/>
          <p:cNvSpPr txBox="1"/>
          <p:nvPr/>
        </p:nvSpPr>
        <p:spPr>
          <a:xfrm>
            <a:off x="5374481" y="1399381"/>
            <a:ext cx="5094485"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A safe, idempotent QUERY can still enable:</a:t>
            </a:r>
            <a:endParaRPr lang="en-US" sz="2200" dirty="0"/>
          </a:p>
        </p:txBody>
      </p:sp>
      <p:sp>
        <p:nvSpPr>
          <p:cNvPr id="20" name="Text 17"/>
          <p:cNvSpPr txBox="1"/>
          <p:nvPr/>
        </p:nvSpPr>
        <p:spPr>
          <a:xfrm>
            <a:off x="5667772" y="1932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6010672" y="1920081"/>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Resource exhaustion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huge, nested, high-cardinality queries </a:t>
            </a:r>
            <a:pPr algn="l" indent="0" marL="0">
              <a:lnSpc>
                <a:spcPts val="25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[Cha et al., 2020]</a:t>
            </a:r>
            <a:endParaRPr lang="en-US" sz="2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98117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 secure · Idempotent ≠ harmless</a:t>
            </a:r>
            <a:endParaRPr lang="en-US" sz="2400" dirty="0"/>
          </a:p>
        </p:txBody>
      </p:sp>
      <p:sp>
        <p:nvSpPr>
          <p:cNvPr id="10" name="Shape 7"/>
          <p:cNvSpPr/>
          <p:nvPr/>
        </p:nvSpPr>
        <p:spPr>
          <a:xfrm>
            <a:off x="91281" y="1361281"/>
            <a:ext cx="4953000" cy="1165225"/>
          </a:xfrm>
          <a:prstGeom prst="rect">
            <a:avLst/>
          </a:prstGeom>
          <a:solidFill>
            <a:srgbClr val="D6D6EB"/>
          </a:solidFill>
          <a:ln w="12700">
            <a:solidFill>
              <a:srgbClr val="333399"/>
            </a:solidFill>
            <a:prstDash val="solid"/>
          </a:ln>
        </p:spPr>
      </p:sp>
      <p:sp>
        <p:nvSpPr>
          <p:cNvPr id="11" name="Text 8"/>
          <p:cNvSpPr txBox="1"/>
          <p:nvPr/>
        </p:nvSpPr>
        <p:spPr>
          <a:xfrm>
            <a:off x="256381" y="1475581"/>
            <a:ext cx="6226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Safe</a:t>
            </a:r>
            <a:endParaRPr lang="en-US" sz="2100" dirty="0"/>
          </a:p>
        </p:txBody>
      </p:sp>
      <p:sp>
        <p:nvSpPr>
          <p:cNvPr id="12" name="Text 9"/>
          <p:cNvSpPr txBox="1"/>
          <p:nvPr/>
        </p:nvSpPr>
        <p:spPr>
          <a:xfrm>
            <a:off x="256381" y="1808956"/>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“the client does not request, and does not expect, any state change”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13" name="Shape 10"/>
          <p:cNvSpPr/>
          <p:nvPr/>
        </p:nvSpPr>
        <p:spPr>
          <a:xfrm>
            <a:off x="91281" y="2678907"/>
            <a:ext cx="4953000" cy="1165225"/>
          </a:xfrm>
          <a:prstGeom prst="rect">
            <a:avLst/>
          </a:prstGeom>
          <a:solidFill>
            <a:srgbClr val="D6D6EB"/>
          </a:solidFill>
          <a:ln w="12700">
            <a:solidFill>
              <a:srgbClr val="333399"/>
            </a:solidFill>
            <a:prstDash val="solid"/>
          </a:ln>
        </p:spPr>
      </p:sp>
      <p:sp>
        <p:nvSpPr>
          <p:cNvPr id="14" name="Text 11"/>
          <p:cNvSpPr txBox="1"/>
          <p:nvPr/>
        </p:nvSpPr>
        <p:spPr>
          <a:xfrm>
            <a:off x="256381" y="2793207"/>
            <a:ext cx="14608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Idempotent</a:t>
            </a:r>
            <a:endParaRPr lang="en-US" sz="2100" dirty="0"/>
          </a:p>
        </p:txBody>
      </p:sp>
      <p:sp>
        <p:nvSpPr>
          <p:cNvPr id="15" name="Text 12"/>
          <p:cNvSpPr txBox="1"/>
          <p:nvPr/>
        </p:nvSpPr>
        <p:spPr>
          <a:xfrm>
            <a:off x="256381" y="3126581"/>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several identical requests have the same </a:t>
            </a:r>
            <a:pPr algn="l" indent="0" marL="0">
              <a:lnSpc>
                <a:spcPts val="2375"/>
              </a:lnSpc>
              <a:buNone/>
            </a:pPr>
            <a:r>
              <a:rPr lang="en-US" sz="1900" i="1" dirty="0">
                <a:solidFill>
                  <a:srgbClr val="000000"/>
                </a:solidFill>
                <a:latin typeface="Calibri" pitchFamily="34" charset="0"/>
                <a:ea typeface="Calibri" pitchFamily="34" charset="-122"/>
                <a:cs typeface="Calibri" pitchFamily="34" charset="-120"/>
              </a:rPr>
              <a:t>intended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effect as 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1900" dirty="0"/>
          </a:p>
        </p:txBody>
      </p:sp>
      <p:sp>
        <p:nvSpPr>
          <p:cNvPr id="16" name="Shape 13"/>
          <p:cNvSpPr/>
          <p:nvPr/>
        </p:nvSpPr>
        <p:spPr>
          <a:xfrm>
            <a:off x="91281" y="3996531"/>
            <a:ext cx="4953000" cy="1492251"/>
          </a:xfrm>
          <a:prstGeom prst="rect">
            <a:avLst/>
          </a:prstGeom>
          <a:solidFill>
            <a:srgbClr val="FFFFFF"/>
          </a:solidFill>
          <a:ln w="25400">
            <a:solidFill>
              <a:srgbClr val="CC6600"/>
            </a:solidFill>
            <a:prstDash val="solid"/>
          </a:ln>
        </p:spPr>
      </p:sp>
      <p:sp>
        <p:nvSpPr>
          <p:cNvPr id="17" name="Text 14"/>
          <p:cNvSpPr txBox="1"/>
          <p:nvPr/>
        </p:nvSpPr>
        <p:spPr>
          <a:xfrm>
            <a:off x="269081" y="4123531"/>
            <a:ext cx="3665140"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Both describe the client’s intent</a:t>
            </a:r>
            <a:endParaRPr lang="en-US" sz="2100" dirty="0"/>
          </a:p>
        </p:txBody>
      </p:sp>
      <p:sp>
        <p:nvSpPr>
          <p:cNvPr id="18" name="Text 15"/>
          <p:cNvSpPr txBox="1"/>
          <p:nvPr/>
        </p:nvSpPr>
        <p:spPr>
          <a:xfrm>
            <a:off x="269081" y="4456907"/>
            <a:ext cx="4622800"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RFC 9110: safety “does not prevent an implementation from including behavior that is potentially harmful”.</a:t>
            </a:r>
            <a:endParaRPr lang="en-US" sz="1900" dirty="0"/>
          </a:p>
        </p:txBody>
      </p:sp>
      <p:sp>
        <p:nvSpPr>
          <p:cNvPr id="19" name="Text 16"/>
          <p:cNvSpPr txBox="1"/>
          <p:nvPr/>
        </p:nvSpPr>
        <p:spPr>
          <a:xfrm>
            <a:off x="5374481" y="1399381"/>
            <a:ext cx="5094485"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A safe, idempotent QUERY can still enable:</a:t>
            </a:r>
            <a:endParaRPr lang="en-US" sz="2200" dirty="0"/>
          </a:p>
        </p:txBody>
      </p:sp>
      <p:sp>
        <p:nvSpPr>
          <p:cNvPr id="20" name="Text 17"/>
          <p:cNvSpPr txBox="1"/>
          <p:nvPr/>
        </p:nvSpPr>
        <p:spPr>
          <a:xfrm>
            <a:off x="5667772" y="1932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6010672" y="1920081"/>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Resource exhaustion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huge, nested, high-cardinality queries </a:t>
            </a:r>
            <a:pPr algn="l" indent="0" marL="0">
              <a:lnSpc>
                <a:spcPts val="25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[Cha et al., 2020]</a:t>
            </a:r>
            <a:endParaRPr lang="en-US" sz="2100" dirty="0"/>
          </a:p>
        </p:txBody>
      </p:sp>
      <p:sp>
        <p:nvSpPr>
          <p:cNvPr id="22" name="Text 19"/>
          <p:cNvSpPr txBox="1"/>
          <p:nvPr/>
        </p:nvSpPr>
        <p:spPr>
          <a:xfrm>
            <a:off x="5667772" y="27249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20"/>
          <p:cNvSpPr txBox="1"/>
          <p:nvPr/>
        </p:nvSpPr>
        <p:spPr>
          <a:xfrm>
            <a:off x="6010672" y="2712244"/>
            <a:ext cx="6019053"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Information disclosure</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results the caller should never see</a:t>
            </a:r>
            <a:endParaRPr lang="en-US" sz="2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98117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 secure · Idempotent ≠ harmless</a:t>
            </a:r>
            <a:endParaRPr lang="en-US" sz="2400" dirty="0"/>
          </a:p>
        </p:txBody>
      </p:sp>
      <p:sp>
        <p:nvSpPr>
          <p:cNvPr id="10" name="Shape 7"/>
          <p:cNvSpPr/>
          <p:nvPr/>
        </p:nvSpPr>
        <p:spPr>
          <a:xfrm>
            <a:off x="91281" y="1361281"/>
            <a:ext cx="4953000" cy="1165225"/>
          </a:xfrm>
          <a:prstGeom prst="rect">
            <a:avLst/>
          </a:prstGeom>
          <a:solidFill>
            <a:srgbClr val="D6D6EB"/>
          </a:solidFill>
          <a:ln w="12700">
            <a:solidFill>
              <a:srgbClr val="333399"/>
            </a:solidFill>
            <a:prstDash val="solid"/>
          </a:ln>
        </p:spPr>
      </p:sp>
      <p:sp>
        <p:nvSpPr>
          <p:cNvPr id="11" name="Text 8"/>
          <p:cNvSpPr txBox="1"/>
          <p:nvPr/>
        </p:nvSpPr>
        <p:spPr>
          <a:xfrm>
            <a:off x="256381" y="1475581"/>
            <a:ext cx="6226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Safe</a:t>
            </a:r>
            <a:endParaRPr lang="en-US" sz="2100" dirty="0"/>
          </a:p>
        </p:txBody>
      </p:sp>
      <p:sp>
        <p:nvSpPr>
          <p:cNvPr id="12" name="Text 9"/>
          <p:cNvSpPr txBox="1"/>
          <p:nvPr/>
        </p:nvSpPr>
        <p:spPr>
          <a:xfrm>
            <a:off x="256381" y="1808956"/>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“the client does not request, and does not expect, any state change”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13" name="Shape 10"/>
          <p:cNvSpPr/>
          <p:nvPr/>
        </p:nvSpPr>
        <p:spPr>
          <a:xfrm>
            <a:off x="91281" y="2678907"/>
            <a:ext cx="4953000" cy="1165225"/>
          </a:xfrm>
          <a:prstGeom prst="rect">
            <a:avLst/>
          </a:prstGeom>
          <a:solidFill>
            <a:srgbClr val="D6D6EB"/>
          </a:solidFill>
          <a:ln w="12700">
            <a:solidFill>
              <a:srgbClr val="333399"/>
            </a:solidFill>
            <a:prstDash val="solid"/>
          </a:ln>
        </p:spPr>
      </p:sp>
      <p:sp>
        <p:nvSpPr>
          <p:cNvPr id="14" name="Text 11"/>
          <p:cNvSpPr txBox="1"/>
          <p:nvPr/>
        </p:nvSpPr>
        <p:spPr>
          <a:xfrm>
            <a:off x="256381" y="2793207"/>
            <a:ext cx="14608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Idempotent</a:t>
            </a:r>
            <a:endParaRPr lang="en-US" sz="2100" dirty="0"/>
          </a:p>
        </p:txBody>
      </p:sp>
      <p:sp>
        <p:nvSpPr>
          <p:cNvPr id="15" name="Text 12"/>
          <p:cNvSpPr txBox="1"/>
          <p:nvPr/>
        </p:nvSpPr>
        <p:spPr>
          <a:xfrm>
            <a:off x="256381" y="3126581"/>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several identical requests have the same </a:t>
            </a:r>
            <a:pPr algn="l" indent="0" marL="0">
              <a:lnSpc>
                <a:spcPts val="2375"/>
              </a:lnSpc>
              <a:buNone/>
            </a:pPr>
            <a:r>
              <a:rPr lang="en-US" sz="1900" i="1" dirty="0">
                <a:solidFill>
                  <a:srgbClr val="000000"/>
                </a:solidFill>
                <a:latin typeface="Calibri" pitchFamily="34" charset="0"/>
                <a:ea typeface="Calibri" pitchFamily="34" charset="-122"/>
                <a:cs typeface="Calibri" pitchFamily="34" charset="-120"/>
              </a:rPr>
              <a:t>intended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effect as 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1900" dirty="0"/>
          </a:p>
        </p:txBody>
      </p:sp>
      <p:sp>
        <p:nvSpPr>
          <p:cNvPr id="16" name="Shape 13"/>
          <p:cNvSpPr/>
          <p:nvPr/>
        </p:nvSpPr>
        <p:spPr>
          <a:xfrm>
            <a:off x="91281" y="3996531"/>
            <a:ext cx="4953000" cy="1492251"/>
          </a:xfrm>
          <a:prstGeom prst="rect">
            <a:avLst/>
          </a:prstGeom>
          <a:solidFill>
            <a:srgbClr val="FFFFFF"/>
          </a:solidFill>
          <a:ln w="25400">
            <a:solidFill>
              <a:srgbClr val="CC6600"/>
            </a:solidFill>
            <a:prstDash val="solid"/>
          </a:ln>
        </p:spPr>
      </p:sp>
      <p:sp>
        <p:nvSpPr>
          <p:cNvPr id="17" name="Text 14"/>
          <p:cNvSpPr txBox="1"/>
          <p:nvPr/>
        </p:nvSpPr>
        <p:spPr>
          <a:xfrm>
            <a:off x="269081" y="4123531"/>
            <a:ext cx="3665140"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Both describe the client’s intent</a:t>
            </a:r>
            <a:endParaRPr lang="en-US" sz="2100" dirty="0"/>
          </a:p>
        </p:txBody>
      </p:sp>
      <p:sp>
        <p:nvSpPr>
          <p:cNvPr id="18" name="Text 15"/>
          <p:cNvSpPr txBox="1"/>
          <p:nvPr/>
        </p:nvSpPr>
        <p:spPr>
          <a:xfrm>
            <a:off x="269081" y="4456907"/>
            <a:ext cx="4622800"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RFC 9110: safety “does not prevent an implementation from including behavior that is potentially harmful”.</a:t>
            </a:r>
            <a:endParaRPr lang="en-US" sz="1900" dirty="0"/>
          </a:p>
        </p:txBody>
      </p:sp>
      <p:sp>
        <p:nvSpPr>
          <p:cNvPr id="19" name="Text 16"/>
          <p:cNvSpPr txBox="1"/>
          <p:nvPr/>
        </p:nvSpPr>
        <p:spPr>
          <a:xfrm>
            <a:off x="5374481" y="1399381"/>
            <a:ext cx="5094485"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A safe, idempotent QUERY can still enable:</a:t>
            </a:r>
            <a:endParaRPr lang="en-US" sz="2200" dirty="0"/>
          </a:p>
        </p:txBody>
      </p:sp>
      <p:sp>
        <p:nvSpPr>
          <p:cNvPr id="20" name="Text 17"/>
          <p:cNvSpPr txBox="1"/>
          <p:nvPr/>
        </p:nvSpPr>
        <p:spPr>
          <a:xfrm>
            <a:off x="5667772" y="1932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6010672" y="1920081"/>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Resource exhaustion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huge, nested, high-cardinality queries </a:t>
            </a:r>
            <a:pPr algn="l" indent="0" marL="0">
              <a:lnSpc>
                <a:spcPts val="25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[Cha et al., 2020]</a:t>
            </a:r>
            <a:endParaRPr lang="en-US" sz="2100" dirty="0"/>
          </a:p>
        </p:txBody>
      </p:sp>
      <p:sp>
        <p:nvSpPr>
          <p:cNvPr id="22" name="Text 19"/>
          <p:cNvSpPr txBox="1"/>
          <p:nvPr/>
        </p:nvSpPr>
        <p:spPr>
          <a:xfrm>
            <a:off x="5667772" y="27249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20"/>
          <p:cNvSpPr txBox="1"/>
          <p:nvPr/>
        </p:nvSpPr>
        <p:spPr>
          <a:xfrm>
            <a:off x="6010672" y="2712244"/>
            <a:ext cx="6019053"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Information disclosure</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results the caller should never see</a:t>
            </a:r>
            <a:endParaRPr lang="en-US" sz="2100" dirty="0"/>
          </a:p>
        </p:txBody>
      </p:sp>
      <p:sp>
        <p:nvSpPr>
          <p:cNvPr id="24" name="Text 21"/>
          <p:cNvSpPr txBox="1"/>
          <p:nvPr/>
        </p:nvSpPr>
        <p:spPr>
          <a:xfrm>
            <a:off x="5667772" y="35171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5" name="Text 22"/>
          <p:cNvSpPr txBox="1"/>
          <p:nvPr/>
        </p:nvSpPr>
        <p:spPr>
          <a:xfrm>
            <a:off x="6010672" y="3504407"/>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Broken authorization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read-only is not the same as allowed</a:t>
            </a:r>
            <a:endParaRPr lang="en-US" sz="2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98117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 secure · Idempotent ≠ harmless</a:t>
            </a:r>
            <a:endParaRPr lang="en-US" sz="2400" dirty="0"/>
          </a:p>
        </p:txBody>
      </p:sp>
      <p:sp>
        <p:nvSpPr>
          <p:cNvPr id="10" name="Shape 7"/>
          <p:cNvSpPr/>
          <p:nvPr/>
        </p:nvSpPr>
        <p:spPr>
          <a:xfrm>
            <a:off x="91281" y="1361281"/>
            <a:ext cx="4953000" cy="1165225"/>
          </a:xfrm>
          <a:prstGeom prst="rect">
            <a:avLst/>
          </a:prstGeom>
          <a:solidFill>
            <a:srgbClr val="D6D6EB"/>
          </a:solidFill>
          <a:ln w="12700">
            <a:solidFill>
              <a:srgbClr val="333399"/>
            </a:solidFill>
            <a:prstDash val="solid"/>
          </a:ln>
        </p:spPr>
      </p:sp>
      <p:sp>
        <p:nvSpPr>
          <p:cNvPr id="11" name="Text 8"/>
          <p:cNvSpPr txBox="1"/>
          <p:nvPr/>
        </p:nvSpPr>
        <p:spPr>
          <a:xfrm>
            <a:off x="256381" y="1475581"/>
            <a:ext cx="6226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Safe</a:t>
            </a:r>
            <a:endParaRPr lang="en-US" sz="2100" dirty="0"/>
          </a:p>
        </p:txBody>
      </p:sp>
      <p:sp>
        <p:nvSpPr>
          <p:cNvPr id="12" name="Text 9"/>
          <p:cNvSpPr txBox="1"/>
          <p:nvPr/>
        </p:nvSpPr>
        <p:spPr>
          <a:xfrm>
            <a:off x="256381" y="1808956"/>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“the client does not request, and does not expect, any state change”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13" name="Shape 10"/>
          <p:cNvSpPr/>
          <p:nvPr/>
        </p:nvSpPr>
        <p:spPr>
          <a:xfrm>
            <a:off x="91281" y="2678907"/>
            <a:ext cx="4953000" cy="1165225"/>
          </a:xfrm>
          <a:prstGeom prst="rect">
            <a:avLst/>
          </a:prstGeom>
          <a:solidFill>
            <a:srgbClr val="D6D6EB"/>
          </a:solidFill>
          <a:ln w="12700">
            <a:solidFill>
              <a:srgbClr val="333399"/>
            </a:solidFill>
            <a:prstDash val="solid"/>
          </a:ln>
        </p:spPr>
      </p:sp>
      <p:sp>
        <p:nvSpPr>
          <p:cNvPr id="14" name="Text 11"/>
          <p:cNvSpPr txBox="1"/>
          <p:nvPr/>
        </p:nvSpPr>
        <p:spPr>
          <a:xfrm>
            <a:off x="256381" y="2793207"/>
            <a:ext cx="14608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Idempotent</a:t>
            </a:r>
            <a:endParaRPr lang="en-US" sz="2100" dirty="0"/>
          </a:p>
        </p:txBody>
      </p:sp>
      <p:sp>
        <p:nvSpPr>
          <p:cNvPr id="15" name="Text 12"/>
          <p:cNvSpPr txBox="1"/>
          <p:nvPr/>
        </p:nvSpPr>
        <p:spPr>
          <a:xfrm>
            <a:off x="256381" y="3126581"/>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several identical requests have the same </a:t>
            </a:r>
            <a:pPr algn="l" indent="0" marL="0">
              <a:lnSpc>
                <a:spcPts val="2375"/>
              </a:lnSpc>
              <a:buNone/>
            </a:pPr>
            <a:r>
              <a:rPr lang="en-US" sz="1900" i="1" dirty="0">
                <a:solidFill>
                  <a:srgbClr val="000000"/>
                </a:solidFill>
                <a:latin typeface="Calibri" pitchFamily="34" charset="0"/>
                <a:ea typeface="Calibri" pitchFamily="34" charset="-122"/>
                <a:cs typeface="Calibri" pitchFamily="34" charset="-120"/>
              </a:rPr>
              <a:t>intended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effect as 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1900" dirty="0"/>
          </a:p>
        </p:txBody>
      </p:sp>
      <p:sp>
        <p:nvSpPr>
          <p:cNvPr id="16" name="Shape 13"/>
          <p:cNvSpPr/>
          <p:nvPr/>
        </p:nvSpPr>
        <p:spPr>
          <a:xfrm>
            <a:off x="91281" y="3996531"/>
            <a:ext cx="4953000" cy="1492251"/>
          </a:xfrm>
          <a:prstGeom prst="rect">
            <a:avLst/>
          </a:prstGeom>
          <a:solidFill>
            <a:srgbClr val="FFFFFF"/>
          </a:solidFill>
          <a:ln w="25400">
            <a:solidFill>
              <a:srgbClr val="CC6600"/>
            </a:solidFill>
            <a:prstDash val="solid"/>
          </a:ln>
        </p:spPr>
      </p:sp>
      <p:sp>
        <p:nvSpPr>
          <p:cNvPr id="17" name="Text 14"/>
          <p:cNvSpPr txBox="1"/>
          <p:nvPr/>
        </p:nvSpPr>
        <p:spPr>
          <a:xfrm>
            <a:off x="269081" y="4123531"/>
            <a:ext cx="3665140"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Both describe the client’s intent</a:t>
            </a:r>
            <a:endParaRPr lang="en-US" sz="2100" dirty="0"/>
          </a:p>
        </p:txBody>
      </p:sp>
      <p:sp>
        <p:nvSpPr>
          <p:cNvPr id="18" name="Text 15"/>
          <p:cNvSpPr txBox="1"/>
          <p:nvPr/>
        </p:nvSpPr>
        <p:spPr>
          <a:xfrm>
            <a:off x="269081" y="4456907"/>
            <a:ext cx="4622800"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RFC 9110: safety “does not prevent an implementation from including behavior that is potentially harmful”.</a:t>
            </a:r>
            <a:endParaRPr lang="en-US" sz="1900" dirty="0"/>
          </a:p>
        </p:txBody>
      </p:sp>
      <p:sp>
        <p:nvSpPr>
          <p:cNvPr id="19" name="Text 16"/>
          <p:cNvSpPr txBox="1"/>
          <p:nvPr/>
        </p:nvSpPr>
        <p:spPr>
          <a:xfrm>
            <a:off x="5374481" y="1399381"/>
            <a:ext cx="5094485"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A safe, idempotent QUERY can still enable:</a:t>
            </a:r>
            <a:endParaRPr lang="en-US" sz="2200" dirty="0"/>
          </a:p>
        </p:txBody>
      </p:sp>
      <p:sp>
        <p:nvSpPr>
          <p:cNvPr id="20" name="Text 17"/>
          <p:cNvSpPr txBox="1"/>
          <p:nvPr/>
        </p:nvSpPr>
        <p:spPr>
          <a:xfrm>
            <a:off x="5667772" y="1932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6010672" y="1920081"/>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Resource exhaustion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huge, nested, high-cardinality queries </a:t>
            </a:r>
            <a:pPr algn="l" indent="0" marL="0">
              <a:lnSpc>
                <a:spcPts val="25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[Cha et al., 2020]</a:t>
            </a:r>
            <a:endParaRPr lang="en-US" sz="2100" dirty="0"/>
          </a:p>
        </p:txBody>
      </p:sp>
      <p:sp>
        <p:nvSpPr>
          <p:cNvPr id="22" name="Text 19"/>
          <p:cNvSpPr txBox="1"/>
          <p:nvPr/>
        </p:nvSpPr>
        <p:spPr>
          <a:xfrm>
            <a:off x="5667772" y="27249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20"/>
          <p:cNvSpPr txBox="1"/>
          <p:nvPr/>
        </p:nvSpPr>
        <p:spPr>
          <a:xfrm>
            <a:off x="6010672" y="2712244"/>
            <a:ext cx="6019053"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Information disclosure</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results the caller should never see</a:t>
            </a:r>
            <a:endParaRPr lang="en-US" sz="2100" dirty="0"/>
          </a:p>
        </p:txBody>
      </p:sp>
      <p:sp>
        <p:nvSpPr>
          <p:cNvPr id="24" name="Text 21"/>
          <p:cNvSpPr txBox="1"/>
          <p:nvPr/>
        </p:nvSpPr>
        <p:spPr>
          <a:xfrm>
            <a:off x="5667772" y="35171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5" name="Text 22"/>
          <p:cNvSpPr txBox="1"/>
          <p:nvPr/>
        </p:nvSpPr>
        <p:spPr>
          <a:xfrm>
            <a:off x="6010672" y="3504407"/>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Broken authorization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read-only is not the same as allowed</a:t>
            </a:r>
            <a:endParaRPr lang="en-US" sz="2100" dirty="0"/>
          </a:p>
        </p:txBody>
      </p:sp>
      <p:sp>
        <p:nvSpPr>
          <p:cNvPr id="26" name="Text 23"/>
          <p:cNvSpPr txBox="1"/>
          <p:nvPr/>
        </p:nvSpPr>
        <p:spPr>
          <a:xfrm>
            <a:off x="5667772" y="4309269"/>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7" name="Text 24"/>
          <p:cNvSpPr txBox="1"/>
          <p:nvPr/>
        </p:nvSpPr>
        <p:spPr>
          <a:xfrm>
            <a:off x="6010672" y="4296569"/>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Injection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query content is untrusted input (SQL, NoSQL, LDAP, search DSLs)</a:t>
            </a:r>
            <a:endParaRPr lang="en-US" sz="2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98117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 secure · Idempotent ≠ harmless</a:t>
            </a:r>
            <a:endParaRPr lang="en-US" sz="2400" dirty="0"/>
          </a:p>
        </p:txBody>
      </p:sp>
      <p:sp>
        <p:nvSpPr>
          <p:cNvPr id="10" name="Shape 7"/>
          <p:cNvSpPr/>
          <p:nvPr/>
        </p:nvSpPr>
        <p:spPr>
          <a:xfrm>
            <a:off x="91281" y="1361281"/>
            <a:ext cx="4953000" cy="1165225"/>
          </a:xfrm>
          <a:prstGeom prst="rect">
            <a:avLst/>
          </a:prstGeom>
          <a:solidFill>
            <a:srgbClr val="D6D6EB"/>
          </a:solidFill>
          <a:ln w="12700">
            <a:solidFill>
              <a:srgbClr val="333399"/>
            </a:solidFill>
            <a:prstDash val="solid"/>
          </a:ln>
        </p:spPr>
      </p:sp>
      <p:sp>
        <p:nvSpPr>
          <p:cNvPr id="11" name="Text 8"/>
          <p:cNvSpPr txBox="1"/>
          <p:nvPr/>
        </p:nvSpPr>
        <p:spPr>
          <a:xfrm>
            <a:off x="256381" y="1475581"/>
            <a:ext cx="6226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Safe</a:t>
            </a:r>
            <a:endParaRPr lang="en-US" sz="2100" dirty="0"/>
          </a:p>
        </p:txBody>
      </p:sp>
      <p:sp>
        <p:nvSpPr>
          <p:cNvPr id="12" name="Text 9"/>
          <p:cNvSpPr txBox="1"/>
          <p:nvPr/>
        </p:nvSpPr>
        <p:spPr>
          <a:xfrm>
            <a:off x="256381" y="1808956"/>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“the client does not request, and does not expect, any state change”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900" dirty="0"/>
          </a:p>
        </p:txBody>
      </p:sp>
      <p:sp>
        <p:nvSpPr>
          <p:cNvPr id="13" name="Shape 10"/>
          <p:cNvSpPr/>
          <p:nvPr/>
        </p:nvSpPr>
        <p:spPr>
          <a:xfrm>
            <a:off x="91281" y="2678907"/>
            <a:ext cx="4953000" cy="1165225"/>
          </a:xfrm>
          <a:prstGeom prst="rect">
            <a:avLst/>
          </a:prstGeom>
          <a:solidFill>
            <a:srgbClr val="D6D6EB"/>
          </a:solidFill>
          <a:ln w="12700">
            <a:solidFill>
              <a:srgbClr val="333399"/>
            </a:solidFill>
            <a:prstDash val="solid"/>
          </a:ln>
        </p:spPr>
      </p:sp>
      <p:sp>
        <p:nvSpPr>
          <p:cNvPr id="14" name="Text 11"/>
          <p:cNvSpPr txBox="1"/>
          <p:nvPr/>
        </p:nvSpPr>
        <p:spPr>
          <a:xfrm>
            <a:off x="256381" y="2793207"/>
            <a:ext cx="1460897"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Idempotent</a:t>
            </a:r>
            <a:endParaRPr lang="en-US" sz="2100" dirty="0"/>
          </a:p>
        </p:txBody>
      </p:sp>
      <p:sp>
        <p:nvSpPr>
          <p:cNvPr id="15" name="Text 12"/>
          <p:cNvSpPr txBox="1"/>
          <p:nvPr/>
        </p:nvSpPr>
        <p:spPr>
          <a:xfrm>
            <a:off x="256381" y="3126581"/>
            <a:ext cx="4648200" cy="593725"/>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several identical requests have the same </a:t>
            </a:r>
            <a:pPr algn="l" indent="0" marL="0">
              <a:lnSpc>
                <a:spcPts val="2375"/>
              </a:lnSpc>
              <a:buNone/>
            </a:pPr>
            <a:r>
              <a:rPr lang="en-US" sz="1900" i="1" dirty="0">
                <a:solidFill>
                  <a:srgbClr val="000000"/>
                </a:solidFill>
                <a:latin typeface="Calibri" pitchFamily="34" charset="0"/>
                <a:ea typeface="Calibri" pitchFamily="34" charset="-122"/>
                <a:cs typeface="Calibri" pitchFamily="34" charset="-120"/>
              </a:rPr>
              <a:t>intended</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effect as 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1900" dirty="0"/>
          </a:p>
        </p:txBody>
      </p:sp>
      <p:sp>
        <p:nvSpPr>
          <p:cNvPr id="16" name="Shape 13"/>
          <p:cNvSpPr/>
          <p:nvPr/>
        </p:nvSpPr>
        <p:spPr>
          <a:xfrm>
            <a:off x="91281" y="3996531"/>
            <a:ext cx="4953000" cy="1492251"/>
          </a:xfrm>
          <a:prstGeom prst="rect">
            <a:avLst/>
          </a:prstGeom>
          <a:solidFill>
            <a:srgbClr val="FFFFFF"/>
          </a:solidFill>
          <a:ln w="25400">
            <a:solidFill>
              <a:srgbClr val="CC6600"/>
            </a:solidFill>
            <a:prstDash val="solid"/>
          </a:ln>
        </p:spPr>
      </p:sp>
      <p:sp>
        <p:nvSpPr>
          <p:cNvPr id="17" name="Text 14"/>
          <p:cNvSpPr txBox="1"/>
          <p:nvPr/>
        </p:nvSpPr>
        <p:spPr>
          <a:xfrm>
            <a:off x="269081" y="4123531"/>
            <a:ext cx="3665140"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Both describe the client’s intent</a:t>
            </a:r>
            <a:endParaRPr lang="en-US" sz="2100" dirty="0"/>
          </a:p>
        </p:txBody>
      </p:sp>
      <p:sp>
        <p:nvSpPr>
          <p:cNvPr id="18" name="Text 15"/>
          <p:cNvSpPr txBox="1"/>
          <p:nvPr/>
        </p:nvSpPr>
        <p:spPr>
          <a:xfrm>
            <a:off x="269081" y="4456907"/>
            <a:ext cx="4622800" cy="895351"/>
          </a:xfrm>
          <a:prstGeom prst="rect">
            <a:avLst/>
          </a:prstGeom>
          <a:noFill/>
          <a:ln/>
        </p:spPr>
        <p:txBody>
          <a:bodyPr wrap="square" lIns="0" tIns="0" rIns="0" bIns="0" rtlCol="0" anchor="t"/>
          <a:lstStyle/>
          <a:p>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RFC 9110: safety “does not prevent an implementation from including behavior that is potentially harmful”.</a:t>
            </a:r>
            <a:endParaRPr lang="en-US" sz="1900" dirty="0"/>
          </a:p>
        </p:txBody>
      </p:sp>
      <p:sp>
        <p:nvSpPr>
          <p:cNvPr id="19" name="Text 16"/>
          <p:cNvSpPr txBox="1"/>
          <p:nvPr/>
        </p:nvSpPr>
        <p:spPr>
          <a:xfrm>
            <a:off x="5374481" y="1399381"/>
            <a:ext cx="5094485"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A safe, idempotent QUERY can still enable:</a:t>
            </a:r>
            <a:endParaRPr lang="en-US" sz="2200" dirty="0"/>
          </a:p>
        </p:txBody>
      </p:sp>
      <p:sp>
        <p:nvSpPr>
          <p:cNvPr id="20" name="Text 17"/>
          <p:cNvSpPr txBox="1"/>
          <p:nvPr/>
        </p:nvSpPr>
        <p:spPr>
          <a:xfrm>
            <a:off x="5667772" y="19327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6010672" y="1920081"/>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Resource exhaustion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huge, nested, high-cardinality queries </a:t>
            </a:r>
            <a:pPr algn="l" indent="0" marL="0">
              <a:lnSpc>
                <a:spcPts val="2519"/>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[Cha et al., 2020]</a:t>
            </a:r>
            <a:endParaRPr lang="en-US" sz="2100" dirty="0"/>
          </a:p>
        </p:txBody>
      </p:sp>
      <p:sp>
        <p:nvSpPr>
          <p:cNvPr id="22" name="Text 19"/>
          <p:cNvSpPr txBox="1"/>
          <p:nvPr/>
        </p:nvSpPr>
        <p:spPr>
          <a:xfrm>
            <a:off x="5667772" y="27249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20"/>
          <p:cNvSpPr txBox="1"/>
          <p:nvPr/>
        </p:nvSpPr>
        <p:spPr>
          <a:xfrm>
            <a:off x="6010672" y="2712244"/>
            <a:ext cx="6019053"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Information disclosure</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results the caller should never see</a:t>
            </a:r>
            <a:endParaRPr lang="en-US" sz="2100" dirty="0"/>
          </a:p>
        </p:txBody>
      </p:sp>
      <p:sp>
        <p:nvSpPr>
          <p:cNvPr id="24" name="Text 21"/>
          <p:cNvSpPr txBox="1"/>
          <p:nvPr/>
        </p:nvSpPr>
        <p:spPr>
          <a:xfrm>
            <a:off x="5667772" y="35171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5" name="Text 22"/>
          <p:cNvSpPr txBox="1"/>
          <p:nvPr/>
        </p:nvSpPr>
        <p:spPr>
          <a:xfrm>
            <a:off x="6010672" y="3504407"/>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Broken authorization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read-only is not the same as allowed</a:t>
            </a:r>
            <a:endParaRPr lang="en-US" sz="2100" dirty="0"/>
          </a:p>
        </p:txBody>
      </p:sp>
      <p:sp>
        <p:nvSpPr>
          <p:cNvPr id="26" name="Text 23"/>
          <p:cNvSpPr txBox="1"/>
          <p:nvPr/>
        </p:nvSpPr>
        <p:spPr>
          <a:xfrm>
            <a:off x="5667772" y="4309269"/>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7" name="Text 24"/>
          <p:cNvSpPr txBox="1"/>
          <p:nvPr/>
        </p:nvSpPr>
        <p:spPr>
          <a:xfrm>
            <a:off x="6010672" y="4296569"/>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Injection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query content is untrusted input (SQL, NoSQL, LDAP, search DSLs)</a:t>
            </a:r>
            <a:endParaRPr lang="en-US" sz="2100" dirty="0"/>
          </a:p>
        </p:txBody>
      </p:sp>
      <p:sp>
        <p:nvSpPr>
          <p:cNvPr id="28" name="Text 25"/>
          <p:cNvSpPr txBox="1"/>
          <p:nvPr/>
        </p:nvSpPr>
        <p:spPr>
          <a:xfrm>
            <a:off x="5667772" y="510143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9" name="Text 26"/>
          <p:cNvSpPr txBox="1"/>
          <p:nvPr/>
        </p:nvSpPr>
        <p:spPr>
          <a:xfrm>
            <a:off x="6010672" y="5088731"/>
            <a:ext cx="591224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Automated repetition</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retries are expected, and so is scraping</a:t>
            </a:r>
            <a:endParaRPr lang="en-US" sz="2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17</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37222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Caching QUERY: the key must include the content</a:t>
            </a:r>
            <a:endParaRPr lang="en-US" sz="2400" dirty="0"/>
          </a:p>
        </p:txBody>
      </p:sp>
      <p:sp>
        <p:nvSpPr>
          <p:cNvPr id="10" name="Shape 7"/>
          <p:cNvSpPr/>
          <p:nvPr/>
        </p:nvSpPr>
        <p:spPr>
          <a:xfrm>
            <a:off x="91281" y="1361281"/>
            <a:ext cx="5814219" cy="857251"/>
          </a:xfrm>
          <a:prstGeom prst="rect">
            <a:avLst/>
          </a:prstGeom>
          <a:solidFill>
            <a:srgbClr val="FFFFFF"/>
          </a:solidFill>
          <a:ln w="25400">
            <a:solidFill>
              <a:srgbClr val="CC6600"/>
            </a:solidFill>
            <a:prstDash val="solid"/>
          </a:ln>
        </p:spPr>
      </p:sp>
      <p:sp>
        <p:nvSpPr>
          <p:cNvPr id="11" name="Text 8"/>
          <p:cNvSpPr txBox="1"/>
          <p:nvPr/>
        </p:nvSpPr>
        <p:spPr>
          <a:xfrm>
            <a:off x="243681" y="1488281"/>
            <a:ext cx="5534819"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RFC 10008:</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the cache key MUST incorporate the request content and related metadata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§2.7]</a:t>
            </a:r>
            <a:endParaRPr lang="en-US" sz="1900" dirty="0"/>
          </a:p>
        </p:txBody>
      </p:sp>
      <p:sp>
        <p:nvSpPr>
          <p:cNvPr id="12" name="Shape 9"/>
          <p:cNvSpPr/>
          <p:nvPr/>
        </p:nvSpPr>
        <p:spPr>
          <a:xfrm>
            <a:off x="6083300" y="1361281"/>
            <a:ext cx="5814219" cy="857251"/>
          </a:xfrm>
          <a:prstGeom prst="rect">
            <a:avLst/>
          </a:prstGeom>
          <a:solidFill>
            <a:srgbClr val="D6D6EB"/>
          </a:solidFill>
          <a:ln w="12700">
            <a:solidFill>
              <a:srgbClr val="333399"/>
            </a:solidFill>
            <a:prstDash val="solid"/>
          </a:ln>
        </p:spPr>
      </p:sp>
      <p:sp>
        <p:nvSpPr>
          <p:cNvPr id="13" name="Text 10"/>
          <p:cNvSpPr txBox="1"/>
          <p:nvPr/>
        </p:nvSpPr>
        <p:spPr>
          <a:xfrm>
            <a:off x="6235700" y="1475581"/>
            <a:ext cx="5609788"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Reality: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many caches only cache GET, so they key on the URI alone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9111 §2]</a:t>
            </a:r>
            <a:endParaRPr lang="en-US" sz="1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17</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37222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Caching QUERY: the key must include the content</a:t>
            </a:r>
            <a:endParaRPr lang="en-US" sz="2400" dirty="0"/>
          </a:p>
        </p:txBody>
      </p:sp>
      <p:sp>
        <p:nvSpPr>
          <p:cNvPr id="10" name="Shape 7"/>
          <p:cNvSpPr/>
          <p:nvPr/>
        </p:nvSpPr>
        <p:spPr>
          <a:xfrm>
            <a:off x="91281" y="1361281"/>
            <a:ext cx="5814219" cy="857251"/>
          </a:xfrm>
          <a:prstGeom prst="rect">
            <a:avLst/>
          </a:prstGeom>
          <a:solidFill>
            <a:srgbClr val="FFFFFF"/>
          </a:solidFill>
          <a:ln w="25400">
            <a:solidFill>
              <a:srgbClr val="CC6600"/>
            </a:solidFill>
            <a:prstDash val="solid"/>
          </a:ln>
        </p:spPr>
      </p:sp>
      <p:sp>
        <p:nvSpPr>
          <p:cNvPr id="11" name="Text 8"/>
          <p:cNvSpPr txBox="1"/>
          <p:nvPr/>
        </p:nvSpPr>
        <p:spPr>
          <a:xfrm>
            <a:off x="243681" y="1488281"/>
            <a:ext cx="5534819"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RFC 10008:</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the cache key MUST incorporate the request content and related metadata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§2.7]</a:t>
            </a:r>
            <a:endParaRPr lang="en-US" sz="1900" dirty="0"/>
          </a:p>
        </p:txBody>
      </p:sp>
      <p:sp>
        <p:nvSpPr>
          <p:cNvPr id="12" name="Shape 9"/>
          <p:cNvSpPr/>
          <p:nvPr/>
        </p:nvSpPr>
        <p:spPr>
          <a:xfrm>
            <a:off x="6083300" y="1361281"/>
            <a:ext cx="5814219" cy="857251"/>
          </a:xfrm>
          <a:prstGeom prst="rect">
            <a:avLst/>
          </a:prstGeom>
          <a:solidFill>
            <a:srgbClr val="D6D6EB"/>
          </a:solidFill>
          <a:ln w="12700">
            <a:solidFill>
              <a:srgbClr val="333399"/>
            </a:solidFill>
            <a:prstDash val="solid"/>
          </a:ln>
        </p:spPr>
      </p:sp>
      <p:sp>
        <p:nvSpPr>
          <p:cNvPr id="13" name="Text 10"/>
          <p:cNvSpPr txBox="1"/>
          <p:nvPr/>
        </p:nvSpPr>
        <p:spPr>
          <a:xfrm>
            <a:off x="6235700" y="1475581"/>
            <a:ext cx="5609788"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Reality: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many caches only cache GET, so they key on the URI alone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9111 §2]</a:t>
            </a:r>
            <a:endParaRPr lang="en-US" sz="1900" dirty="0"/>
          </a:p>
        </p:txBody>
      </p:sp>
      <p:sp>
        <p:nvSpPr>
          <p:cNvPr id="14" name="Shape 11"/>
          <p:cNvSpPr/>
          <p:nvPr/>
        </p:nvSpPr>
        <p:spPr>
          <a:xfrm>
            <a:off x="91281" y="2370931"/>
            <a:ext cx="748507" cy="238324"/>
          </a:xfrm>
          <a:prstGeom prst="roundRect">
            <a:avLst>
              <a:gd name="adj" fmla="val 15987"/>
            </a:avLst>
          </a:prstGeom>
          <a:solidFill>
            <a:srgbClr val="CC6600"/>
          </a:solidFill>
          <a:ln/>
        </p:spPr>
      </p:sp>
      <p:sp>
        <p:nvSpPr>
          <p:cNvPr id="15" name="Shape 12"/>
          <p:cNvSpPr/>
          <p:nvPr/>
        </p:nvSpPr>
        <p:spPr>
          <a:xfrm>
            <a:off x="91281" y="2674937"/>
            <a:ext cx="2078037" cy="299640"/>
          </a:xfrm>
          <a:prstGeom prst="rect">
            <a:avLst/>
          </a:prstGeom>
          <a:solidFill>
            <a:srgbClr val="FFFFFF"/>
          </a:solidFill>
          <a:ln w="12700">
            <a:solidFill>
              <a:srgbClr val="333399"/>
            </a:solidFill>
            <a:prstDash val="solid"/>
          </a:ln>
        </p:spPr>
      </p:sp>
      <p:sp>
        <p:nvSpPr>
          <p:cNvPr id="16" name="Text 13"/>
          <p:cNvSpPr txBox="1"/>
          <p:nvPr/>
        </p:nvSpPr>
        <p:spPr>
          <a:xfrm>
            <a:off x="91281" y="2358231"/>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{"role":"admin"}</a:t>
            </a:r>
            <a:endParaRPr lang="en-US" sz="1564" dirty="0"/>
          </a:p>
        </p:txBody>
      </p:sp>
      <p:sp>
        <p:nvSpPr>
          <p:cNvPr id="17" name="Text 14"/>
          <p:cNvSpPr txBox="1"/>
          <p:nvPr/>
        </p:nvSpPr>
        <p:spPr>
          <a:xfrm>
            <a:off x="3342481" y="248860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3698081" y="2431455"/>
            <a:ext cx="4719637" cy="457200"/>
          </a:xfrm>
          <a:prstGeom prst="rect">
            <a:avLst/>
          </a:prstGeom>
          <a:noFill/>
          <a:ln w="12700">
            <a:solidFill>
              <a:srgbClr val="000000"/>
            </a:solidFill>
            <a:prstDash val="solid"/>
          </a:ln>
        </p:spPr>
      </p:sp>
      <p:sp>
        <p:nvSpPr>
          <p:cNvPr id="19" name="Text 16"/>
          <p:cNvSpPr txBox="1"/>
          <p:nvPr/>
        </p:nvSpPr>
        <p:spPr>
          <a:xfrm>
            <a:off x="4335463" y="2545755"/>
            <a:ext cx="3444875" cy="228600"/>
          </a:xfrm>
          <a:prstGeom prst="rect">
            <a:avLst/>
          </a:prstGeom>
          <a:noFill/>
          <a:ln/>
        </p:spPr>
        <p:txBody>
          <a:bodyPr wrap="none" lIns="0" tIns="0" rIns="0" bIns="0" rtlCol="0" anchor="t"/>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method + URI + content → </a:t>
            </a:r>
            <a:pPr algn="ctr" indent="0" marL="0">
              <a:buNone/>
            </a:pPr>
            <a:r>
              <a:rPr lang="en-US" sz="1600" b="1" dirty="0">
                <a:solidFill>
                  <a:srgbClr val="000000"/>
                </a:solidFill>
                <a:latin typeface="Courier New" pitchFamily="34" charset="0"/>
                <a:ea typeface="Courier New" pitchFamily="34" charset="-122"/>
                <a:cs typeface="Courier New" pitchFamily="34" charset="-120"/>
              </a:rPr>
              <a:t>K₁</a:t>
            </a:r>
            <a:endParaRPr lang="en-US" sz="1600" dirty="0"/>
          </a:p>
        </p:txBody>
      </p:sp>
      <p:sp>
        <p:nvSpPr>
          <p:cNvPr id="20" name="Text 17"/>
          <p:cNvSpPr txBox="1"/>
          <p:nvPr/>
        </p:nvSpPr>
        <p:spPr>
          <a:xfrm>
            <a:off x="8493919" y="248860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8"/>
          <p:cNvSpPr/>
          <p:nvPr/>
        </p:nvSpPr>
        <p:spPr>
          <a:xfrm>
            <a:off x="8849519" y="2364780"/>
            <a:ext cx="3048000" cy="590551"/>
          </a:xfrm>
          <a:prstGeom prst="rect">
            <a:avLst/>
          </a:prstGeom>
          <a:solidFill>
            <a:srgbClr val="D6D6EB"/>
          </a:solidFill>
          <a:ln w="12700">
            <a:solidFill>
              <a:srgbClr val="333399"/>
            </a:solidFill>
            <a:prstDash val="solid"/>
          </a:ln>
        </p:spPr>
      </p:sp>
      <p:sp>
        <p:nvSpPr>
          <p:cNvPr id="22" name="Text 19"/>
          <p:cNvSpPr txBox="1"/>
          <p:nvPr/>
        </p:nvSpPr>
        <p:spPr>
          <a:xfrm>
            <a:off x="9251156" y="2504480"/>
            <a:ext cx="2244527"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Response A (admins)</a:t>
            </a:r>
            <a:endParaRPr lang="en-US" sz="1900" dirty="0"/>
          </a:p>
        </p:txBody>
      </p:sp>
      <p:sp>
        <p:nvSpPr>
          <p:cNvPr id="23" name="Shape 20"/>
          <p:cNvSpPr/>
          <p:nvPr/>
        </p:nvSpPr>
        <p:spPr>
          <a:xfrm>
            <a:off x="91281" y="3126979"/>
            <a:ext cx="748507" cy="238324"/>
          </a:xfrm>
          <a:prstGeom prst="roundRect">
            <a:avLst>
              <a:gd name="adj" fmla="val 15987"/>
            </a:avLst>
          </a:prstGeom>
          <a:solidFill>
            <a:srgbClr val="CC6600"/>
          </a:solidFill>
          <a:ln/>
        </p:spPr>
      </p:sp>
      <p:sp>
        <p:nvSpPr>
          <p:cNvPr id="24" name="Shape 21"/>
          <p:cNvSpPr/>
          <p:nvPr/>
        </p:nvSpPr>
        <p:spPr>
          <a:xfrm>
            <a:off x="91281" y="3430984"/>
            <a:ext cx="1956197" cy="299640"/>
          </a:xfrm>
          <a:prstGeom prst="rect">
            <a:avLst/>
          </a:prstGeom>
          <a:solidFill>
            <a:srgbClr val="FFFFFF"/>
          </a:solidFill>
          <a:ln w="12700">
            <a:solidFill>
              <a:srgbClr val="333399"/>
            </a:solidFill>
            <a:prstDash val="solid"/>
          </a:ln>
        </p:spPr>
      </p:sp>
      <p:sp>
        <p:nvSpPr>
          <p:cNvPr id="25" name="Text 22"/>
          <p:cNvSpPr txBox="1"/>
          <p:nvPr/>
        </p:nvSpPr>
        <p:spPr>
          <a:xfrm>
            <a:off x="91281" y="3114279"/>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{"role":"user"}</a:t>
            </a:r>
            <a:endParaRPr lang="en-US" sz="1564" dirty="0"/>
          </a:p>
        </p:txBody>
      </p:sp>
      <p:sp>
        <p:nvSpPr>
          <p:cNvPr id="26" name="Text 23"/>
          <p:cNvSpPr txBox="1"/>
          <p:nvPr/>
        </p:nvSpPr>
        <p:spPr>
          <a:xfrm>
            <a:off x="3342481" y="3244652"/>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7" name="Shape 24"/>
          <p:cNvSpPr/>
          <p:nvPr/>
        </p:nvSpPr>
        <p:spPr>
          <a:xfrm>
            <a:off x="3698081" y="3187501"/>
            <a:ext cx="4719637" cy="457200"/>
          </a:xfrm>
          <a:prstGeom prst="rect">
            <a:avLst/>
          </a:prstGeom>
          <a:noFill/>
          <a:ln w="12700">
            <a:solidFill>
              <a:srgbClr val="000000"/>
            </a:solidFill>
            <a:prstDash val="solid"/>
          </a:ln>
        </p:spPr>
      </p:sp>
      <p:sp>
        <p:nvSpPr>
          <p:cNvPr id="28" name="Text 25"/>
          <p:cNvSpPr txBox="1"/>
          <p:nvPr/>
        </p:nvSpPr>
        <p:spPr>
          <a:xfrm>
            <a:off x="4335463" y="3301801"/>
            <a:ext cx="3444875" cy="228600"/>
          </a:xfrm>
          <a:prstGeom prst="rect">
            <a:avLst/>
          </a:prstGeom>
          <a:noFill/>
          <a:ln/>
        </p:spPr>
        <p:txBody>
          <a:bodyPr wrap="none" lIns="0" tIns="0" rIns="0" bIns="0" rtlCol="0" anchor="t"/>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method + URI + content → </a:t>
            </a:r>
            <a:pPr algn="ctr" indent="0" marL="0">
              <a:buNone/>
            </a:pPr>
            <a:r>
              <a:rPr lang="en-US" sz="1600" b="1" dirty="0">
                <a:solidFill>
                  <a:srgbClr val="000000"/>
                </a:solidFill>
                <a:latin typeface="Courier New" pitchFamily="34" charset="0"/>
                <a:ea typeface="Courier New" pitchFamily="34" charset="-122"/>
                <a:cs typeface="Courier New" pitchFamily="34" charset="-120"/>
              </a:rPr>
              <a:t>K₂</a:t>
            </a:r>
            <a:endParaRPr lang="en-US" sz="1600" dirty="0"/>
          </a:p>
        </p:txBody>
      </p:sp>
      <p:sp>
        <p:nvSpPr>
          <p:cNvPr id="29" name="Text 26"/>
          <p:cNvSpPr txBox="1"/>
          <p:nvPr/>
        </p:nvSpPr>
        <p:spPr>
          <a:xfrm>
            <a:off x="8493919" y="3244652"/>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Shape 27"/>
          <p:cNvSpPr/>
          <p:nvPr/>
        </p:nvSpPr>
        <p:spPr>
          <a:xfrm>
            <a:off x="8849519" y="3120827"/>
            <a:ext cx="3048000" cy="590551"/>
          </a:xfrm>
          <a:prstGeom prst="rect">
            <a:avLst/>
          </a:prstGeom>
          <a:solidFill>
            <a:srgbClr val="DAEDEF"/>
          </a:solidFill>
          <a:ln w="12700">
            <a:solidFill>
              <a:srgbClr val="009999"/>
            </a:solidFill>
            <a:prstDash val="solid"/>
          </a:ln>
        </p:spPr>
      </p:sp>
      <p:sp>
        <p:nvSpPr>
          <p:cNvPr id="31" name="Text 28"/>
          <p:cNvSpPr txBox="1"/>
          <p:nvPr/>
        </p:nvSpPr>
        <p:spPr>
          <a:xfrm>
            <a:off x="9358511" y="3260527"/>
            <a:ext cx="2030016"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Response B (users)</a:t>
            </a:r>
            <a:endParaRPr lang="en-US" sz="1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17</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37222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Caching QUERY: the key must include the content</a:t>
            </a:r>
            <a:endParaRPr lang="en-US" sz="2400" dirty="0"/>
          </a:p>
        </p:txBody>
      </p:sp>
      <p:sp>
        <p:nvSpPr>
          <p:cNvPr id="10" name="Shape 7"/>
          <p:cNvSpPr/>
          <p:nvPr/>
        </p:nvSpPr>
        <p:spPr>
          <a:xfrm>
            <a:off x="91281" y="1361281"/>
            <a:ext cx="5814219" cy="857251"/>
          </a:xfrm>
          <a:prstGeom prst="rect">
            <a:avLst/>
          </a:prstGeom>
          <a:solidFill>
            <a:srgbClr val="FFFFFF"/>
          </a:solidFill>
          <a:ln w="25400">
            <a:solidFill>
              <a:srgbClr val="CC6600"/>
            </a:solidFill>
            <a:prstDash val="solid"/>
          </a:ln>
        </p:spPr>
      </p:sp>
      <p:sp>
        <p:nvSpPr>
          <p:cNvPr id="11" name="Text 8"/>
          <p:cNvSpPr txBox="1"/>
          <p:nvPr/>
        </p:nvSpPr>
        <p:spPr>
          <a:xfrm>
            <a:off x="243681" y="1488281"/>
            <a:ext cx="5534819"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RFC 10008:</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the cache key MUST incorporate the request content and related metadata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§2.7]</a:t>
            </a:r>
            <a:endParaRPr lang="en-US" sz="1900" dirty="0"/>
          </a:p>
        </p:txBody>
      </p:sp>
      <p:sp>
        <p:nvSpPr>
          <p:cNvPr id="12" name="Shape 9"/>
          <p:cNvSpPr/>
          <p:nvPr/>
        </p:nvSpPr>
        <p:spPr>
          <a:xfrm>
            <a:off x="6083300" y="1361281"/>
            <a:ext cx="5814219" cy="857251"/>
          </a:xfrm>
          <a:prstGeom prst="rect">
            <a:avLst/>
          </a:prstGeom>
          <a:solidFill>
            <a:srgbClr val="D6D6EB"/>
          </a:solidFill>
          <a:ln w="12700">
            <a:solidFill>
              <a:srgbClr val="333399"/>
            </a:solidFill>
            <a:prstDash val="solid"/>
          </a:ln>
        </p:spPr>
      </p:sp>
      <p:sp>
        <p:nvSpPr>
          <p:cNvPr id="13" name="Text 10"/>
          <p:cNvSpPr txBox="1"/>
          <p:nvPr/>
        </p:nvSpPr>
        <p:spPr>
          <a:xfrm>
            <a:off x="6235700" y="1475581"/>
            <a:ext cx="5609788"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Reality: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many caches only cache GET, so they key on the URI alone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9111 §2]</a:t>
            </a:r>
            <a:endParaRPr lang="en-US" sz="1900" dirty="0"/>
          </a:p>
        </p:txBody>
      </p:sp>
      <p:sp>
        <p:nvSpPr>
          <p:cNvPr id="14" name="Shape 11"/>
          <p:cNvSpPr/>
          <p:nvPr/>
        </p:nvSpPr>
        <p:spPr>
          <a:xfrm>
            <a:off x="91281" y="2370931"/>
            <a:ext cx="748507" cy="238324"/>
          </a:xfrm>
          <a:prstGeom prst="roundRect">
            <a:avLst>
              <a:gd name="adj" fmla="val 15987"/>
            </a:avLst>
          </a:prstGeom>
          <a:solidFill>
            <a:srgbClr val="CC6600"/>
          </a:solidFill>
          <a:ln/>
        </p:spPr>
      </p:sp>
      <p:sp>
        <p:nvSpPr>
          <p:cNvPr id="15" name="Shape 12"/>
          <p:cNvSpPr/>
          <p:nvPr/>
        </p:nvSpPr>
        <p:spPr>
          <a:xfrm>
            <a:off x="91281" y="2674937"/>
            <a:ext cx="2078037" cy="299640"/>
          </a:xfrm>
          <a:prstGeom prst="rect">
            <a:avLst/>
          </a:prstGeom>
          <a:solidFill>
            <a:srgbClr val="FFFFFF"/>
          </a:solidFill>
          <a:ln w="12700">
            <a:solidFill>
              <a:srgbClr val="333399"/>
            </a:solidFill>
            <a:prstDash val="solid"/>
          </a:ln>
        </p:spPr>
      </p:sp>
      <p:sp>
        <p:nvSpPr>
          <p:cNvPr id="16" name="Text 13"/>
          <p:cNvSpPr txBox="1"/>
          <p:nvPr/>
        </p:nvSpPr>
        <p:spPr>
          <a:xfrm>
            <a:off x="91281" y="2358231"/>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{"role":"admin"}</a:t>
            </a:r>
            <a:endParaRPr lang="en-US" sz="1564" dirty="0"/>
          </a:p>
        </p:txBody>
      </p:sp>
      <p:sp>
        <p:nvSpPr>
          <p:cNvPr id="17" name="Text 14"/>
          <p:cNvSpPr txBox="1"/>
          <p:nvPr/>
        </p:nvSpPr>
        <p:spPr>
          <a:xfrm>
            <a:off x="3342481" y="248860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3698081" y="2431455"/>
            <a:ext cx="4719637" cy="457200"/>
          </a:xfrm>
          <a:prstGeom prst="rect">
            <a:avLst/>
          </a:prstGeom>
          <a:noFill/>
          <a:ln w="12700">
            <a:solidFill>
              <a:srgbClr val="000000"/>
            </a:solidFill>
            <a:prstDash val="solid"/>
          </a:ln>
        </p:spPr>
      </p:sp>
      <p:sp>
        <p:nvSpPr>
          <p:cNvPr id="19" name="Text 16"/>
          <p:cNvSpPr txBox="1"/>
          <p:nvPr/>
        </p:nvSpPr>
        <p:spPr>
          <a:xfrm>
            <a:off x="4335463" y="2545755"/>
            <a:ext cx="3444875" cy="228600"/>
          </a:xfrm>
          <a:prstGeom prst="rect">
            <a:avLst/>
          </a:prstGeom>
          <a:noFill/>
          <a:ln/>
        </p:spPr>
        <p:txBody>
          <a:bodyPr wrap="none" lIns="0" tIns="0" rIns="0" bIns="0" rtlCol="0" anchor="t"/>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method + URI + content → </a:t>
            </a:r>
            <a:pPr algn="ctr" indent="0" marL="0">
              <a:buNone/>
            </a:pPr>
            <a:r>
              <a:rPr lang="en-US" sz="1600" b="1" dirty="0">
                <a:solidFill>
                  <a:srgbClr val="000000"/>
                </a:solidFill>
                <a:latin typeface="Courier New" pitchFamily="34" charset="0"/>
                <a:ea typeface="Courier New" pitchFamily="34" charset="-122"/>
                <a:cs typeface="Courier New" pitchFamily="34" charset="-120"/>
              </a:rPr>
              <a:t>K₁</a:t>
            </a:r>
            <a:endParaRPr lang="en-US" sz="1600" dirty="0"/>
          </a:p>
        </p:txBody>
      </p:sp>
      <p:sp>
        <p:nvSpPr>
          <p:cNvPr id="20" name="Text 17"/>
          <p:cNvSpPr txBox="1"/>
          <p:nvPr/>
        </p:nvSpPr>
        <p:spPr>
          <a:xfrm>
            <a:off x="8493919" y="248860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8"/>
          <p:cNvSpPr/>
          <p:nvPr/>
        </p:nvSpPr>
        <p:spPr>
          <a:xfrm>
            <a:off x="8849519" y="2364780"/>
            <a:ext cx="3048000" cy="590551"/>
          </a:xfrm>
          <a:prstGeom prst="rect">
            <a:avLst/>
          </a:prstGeom>
          <a:solidFill>
            <a:srgbClr val="D6D6EB"/>
          </a:solidFill>
          <a:ln w="12700">
            <a:solidFill>
              <a:srgbClr val="333399"/>
            </a:solidFill>
            <a:prstDash val="solid"/>
          </a:ln>
        </p:spPr>
      </p:sp>
      <p:sp>
        <p:nvSpPr>
          <p:cNvPr id="22" name="Text 19"/>
          <p:cNvSpPr txBox="1"/>
          <p:nvPr/>
        </p:nvSpPr>
        <p:spPr>
          <a:xfrm>
            <a:off x="9251156" y="2504480"/>
            <a:ext cx="2244527"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Response A (admins)</a:t>
            </a:r>
            <a:endParaRPr lang="en-US" sz="1900" dirty="0"/>
          </a:p>
        </p:txBody>
      </p:sp>
      <p:sp>
        <p:nvSpPr>
          <p:cNvPr id="23" name="Shape 20"/>
          <p:cNvSpPr/>
          <p:nvPr/>
        </p:nvSpPr>
        <p:spPr>
          <a:xfrm>
            <a:off x="91281" y="3126979"/>
            <a:ext cx="748507" cy="238324"/>
          </a:xfrm>
          <a:prstGeom prst="roundRect">
            <a:avLst>
              <a:gd name="adj" fmla="val 15987"/>
            </a:avLst>
          </a:prstGeom>
          <a:solidFill>
            <a:srgbClr val="CC6600"/>
          </a:solidFill>
          <a:ln/>
        </p:spPr>
      </p:sp>
      <p:sp>
        <p:nvSpPr>
          <p:cNvPr id="24" name="Shape 21"/>
          <p:cNvSpPr/>
          <p:nvPr/>
        </p:nvSpPr>
        <p:spPr>
          <a:xfrm>
            <a:off x="91281" y="3430984"/>
            <a:ext cx="1956197" cy="299640"/>
          </a:xfrm>
          <a:prstGeom prst="rect">
            <a:avLst/>
          </a:prstGeom>
          <a:solidFill>
            <a:srgbClr val="FFFFFF"/>
          </a:solidFill>
          <a:ln w="12700">
            <a:solidFill>
              <a:srgbClr val="333399"/>
            </a:solidFill>
            <a:prstDash val="solid"/>
          </a:ln>
        </p:spPr>
      </p:sp>
      <p:sp>
        <p:nvSpPr>
          <p:cNvPr id="25" name="Text 22"/>
          <p:cNvSpPr txBox="1"/>
          <p:nvPr/>
        </p:nvSpPr>
        <p:spPr>
          <a:xfrm>
            <a:off x="91281" y="3114279"/>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{"role":"user"}</a:t>
            </a:r>
            <a:endParaRPr lang="en-US" sz="1564" dirty="0"/>
          </a:p>
        </p:txBody>
      </p:sp>
      <p:sp>
        <p:nvSpPr>
          <p:cNvPr id="26" name="Text 23"/>
          <p:cNvSpPr txBox="1"/>
          <p:nvPr/>
        </p:nvSpPr>
        <p:spPr>
          <a:xfrm>
            <a:off x="3342481" y="3244652"/>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7" name="Shape 24"/>
          <p:cNvSpPr/>
          <p:nvPr/>
        </p:nvSpPr>
        <p:spPr>
          <a:xfrm>
            <a:off x="3698081" y="3187501"/>
            <a:ext cx="4719637" cy="457200"/>
          </a:xfrm>
          <a:prstGeom prst="rect">
            <a:avLst/>
          </a:prstGeom>
          <a:noFill/>
          <a:ln w="12700">
            <a:solidFill>
              <a:srgbClr val="000000"/>
            </a:solidFill>
            <a:prstDash val="solid"/>
          </a:ln>
        </p:spPr>
      </p:sp>
      <p:sp>
        <p:nvSpPr>
          <p:cNvPr id="28" name="Text 25"/>
          <p:cNvSpPr txBox="1"/>
          <p:nvPr/>
        </p:nvSpPr>
        <p:spPr>
          <a:xfrm>
            <a:off x="4335463" y="3301801"/>
            <a:ext cx="3444875" cy="228600"/>
          </a:xfrm>
          <a:prstGeom prst="rect">
            <a:avLst/>
          </a:prstGeom>
          <a:noFill/>
          <a:ln/>
        </p:spPr>
        <p:txBody>
          <a:bodyPr wrap="none" lIns="0" tIns="0" rIns="0" bIns="0" rtlCol="0" anchor="t"/>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method + URI + content → </a:t>
            </a:r>
            <a:pPr algn="ctr" indent="0" marL="0">
              <a:buNone/>
            </a:pPr>
            <a:r>
              <a:rPr lang="en-US" sz="1600" b="1" dirty="0">
                <a:solidFill>
                  <a:srgbClr val="000000"/>
                </a:solidFill>
                <a:latin typeface="Courier New" pitchFamily="34" charset="0"/>
                <a:ea typeface="Courier New" pitchFamily="34" charset="-122"/>
                <a:cs typeface="Courier New" pitchFamily="34" charset="-120"/>
              </a:rPr>
              <a:t>K₂</a:t>
            </a:r>
            <a:endParaRPr lang="en-US" sz="1600" dirty="0"/>
          </a:p>
        </p:txBody>
      </p:sp>
      <p:sp>
        <p:nvSpPr>
          <p:cNvPr id="29" name="Text 26"/>
          <p:cNvSpPr txBox="1"/>
          <p:nvPr/>
        </p:nvSpPr>
        <p:spPr>
          <a:xfrm>
            <a:off x="8493919" y="3244652"/>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Shape 27"/>
          <p:cNvSpPr/>
          <p:nvPr/>
        </p:nvSpPr>
        <p:spPr>
          <a:xfrm>
            <a:off x="8849519" y="3120827"/>
            <a:ext cx="3048000" cy="590551"/>
          </a:xfrm>
          <a:prstGeom prst="rect">
            <a:avLst/>
          </a:prstGeom>
          <a:solidFill>
            <a:srgbClr val="DAEDEF"/>
          </a:solidFill>
          <a:ln w="12700">
            <a:solidFill>
              <a:srgbClr val="009999"/>
            </a:solidFill>
            <a:prstDash val="solid"/>
          </a:ln>
        </p:spPr>
      </p:sp>
      <p:sp>
        <p:nvSpPr>
          <p:cNvPr id="31" name="Text 28"/>
          <p:cNvSpPr txBox="1"/>
          <p:nvPr/>
        </p:nvSpPr>
        <p:spPr>
          <a:xfrm>
            <a:off x="9358511" y="3260527"/>
            <a:ext cx="2030016"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Response B (users)</a:t>
            </a:r>
            <a:endParaRPr lang="en-US" sz="1900" dirty="0"/>
          </a:p>
        </p:txBody>
      </p:sp>
      <p:sp>
        <p:nvSpPr>
          <p:cNvPr id="32" name="Shape 29"/>
          <p:cNvSpPr/>
          <p:nvPr/>
        </p:nvSpPr>
        <p:spPr>
          <a:xfrm>
            <a:off x="91281" y="3857625"/>
            <a:ext cx="11806237" cy="0"/>
          </a:xfrm>
          <a:prstGeom prst="line">
            <a:avLst/>
          </a:prstGeom>
          <a:noFill/>
          <a:ln w="25400">
            <a:solidFill>
              <a:srgbClr val="993300"/>
            </a:solidFill>
            <a:prstDash val="dash"/>
          </a:ln>
        </p:spPr>
      </p:sp>
      <p:sp>
        <p:nvSpPr>
          <p:cNvPr id="33" name="Shape 30"/>
          <p:cNvSpPr/>
          <p:nvPr/>
        </p:nvSpPr>
        <p:spPr>
          <a:xfrm>
            <a:off x="91281" y="4089201"/>
            <a:ext cx="748507" cy="238324"/>
          </a:xfrm>
          <a:prstGeom prst="roundRect">
            <a:avLst>
              <a:gd name="adj" fmla="val 15987"/>
            </a:avLst>
          </a:prstGeom>
          <a:solidFill>
            <a:srgbClr val="CC6600"/>
          </a:solidFill>
          <a:ln/>
        </p:spPr>
      </p:sp>
      <p:sp>
        <p:nvSpPr>
          <p:cNvPr id="34" name="Shape 31"/>
          <p:cNvSpPr/>
          <p:nvPr/>
        </p:nvSpPr>
        <p:spPr>
          <a:xfrm>
            <a:off x="91281" y="4393208"/>
            <a:ext cx="1956197" cy="299640"/>
          </a:xfrm>
          <a:prstGeom prst="rect">
            <a:avLst/>
          </a:prstGeom>
          <a:solidFill>
            <a:srgbClr val="FFFFFF"/>
          </a:solidFill>
          <a:ln w="12700">
            <a:solidFill>
              <a:srgbClr val="333399"/>
            </a:solidFill>
            <a:prstDash val="solid"/>
          </a:ln>
        </p:spPr>
      </p:sp>
      <p:sp>
        <p:nvSpPr>
          <p:cNvPr id="35" name="Text 32"/>
          <p:cNvSpPr txBox="1"/>
          <p:nvPr/>
        </p:nvSpPr>
        <p:spPr>
          <a:xfrm>
            <a:off x="91281" y="4076501"/>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{"role":"user"}</a:t>
            </a:r>
            <a:endParaRPr lang="en-US" sz="1564" dirty="0"/>
          </a:p>
        </p:txBody>
      </p:sp>
      <p:sp>
        <p:nvSpPr>
          <p:cNvPr id="36" name="Text 33"/>
          <p:cNvSpPr txBox="1"/>
          <p:nvPr/>
        </p:nvSpPr>
        <p:spPr>
          <a:xfrm>
            <a:off x="3342481" y="420687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7" name="Shape 34"/>
          <p:cNvSpPr/>
          <p:nvPr/>
        </p:nvSpPr>
        <p:spPr>
          <a:xfrm>
            <a:off x="3698081" y="4010025"/>
            <a:ext cx="4719637" cy="736600"/>
          </a:xfrm>
          <a:prstGeom prst="rect">
            <a:avLst/>
          </a:prstGeom>
          <a:noFill/>
          <a:ln w="25400">
            <a:solidFill>
              <a:srgbClr val="993300"/>
            </a:solidFill>
            <a:prstDash val="solid"/>
          </a:ln>
        </p:spPr>
      </p:sp>
      <p:sp>
        <p:nvSpPr>
          <p:cNvPr id="38" name="Text 35"/>
          <p:cNvSpPr txBox="1"/>
          <p:nvPr/>
        </p:nvSpPr>
        <p:spPr>
          <a:xfrm>
            <a:off x="3786981" y="4137025"/>
            <a:ext cx="4541837" cy="482600"/>
          </a:xfrm>
          <a:prstGeom prst="rect">
            <a:avLst/>
          </a:prstGeom>
          <a:noFill/>
          <a:ln/>
        </p:spPr>
        <p:txBody>
          <a:bodyPr wrap="square" lIns="0" tIns="0" rIns="0" bIns="0" rtlCol="0" anchor="t"/>
          <a:lstStyle/>
          <a:p>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content ignored, or </a:t>
            </a:r>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role</a:t>
            </a:r>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 normalized away → </a:t>
            </a:r>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K₁</a:t>
            </a:r>
            <a:endParaRPr lang="en-US" sz="1600" dirty="0"/>
          </a:p>
        </p:txBody>
      </p:sp>
      <p:sp>
        <p:nvSpPr>
          <p:cNvPr id="39" name="Text 36"/>
          <p:cNvSpPr txBox="1"/>
          <p:nvPr/>
        </p:nvSpPr>
        <p:spPr>
          <a:xfrm>
            <a:off x="8493919" y="420687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0" name="Shape 37"/>
          <p:cNvSpPr/>
          <p:nvPr/>
        </p:nvSpPr>
        <p:spPr>
          <a:xfrm>
            <a:off x="8849519" y="4070351"/>
            <a:ext cx="3048000" cy="615949"/>
          </a:xfrm>
          <a:prstGeom prst="rect">
            <a:avLst/>
          </a:prstGeom>
          <a:solidFill>
            <a:srgbClr val="FFFFFF"/>
          </a:solidFill>
          <a:ln w="25400">
            <a:solidFill>
              <a:srgbClr val="993300"/>
            </a:solidFill>
            <a:prstDash val="solid"/>
          </a:ln>
        </p:spPr>
      </p:sp>
      <p:sp>
        <p:nvSpPr>
          <p:cNvPr id="41" name="Text 38"/>
          <p:cNvSpPr txBox="1"/>
          <p:nvPr/>
        </p:nvSpPr>
        <p:spPr>
          <a:xfrm>
            <a:off x="9260880" y="4222751"/>
            <a:ext cx="2225080"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 Response A served</a:t>
            </a:r>
            <a:endParaRPr lang="en-US" sz="1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17</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37222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Caching QUERY: the key must include the content</a:t>
            </a:r>
            <a:endParaRPr lang="en-US" sz="2400" dirty="0"/>
          </a:p>
        </p:txBody>
      </p:sp>
      <p:sp>
        <p:nvSpPr>
          <p:cNvPr id="10" name="Shape 7"/>
          <p:cNvSpPr/>
          <p:nvPr/>
        </p:nvSpPr>
        <p:spPr>
          <a:xfrm>
            <a:off x="91281" y="1361281"/>
            <a:ext cx="5814219" cy="857251"/>
          </a:xfrm>
          <a:prstGeom prst="rect">
            <a:avLst/>
          </a:prstGeom>
          <a:solidFill>
            <a:srgbClr val="FFFFFF"/>
          </a:solidFill>
          <a:ln w="25400">
            <a:solidFill>
              <a:srgbClr val="CC6600"/>
            </a:solidFill>
            <a:prstDash val="solid"/>
          </a:ln>
        </p:spPr>
      </p:sp>
      <p:sp>
        <p:nvSpPr>
          <p:cNvPr id="11" name="Text 8"/>
          <p:cNvSpPr txBox="1"/>
          <p:nvPr/>
        </p:nvSpPr>
        <p:spPr>
          <a:xfrm>
            <a:off x="243681" y="1488281"/>
            <a:ext cx="5534819"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RFC 10008:</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the cache key MUST incorporate the request content and related metadata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§2.7]</a:t>
            </a:r>
            <a:endParaRPr lang="en-US" sz="1900" dirty="0"/>
          </a:p>
        </p:txBody>
      </p:sp>
      <p:sp>
        <p:nvSpPr>
          <p:cNvPr id="12" name="Shape 9"/>
          <p:cNvSpPr/>
          <p:nvPr/>
        </p:nvSpPr>
        <p:spPr>
          <a:xfrm>
            <a:off x="6083300" y="1361281"/>
            <a:ext cx="5814219" cy="857251"/>
          </a:xfrm>
          <a:prstGeom prst="rect">
            <a:avLst/>
          </a:prstGeom>
          <a:solidFill>
            <a:srgbClr val="D6D6EB"/>
          </a:solidFill>
          <a:ln w="12700">
            <a:solidFill>
              <a:srgbClr val="333399"/>
            </a:solidFill>
            <a:prstDash val="solid"/>
          </a:ln>
        </p:spPr>
      </p:sp>
      <p:sp>
        <p:nvSpPr>
          <p:cNvPr id="13" name="Text 10"/>
          <p:cNvSpPr txBox="1"/>
          <p:nvPr/>
        </p:nvSpPr>
        <p:spPr>
          <a:xfrm>
            <a:off x="6235700" y="1475581"/>
            <a:ext cx="5609788" cy="593725"/>
          </a:xfrm>
          <a:prstGeom prst="rect">
            <a:avLst/>
          </a:prstGeom>
          <a:noFill/>
          <a:ln/>
        </p:spPr>
        <p:txBody>
          <a:bodyPr wrap="square" lIns="0" tIns="0" rIns="0" bIns="0" rtlCol="0" anchor="t"/>
          <a:lstStyle/>
          <a:p>
            <a:pPr algn="l" indent="0" marL="0">
              <a:lnSpc>
                <a:spcPts val="2375"/>
              </a:lnSpc>
              <a:buNone/>
            </a:pPr>
            <a:r>
              <a:rPr lang="en-US" sz="1900" b="1" dirty="0">
                <a:solidFill>
                  <a:srgbClr val="993300"/>
                </a:solidFill>
                <a:latin typeface="Calibri" pitchFamily="34" charset="0"/>
                <a:ea typeface="Calibri" pitchFamily="34" charset="-122"/>
                <a:cs typeface="Calibri" pitchFamily="34" charset="-120"/>
              </a:rPr>
              <a:t>Reality:</a:t>
            </a:r>
            <a:pPr algn="l" indent="0" marL="0">
              <a:lnSpc>
                <a:spcPts val="2375"/>
              </a:lnSpc>
              <a:buNone/>
            </a:pPr>
            <a:r>
              <a:rPr lang="en-US" sz="1900" dirty="0">
                <a:solidFill>
                  <a:srgbClr val="000000"/>
                </a:solidFill>
                <a:latin typeface="Calibri" pitchFamily="34" charset="0"/>
                <a:ea typeface="Calibri" pitchFamily="34" charset="-122"/>
                <a:cs typeface="Calibri" pitchFamily="34" charset="-120"/>
              </a:rPr>
              <a:t> many caches only cache GET, so they key on the URI alone </a:t>
            </a:r>
            <a:pPr algn="l" indent="0" marL="0">
              <a:lnSpc>
                <a:spcPts val="2375"/>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9111 §2]</a:t>
            </a:r>
            <a:endParaRPr lang="en-US" sz="1900" dirty="0"/>
          </a:p>
        </p:txBody>
      </p:sp>
      <p:sp>
        <p:nvSpPr>
          <p:cNvPr id="14" name="Shape 11"/>
          <p:cNvSpPr/>
          <p:nvPr/>
        </p:nvSpPr>
        <p:spPr>
          <a:xfrm>
            <a:off x="91281" y="2370931"/>
            <a:ext cx="748507" cy="238324"/>
          </a:xfrm>
          <a:prstGeom prst="roundRect">
            <a:avLst>
              <a:gd name="adj" fmla="val 15987"/>
            </a:avLst>
          </a:prstGeom>
          <a:solidFill>
            <a:srgbClr val="CC6600"/>
          </a:solidFill>
          <a:ln/>
        </p:spPr>
      </p:sp>
      <p:sp>
        <p:nvSpPr>
          <p:cNvPr id="15" name="Shape 12"/>
          <p:cNvSpPr/>
          <p:nvPr/>
        </p:nvSpPr>
        <p:spPr>
          <a:xfrm>
            <a:off x="91281" y="2674937"/>
            <a:ext cx="2078037" cy="299640"/>
          </a:xfrm>
          <a:prstGeom prst="rect">
            <a:avLst/>
          </a:prstGeom>
          <a:solidFill>
            <a:srgbClr val="FFFFFF"/>
          </a:solidFill>
          <a:ln w="12700">
            <a:solidFill>
              <a:srgbClr val="333399"/>
            </a:solidFill>
            <a:prstDash val="solid"/>
          </a:ln>
        </p:spPr>
      </p:sp>
      <p:sp>
        <p:nvSpPr>
          <p:cNvPr id="16" name="Text 13"/>
          <p:cNvSpPr txBox="1"/>
          <p:nvPr/>
        </p:nvSpPr>
        <p:spPr>
          <a:xfrm>
            <a:off x="91281" y="2358231"/>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{"role":"admin"}</a:t>
            </a:r>
            <a:endParaRPr lang="en-US" sz="1564" dirty="0"/>
          </a:p>
        </p:txBody>
      </p:sp>
      <p:sp>
        <p:nvSpPr>
          <p:cNvPr id="17" name="Text 14"/>
          <p:cNvSpPr txBox="1"/>
          <p:nvPr/>
        </p:nvSpPr>
        <p:spPr>
          <a:xfrm>
            <a:off x="3342481" y="248860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3698081" y="2431455"/>
            <a:ext cx="4719637" cy="457200"/>
          </a:xfrm>
          <a:prstGeom prst="rect">
            <a:avLst/>
          </a:prstGeom>
          <a:noFill/>
          <a:ln w="12700">
            <a:solidFill>
              <a:srgbClr val="000000"/>
            </a:solidFill>
            <a:prstDash val="solid"/>
          </a:ln>
        </p:spPr>
      </p:sp>
      <p:sp>
        <p:nvSpPr>
          <p:cNvPr id="19" name="Text 16"/>
          <p:cNvSpPr txBox="1"/>
          <p:nvPr/>
        </p:nvSpPr>
        <p:spPr>
          <a:xfrm>
            <a:off x="4335463" y="2545755"/>
            <a:ext cx="3444875" cy="228600"/>
          </a:xfrm>
          <a:prstGeom prst="rect">
            <a:avLst/>
          </a:prstGeom>
          <a:noFill/>
          <a:ln/>
        </p:spPr>
        <p:txBody>
          <a:bodyPr wrap="none" lIns="0" tIns="0" rIns="0" bIns="0" rtlCol="0" anchor="t"/>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method + URI + content → </a:t>
            </a:r>
            <a:pPr algn="ctr" indent="0" marL="0">
              <a:buNone/>
            </a:pPr>
            <a:r>
              <a:rPr lang="en-US" sz="1600" b="1" dirty="0">
                <a:solidFill>
                  <a:srgbClr val="000000"/>
                </a:solidFill>
                <a:latin typeface="Courier New" pitchFamily="34" charset="0"/>
                <a:ea typeface="Courier New" pitchFamily="34" charset="-122"/>
                <a:cs typeface="Courier New" pitchFamily="34" charset="-120"/>
              </a:rPr>
              <a:t>K₁</a:t>
            </a:r>
            <a:endParaRPr lang="en-US" sz="1600" dirty="0"/>
          </a:p>
        </p:txBody>
      </p:sp>
      <p:sp>
        <p:nvSpPr>
          <p:cNvPr id="20" name="Text 17"/>
          <p:cNvSpPr txBox="1"/>
          <p:nvPr/>
        </p:nvSpPr>
        <p:spPr>
          <a:xfrm>
            <a:off x="8493919" y="248860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Shape 18"/>
          <p:cNvSpPr/>
          <p:nvPr/>
        </p:nvSpPr>
        <p:spPr>
          <a:xfrm>
            <a:off x="8849519" y="2364780"/>
            <a:ext cx="3048000" cy="590551"/>
          </a:xfrm>
          <a:prstGeom prst="rect">
            <a:avLst/>
          </a:prstGeom>
          <a:solidFill>
            <a:srgbClr val="D6D6EB"/>
          </a:solidFill>
          <a:ln w="12700">
            <a:solidFill>
              <a:srgbClr val="333399"/>
            </a:solidFill>
            <a:prstDash val="solid"/>
          </a:ln>
        </p:spPr>
      </p:sp>
      <p:sp>
        <p:nvSpPr>
          <p:cNvPr id="22" name="Text 19"/>
          <p:cNvSpPr txBox="1"/>
          <p:nvPr/>
        </p:nvSpPr>
        <p:spPr>
          <a:xfrm>
            <a:off x="9251156" y="2504480"/>
            <a:ext cx="2244527"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Response A (admins)</a:t>
            </a:r>
            <a:endParaRPr lang="en-US" sz="1900" dirty="0"/>
          </a:p>
        </p:txBody>
      </p:sp>
      <p:sp>
        <p:nvSpPr>
          <p:cNvPr id="23" name="Shape 20"/>
          <p:cNvSpPr/>
          <p:nvPr/>
        </p:nvSpPr>
        <p:spPr>
          <a:xfrm>
            <a:off x="91281" y="3126979"/>
            <a:ext cx="748507" cy="238324"/>
          </a:xfrm>
          <a:prstGeom prst="roundRect">
            <a:avLst>
              <a:gd name="adj" fmla="val 15987"/>
            </a:avLst>
          </a:prstGeom>
          <a:solidFill>
            <a:srgbClr val="CC6600"/>
          </a:solidFill>
          <a:ln/>
        </p:spPr>
      </p:sp>
      <p:sp>
        <p:nvSpPr>
          <p:cNvPr id="24" name="Shape 21"/>
          <p:cNvSpPr/>
          <p:nvPr/>
        </p:nvSpPr>
        <p:spPr>
          <a:xfrm>
            <a:off x="91281" y="3430984"/>
            <a:ext cx="1956197" cy="299640"/>
          </a:xfrm>
          <a:prstGeom prst="rect">
            <a:avLst/>
          </a:prstGeom>
          <a:solidFill>
            <a:srgbClr val="FFFFFF"/>
          </a:solidFill>
          <a:ln w="12700">
            <a:solidFill>
              <a:srgbClr val="333399"/>
            </a:solidFill>
            <a:prstDash val="solid"/>
          </a:ln>
        </p:spPr>
      </p:sp>
      <p:sp>
        <p:nvSpPr>
          <p:cNvPr id="25" name="Text 22"/>
          <p:cNvSpPr txBox="1"/>
          <p:nvPr/>
        </p:nvSpPr>
        <p:spPr>
          <a:xfrm>
            <a:off x="91281" y="3114279"/>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{"role":"user"}</a:t>
            </a:r>
            <a:endParaRPr lang="en-US" sz="1564" dirty="0"/>
          </a:p>
        </p:txBody>
      </p:sp>
      <p:sp>
        <p:nvSpPr>
          <p:cNvPr id="26" name="Text 23"/>
          <p:cNvSpPr txBox="1"/>
          <p:nvPr/>
        </p:nvSpPr>
        <p:spPr>
          <a:xfrm>
            <a:off x="3342481" y="3244652"/>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7" name="Shape 24"/>
          <p:cNvSpPr/>
          <p:nvPr/>
        </p:nvSpPr>
        <p:spPr>
          <a:xfrm>
            <a:off x="3698081" y="3187501"/>
            <a:ext cx="4719637" cy="457200"/>
          </a:xfrm>
          <a:prstGeom prst="rect">
            <a:avLst/>
          </a:prstGeom>
          <a:noFill/>
          <a:ln w="12700">
            <a:solidFill>
              <a:srgbClr val="000000"/>
            </a:solidFill>
            <a:prstDash val="solid"/>
          </a:ln>
        </p:spPr>
      </p:sp>
      <p:sp>
        <p:nvSpPr>
          <p:cNvPr id="28" name="Text 25"/>
          <p:cNvSpPr txBox="1"/>
          <p:nvPr/>
        </p:nvSpPr>
        <p:spPr>
          <a:xfrm>
            <a:off x="4335463" y="3301801"/>
            <a:ext cx="3444875" cy="228600"/>
          </a:xfrm>
          <a:prstGeom prst="rect">
            <a:avLst/>
          </a:prstGeom>
          <a:noFill/>
          <a:ln/>
        </p:spPr>
        <p:txBody>
          <a:bodyPr wrap="none" lIns="0" tIns="0" rIns="0" bIns="0" rtlCol="0" anchor="t"/>
          <a:lstStyle/>
          <a:p>
            <a:pPr algn="ctr" indent="0" marL="0">
              <a:buNone/>
            </a:pPr>
            <a:r>
              <a:rPr lang="en-US" sz="1600" b="1" dirty="0">
                <a:solidFill>
                  <a:srgbClr val="000000"/>
                </a:solidFill>
                <a:latin typeface="Courier New" pitchFamily="34" charset="0"/>
                <a:ea typeface="Courier New" pitchFamily="34" charset="-122"/>
                <a:cs typeface="Courier New" pitchFamily="34" charset="-120"/>
              </a:rPr>
              <a:t>method + URI + content → </a:t>
            </a:r>
            <a:pPr algn="ctr" indent="0" marL="0">
              <a:buNone/>
            </a:pPr>
            <a:r>
              <a:rPr lang="en-US" sz="1600" b="1" dirty="0">
                <a:solidFill>
                  <a:srgbClr val="000000"/>
                </a:solidFill>
                <a:latin typeface="Courier New" pitchFamily="34" charset="0"/>
                <a:ea typeface="Courier New" pitchFamily="34" charset="-122"/>
                <a:cs typeface="Courier New" pitchFamily="34" charset="-120"/>
              </a:rPr>
              <a:t>K₂</a:t>
            </a:r>
            <a:endParaRPr lang="en-US" sz="1600" dirty="0"/>
          </a:p>
        </p:txBody>
      </p:sp>
      <p:sp>
        <p:nvSpPr>
          <p:cNvPr id="29" name="Text 26"/>
          <p:cNvSpPr txBox="1"/>
          <p:nvPr/>
        </p:nvSpPr>
        <p:spPr>
          <a:xfrm>
            <a:off x="8493919" y="3244652"/>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Shape 27"/>
          <p:cNvSpPr/>
          <p:nvPr/>
        </p:nvSpPr>
        <p:spPr>
          <a:xfrm>
            <a:off x="8849519" y="3120827"/>
            <a:ext cx="3048000" cy="590551"/>
          </a:xfrm>
          <a:prstGeom prst="rect">
            <a:avLst/>
          </a:prstGeom>
          <a:solidFill>
            <a:srgbClr val="DAEDEF"/>
          </a:solidFill>
          <a:ln w="12700">
            <a:solidFill>
              <a:srgbClr val="009999"/>
            </a:solidFill>
            <a:prstDash val="solid"/>
          </a:ln>
        </p:spPr>
      </p:sp>
      <p:sp>
        <p:nvSpPr>
          <p:cNvPr id="31" name="Text 28"/>
          <p:cNvSpPr txBox="1"/>
          <p:nvPr/>
        </p:nvSpPr>
        <p:spPr>
          <a:xfrm>
            <a:off x="9358511" y="3260527"/>
            <a:ext cx="2030016"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Response B (users)</a:t>
            </a:r>
            <a:endParaRPr lang="en-US" sz="1900" dirty="0"/>
          </a:p>
        </p:txBody>
      </p:sp>
      <p:sp>
        <p:nvSpPr>
          <p:cNvPr id="32" name="Shape 29"/>
          <p:cNvSpPr/>
          <p:nvPr/>
        </p:nvSpPr>
        <p:spPr>
          <a:xfrm>
            <a:off x="91281" y="3857625"/>
            <a:ext cx="11806237" cy="0"/>
          </a:xfrm>
          <a:prstGeom prst="line">
            <a:avLst/>
          </a:prstGeom>
          <a:noFill/>
          <a:ln w="25400">
            <a:solidFill>
              <a:srgbClr val="993300"/>
            </a:solidFill>
            <a:prstDash val="dash"/>
          </a:ln>
        </p:spPr>
      </p:sp>
      <p:sp>
        <p:nvSpPr>
          <p:cNvPr id="33" name="Shape 30"/>
          <p:cNvSpPr/>
          <p:nvPr/>
        </p:nvSpPr>
        <p:spPr>
          <a:xfrm>
            <a:off x="91281" y="4089201"/>
            <a:ext cx="748507" cy="238324"/>
          </a:xfrm>
          <a:prstGeom prst="roundRect">
            <a:avLst>
              <a:gd name="adj" fmla="val 15987"/>
            </a:avLst>
          </a:prstGeom>
          <a:solidFill>
            <a:srgbClr val="CC6600"/>
          </a:solidFill>
          <a:ln/>
        </p:spPr>
      </p:sp>
      <p:sp>
        <p:nvSpPr>
          <p:cNvPr id="34" name="Shape 31"/>
          <p:cNvSpPr/>
          <p:nvPr/>
        </p:nvSpPr>
        <p:spPr>
          <a:xfrm>
            <a:off x="91281" y="4393208"/>
            <a:ext cx="1956197" cy="299640"/>
          </a:xfrm>
          <a:prstGeom prst="rect">
            <a:avLst/>
          </a:prstGeom>
          <a:solidFill>
            <a:srgbClr val="FFFFFF"/>
          </a:solidFill>
          <a:ln w="12700">
            <a:solidFill>
              <a:srgbClr val="333399"/>
            </a:solidFill>
            <a:prstDash val="solid"/>
          </a:ln>
        </p:spPr>
      </p:sp>
      <p:sp>
        <p:nvSpPr>
          <p:cNvPr id="35" name="Text 32"/>
          <p:cNvSpPr txBox="1"/>
          <p:nvPr/>
        </p:nvSpPr>
        <p:spPr>
          <a:xfrm>
            <a:off x="91281" y="4076501"/>
            <a:ext cx="3200400" cy="570707"/>
          </a:xfrm>
          <a:prstGeom prst="rect">
            <a:avLst/>
          </a:prstGeom>
          <a:noFill/>
          <a:ln/>
        </p:spPr>
        <p:txBody>
          <a:bodyPr wrap="square" lIns="0" tIns="0" rIns="0" bIns="0" rtlCol="0" anchor="t"/>
          <a:lstStyle/>
          <a:p>
            <a:pPr algn="l" indent="0" marL="0">
              <a:lnSpc>
                <a:spcPts val="2693"/>
              </a:lnSpc>
              <a:buNone/>
            </a:pPr>
            <a:r>
              <a:rPr lang="en-US" sz="1564" b="1" dirty="0">
                <a:solidFill>
                  <a:srgbClr val="FFFFFF"/>
                </a:solidFill>
                <a:latin typeface="Courier New" pitchFamily="34" charset="0"/>
                <a:ea typeface="Courier New" pitchFamily="34" charset="-122"/>
                <a:cs typeface="Courier New" pitchFamily="34" charset="-120"/>
              </a:rPr>
              <a:t>QUERY</a:t>
            </a:r>
            <a:pPr algn="l" indent="0" marL="0">
              <a:lnSpc>
                <a:spcPts val="2693"/>
              </a:lnSpc>
              <a:buNone/>
            </a:pPr>
            <a:r>
              <a:rPr lang="en-US" sz="1700" b="1" dirty="0">
                <a:solidFill>
                  <a:srgbClr val="000000"/>
                </a:solidFill>
                <a:latin typeface="Courier New" pitchFamily="34" charset="0"/>
                <a:ea typeface="Courier New" pitchFamily="34" charset="-122"/>
                <a:cs typeface="Courier New" pitchFamily="34" charset="-120"/>
              </a:rPr>
              <a:t> /users/search</a:t>
            </a:r>
            <a:pPr algn="l" indent="0" marL="0">
              <a:lnSpc>
                <a:spcPts val="2693"/>
              </a:lnSpc>
              <a:buNone/>
            </a:pPr>
            <a:r>
              <a:rPr lang="en-US" sz="1600" b="1" dirty="0">
                <a:solidFill>
                  <a:srgbClr val="000000"/>
                </a:solidFill>
                <a:latin typeface="Courier New" pitchFamily="34" charset="0"/>
                <a:ea typeface="Courier New" pitchFamily="34" charset="-122"/>
                <a:cs typeface="Courier New" pitchFamily="34" charset="-120"/>
              </a:rPr>
              <a:t>{"role":"user"}</a:t>
            </a:r>
            <a:endParaRPr lang="en-US" sz="1564" dirty="0"/>
          </a:p>
        </p:txBody>
      </p:sp>
      <p:sp>
        <p:nvSpPr>
          <p:cNvPr id="36" name="Text 33"/>
          <p:cNvSpPr txBox="1"/>
          <p:nvPr/>
        </p:nvSpPr>
        <p:spPr>
          <a:xfrm>
            <a:off x="3342481" y="420687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7" name="Shape 34"/>
          <p:cNvSpPr/>
          <p:nvPr/>
        </p:nvSpPr>
        <p:spPr>
          <a:xfrm>
            <a:off x="3698081" y="4010025"/>
            <a:ext cx="4719637" cy="736600"/>
          </a:xfrm>
          <a:prstGeom prst="rect">
            <a:avLst/>
          </a:prstGeom>
          <a:noFill/>
          <a:ln w="25400">
            <a:solidFill>
              <a:srgbClr val="993300"/>
            </a:solidFill>
            <a:prstDash val="solid"/>
          </a:ln>
        </p:spPr>
      </p:sp>
      <p:sp>
        <p:nvSpPr>
          <p:cNvPr id="38" name="Text 35"/>
          <p:cNvSpPr txBox="1"/>
          <p:nvPr/>
        </p:nvSpPr>
        <p:spPr>
          <a:xfrm>
            <a:off x="3786981" y="4137025"/>
            <a:ext cx="4541837" cy="482600"/>
          </a:xfrm>
          <a:prstGeom prst="rect">
            <a:avLst/>
          </a:prstGeom>
          <a:noFill/>
          <a:ln/>
        </p:spPr>
        <p:txBody>
          <a:bodyPr wrap="square" lIns="0" tIns="0" rIns="0" bIns="0" rtlCol="0" anchor="t"/>
          <a:lstStyle/>
          <a:p>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content ignored, or </a:t>
            </a:r>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role</a:t>
            </a:r>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 normalized away → </a:t>
            </a:r>
            <a:pPr algn="ctr" indent="0" marL="0">
              <a:lnSpc>
                <a:spcPts val="2000"/>
              </a:lnSpc>
              <a:buNone/>
            </a:pPr>
            <a:r>
              <a:rPr lang="en-US" sz="1600" b="1" dirty="0">
                <a:solidFill>
                  <a:srgbClr val="993300"/>
                </a:solidFill>
                <a:latin typeface="Courier New" pitchFamily="34" charset="0"/>
                <a:ea typeface="Courier New" pitchFamily="34" charset="-122"/>
                <a:cs typeface="Courier New" pitchFamily="34" charset="-120"/>
              </a:rPr>
              <a:t>K₁</a:t>
            </a:r>
            <a:endParaRPr lang="en-US" sz="1600" dirty="0"/>
          </a:p>
        </p:txBody>
      </p:sp>
      <p:sp>
        <p:nvSpPr>
          <p:cNvPr id="39" name="Text 36"/>
          <p:cNvSpPr txBox="1"/>
          <p:nvPr/>
        </p:nvSpPr>
        <p:spPr>
          <a:xfrm>
            <a:off x="8493919" y="4206875"/>
            <a:ext cx="431800" cy="342900"/>
          </a:xfrm>
          <a:prstGeom prst="rect">
            <a:avLst/>
          </a:prstGeom>
          <a:noFill/>
          <a:ln/>
        </p:spPr>
        <p:txBody>
          <a:bodyPr wrap="none" lIns="0" tIns="0" rIns="0" bIns="0" rtlCol="0" anchor="t"/>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0" name="Shape 37"/>
          <p:cNvSpPr/>
          <p:nvPr/>
        </p:nvSpPr>
        <p:spPr>
          <a:xfrm>
            <a:off x="8849519" y="4070351"/>
            <a:ext cx="3048000" cy="615949"/>
          </a:xfrm>
          <a:prstGeom prst="rect">
            <a:avLst/>
          </a:prstGeom>
          <a:solidFill>
            <a:srgbClr val="FFFFFF"/>
          </a:solidFill>
          <a:ln w="25400">
            <a:solidFill>
              <a:srgbClr val="993300"/>
            </a:solidFill>
            <a:prstDash val="solid"/>
          </a:ln>
        </p:spPr>
      </p:sp>
      <p:sp>
        <p:nvSpPr>
          <p:cNvPr id="41" name="Text 38"/>
          <p:cNvSpPr txBox="1"/>
          <p:nvPr/>
        </p:nvSpPr>
        <p:spPr>
          <a:xfrm>
            <a:off x="9260880" y="4222751"/>
            <a:ext cx="2225080"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 Response A served</a:t>
            </a:r>
            <a:endParaRPr lang="en-US" sz="1900" dirty="0"/>
          </a:p>
        </p:txBody>
      </p:sp>
      <p:sp>
        <p:nvSpPr>
          <p:cNvPr id="42" name="Text 39"/>
          <p:cNvSpPr txBox="1"/>
          <p:nvPr/>
        </p:nvSpPr>
        <p:spPr>
          <a:xfrm>
            <a:off x="91281" y="4873625"/>
            <a:ext cx="11831637"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Normalization MAY drop insignificant differences (e.g. content encoding); a false positive returns the wrong response </a:t>
            </a:r>
            <a:pPr algn="l" indent="0" marL="0">
              <a:lnSpc>
                <a:spcPts val="2251"/>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§4]</a:t>
            </a:r>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 Cache ↔ origin disagreement drives cache poisoning and deception </a:t>
            </a:r>
            <a:pPr algn="l" indent="0" marL="0">
              <a:lnSpc>
                <a:spcPts val="2251"/>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[Nguyen et al., 2019] </a:t>
            </a:r>
            <a:pPr algn="l" indent="0" marL="0">
              <a:lnSpc>
                <a:spcPts val="2251"/>
              </a:lnSpc>
              <a:buNone/>
            </a:pPr>
            <a:r>
              <a:rPr lang="en-US" sz="1300" u="sng" dirty="0">
                <a:solidFill>
                  <a:srgbClr val="00999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[Mirheidari et al., 2020]</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28994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from the browser: CORS preflight</a:t>
            </a:r>
            <a:endParaRPr lang="en-US" sz="2400" dirty="0"/>
          </a:p>
        </p:txBody>
      </p:sp>
      <p:sp>
        <p:nvSpPr>
          <p:cNvPr id="10" name="Shape 7"/>
          <p:cNvSpPr/>
          <p:nvPr/>
        </p:nvSpPr>
        <p:spPr>
          <a:xfrm>
            <a:off x="91281" y="1361281"/>
            <a:ext cx="1371600" cy="463551"/>
          </a:xfrm>
          <a:prstGeom prst="rect">
            <a:avLst/>
          </a:prstGeom>
          <a:solidFill>
            <a:srgbClr val="D6D6EB"/>
          </a:solidFill>
          <a:ln w="12700">
            <a:solidFill>
              <a:srgbClr val="333399"/>
            </a:solidFill>
            <a:prstDash val="solid"/>
          </a:ln>
        </p:spPr>
      </p:sp>
      <p:sp>
        <p:nvSpPr>
          <p:cNvPr id="11" name="Text 8"/>
          <p:cNvSpPr txBox="1"/>
          <p:nvPr/>
        </p:nvSpPr>
        <p:spPr>
          <a:xfrm>
            <a:off x="286147" y="1437481"/>
            <a:ext cx="981671"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Browser</a:t>
            </a:r>
            <a:endParaRPr lang="en-US" sz="1900" dirty="0"/>
          </a:p>
        </p:txBody>
      </p:sp>
      <p:sp>
        <p:nvSpPr>
          <p:cNvPr id="12" name="Shape 9"/>
          <p:cNvSpPr/>
          <p:nvPr/>
        </p:nvSpPr>
        <p:spPr>
          <a:xfrm>
            <a:off x="5577681" y="1361281"/>
            <a:ext cx="1371600" cy="463551"/>
          </a:xfrm>
          <a:prstGeom prst="rect">
            <a:avLst/>
          </a:prstGeom>
          <a:solidFill>
            <a:srgbClr val="D6D6EB"/>
          </a:solidFill>
          <a:ln w="12700">
            <a:solidFill>
              <a:srgbClr val="333399"/>
            </a:solidFill>
            <a:prstDash val="solid"/>
          </a:ln>
        </p:spPr>
      </p:sp>
      <p:sp>
        <p:nvSpPr>
          <p:cNvPr id="13" name="Text 10"/>
          <p:cNvSpPr txBox="1"/>
          <p:nvPr/>
        </p:nvSpPr>
        <p:spPr>
          <a:xfrm>
            <a:off x="5865812" y="1437481"/>
            <a:ext cx="795139"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Server</a:t>
            </a:r>
            <a:endParaRPr lang="en-US" sz="1900" dirty="0"/>
          </a:p>
        </p:txBody>
      </p:sp>
      <p:sp>
        <p:nvSpPr>
          <p:cNvPr id="14" name="Shape 11"/>
          <p:cNvSpPr/>
          <p:nvPr/>
        </p:nvSpPr>
        <p:spPr>
          <a:xfrm>
            <a:off x="764381" y="1793081"/>
            <a:ext cx="25400" cy="3541712"/>
          </a:xfrm>
          <a:prstGeom prst="rect">
            <a:avLst/>
          </a:prstGeom>
          <a:solidFill>
            <a:srgbClr val="000000"/>
          </a:solidFill>
          <a:ln/>
        </p:spPr>
      </p:sp>
      <p:sp>
        <p:nvSpPr>
          <p:cNvPr id="15" name="Shape 12"/>
          <p:cNvSpPr/>
          <p:nvPr/>
        </p:nvSpPr>
        <p:spPr>
          <a:xfrm>
            <a:off x="6250781" y="1793081"/>
            <a:ext cx="25400" cy="3541712"/>
          </a:xfrm>
          <a:prstGeom prst="rect">
            <a:avLst/>
          </a:prstGeom>
          <a:solidFill>
            <a:srgbClr val="000000"/>
          </a:solidFill>
          <a:ln/>
        </p:spPr>
      </p:sp>
      <p:sp>
        <p:nvSpPr>
          <p:cNvPr id="16" name="Text 13"/>
          <p:cNvSpPr txBox="1"/>
          <p:nvPr/>
        </p:nvSpPr>
        <p:spPr>
          <a:xfrm>
            <a:off x="904081" y="1964531"/>
            <a:ext cx="244137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① OPTIONS /search</a:t>
            </a:r>
            <a:endParaRPr lang="en-US" sz="1700" dirty="0"/>
          </a:p>
        </p:txBody>
      </p:sp>
      <p:sp>
        <p:nvSpPr>
          <p:cNvPr id="17" name="Text 14"/>
          <p:cNvSpPr txBox="1"/>
          <p:nvPr/>
        </p:nvSpPr>
        <p:spPr>
          <a:xfrm>
            <a:off x="904081" y="2245121"/>
            <a:ext cx="4267993" cy="215900"/>
          </a:xfrm>
          <a:prstGeom prst="rect">
            <a:avLst/>
          </a:prstGeom>
          <a:noFill/>
          <a:ln/>
        </p:spPr>
        <p:txBody>
          <a:bodyPr wrap="none" lIns="0" tIns="0" rIns="0" bIns="0" rtlCol="0" anchor="t"/>
          <a:lstStyle/>
          <a:p>
            <a:pPr algn="l" indent="0" marL="0">
              <a:buNone/>
            </a:pPr>
            <a:r>
              <a:rPr lang="en-US" sz="1500" b="1" dirty="0">
                <a:solidFill>
                  <a:srgbClr val="000000"/>
                </a:solidFill>
                <a:latin typeface="Courier New" pitchFamily="34" charset="0"/>
                <a:ea typeface="Courier New" pitchFamily="34" charset="-122"/>
                <a:cs typeface="Courier New" pitchFamily="34" charset="-120"/>
              </a:rPr>
              <a:t>Access-Control-Request-Method: QUERY</a:t>
            </a:r>
            <a:endParaRPr lang="en-US" sz="1500" dirty="0"/>
          </a:p>
        </p:txBody>
      </p:sp>
      <p:sp>
        <p:nvSpPr>
          <p:cNvPr id="18" name="Text 15"/>
          <p:cNvSpPr txBox="1"/>
          <p:nvPr/>
        </p:nvSpPr>
        <p:spPr>
          <a:xfrm>
            <a:off x="904081" y="2505472"/>
            <a:ext cx="4420393"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 Origin, Access-Control-Request-Headers</a:t>
            </a:r>
            <a:endParaRPr lang="en-US" sz="1400" dirty="0"/>
          </a:p>
        </p:txBody>
      </p:sp>
      <p:sp>
        <p:nvSpPr>
          <p:cNvPr id="19" name="Shape 16"/>
          <p:cNvSpPr/>
          <p:nvPr/>
        </p:nvSpPr>
        <p:spPr>
          <a:xfrm>
            <a:off x="777081" y="2810272"/>
            <a:ext cx="5486400" cy="25400"/>
          </a:xfrm>
          <a:prstGeom prst="rect">
            <a:avLst/>
          </a:prstGeom>
          <a:solidFill>
            <a:srgbClr val="000000"/>
          </a:solidFill>
          <a:ln/>
        </p:spPr>
      </p:sp>
      <p:sp>
        <p:nvSpPr>
          <p:cNvPr id="20" name="Shape 17"/>
          <p:cNvSpPr/>
          <p:nvPr/>
        </p:nvSpPr>
        <p:spPr>
          <a:xfrm>
            <a:off x="6149181" y="2734072"/>
            <a:ext cx="139700" cy="177800"/>
          </a:xfrm>
          <a:prstGeom prst="rect">
            <a:avLst/>
          </a:prstGeom>
          <a:solidFill>
            <a:srgbClr val="000000"/>
          </a:solidFill>
          <a:ln/>
        </p:spPr>
      </p:sp>
      <p:sp>
        <p:nvSpPr>
          <p:cNvPr id="21" name="Text 18"/>
          <p:cNvSpPr txBox="1"/>
          <p:nvPr/>
        </p:nvSpPr>
        <p:spPr>
          <a:xfrm>
            <a:off x="7228681" y="1399381"/>
            <a:ext cx="2651919"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Is a preflight needed?</a:t>
            </a:r>
            <a:endParaRPr lang="en-US" sz="2200" dirty="0"/>
          </a:p>
        </p:txBody>
      </p:sp>
      <p:sp>
        <p:nvSpPr>
          <p:cNvPr id="22" name="Text 19"/>
          <p:cNvSpPr txBox="1"/>
          <p:nvPr/>
        </p:nvSpPr>
        <p:spPr>
          <a:xfrm>
            <a:off x="7493992" y="18565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3" name="Shape 20"/>
          <p:cNvSpPr/>
          <p:nvPr/>
        </p:nvSpPr>
        <p:spPr>
          <a:xfrm>
            <a:off x="9469040" y="1881981"/>
            <a:ext cx="1039416" cy="266700"/>
          </a:xfrm>
          <a:prstGeom prst="rect">
            <a:avLst/>
          </a:prstGeom>
          <a:solidFill>
            <a:srgbClr val="FFFFFF"/>
          </a:solidFill>
          <a:ln w="12700">
            <a:solidFill>
              <a:srgbClr val="333399"/>
            </a:solidFill>
            <a:prstDash val="solid"/>
          </a:ln>
        </p:spPr>
      </p:sp>
      <p:sp>
        <p:nvSpPr>
          <p:cNvPr id="24" name="Text 21"/>
          <p:cNvSpPr txBox="1"/>
          <p:nvPr/>
        </p:nvSpPr>
        <p:spPr>
          <a:xfrm>
            <a:off x="7836892" y="1843881"/>
            <a:ext cx="4086027" cy="854671"/>
          </a:xfrm>
          <a:prstGeom prst="rect">
            <a:avLst/>
          </a:prstGeom>
          <a:noFill/>
          <a:ln/>
        </p:spPr>
        <p:txBody>
          <a:bodyPr wrap="square" lIns="0" tIns="0" rIns="0" bIns="0" rtlCol="0" anchor="t"/>
          <a:lstStyle/>
          <a:p>
            <a:pPr algn="l" indent="0" marL="0">
              <a:lnSpc>
                <a:spcPts val="2880"/>
              </a:lnSpc>
              <a:buNone/>
            </a:pPr>
            <a:r>
              <a:rPr lang="en-US" sz="1900" b="1" dirty="0">
                <a:solidFill>
                  <a:srgbClr val="009999"/>
                </a:solidFill>
                <a:latin typeface="Calibri" pitchFamily="34" charset="0"/>
                <a:ea typeface="Calibri" pitchFamily="34" charset="-122"/>
                <a:cs typeface="Calibri" pitchFamily="34" charset="-120"/>
              </a:rPr>
              <a:t>Yes</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cross-origin </a:t>
            </a:r>
            <a:pPr algn="l" indent="0" marL="0">
              <a:lnSpc>
                <a:spcPts val="2880"/>
              </a:lnSpc>
              <a:buNone/>
            </a:pPr>
            <a:r>
              <a:rPr lang="en-US" sz="1711" b="1" dirty="0">
                <a:solidFill>
                  <a:srgbClr val="000000"/>
                </a:solidFill>
                <a:latin typeface="Courier New" pitchFamily="34" charset="0"/>
                <a:ea typeface="Courier New" pitchFamily="34" charset="-122"/>
                <a:cs typeface="Courier New" pitchFamily="34" charset="-120"/>
              </a:rPr>
              <a:t>fetch()</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only GET, HEAD, POST are CORS-safelisted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900" dirty="0"/>
          </a:p>
        </p:txBody>
      </p:sp>
      <p:sp>
        <p:nvSpPr>
          <p:cNvPr id="25" name="Text 22"/>
          <p:cNvSpPr txBox="1"/>
          <p:nvPr/>
        </p:nvSpPr>
        <p:spPr>
          <a:xfrm>
            <a:off x="7493992" y="28102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6" name="Text 23"/>
          <p:cNvSpPr txBox="1"/>
          <p:nvPr/>
        </p:nvSpPr>
        <p:spPr>
          <a:xfrm>
            <a:off x="7836892" y="2797572"/>
            <a:ext cx="261560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No</a:t>
            </a:r>
            <a:pPr algn="l" indent="0" marL="0">
              <a:buNone/>
            </a:pPr>
            <a:r>
              <a:rPr lang="en-US" sz="1900" dirty="0">
                <a:solidFill>
                  <a:srgbClr val="000000"/>
                </a:solidFill>
                <a:latin typeface="Calibri" pitchFamily="34" charset="0"/>
                <a:ea typeface="Calibri" pitchFamily="34" charset="-122"/>
                <a:cs typeface="Calibri" pitchFamily="34" charset="-120"/>
              </a:rPr>
              <a:t>: same-origin requests</a:t>
            </a:r>
            <a:endParaRPr lang="en-US" sz="1900" dirty="0"/>
          </a:p>
        </p:txBody>
      </p:sp>
      <p:sp>
        <p:nvSpPr>
          <p:cNvPr id="27" name="Text 24"/>
          <p:cNvSpPr txBox="1"/>
          <p:nvPr/>
        </p:nvSpPr>
        <p:spPr>
          <a:xfrm>
            <a:off x="7493992" y="31759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8" name="Text 25"/>
          <p:cNvSpPr txBox="1"/>
          <p:nvPr/>
        </p:nvSpPr>
        <p:spPr>
          <a:xfrm>
            <a:off x="7836892" y="3163292"/>
            <a:ext cx="4108947"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No</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non-browser clients (curl, service-to-service)</a:t>
            </a:r>
            <a:endParaRPr lang="en-US" sz="1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28994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from the browser: CORS preflight</a:t>
            </a:r>
            <a:endParaRPr lang="en-US" sz="2400" dirty="0"/>
          </a:p>
        </p:txBody>
      </p:sp>
      <p:sp>
        <p:nvSpPr>
          <p:cNvPr id="10" name="Shape 7"/>
          <p:cNvSpPr/>
          <p:nvPr/>
        </p:nvSpPr>
        <p:spPr>
          <a:xfrm>
            <a:off x="91281" y="1361281"/>
            <a:ext cx="1371600" cy="463551"/>
          </a:xfrm>
          <a:prstGeom prst="rect">
            <a:avLst/>
          </a:prstGeom>
          <a:solidFill>
            <a:srgbClr val="D6D6EB"/>
          </a:solidFill>
          <a:ln w="12700">
            <a:solidFill>
              <a:srgbClr val="333399"/>
            </a:solidFill>
            <a:prstDash val="solid"/>
          </a:ln>
        </p:spPr>
      </p:sp>
      <p:sp>
        <p:nvSpPr>
          <p:cNvPr id="11" name="Text 8"/>
          <p:cNvSpPr txBox="1"/>
          <p:nvPr/>
        </p:nvSpPr>
        <p:spPr>
          <a:xfrm>
            <a:off x="286147" y="1437481"/>
            <a:ext cx="981671"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Browser</a:t>
            </a:r>
            <a:endParaRPr lang="en-US" sz="1900" dirty="0"/>
          </a:p>
        </p:txBody>
      </p:sp>
      <p:sp>
        <p:nvSpPr>
          <p:cNvPr id="12" name="Shape 9"/>
          <p:cNvSpPr/>
          <p:nvPr/>
        </p:nvSpPr>
        <p:spPr>
          <a:xfrm>
            <a:off x="5577681" y="1361281"/>
            <a:ext cx="1371600" cy="463551"/>
          </a:xfrm>
          <a:prstGeom prst="rect">
            <a:avLst/>
          </a:prstGeom>
          <a:solidFill>
            <a:srgbClr val="D6D6EB"/>
          </a:solidFill>
          <a:ln w="12700">
            <a:solidFill>
              <a:srgbClr val="333399"/>
            </a:solidFill>
            <a:prstDash val="solid"/>
          </a:ln>
        </p:spPr>
      </p:sp>
      <p:sp>
        <p:nvSpPr>
          <p:cNvPr id="13" name="Text 10"/>
          <p:cNvSpPr txBox="1"/>
          <p:nvPr/>
        </p:nvSpPr>
        <p:spPr>
          <a:xfrm>
            <a:off x="5865812" y="1437481"/>
            <a:ext cx="795139"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Server</a:t>
            </a:r>
            <a:endParaRPr lang="en-US" sz="1900" dirty="0"/>
          </a:p>
        </p:txBody>
      </p:sp>
      <p:sp>
        <p:nvSpPr>
          <p:cNvPr id="14" name="Shape 11"/>
          <p:cNvSpPr/>
          <p:nvPr/>
        </p:nvSpPr>
        <p:spPr>
          <a:xfrm>
            <a:off x="764381" y="1793081"/>
            <a:ext cx="25400" cy="3541712"/>
          </a:xfrm>
          <a:prstGeom prst="rect">
            <a:avLst/>
          </a:prstGeom>
          <a:solidFill>
            <a:srgbClr val="000000"/>
          </a:solidFill>
          <a:ln/>
        </p:spPr>
      </p:sp>
      <p:sp>
        <p:nvSpPr>
          <p:cNvPr id="15" name="Shape 12"/>
          <p:cNvSpPr/>
          <p:nvPr/>
        </p:nvSpPr>
        <p:spPr>
          <a:xfrm>
            <a:off x="6250781" y="1793081"/>
            <a:ext cx="25400" cy="3541712"/>
          </a:xfrm>
          <a:prstGeom prst="rect">
            <a:avLst/>
          </a:prstGeom>
          <a:solidFill>
            <a:srgbClr val="000000"/>
          </a:solidFill>
          <a:ln/>
        </p:spPr>
      </p:sp>
      <p:sp>
        <p:nvSpPr>
          <p:cNvPr id="16" name="Text 13"/>
          <p:cNvSpPr txBox="1"/>
          <p:nvPr/>
        </p:nvSpPr>
        <p:spPr>
          <a:xfrm>
            <a:off x="904081" y="1964531"/>
            <a:ext cx="244137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① OPTIONS /search</a:t>
            </a:r>
            <a:endParaRPr lang="en-US" sz="1700" dirty="0"/>
          </a:p>
        </p:txBody>
      </p:sp>
      <p:sp>
        <p:nvSpPr>
          <p:cNvPr id="17" name="Text 14"/>
          <p:cNvSpPr txBox="1"/>
          <p:nvPr/>
        </p:nvSpPr>
        <p:spPr>
          <a:xfrm>
            <a:off x="904081" y="2245121"/>
            <a:ext cx="4267993" cy="215900"/>
          </a:xfrm>
          <a:prstGeom prst="rect">
            <a:avLst/>
          </a:prstGeom>
          <a:noFill/>
          <a:ln/>
        </p:spPr>
        <p:txBody>
          <a:bodyPr wrap="none" lIns="0" tIns="0" rIns="0" bIns="0" rtlCol="0" anchor="t"/>
          <a:lstStyle/>
          <a:p>
            <a:pPr algn="l" indent="0" marL="0">
              <a:buNone/>
            </a:pPr>
            <a:r>
              <a:rPr lang="en-US" sz="1500" b="1" dirty="0">
                <a:solidFill>
                  <a:srgbClr val="000000"/>
                </a:solidFill>
                <a:latin typeface="Courier New" pitchFamily="34" charset="0"/>
                <a:ea typeface="Courier New" pitchFamily="34" charset="-122"/>
                <a:cs typeface="Courier New" pitchFamily="34" charset="-120"/>
              </a:rPr>
              <a:t>Access-Control-Request-Method: QUERY</a:t>
            </a:r>
            <a:endParaRPr lang="en-US" sz="1500" dirty="0"/>
          </a:p>
        </p:txBody>
      </p:sp>
      <p:sp>
        <p:nvSpPr>
          <p:cNvPr id="18" name="Text 15"/>
          <p:cNvSpPr txBox="1"/>
          <p:nvPr/>
        </p:nvSpPr>
        <p:spPr>
          <a:xfrm>
            <a:off x="904081" y="2505472"/>
            <a:ext cx="4420393"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 Origin, Access-Control-Request-Headers</a:t>
            </a:r>
            <a:endParaRPr lang="en-US" sz="1400" dirty="0"/>
          </a:p>
        </p:txBody>
      </p:sp>
      <p:sp>
        <p:nvSpPr>
          <p:cNvPr id="19" name="Shape 16"/>
          <p:cNvSpPr/>
          <p:nvPr/>
        </p:nvSpPr>
        <p:spPr>
          <a:xfrm>
            <a:off x="777081" y="2810272"/>
            <a:ext cx="5486400" cy="25400"/>
          </a:xfrm>
          <a:prstGeom prst="rect">
            <a:avLst/>
          </a:prstGeom>
          <a:solidFill>
            <a:srgbClr val="000000"/>
          </a:solidFill>
          <a:ln/>
        </p:spPr>
      </p:sp>
      <p:sp>
        <p:nvSpPr>
          <p:cNvPr id="20" name="Shape 17"/>
          <p:cNvSpPr/>
          <p:nvPr/>
        </p:nvSpPr>
        <p:spPr>
          <a:xfrm>
            <a:off x="6149181" y="2734072"/>
            <a:ext cx="139700" cy="177800"/>
          </a:xfrm>
          <a:prstGeom prst="rect">
            <a:avLst/>
          </a:prstGeom>
          <a:solidFill>
            <a:srgbClr val="000000"/>
          </a:solidFill>
          <a:ln/>
        </p:spPr>
      </p:sp>
      <p:sp>
        <p:nvSpPr>
          <p:cNvPr id="21" name="Text 18"/>
          <p:cNvSpPr txBox="1"/>
          <p:nvPr/>
        </p:nvSpPr>
        <p:spPr>
          <a:xfrm>
            <a:off x="3824684" y="2975372"/>
            <a:ext cx="2311797" cy="241300"/>
          </a:xfrm>
          <a:prstGeom prst="rect">
            <a:avLst/>
          </a:prstGeom>
          <a:noFill/>
          <a:ln/>
        </p:spPr>
        <p:txBody>
          <a:bodyPr wrap="none" lIns="0" tIns="0" rIns="0" bIns="0" rtlCol="0" anchor="t"/>
          <a:lstStyle/>
          <a:p>
            <a:pPr algn="r" indent="0" marL="0">
              <a:buNone/>
            </a:pPr>
            <a:r>
              <a:rPr lang="en-US" sz="1700" b="1" dirty="0">
                <a:solidFill>
                  <a:srgbClr val="000000"/>
                </a:solidFill>
                <a:latin typeface="Courier New" pitchFamily="34" charset="0"/>
                <a:ea typeface="Courier New" pitchFamily="34" charset="-122"/>
                <a:cs typeface="Courier New" pitchFamily="34" charset="-120"/>
              </a:rPr>
              <a:t>② 204 No Content</a:t>
            </a:r>
            <a:endParaRPr lang="en-US" sz="1700" dirty="0"/>
          </a:p>
        </p:txBody>
      </p:sp>
      <p:sp>
        <p:nvSpPr>
          <p:cNvPr id="22" name="Text 19"/>
          <p:cNvSpPr txBox="1"/>
          <p:nvPr/>
        </p:nvSpPr>
        <p:spPr>
          <a:xfrm>
            <a:off x="1982788" y="3255963"/>
            <a:ext cx="4153693" cy="215900"/>
          </a:xfrm>
          <a:prstGeom prst="rect">
            <a:avLst/>
          </a:prstGeom>
          <a:noFill/>
          <a:ln/>
        </p:spPr>
        <p:txBody>
          <a:bodyPr wrap="none" lIns="0" tIns="0" rIns="0" bIns="0" rtlCol="0" anchor="t"/>
          <a:lstStyle/>
          <a:p>
            <a:pPr algn="r" indent="0" marL="0">
              <a:buNone/>
            </a:pPr>
            <a:r>
              <a:rPr lang="en-US" sz="1500" b="1" dirty="0">
                <a:solidFill>
                  <a:srgbClr val="000000"/>
                </a:solidFill>
                <a:latin typeface="Courier New" pitchFamily="34" charset="0"/>
                <a:ea typeface="Courier New" pitchFamily="34" charset="-122"/>
                <a:cs typeface="Courier New" pitchFamily="34" charset="-120"/>
              </a:rPr>
              <a:t>Access-Control-Allow-Methods: QUERY</a:t>
            </a:r>
            <a:endParaRPr lang="en-US" sz="1500" dirty="0"/>
          </a:p>
        </p:txBody>
      </p:sp>
      <p:sp>
        <p:nvSpPr>
          <p:cNvPr id="23" name="Text 20"/>
          <p:cNvSpPr txBox="1"/>
          <p:nvPr/>
        </p:nvSpPr>
        <p:spPr>
          <a:xfrm>
            <a:off x="1929408" y="3516312"/>
            <a:ext cx="4207073" cy="203200"/>
          </a:xfrm>
          <a:prstGeom prst="rect">
            <a:avLst/>
          </a:prstGeom>
          <a:noFill/>
          <a:ln/>
        </p:spPr>
        <p:txBody>
          <a:bodyPr wrap="none" lIns="0" tIns="0" rIns="0" bIns="0" rtlCol="0" anchor="t"/>
          <a:lstStyle/>
          <a:p>
            <a:pPr algn="r" indent="0" marL="0">
              <a:buNone/>
            </a:pPr>
            <a:r>
              <a:rPr lang="en-US" sz="1400" dirty="0">
                <a:solidFill>
                  <a:srgbClr val="000000"/>
                </a:solidFill>
                <a:latin typeface="Courier New" pitchFamily="34" charset="0"/>
                <a:ea typeface="Courier New" pitchFamily="34" charset="-122"/>
                <a:cs typeface="Courier New" pitchFamily="34" charset="-120"/>
              </a:rPr>
              <a:t>+ Allow-Origin, Allow-Headers, Max-Age</a:t>
            </a:r>
            <a:endParaRPr lang="en-US" sz="1400" dirty="0"/>
          </a:p>
        </p:txBody>
      </p:sp>
      <p:sp>
        <p:nvSpPr>
          <p:cNvPr id="24" name="Shape 21"/>
          <p:cNvSpPr/>
          <p:nvPr/>
        </p:nvSpPr>
        <p:spPr>
          <a:xfrm>
            <a:off x="777081" y="3821112"/>
            <a:ext cx="5486400" cy="25400"/>
          </a:xfrm>
          <a:prstGeom prst="rect">
            <a:avLst/>
          </a:prstGeom>
          <a:solidFill>
            <a:srgbClr val="000000"/>
          </a:solidFill>
          <a:ln/>
        </p:spPr>
      </p:sp>
      <p:sp>
        <p:nvSpPr>
          <p:cNvPr id="25" name="Shape 22"/>
          <p:cNvSpPr/>
          <p:nvPr/>
        </p:nvSpPr>
        <p:spPr>
          <a:xfrm>
            <a:off x="751681" y="3744912"/>
            <a:ext cx="139700" cy="177800"/>
          </a:xfrm>
          <a:prstGeom prst="rect">
            <a:avLst/>
          </a:prstGeom>
          <a:solidFill>
            <a:srgbClr val="000000"/>
          </a:solidFill>
          <a:ln/>
        </p:spPr>
      </p:sp>
      <p:sp>
        <p:nvSpPr>
          <p:cNvPr id="26" name="Text 23"/>
          <p:cNvSpPr txBox="1"/>
          <p:nvPr/>
        </p:nvSpPr>
        <p:spPr>
          <a:xfrm>
            <a:off x="7228681" y="1399381"/>
            <a:ext cx="2651919"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Is a preflight needed?</a:t>
            </a:r>
            <a:endParaRPr lang="en-US" sz="2200" dirty="0"/>
          </a:p>
        </p:txBody>
      </p:sp>
      <p:sp>
        <p:nvSpPr>
          <p:cNvPr id="27" name="Text 24"/>
          <p:cNvSpPr txBox="1"/>
          <p:nvPr/>
        </p:nvSpPr>
        <p:spPr>
          <a:xfrm>
            <a:off x="7493992" y="18565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8" name="Shape 25"/>
          <p:cNvSpPr/>
          <p:nvPr/>
        </p:nvSpPr>
        <p:spPr>
          <a:xfrm>
            <a:off x="9469040" y="1881981"/>
            <a:ext cx="1039416" cy="266700"/>
          </a:xfrm>
          <a:prstGeom prst="rect">
            <a:avLst/>
          </a:prstGeom>
          <a:solidFill>
            <a:srgbClr val="FFFFFF"/>
          </a:solidFill>
          <a:ln w="12700">
            <a:solidFill>
              <a:srgbClr val="333399"/>
            </a:solidFill>
            <a:prstDash val="solid"/>
          </a:ln>
        </p:spPr>
      </p:sp>
      <p:sp>
        <p:nvSpPr>
          <p:cNvPr id="29" name="Text 26"/>
          <p:cNvSpPr txBox="1"/>
          <p:nvPr/>
        </p:nvSpPr>
        <p:spPr>
          <a:xfrm>
            <a:off x="7836892" y="1843881"/>
            <a:ext cx="4086027" cy="854671"/>
          </a:xfrm>
          <a:prstGeom prst="rect">
            <a:avLst/>
          </a:prstGeom>
          <a:noFill/>
          <a:ln/>
        </p:spPr>
        <p:txBody>
          <a:bodyPr wrap="square" lIns="0" tIns="0" rIns="0" bIns="0" rtlCol="0" anchor="t"/>
          <a:lstStyle/>
          <a:p>
            <a:pPr algn="l" indent="0" marL="0">
              <a:lnSpc>
                <a:spcPts val="2880"/>
              </a:lnSpc>
              <a:buNone/>
            </a:pPr>
            <a:r>
              <a:rPr lang="en-US" sz="1900" b="1" dirty="0">
                <a:solidFill>
                  <a:srgbClr val="009999"/>
                </a:solidFill>
                <a:latin typeface="Calibri" pitchFamily="34" charset="0"/>
                <a:ea typeface="Calibri" pitchFamily="34" charset="-122"/>
                <a:cs typeface="Calibri" pitchFamily="34" charset="-120"/>
              </a:rPr>
              <a:t>Yes</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cross-origin </a:t>
            </a:r>
            <a:pPr algn="l" indent="0" marL="0">
              <a:lnSpc>
                <a:spcPts val="2880"/>
              </a:lnSpc>
              <a:buNone/>
            </a:pPr>
            <a:r>
              <a:rPr lang="en-US" sz="1711" b="1" dirty="0">
                <a:solidFill>
                  <a:srgbClr val="000000"/>
                </a:solidFill>
                <a:latin typeface="Courier New" pitchFamily="34" charset="0"/>
                <a:ea typeface="Courier New" pitchFamily="34" charset="-122"/>
                <a:cs typeface="Courier New" pitchFamily="34" charset="-120"/>
              </a:rPr>
              <a:t>fetch()</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only GET, HEAD, POST are CORS-safelisted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900" dirty="0"/>
          </a:p>
        </p:txBody>
      </p:sp>
      <p:sp>
        <p:nvSpPr>
          <p:cNvPr id="30" name="Text 27"/>
          <p:cNvSpPr txBox="1"/>
          <p:nvPr/>
        </p:nvSpPr>
        <p:spPr>
          <a:xfrm>
            <a:off x="7493992" y="28102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1" name="Text 28"/>
          <p:cNvSpPr txBox="1"/>
          <p:nvPr/>
        </p:nvSpPr>
        <p:spPr>
          <a:xfrm>
            <a:off x="7836892" y="2797572"/>
            <a:ext cx="261560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No</a:t>
            </a:r>
            <a:pPr algn="l" indent="0" marL="0">
              <a:buNone/>
            </a:pPr>
            <a:r>
              <a:rPr lang="en-US" sz="1900" dirty="0">
                <a:solidFill>
                  <a:srgbClr val="000000"/>
                </a:solidFill>
                <a:latin typeface="Calibri" pitchFamily="34" charset="0"/>
                <a:ea typeface="Calibri" pitchFamily="34" charset="-122"/>
                <a:cs typeface="Calibri" pitchFamily="34" charset="-120"/>
              </a:rPr>
              <a:t>: same-origin requests</a:t>
            </a:r>
            <a:endParaRPr lang="en-US" sz="1900" dirty="0"/>
          </a:p>
        </p:txBody>
      </p:sp>
      <p:sp>
        <p:nvSpPr>
          <p:cNvPr id="32" name="Text 29"/>
          <p:cNvSpPr txBox="1"/>
          <p:nvPr/>
        </p:nvSpPr>
        <p:spPr>
          <a:xfrm>
            <a:off x="7493992" y="31759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3" name="Text 30"/>
          <p:cNvSpPr txBox="1"/>
          <p:nvPr/>
        </p:nvSpPr>
        <p:spPr>
          <a:xfrm>
            <a:off x="7836892" y="3163292"/>
            <a:ext cx="4108947"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No</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non-browser clients (curl, service-to-service)</a:t>
            </a:r>
            <a:endParaRPr lang="en-US" sz="1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28994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from the browser: CORS preflight</a:t>
            </a:r>
            <a:endParaRPr lang="en-US" sz="2400" dirty="0"/>
          </a:p>
        </p:txBody>
      </p:sp>
      <p:sp>
        <p:nvSpPr>
          <p:cNvPr id="10" name="Shape 7"/>
          <p:cNvSpPr/>
          <p:nvPr/>
        </p:nvSpPr>
        <p:spPr>
          <a:xfrm>
            <a:off x="91281" y="1361281"/>
            <a:ext cx="1371600" cy="463551"/>
          </a:xfrm>
          <a:prstGeom prst="rect">
            <a:avLst/>
          </a:prstGeom>
          <a:solidFill>
            <a:srgbClr val="D6D6EB"/>
          </a:solidFill>
          <a:ln w="12700">
            <a:solidFill>
              <a:srgbClr val="333399"/>
            </a:solidFill>
            <a:prstDash val="solid"/>
          </a:ln>
        </p:spPr>
      </p:sp>
      <p:sp>
        <p:nvSpPr>
          <p:cNvPr id="11" name="Text 8"/>
          <p:cNvSpPr txBox="1"/>
          <p:nvPr/>
        </p:nvSpPr>
        <p:spPr>
          <a:xfrm>
            <a:off x="286147" y="1437481"/>
            <a:ext cx="981671"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Browser</a:t>
            </a:r>
            <a:endParaRPr lang="en-US" sz="1900" dirty="0"/>
          </a:p>
        </p:txBody>
      </p:sp>
      <p:sp>
        <p:nvSpPr>
          <p:cNvPr id="12" name="Shape 9"/>
          <p:cNvSpPr/>
          <p:nvPr/>
        </p:nvSpPr>
        <p:spPr>
          <a:xfrm>
            <a:off x="5577681" y="1361281"/>
            <a:ext cx="1371600" cy="463551"/>
          </a:xfrm>
          <a:prstGeom prst="rect">
            <a:avLst/>
          </a:prstGeom>
          <a:solidFill>
            <a:srgbClr val="D6D6EB"/>
          </a:solidFill>
          <a:ln w="12700">
            <a:solidFill>
              <a:srgbClr val="333399"/>
            </a:solidFill>
            <a:prstDash val="solid"/>
          </a:ln>
        </p:spPr>
      </p:sp>
      <p:sp>
        <p:nvSpPr>
          <p:cNvPr id="13" name="Text 10"/>
          <p:cNvSpPr txBox="1"/>
          <p:nvPr/>
        </p:nvSpPr>
        <p:spPr>
          <a:xfrm>
            <a:off x="5865812" y="1437481"/>
            <a:ext cx="795139"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Server</a:t>
            </a:r>
            <a:endParaRPr lang="en-US" sz="1900" dirty="0"/>
          </a:p>
        </p:txBody>
      </p:sp>
      <p:sp>
        <p:nvSpPr>
          <p:cNvPr id="14" name="Shape 11"/>
          <p:cNvSpPr/>
          <p:nvPr/>
        </p:nvSpPr>
        <p:spPr>
          <a:xfrm>
            <a:off x="764381" y="1793081"/>
            <a:ext cx="25400" cy="3541712"/>
          </a:xfrm>
          <a:prstGeom prst="rect">
            <a:avLst/>
          </a:prstGeom>
          <a:solidFill>
            <a:srgbClr val="000000"/>
          </a:solidFill>
          <a:ln/>
        </p:spPr>
      </p:sp>
      <p:sp>
        <p:nvSpPr>
          <p:cNvPr id="15" name="Shape 12"/>
          <p:cNvSpPr/>
          <p:nvPr/>
        </p:nvSpPr>
        <p:spPr>
          <a:xfrm>
            <a:off x="6250781" y="1793081"/>
            <a:ext cx="25400" cy="3541712"/>
          </a:xfrm>
          <a:prstGeom prst="rect">
            <a:avLst/>
          </a:prstGeom>
          <a:solidFill>
            <a:srgbClr val="000000"/>
          </a:solidFill>
          <a:ln/>
        </p:spPr>
      </p:sp>
      <p:sp>
        <p:nvSpPr>
          <p:cNvPr id="16" name="Text 13"/>
          <p:cNvSpPr txBox="1"/>
          <p:nvPr/>
        </p:nvSpPr>
        <p:spPr>
          <a:xfrm>
            <a:off x="904081" y="1964531"/>
            <a:ext cx="244137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① OPTIONS /search</a:t>
            </a:r>
            <a:endParaRPr lang="en-US" sz="1700" dirty="0"/>
          </a:p>
        </p:txBody>
      </p:sp>
      <p:sp>
        <p:nvSpPr>
          <p:cNvPr id="17" name="Text 14"/>
          <p:cNvSpPr txBox="1"/>
          <p:nvPr/>
        </p:nvSpPr>
        <p:spPr>
          <a:xfrm>
            <a:off x="904081" y="2245121"/>
            <a:ext cx="4267993" cy="215900"/>
          </a:xfrm>
          <a:prstGeom prst="rect">
            <a:avLst/>
          </a:prstGeom>
          <a:noFill/>
          <a:ln/>
        </p:spPr>
        <p:txBody>
          <a:bodyPr wrap="none" lIns="0" tIns="0" rIns="0" bIns="0" rtlCol="0" anchor="t"/>
          <a:lstStyle/>
          <a:p>
            <a:pPr algn="l" indent="0" marL="0">
              <a:buNone/>
            </a:pPr>
            <a:r>
              <a:rPr lang="en-US" sz="1500" b="1" dirty="0">
                <a:solidFill>
                  <a:srgbClr val="000000"/>
                </a:solidFill>
                <a:latin typeface="Courier New" pitchFamily="34" charset="0"/>
                <a:ea typeface="Courier New" pitchFamily="34" charset="-122"/>
                <a:cs typeface="Courier New" pitchFamily="34" charset="-120"/>
              </a:rPr>
              <a:t>Access-Control-Request-Method: QUERY</a:t>
            </a:r>
            <a:endParaRPr lang="en-US" sz="1500" dirty="0"/>
          </a:p>
        </p:txBody>
      </p:sp>
      <p:sp>
        <p:nvSpPr>
          <p:cNvPr id="18" name="Text 15"/>
          <p:cNvSpPr txBox="1"/>
          <p:nvPr/>
        </p:nvSpPr>
        <p:spPr>
          <a:xfrm>
            <a:off x="904081" y="2505472"/>
            <a:ext cx="4420393"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 Origin, Access-Control-Request-Headers</a:t>
            </a:r>
            <a:endParaRPr lang="en-US" sz="1400" dirty="0"/>
          </a:p>
        </p:txBody>
      </p:sp>
      <p:sp>
        <p:nvSpPr>
          <p:cNvPr id="19" name="Shape 16"/>
          <p:cNvSpPr/>
          <p:nvPr/>
        </p:nvSpPr>
        <p:spPr>
          <a:xfrm>
            <a:off x="777081" y="2810272"/>
            <a:ext cx="5486400" cy="25400"/>
          </a:xfrm>
          <a:prstGeom prst="rect">
            <a:avLst/>
          </a:prstGeom>
          <a:solidFill>
            <a:srgbClr val="000000"/>
          </a:solidFill>
          <a:ln/>
        </p:spPr>
      </p:sp>
      <p:sp>
        <p:nvSpPr>
          <p:cNvPr id="20" name="Shape 17"/>
          <p:cNvSpPr/>
          <p:nvPr/>
        </p:nvSpPr>
        <p:spPr>
          <a:xfrm>
            <a:off x="6149181" y="2734072"/>
            <a:ext cx="139700" cy="177800"/>
          </a:xfrm>
          <a:prstGeom prst="rect">
            <a:avLst/>
          </a:prstGeom>
          <a:solidFill>
            <a:srgbClr val="000000"/>
          </a:solidFill>
          <a:ln/>
        </p:spPr>
      </p:sp>
      <p:sp>
        <p:nvSpPr>
          <p:cNvPr id="21" name="Text 18"/>
          <p:cNvSpPr txBox="1"/>
          <p:nvPr/>
        </p:nvSpPr>
        <p:spPr>
          <a:xfrm>
            <a:off x="3824684" y="2975372"/>
            <a:ext cx="2311797" cy="241300"/>
          </a:xfrm>
          <a:prstGeom prst="rect">
            <a:avLst/>
          </a:prstGeom>
          <a:noFill/>
          <a:ln/>
        </p:spPr>
        <p:txBody>
          <a:bodyPr wrap="none" lIns="0" tIns="0" rIns="0" bIns="0" rtlCol="0" anchor="t"/>
          <a:lstStyle/>
          <a:p>
            <a:pPr algn="r" indent="0" marL="0">
              <a:buNone/>
            </a:pPr>
            <a:r>
              <a:rPr lang="en-US" sz="1700" b="1" dirty="0">
                <a:solidFill>
                  <a:srgbClr val="000000"/>
                </a:solidFill>
                <a:latin typeface="Courier New" pitchFamily="34" charset="0"/>
                <a:ea typeface="Courier New" pitchFamily="34" charset="-122"/>
                <a:cs typeface="Courier New" pitchFamily="34" charset="-120"/>
              </a:rPr>
              <a:t>② 204 No Content</a:t>
            </a:r>
            <a:endParaRPr lang="en-US" sz="1700" dirty="0"/>
          </a:p>
        </p:txBody>
      </p:sp>
      <p:sp>
        <p:nvSpPr>
          <p:cNvPr id="22" name="Text 19"/>
          <p:cNvSpPr txBox="1"/>
          <p:nvPr/>
        </p:nvSpPr>
        <p:spPr>
          <a:xfrm>
            <a:off x="1982788" y="3255963"/>
            <a:ext cx="4153693" cy="215900"/>
          </a:xfrm>
          <a:prstGeom prst="rect">
            <a:avLst/>
          </a:prstGeom>
          <a:noFill/>
          <a:ln/>
        </p:spPr>
        <p:txBody>
          <a:bodyPr wrap="none" lIns="0" tIns="0" rIns="0" bIns="0" rtlCol="0" anchor="t"/>
          <a:lstStyle/>
          <a:p>
            <a:pPr algn="r" indent="0" marL="0">
              <a:buNone/>
            </a:pPr>
            <a:r>
              <a:rPr lang="en-US" sz="1500" b="1" dirty="0">
                <a:solidFill>
                  <a:srgbClr val="000000"/>
                </a:solidFill>
                <a:latin typeface="Courier New" pitchFamily="34" charset="0"/>
                <a:ea typeface="Courier New" pitchFamily="34" charset="-122"/>
                <a:cs typeface="Courier New" pitchFamily="34" charset="-120"/>
              </a:rPr>
              <a:t>Access-Control-Allow-Methods: QUERY</a:t>
            </a:r>
            <a:endParaRPr lang="en-US" sz="1500" dirty="0"/>
          </a:p>
        </p:txBody>
      </p:sp>
      <p:sp>
        <p:nvSpPr>
          <p:cNvPr id="23" name="Text 20"/>
          <p:cNvSpPr txBox="1"/>
          <p:nvPr/>
        </p:nvSpPr>
        <p:spPr>
          <a:xfrm>
            <a:off x="1929408" y="3516312"/>
            <a:ext cx="4207073" cy="203200"/>
          </a:xfrm>
          <a:prstGeom prst="rect">
            <a:avLst/>
          </a:prstGeom>
          <a:noFill/>
          <a:ln/>
        </p:spPr>
        <p:txBody>
          <a:bodyPr wrap="none" lIns="0" tIns="0" rIns="0" bIns="0" rtlCol="0" anchor="t"/>
          <a:lstStyle/>
          <a:p>
            <a:pPr algn="r" indent="0" marL="0">
              <a:buNone/>
            </a:pPr>
            <a:r>
              <a:rPr lang="en-US" sz="1400" dirty="0">
                <a:solidFill>
                  <a:srgbClr val="000000"/>
                </a:solidFill>
                <a:latin typeface="Courier New" pitchFamily="34" charset="0"/>
                <a:ea typeface="Courier New" pitchFamily="34" charset="-122"/>
                <a:cs typeface="Courier New" pitchFamily="34" charset="-120"/>
              </a:rPr>
              <a:t>+ Allow-Origin, Allow-Headers, Max-Age</a:t>
            </a:r>
            <a:endParaRPr lang="en-US" sz="1400" dirty="0"/>
          </a:p>
        </p:txBody>
      </p:sp>
      <p:sp>
        <p:nvSpPr>
          <p:cNvPr id="24" name="Shape 21"/>
          <p:cNvSpPr/>
          <p:nvPr/>
        </p:nvSpPr>
        <p:spPr>
          <a:xfrm>
            <a:off x="777081" y="3821112"/>
            <a:ext cx="5486400" cy="25400"/>
          </a:xfrm>
          <a:prstGeom prst="rect">
            <a:avLst/>
          </a:prstGeom>
          <a:solidFill>
            <a:srgbClr val="000000"/>
          </a:solidFill>
          <a:ln/>
        </p:spPr>
      </p:sp>
      <p:sp>
        <p:nvSpPr>
          <p:cNvPr id="25" name="Shape 22"/>
          <p:cNvSpPr/>
          <p:nvPr/>
        </p:nvSpPr>
        <p:spPr>
          <a:xfrm>
            <a:off x="751681" y="3744912"/>
            <a:ext cx="139700" cy="177800"/>
          </a:xfrm>
          <a:prstGeom prst="rect">
            <a:avLst/>
          </a:prstGeom>
          <a:solidFill>
            <a:srgbClr val="000000"/>
          </a:solidFill>
          <a:ln/>
        </p:spPr>
      </p:sp>
      <p:sp>
        <p:nvSpPr>
          <p:cNvPr id="26" name="Text 23"/>
          <p:cNvSpPr txBox="1"/>
          <p:nvPr/>
        </p:nvSpPr>
        <p:spPr>
          <a:xfrm>
            <a:off x="904081" y="3986212"/>
            <a:ext cx="21822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③ QUERY /search</a:t>
            </a:r>
            <a:endParaRPr lang="en-US" sz="1700" dirty="0"/>
          </a:p>
        </p:txBody>
      </p:sp>
      <p:sp>
        <p:nvSpPr>
          <p:cNvPr id="27" name="Text 24"/>
          <p:cNvSpPr txBox="1"/>
          <p:nvPr/>
        </p:nvSpPr>
        <p:spPr>
          <a:xfrm>
            <a:off x="904081" y="4266803"/>
            <a:ext cx="2324497" cy="215900"/>
          </a:xfrm>
          <a:prstGeom prst="rect">
            <a:avLst/>
          </a:prstGeom>
          <a:noFill/>
          <a:ln/>
        </p:spPr>
        <p:txBody>
          <a:bodyPr wrap="none" lIns="0" tIns="0" rIns="0" bIns="0" rtlCol="0" anchor="t"/>
          <a:lstStyle/>
          <a:p>
            <a:pPr algn="l" indent="0" marL="0">
              <a:buNone/>
            </a:pPr>
            <a:r>
              <a:rPr lang="en-US" sz="1500" b="1" dirty="0">
                <a:solidFill>
                  <a:srgbClr val="000000"/>
                </a:solidFill>
                <a:latin typeface="Courier New" pitchFamily="34" charset="0"/>
                <a:ea typeface="Courier New" pitchFamily="34" charset="-122"/>
                <a:cs typeface="Courier New" pitchFamily="34" charset="-120"/>
              </a:rPr>
              <a:t>{ "q": "security" }</a:t>
            </a:r>
            <a:endParaRPr lang="en-US" sz="1500" dirty="0"/>
          </a:p>
        </p:txBody>
      </p:sp>
      <p:sp>
        <p:nvSpPr>
          <p:cNvPr id="28" name="Shape 25"/>
          <p:cNvSpPr/>
          <p:nvPr/>
        </p:nvSpPr>
        <p:spPr>
          <a:xfrm>
            <a:off x="777081" y="4552553"/>
            <a:ext cx="5486400" cy="38100"/>
          </a:xfrm>
          <a:prstGeom prst="rect">
            <a:avLst/>
          </a:prstGeom>
          <a:solidFill>
            <a:srgbClr val="CC6600"/>
          </a:solidFill>
          <a:ln/>
        </p:spPr>
      </p:sp>
      <p:sp>
        <p:nvSpPr>
          <p:cNvPr id="29" name="Shape 26"/>
          <p:cNvSpPr/>
          <p:nvPr/>
        </p:nvSpPr>
        <p:spPr>
          <a:xfrm>
            <a:off x="6149181" y="4476353"/>
            <a:ext cx="139700" cy="177800"/>
          </a:xfrm>
          <a:prstGeom prst="rect">
            <a:avLst/>
          </a:prstGeom>
          <a:solidFill>
            <a:srgbClr val="000000"/>
          </a:solidFill>
          <a:ln/>
        </p:spPr>
      </p:sp>
      <p:sp>
        <p:nvSpPr>
          <p:cNvPr id="30" name="Text 27"/>
          <p:cNvSpPr txBox="1"/>
          <p:nvPr/>
        </p:nvSpPr>
        <p:spPr>
          <a:xfrm>
            <a:off x="4861124" y="4730353"/>
            <a:ext cx="1275357" cy="241300"/>
          </a:xfrm>
          <a:prstGeom prst="rect">
            <a:avLst/>
          </a:prstGeom>
          <a:noFill/>
          <a:ln/>
        </p:spPr>
        <p:txBody>
          <a:bodyPr wrap="none" lIns="0" tIns="0" rIns="0" bIns="0" rtlCol="0" anchor="t"/>
          <a:lstStyle/>
          <a:p>
            <a:pPr algn="r" indent="0" marL="0">
              <a:buNone/>
            </a:pPr>
            <a:r>
              <a:rPr lang="en-US" sz="1700" b="1" dirty="0">
                <a:solidFill>
                  <a:srgbClr val="000000"/>
                </a:solidFill>
                <a:latin typeface="Courier New" pitchFamily="34" charset="0"/>
                <a:ea typeface="Courier New" pitchFamily="34" charset="-122"/>
                <a:cs typeface="Courier New" pitchFamily="34" charset="-120"/>
              </a:rPr>
              <a:t>④ 200 OK</a:t>
            </a:r>
            <a:endParaRPr lang="en-US" sz="1700" dirty="0"/>
          </a:p>
        </p:txBody>
      </p:sp>
      <p:sp>
        <p:nvSpPr>
          <p:cNvPr id="31" name="Text 28"/>
          <p:cNvSpPr txBox="1"/>
          <p:nvPr/>
        </p:nvSpPr>
        <p:spPr>
          <a:xfrm>
            <a:off x="1754188" y="5010944"/>
            <a:ext cx="4382293" cy="215900"/>
          </a:xfrm>
          <a:prstGeom prst="rect">
            <a:avLst/>
          </a:prstGeom>
          <a:noFill/>
          <a:ln/>
        </p:spPr>
        <p:txBody>
          <a:bodyPr wrap="none" lIns="0" tIns="0" rIns="0" bIns="0" rtlCol="0" anchor="t"/>
          <a:lstStyle/>
          <a:p>
            <a:pPr algn="r" indent="0" marL="0">
              <a:buNone/>
            </a:pPr>
            <a:r>
              <a:rPr lang="en-US" sz="1500" b="1" dirty="0">
                <a:solidFill>
                  <a:srgbClr val="000000"/>
                </a:solidFill>
                <a:latin typeface="Courier New" pitchFamily="34" charset="0"/>
                <a:ea typeface="Courier New" pitchFamily="34" charset="-122"/>
                <a:cs typeface="Courier New" pitchFamily="34" charset="-120"/>
              </a:rPr>
              <a:t>results, shown only if origin allowed</a:t>
            </a:r>
            <a:endParaRPr lang="en-US" sz="1500" dirty="0"/>
          </a:p>
        </p:txBody>
      </p:sp>
      <p:sp>
        <p:nvSpPr>
          <p:cNvPr id="32" name="Shape 29"/>
          <p:cNvSpPr/>
          <p:nvPr/>
        </p:nvSpPr>
        <p:spPr>
          <a:xfrm>
            <a:off x="777081" y="5309393"/>
            <a:ext cx="5486400" cy="25400"/>
          </a:xfrm>
          <a:prstGeom prst="rect">
            <a:avLst/>
          </a:prstGeom>
          <a:solidFill>
            <a:srgbClr val="000000"/>
          </a:solidFill>
          <a:ln/>
        </p:spPr>
      </p:sp>
      <p:sp>
        <p:nvSpPr>
          <p:cNvPr id="33" name="Shape 30"/>
          <p:cNvSpPr/>
          <p:nvPr/>
        </p:nvSpPr>
        <p:spPr>
          <a:xfrm>
            <a:off x="751681" y="5233193"/>
            <a:ext cx="139700" cy="177800"/>
          </a:xfrm>
          <a:prstGeom prst="rect">
            <a:avLst/>
          </a:prstGeom>
          <a:solidFill>
            <a:srgbClr val="000000"/>
          </a:solidFill>
          <a:ln/>
        </p:spPr>
      </p:sp>
      <p:sp>
        <p:nvSpPr>
          <p:cNvPr id="34" name="Text 31"/>
          <p:cNvSpPr txBox="1"/>
          <p:nvPr/>
        </p:nvSpPr>
        <p:spPr>
          <a:xfrm>
            <a:off x="7228681" y="1399381"/>
            <a:ext cx="2651919"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Is a preflight needed?</a:t>
            </a:r>
            <a:endParaRPr lang="en-US" sz="2200" dirty="0"/>
          </a:p>
        </p:txBody>
      </p:sp>
      <p:sp>
        <p:nvSpPr>
          <p:cNvPr id="35" name="Text 32"/>
          <p:cNvSpPr txBox="1"/>
          <p:nvPr/>
        </p:nvSpPr>
        <p:spPr>
          <a:xfrm>
            <a:off x="7493992" y="18565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6" name="Shape 33"/>
          <p:cNvSpPr/>
          <p:nvPr/>
        </p:nvSpPr>
        <p:spPr>
          <a:xfrm>
            <a:off x="9469040" y="1881981"/>
            <a:ext cx="1039416" cy="266700"/>
          </a:xfrm>
          <a:prstGeom prst="rect">
            <a:avLst/>
          </a:prstGeom>
          <a:solidFill>
            <a:srgbClr val="FFFFFF"/>
          </a:solidFill>
          <a:ln w="12700">
            <a:solidFill>
              <a:srgbClr val="333399"/>
            </a:solidFill>
            <a:prstDash val="solid"/>
          </a:ln>
        </p:spPr>
      </p:sp>
      <p:sp>
        <p:nvSpPr>
          <p:cNvPr id="37" name="Text 34"/>
          <p:cNvSpPr txBox="1"/>
          <p:nvPr/>
        </p:nvSpPr>
        <p:spPr>
          <a:xfrm>
            <a:off x="7836892" y="1843881"/>
            <a:ext cx="4086027" cy="854671"/>
          </a:xfrm>
          <a:prstGeom prst="rect">
            <a:avLst/>
          </a:prstGeom>
          <a:noFill/>
          <a:ln/>
        </p:spPr>
        <p:txBody>
          <a:bodyPr wrap="square" lIns="0" tIns="0" rIns="0" bIns="0" rtlCol="0" anchor="t"/>
          <a:lstStyle/>
          <a:p>
            <a:pPr algn="l" indent="0" marL="0">
              <a:lnSpc>
                <a:spcPts val="2880"/>
              </a:lnSpc>
              <a:buNone/>
            </a:pPr>
            <a:r>
              <a:rPr lang="en-US" sz="1900" b="1" dirty="0">
                <a:solidFill>
                  <a:srgbClr val="009999"/>
                </a:solidFill>
                <a:latin typeface="Calibri" pitchFamily="34" charset="0"/>
                <a:ea typeface="Calibri" pitchFamily="34" charset="-122"/>
                <a:cs typeface="Calibri" pitchFamily="34" charset="-120"/>
              </a:rPr>
              <a:t>Yes</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cross-origin </a:t>
            </a:r>
            <a:pPr algn="l" indent="0" marL="0">
              <a:lnSpc>
                <a:spcPts val="2880"/>
              </a:lnSpc>
              <a:buNone/>
            </a:pPr>
            <a:r>
              <a:rPr lang="en-US" sz="1711" b="1" dirty="0">
                <a:solidFill>
                  <a:srgbClr val="000000"/>
                </a:solidFill>
                <a:latin typeface="Courier New" pitchFamily="34" charset="0"/>
                <a:ea typeface="Courier New" pitchFamily="34" charset="-122"/>
                <a:cs typeface="Courier New" pitchFamily="34" charset="-120"/>
              </a:rPr>
              <a:t>fetch()</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only GET, HEAD, POST are CORS-safelisted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900" dirty="0"/>
          </a:p>
        </p:txBody>
      </p:sp>
      <p:sp>
        <p:nvSpPr>
          <p:cNvPr id="38" name="Text 35"/>
          <p:cNvSpPr txBox="1"/>
          <p:nvPr/>
        </p:nvSpPr>
        <p:spPr>
          <a:xfrm>
            <a:off x="7493992" y="28102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9" name="Text 36"/>
          <p:cNvSpPr txBox="1"/>
          <p:nvPr/>
        </p:nvSpPr>
        <p:spPr>
          <a:xfrm>
            <a:off x="7836892" y="2797572"/>
            <a:ext cx="261560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No</a:t>
            </a:r>
            <a:pPr algn="l" indent="0" marL="0">
              <a:buNone/>
            </a:pPr>
            <a:r>
              <a:rPr lang="en-US" sz="1900" dirty="0">
                <a:solidFill>
                  <a:srgbClr val="000000"/>
                </a:solidFill>
                <a:latin typeface="Calibri" pitchFamily="34" charset="0"/>
                <a:ea typeface="Calibri" pitchFamily="34" charset="-122"/>
                <a:cs typeface="Calibri" pitchFamily="34" charset="-120"/>
              </a:rPr>
              <a:t>: same-origin requests</a:t>
            </a:r>
            <a:endParaRPr lang="en-US" sz="1900" dirty="0"/>
          </a:p>
        </p:txBody>
      </p:sp>
      <p:sp>
        <p:nvSpPr>
          <p:cNvPr id="40" name="Text 37"/>
          <p:cNvSpPr txBox="1"/>
          <p:nvPr/>
        </p:nvSpPr>
        <p:spPr>
          <a:xfrm>
            <a:off x="7493992" y="31759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41" name="Text 38"/>
          <p:cNvSpPr txBox="1"/>
          <p:nvPr/>
        </p:nvSpPr>
        <p:spPr>
          <a:xfrm>
            <a:off x="7836892" y="3163292"/>
            <a:ext cx="4108947"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No</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non-browser clients (curl, service-to-service)</a:t>
            </a:r>
            <a:endParaRPr lang="en-US" sz="1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28994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from the browser: CORS preflight</a:t>
            </a:r>
            <a:endParaRPr lang="en-US" sz="2400" dirty="0"/>
          </a:p>
        </p:txBody>
      </p:sp>
      <p:sp>
        <p:nvSpPr>
          <p:cNvPr id="10" name="Shape 7"/>
          <p:cNvSpPr/>
          <p:nvPr/>
        </p:nvSpPr>
        <p:spPr>
          <a:xfrm>
            <a:off x="91281" y="1361281"/>
            <a:ext cx="1371600" cy="463551"/>
          </a:xfrm>
          <a:prstGeom prst="rect">
            <a:avLst/>
          </a:prstGeom>
          <a:solidFill>
            <a:srgbClr val="D6D6EB"/>
          </a:solidFill>
          <a:ln w="12700">
            <a:solidFill>
              <a:srgbClr val="333399"/>
            </a:solidFill>
            <a:prstDash val="solid"/>
          </a:ln>
        </p:spPr>
      </p:sp>
      <p:sp>
        <p:nvSpPr>
          <p:cNvPr id="11" name="Text 8"/>
          <p:cNvSpPr txBox="1"/>
          <p:nvPr/>
        </p:nvSpPr>
        <p:spPr>
          <a:xfrm>
            <a:off x="286147" y="1437481"/>
            <a:ext cx="981671"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Browser</a:t>
            </a:r>
            <a:endParaRPr lang="en-US" sz="1900" dirty="0"/>
          </a:p>
        </p:txBody>
      </p:sp>
      <p:sp>
        <p:nvSpPr>
          <p:cNvPr id="12" name="Shape 9"/>
          <p:cNvSpPr/>
          <p:nvPr/>
        </p:nvSpPr>
        <p:spPr>
          <a:xfrm>
            <a:off x="5577681" y="1361281"/>
            <a:ext cx="1371600" cy="463551"/>
          </a:xfrm>
          <a:prstGeom prst="rect">
            <a:avLst/>
          </a:prstGeom>
          <a:solidFill>
            <a:srgbClr val="D6D6EB"/>
          </a:solidFill>
          <a:ln w="12700">
            <a:solidFill>
              <a:srgbClr val="333399"/>
            </a:solidFill>
            <a:prstDash val="solid"/>
          </a:ln>
        </p:spPr>
      </p:sp>
      <p:sp>
        <p:nvSpPr>
          <p:cNvPr id="13" name="Text 10"/>
          <p:cNvSpPr txBox="1"/>
          <p:nvPr/>
        </p:nvSpPr>
        <p:spPr>
          <a:xfrm>
            <a:off x="5865812" y="1437481"/>
            <a:ext cx="795139"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Server</a:t>
            </a:r>
            <a:endParaRPr lang="en-US" sz="1900" dirty="0"/>
          </a:p>
        </p:txBody>
      </p:sp>
      <p:sp>
        <p:nvSpPr>
          <p:cNvPr id="14" name="Shape 11"/>
          <p:cNvSpPr/>
          <p:nvPr/>
        </p:nvSpPr>
        <p:spPr>
          <a:xfrm>
            <a:off x="764381" y="1793081"/>
            <a:ext cx="25400" cy="3541712"/>
          </a:xfrm>
          <a:prstGeom prst="rect">
            <a:avLst/>
          </a:prstGeom>
          <a:solidFill>
            <a:srgbClr val="000000"/>
          </a:solidFill>
          <a:ln/>
        </p:spPr>
      </p:sp>
      <p:sp>
        <p:nvSpPr>
          <p:cNvPr id="15" name="Shape 12"/>
          <p:cNvSpPr/>
          <p:nvPr/>
        </p:nvSpPr>
        <p:spPr>
          <a:xfrm>
            <a:off x="6250781" y="1793081"/>
            <a:ext cx="25400" cy="3541712"/>
          </a:xfrm>
          <a:prstGeom prst="rect">
            <a:avLst/>
          </a:prstGeom>
          <a:solidFill>
            <a:srgbClr val="000000"/>
          </a:solidFill>
          <a:ln/>
        </p:spPr>
      </p:sp>
      <p:sp>
        <p:nvSpPr>
          <p:cNvPr id="16" name="Text 13"/>
          <p:cNvSpPr txBox="1"/>
          <p:nvPr/>
        </p:nvSpPr>
        <p:spPr>
          <a:xfrm>
            <a:off x="904081" y="1964531"/>
            <a:ext cx="244137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① OPTIONS /search</a:t>
            </a:r>
            <a:endParaRPr lang="en-US" sz="1700" dirty="0"/>
          </a:p>
        </p:txBody>
      </p:sp>
      <p:sp>
        <p:nvSpPr>
          <p:cNvPr id="17" name="Text 14"/>
          <p:cNvSpPr txBox="1"/>
          <p:nvPr/>
        </p:nvSpPr>
        <p:spPr>
          <a:xfrm>
            <a:off x="904081" y="2245121"/>
            <a:ext cx="4267993" cy="215900"/>
          </a:xfrm>
          <a:prstGeom prst="rect">
            <a:avLst/>
          </a:prstGeom>
          <a:noFill/>
          <a:ln/>
        </p:spPr>
        <p:txBody>
          <a:bodyPr wrap="none" lIns="0" tIns="0" rIns="0" bIns="0" rtlCol="0" anchor="t"/>
          <a:lstStyle/>
          <a:p>
            <a:pPr algn="l" indent="0" marL="0">
              <a:buNone/>
            </a:pPr>
            <a:r>
              <a:rPr lang="en-US" sz="1500" b="1" dirty="0">
                <a:solidFill>
                  <a:srgbClr val="000000"/>
                </a:solidFill>
                <a:latin typeface="Courier New" pitchFamily="34" charset="0"/>
                <a:ea typeface="Courier New" pitchFamily="34" charset="-122"/>
                <a:cs typeface="Courier New" pitchFamily="34" charset="-120"/>
              </a:rPr>
              <a:t>Access-Control-Request-Method: QUERY</a:t>
            </a:r>
            <a:endParaRPr lang="en-US" sz="1500" dirty="0"/>
          </a:p>
        </p:txBody>
      </p:sp>
      <p:sp>
        <p:nvSpPr>
          <p:cNvPr id="18" name="Text 15"/>
          <p:cNvSpPr txBox="1"/>
          <p:nvPr/>
        </p:nvSpPr>
        <p:spPr>
          <a:xfrm>
            <a:off x="904081" y="2505472"/>
            <a:ext cx="4420393"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 Origin, Access-Control-Request-Headers</a:t>
            </a:r>
            <a:endParaRPr lang="en-US" sz="1400" dirty="0"/>
          </a:p>
        </p:txBody>
      </p:sp>
      <p:sp>
        <p:nvSpPr>
          <p:cNvPr id="19" name="Shape 16"/>
          <p:cNvSpPr/>
          <p:nvPr/>
        </p:nvSpPr>
        <p:spPr>
          <a:xfrm>
            <a:off x="777081" y="2810272"/>
            <a:ext cx="5486400" cy="25400"/>
          </a:xfrm>
          <a:prstGeom prst="rect">
            <a:avLst/>
          </a:prstGeom>
          <a:solidFill>
            <a:srgbClr val="000000"/>
          </a:solidFill>
          <a:ln/>
        </p:spPr>
      </p:sp>
      <p:sp>
        <p:nvSpPr>
          <p:cNvPr id="20" name="Shape 17"/>
          <p:cNvSpPr/>
          <p:nvPr/>
        </p:nvSpPr>
        <p:spPr>
          <a:xfrm>
            <a:off x="6149181" y="2734072"/>
            <a:ext cx="139700" cy="177800"/>
          </a:xfrm>
          <a:prstGeom prst="rect">
            <a:avLst/>
          </a:prstGeom>
          <a:solidFill>
            <a:srgbClr val="000000"/>
          </a:solidFill>
          <a:ln/>
        </p:spPr>
      </p:sp>
      <p:sp>
        <p:nvSpPr>
          <p:cNvPr id="21" name="Text 18"/>
          <p:cNvSpPr txBox="1"/>
          <p:nvPr/>
        </p:nvSpPr>
        <p:spPr>
          <a:xfrm>
            <a:off x="3824684" y="2975372"/>
            <a:ext cx="2311797" cy="241300"/>
          </a:xfrm>
          <a:prstGeom prst="rect">
            <a:avLst/>
          </a:prstGeom>
          <a:noFill/>
          <a:ln/>
        </p:spPr>
        <p:txBody>
          <a:bodyPr wrap="none" lIns="0" tIns="0" rIns="0" bIns="0" rtlCol="0" anchor="t"/>
          <a:lstStyle/>
          <a:p>
            <a:pPr algn="r" indent="0" marL="0">
              <a:buNone/>
            </a:pPr>
            <a:r>
              <a:rPr lang="en-US" sz="1700" b="1" dirty="0">
                <a:solidFill>
                  <a:srgbClr val="000000"/>
                </a:solidFill>
                <a:latin typeface="Courier New" pitchFamily="34" charset="0"/>
                <a:ea typeface="Courier New" pitchFamily="34" charset="-122"/>
                <a:cs typeface="Courier New" pitchFamily="34" charset="-120"/>
              </a:rPr>
              <a:t>② 204 No Content</a:t>
            </a:r>
            <a:endParaRPr lang="en-US" sz="1700" dirty="0"/>
          </a:p>
        </p:txBody>
      </p:sp>
      <p:sp>
        <p:nvSpPr>
          <p:cNvPr id="22" name="Text 19"/>
          <p:cNvSpPr txBox="1"/>
          <p:nvPr/>
        </p:nvSpPr>
        <p:spPr>
          <a:xfrm>
            <a:off x="1982788" y="3255963"/>
            <a:ext cx="4153693" cy="215900"/>
          </a:xfrm>
          <a:prstGeom prst="rect">
            <a:avLst/>
          </a:prstGeom>
          <a:noFill/>
          <a:ln/>
        </p:spPr>
        <p:txBody>
          <a:bodyPr wrap="none" lIns="0" tIns="0" rIns="0" bIns="0" rtlCol="0" anchor="t"/>
          <a:lstStyle/>
          <a:p>
            <a:pPr algn="r" indent="0" marL="0">
              <a:buNone/>
            </a:pPr>
            <a:r>
              <a:rPr lang="en-US" sz="1500" b="1" dirty="0">
                <a:solidFill>
                  <a:srgbClr val="000000"/>
                </a:solidFill>
                <a:latin typeface="Courier New" pitchFamily="34" charset="0"/>
                <a:ea typeface="Courier New" pitchFamily="34" charset="-122"/>
                <a:cs typeface="Courier New" pitchFamily="34" charset="-120"/>
              </a:rPr>
              <a:t>Access-Control-Allow-Methods: QUERY</a:t>
            </a:r>
            <a:endParaRPr lang="en-US" sz="1500" dirty="0"/>
          </a:p>
        </p:txBody>
      </p:sp>
      <p:sp>
        <p:nvSpPr>
          <p:cNvPr id="23" name="Text 20"/>
          <p:cNvSpPr txBox="1"/>
          <p:nvPr/>
        </p:nvSpPr>
        <p:spPr>
          <a:xfrm>
            <a:off x="1929408" y="3516312"/>
            <a:ext cx="4207073" cy="203200"/>
          </a:xfrm>
          <a:prstGeom prst="rect">
            <a:avLst/>
          </a:prstGeom>
          <a:noFill/>
          <a:ln/>
        </p:spPr>
        <p:txBody>
          <a:bodyPr wrap="none" lIns="0" tIns="0" rIns="0" bIns="0" rtlCol="0" anchor="t"/>
          <a:lstStyle/>
          <a:p>
            <a:pPr algn="r" indent="0" marL="0">
              <a:buNone/>
            </a:pPr>
            <a:r>
              <a:rPr lang="en-US" sz="1400" dirty="0">
                <a:solidFill>
                  <a:srgbClr val="000000"/>
                </a:solidFill>
                <a:latin typeface="Courier New" pitchFamily="34" charset="0"/>
                <a:ea typeface="Courier New" pitchFamily="34" charset="-122"/>
                <a:cs typeface="Courier New" pitchFamily="34" charset="-120"/>
              </a:rPr>
              <a:t>+ Allow-Origin, Allow-Headers, Max-Age</a:t>
            </a:r>
            <a:endParaRPr lang="en-US" sz="1400" dirty="0"/>
          </a:p>
        </p:txBody>
      </p:sp>
      <p:sp>
        <p:nvSpPr>
          <p:cNvPr id="24" name="Shape 21"/>
          <p:cNvSpPr/>
          <p:nvPr/>
        </p:nvSpPr>
        <p:spPr>
          <a:xfrm>
            <a:off x="777081" y="3821112"/>
            <a:ext cx="5486400" cy="25400"/>
          </a:xfrm>
          <a:prstGeom prst="rect">
            <a:avLst/>
          </a:prstGeom>
          <a:solidFill>
            <a:srgbClr val="000000"/>
          </a:solidFill>
          <a:ln/>
        </p:spPr>
      </p:sp>
      <p:sp>
        <p:nvSpPr>
          <p:cNvPr id="25" name="Shape 22"/>
          <p:cNvSpPr/>
          <p:nvPr/>
        </p:nvSpPr>
        <p:spPr>
          <a:xfrm>
            <a:off x="751681" y="3744912"/>
            <a:ext cx="139700" cy="177800"/>
          </a:xfrm>
          <a:prstGeom prst="rect">
            <a:avLst/>
          </a:prstGeom>
          <a:solidFill>
            <a:srgbClr val="000000"/>
          </a:solidFill>
          <a:ln/>
        </p:spPr>
      </p:sp>
      <p:sp>
        <p:nvSpPr>
          <p:cNvPr id="26" name="Text 23"/>
          <p:cNvSpPr txBox="1"/>
          <p:nvPr/>
        </p:nvSpPr>
        <p:spPr>
          <a:xfrm>
            <a:off x="904081" y="3986212"/>
            <a:ext cx="21822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③ QUERY /search</a:t>
            </a:r>
            <a:endParaRPr lang="en-US" sz="1700" dirty="0"/>
          </a:p>
        </p:txBody>
      </p:sp>
      <p:sp>
        <p:nvSpPr>
          <p:cNvPr id="27" name="Text 24"/>
          <p:cNvSpPr txBox="1"/>
          <p:nvPr/>
        </p:nvSpPr>
        <p:spPr>
          <a:xfrm>
            <a:off x="904081" y="4266803"/>
            <a:ext cx="2324497" cy="215900"/>
          </a:xfrm>
          <a:prstGeom prst="rect">
            <a:avLst/>
          </a:prstGeom>
          <a:noFill/>
          <a:ln/>
        </p:spPr>
        <p:txBody>
          <a:bodyPr wrap="none" lIns="0" tIns="0" rIns="0" bIns="0" rtlCol="0" anchor="t"/>
          <a:lstStyle/>
          <a:p>
            <a:pPr algn="l" indent="0" marL="0">
              <a:buNone/>
            </a:pPr>
            <a:r>
              <a:rPr lang="en-US" sz="1500" b="1" dirty="0">
                <a:solidFill>
                  <a:srgbClr val="000000"/>
                </a:solidFill>
                <a:latin typeface="Courier New" pitchFamily="34" charset="0"/>
                <a:ea typeface="Courier New" pitchFamily="34" charset="-122"/>
                <a:cs typeface="Courier New" pitchFamily="34" charset="-120"/>
              </a:rPr>
              <a:t>{ "q": "security" }</a:t>
            </a:r>
            <a:endParaRPr lang="en-US" sz="1500" dirty="0"/>
          </a:p>
        </p:txBody>
      </p:sp>
      <p:sp>
        <p:nvSpPr>
          <p:cNvPr id="28" name="Shape 25"/>
          <p:cNvSpPr/>
          <p:nvPr/>
        </p:nvSpPr>
        <p:spPr>
          <a:xfrm>
            <a:off x="777081" y="4552553"/>
            <a:ext cx="5486400" cy="38100"/>
          </a:xfrm>
          <a:prstGeom prst="rect">
            <a:avLst/>
          </a:prstGeom>
          <a:solidFill>
            <a:srgbClr val="CC6600"/>
          </a:solidFill>
          <a:ln/>
        </p:spPr>
      </p:sp>
      <p:sp>
        <p:nvSpPr>
          <p:cNvPr id="29" name="Shape 26"/>
          <p:cNvSpPr/>
          <p:nvPr/>
        </p:nvSpPr>
        <p:spPr>
          <a:xfrm>
            <a:off x="6149181" y="4476353"/>
            <a:ext cx="139700" cy="177800"/>
          </a:xfrm>
          <a:prstGeom prst="rect">
            <a:avLst/>
          </a:prstGeom>
          <a:solidFill>
            <a:srgbClr val="000000"/>
          </a:solidFill>
          <a:ln/>
        </p:spPr>
      </p:sp>
      <p:sp>
        <p:nvSpPr>
          <p:cNvPr id="30" name="Text 27"/>
          <p:cNvSpPr txBox="1"/>
          <p:nvPr/>
        </p:nvSpPr>
        <p:spPr>
          <a:xfrm>
            <a:off x="4861124" y="4730353"/>
            <a:ext cx="1275357" cy="241300"/>
          </a:xfrm>
          <a:prstGeom prst="rect">
            <a:avLst/>
          </a:prstGeom>
          <a:noFill/>
          <a:ln/>
        </p:spPr>
        <p:txBody>
          <a:bodyPr wrap="none" lIns="0" tIns="0" rIns="0" bIns="0" rtlCol="0" anchor="t"/>
          <a:lstStyle/>
          <a:p>
            <a:pPr algn="r" indent="0" marL="0">
              <a:buNone/>
            </a:pPr>
            <a:r>
              <a:rPr lang="en-US" sz="1700" b="1" dirty="0">
                <a:solidFill>
                  <a:srgbClr val="000000"/>
                </a:solidFill>
                <a:latin typeface="Courier New" pitchFamily="34" charset="0"/>
                <a:ea typeface="Courier New" pitchFamily="34" charset="-122"/>
                <a:cs typeface="Courier New" pitchFamily="34" charset="-120"/>
              </a:rPr>
              <a:t>④ 200 OK</a:t>
            </a:r>
            <a:endParaRPr lang="en-US" sz="1700" dirty="0"/>
          </a:p>
        </p:txBody>
      </p:sp>
      <p:sp>
        <p:nvSpPr>
          <p:cNvPr id="31" name="Text 28"/>
          <p:cNvSpPr txBox="1"/>
          <p:nvPr/>
        </p:nvSpPr>
        <p:spPr>
          <a:xfrm>
            <a:off x="1754188" y="5010944"/>
            <a:ext cx="4382293" cy="215900"/>
          </a:xfrm>
          <a:prstGeom prst="rect">
            <a:avLst/>
          </a:prstGeom>
          <a:noFill/>
          <a:ln/>
        </p:spPr>
        <p:txBody>
          <a:bodyPr wrap="none" lIns="0" tIns="0" rIns="0" bIns="0" rtlCol="0" anchor="t"/>
          <a:lstStyle/>
          <a:p>
            <a:pPr algn="r" indent="0" marL="0">
              <a:buNone/>
            </a:pPr>
            <a:r>
              <a:rPr lang="en-US" sz="1500" b="1" dirty="0">
                <a:solidFill>
                  <a:srgbClr val="000000"/>
                </a:solidFill>
                <a:latin typeface="Courier New" pitchFamily="34" charset="0"/>
                <a:ea typeface="Courier New" pitchFamily="34" charset="-122"/>
                <a:cs typeface="Courier New" pitchFamily="34" charset="-120"/>
              </a:rPr>
              <a:t>results, shown only if origin allowed</a:t>
            </a:r>
            <a:endParaRPr lang="en-US" sz="1500" dirty="0"/>
          </a:p>
        </p:txBody>
      </p:sp>
      <p:sp>
        <p:nvSpPr>
          <p:cNvPr id="32" name="Shape 29"/>
          <p:cNvSpPr/>
          <p:nvPr/>
        </p:nvSpPr>
        <p:spPr>
          <a:xfrm>
            <a:off x="777081" y="5309393"/>
            <a:ext cx="5486400" cy="25400"/>
          </a:xfrm>
          <a:prstGeom prst="rect">
            <a:avLst/>
          </a:prstGeom>
          <a:solidFill>
            <a:srgbClr val="000000"/>
          </a:solidFill>
          <a:ln/>
        </p:spPr>
      </p:sp>
      <p:sp>
        <p:nvSpPr>
          <p:cNvPr id="33" name="Shape 30"/>
          <p:cNvSpPr/>
          <p:nvPr/>
        </p:nvSpPr>
        <p:spPr>
          <a:xfrm>
            <a:off x="751681" y="5233193"/>
            <a:ext cx="139700" cy="177800"/>
          </a:xfrm>
          <a:prstGeom prst="rect">
            <a:avLst/>
          </a:prstGeom>
          <a:solidFill>
            <a:srgbClr val="000000"/>
          </a:solidFill>
          <a:ln/>
        </p:spPr>
      </p:sp>
      <p:sp>
        <p:nvSpPr>
          <p:cNvPr id="34" name="Text 31"/>
          <p:cNvSpPr txBox="1"/>
          <p:nvPr/>
        </p:nvSpPr>
        <p:spPr>
          <a:xfrm>
            <a:off x="7228681" y="1399381"/>
            <a:ext cx="2651919" cy="342900"/>
          </a:xfrm>
          <a:prstGeom prst="rect">
            <a:avLst/>
          </a:prstGeom>
          <a:noFill/>
          <a:ln/>
        </p:spPr>
        <p:txBody>
          <a:bodyPr wrap="none" lIns="0" tIns="0" rIns="0" bIns="0" rtlCol="0" anchor="t"/>
          <a:lstStyle/>
          <a:p>
            <a:pPr algn="l" indent="0" marL="0">
              <a:buNone/>
            </a:pPr>
            <a:r>
              <a:rPr lang="en-US" sz="2200" b="1" dirty="0">
                <a:solidFill>
                  <a:srgbClr val="993300"/>
                </a:solidFill>
                <a:latin typeface="Calibri" pitchFamily="34" charset="0"/>
                <a:ea typeface="Calibri" pitchFamily="34" charset="-122"/>
                <a:cs typeface="Calibri" pitchFamily="34" charset="-120"/>
              </a:rPr>
              <a:t>Is a preflight needed?</a:t>
            </a:r>
            <a:endParaRPr lang="en-US" sz="2200" dirty="0"/>
          </a:p>
        </p:txBody>
      </p:sp>
      <p:sp>
        <p:nvSpPr>
          <p:cNvPr id="35" name="Text 32"/>
          <p:cNvSpPr txBox="1"/>
          <p:nvPr/>
        </p:nvSpPr>
        <p:spPr>
          <a:xfrm>
            <a:off x="7493992" y="18565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6" name="Shape 33"/>
          <p:cNvSpPr/>
          <p:nvPr/>
        </p:nvSpPr>
        <p:spPr>
          <a:xfrm>
            <a:off x="9469040" y="1881981"/>
            <a:ext cx="1039416" cy="266700"/>
          </a:xfrm>
          <a:prstGeom prst="rect">
            <a:avLst/>
          </a:prstGeom>
          <a:solidFill>
            <a:srgbClr val="FFFFFF"/>
          </a:solidFill>
          <a:ln w="12700">
            <a:solidFill>
              <a:srgbClr val="333399"/>
            </a:solidFill>
            <a:prstDash val="solid"/>
          </a:ln>
        </p:spPr>
      </p:sp>
      <p:sp>
        <p:nvSpPr>
          <p:cNvPr id="37" name="Text 34"/>
          <p:cNvSpPr txBox="1"/>
          <p:nvPr/>
        </p:nvSpPr>
        <p:spPr>
          <a:xfrm>
            <a:off x="7836892" y="1843881"/>
            <a:ext cx="4086027" cy="854671"/>
          </a:xfrm>
          <a:prstGeom prst="rect">
            <a:avLst/>
          </a:prstGeom>
          <a:noFill/>
          <a:ln/>
        </p:spPr>
        <p:txBody>
          <a:bodyPr wrap="square" lIns="0" tIns="0" rIns="0" bIns="0" rtlCol="0" anchor="t"/>
          <a:lstStyle/>
          <a:p>
            <a:pPr algn="l" indent="0" marL="0">
              <a:lnSpc>
                <a:spcPts val="2880"/>
              </a:lnSpc>
              <a:buNone/>
            </a:pPr>
            <a:r>
              <a:rPr lang="en-US" sz="1900" b="1" dirty="0">
                <a:solidFill>
                  <a:srgbClr val="009999"/>
                </a:solidFill>
                <a:latin typeface="Calibri" pitchFamily="34" charset="0"/>
                <a:ea typeface="Calibri" pitchFamily="34" charset="-122"/>
                <a:cs typeface="Calibri" pitchFamily="34" charset="-120"/>
              </a:rPr>
              <a:t>Yes</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cross-origin </a:t>
            </a:r>
            <a:pPr algn="l" indent="0" marL="0">
              <a:lnSpc>
                <a:spcPts val="2880"/>
              </a:lnSpc>
              <a:buNone/>
            </a:pPr>
            <a:r>
              <a:rPr lang="en-US" sz="1711" b="1" dirty="0">
                <a:solidFill>
                  <a:srgbClr val="000000"/>
                </a:solidFill>
                <a:latin typeface="Courier New" pitchFamily="34" charset="0"/>
                <a:ea typeface="Courier New" pitchFamily="34" charset="-122"/>
                <a:cs typeface="Courier New" pitchFamily="34" charset="-120"/>
              </a:rPr>
              <a:t>fetch()</a:t>
            </a:r>
            <a:pPr algn="l" indent="0" marL="0">
              <a:lnSpc>
                <a:spcPts val="2880"/>
              </a:lnSpc>
              <a:buNone/>
            </a:pPr>
            <a:r>
              <a:rPr lang="en-US" sz="1900" dirty="0">
                <a:solidFill>
                  <a:srgbClr val="000000"/>
                </a:solidFill>
                <a:latin typeface="Calibri" pitchFamily="34" charset="0"/>
                <a:ea typeface="Calibri" pitchFamily="34" charset="-122"/>
                <a:cs typeface="Calibri" pitchFamily="34" charset="-120"/>
              </a:rPr>
              <a:t>; only GET, HEAD, POST are CORS-safelisted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 </a:t>
            </a:r>
            <a:pPr algn="l" indent="0" marL="0">
              <a:lnSpc>
                <a:spcPts val="2880"/>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900" dirty="0"/>
          </a:p>
        </p:txBody>
      </p:sp>
      <p:sp>
        <p:nvSpPr>
          <p:cNvPr id="38" name="Text 35"/>
          <p:cNvSpPr txBox="1"/>
          <p:nvPr/>
        </p:nvSpPr>
        <p:spPr>
          <a:xfrm>
            <a:off x="7493992" y="28102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9" name="Text 36"/>
          <p:cNvSpPr txBox="1"/>
          <p:nvPr/>
        </p:nvSpPr>
        <p:spPr>
          <a:xfrm>
            <a:off x="7836892" y="2797572"/>
            <a:ext cx="261560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No</a:t>
            </a:r>
            <a:pPr algn="l" indent="0" marL="0">
              <a:buNone/>
            </a:pPr>
            <a:r>
              <a:rPr lang="en-US" sz="1900" dirty="0">
                <a:solidFill>
                  <a:srgbClr val="000000"/>
                </a:solidFill>
                <a:latin typeface="Calibri" pitchFamily="34" charset="0"/>
                <a:ea typeface="Calibri" pitchFamily="34" charset="-122"/>
                <a:cs typeface="Calibri" pitchFamily="34" charset="-120"/>
              </a:rPr>
              <a:t>: same-origin requests</a:t>
            </a:r>
            <a:endParaRPr lang="en-US" sz="1900" dirty="0"/>
          </a:p>
        </p:txBody>
      </p:sp>
      <p:sp>
        <p:nvSpPr>
          <p:cNvPr id="40" name="Text 37"/>
          <p:cNvSpPr txBox="1"/>
          <p:nvPr/>
        </p:nvSpPr>
        <p:spPr>
          <a:xfrm>
            <a:off x="7493992" y="31759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41" name="Text 38"/>
          <p:cNvSpPr txBox="1"/>
          <p:nvPr/>
        </p:nvSpPr>
        <p:spPr>
          <a:xfrm>
            <a:off x="7836892" y="3163292"/>
            <a:ext cx="4108947" cy="581620"/>
          </a:xfrm>
          <a:prstGeom prst="rect">
            <a:avLst/>
          </a:prstGeom>
          <a:noFill/>
          <a:ln/>
        </p:spPr>
        <p:txBody>
          <a:bodyPr wrap="square" lIns="0" tIns="0" rIns="0" bIns="0" rtlCol="0" anchor="t"/>
          <a:lstStyle/>
          <a:p>
            <a:pPr algn="l" indent="0" marL="0">
              <a:lnSpc>
                <a:spcPts val="2280"/>
              </a:lnSpc>
              <a:buNone/>
            </a:pPr>
            <a:r>
              <a:rPr lang="en-US" sz="1900" b="1" dirty="0">
                <a:solidFill>
                  <a:srgbClr val="993300"/>
                </a:solidFill>
                <a:latin typeface="Calibri" pitchFamily="34" charset="0"/>
                <a:ea typeface="Calibri" pitchFamily="34" charset="-122"/>
                <a:cs typeface="Calibri" pitchFamily="34" charset="-120"/>
              </a:rPr>
              <a:t>No</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non-browser clients (curl, service-to-service)</a:t>
            </a:r>
            <a:endParaRPr lang="en-US" sz="1900" dirty="0"/>
          </a:p>
        </p:txBody>
      </p:sp>
      <p:sp>
        <p:nvSpPr>
          <p:cNvPr id="42" name="Shape 39"/>
          <p:cNvSpPr/>
          <p:nvPr/>
        </p:nvSpPr>
        <p:spPr>
          <a:xfrm>
            <a:off x="7228681" y="3882033"/>
            <a:ext cx="4668837" cy="1344415"/>
          </a:xfrm>
          <a:prstGeom prst="rect">
            <a:avLst/>
          </a:prstGeom>
          <a:solidFill>
            <a:srgbClr val="FFFFFF"/>
          </a:solidFill>
          <a:ln w="25400">
            <a:solidFill>
              <a:srgbClr val="993300"/>
            </a:solidFill>
            <a:prstDash val="solid"/>
          </a:ln>
        </p:spPr>
      </p:sp>
      <p:sp>
        <p:nvSpPr>
          <p:cNvPr id="43" name="Shape 40"/>
          <p:cNvSpPr/>
          <p:nvPr/>
        </p:nvSpPr>
        <p:spPr>
          <a:xfrm>
            <a:off x="10301684" y="4034433"/>
            <a:ext cx="943372" cy="254000"/>
          </a:xfrm>
          <a:prstGeom prst="rect">
            <a:avLst/>
          </a:prstGeom>
          <a:solidFill>
            <a:srgbClr val="FFFFFF"/>
          </a:solidFill>
          <a:ln w="12700">
            <a:solidFill>
              <a:srgbClr val="333399"/>
            </a:solidFill>
            <a:prstDash val="solid"/>
          </a:ln>
        </p:spPr>
      </p:sp>
      <p:sp>
        <p:nvSpPr>
          <p:cNvPr id="44" name="Text 41"/>
          <p:cNvSpPr txBox="1"/>
          <p:nvPr/>
        </p:nvSpPr>
        <p:spPr>
          <a:xfrm>
            <a:off x="7381081" y="4009033"/>
            <a:ext cx="4420652" cy="10872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Calibri" pitchFamily="34" charset="0"/>
                <a:ea typeface="Calibri" pitchFamily="34" charset="-122"/>
                <a:cs typeface="Calibri" pitchFamily="34" charset="-120"/>
              </a:rPr>
              <a:t>Forms send only GET / POST and </a:t>
            </a:r>
            <a:pPr algn="l" indent="0" marL="0">
              <a:lnSpc>
                <a:spcPts val="2125"/>
              </a:lnSpc>
              <a:buNone/>
            </a:pPr>
            <a:r>
              <a:rPr lang="en-US" sz="1531" b="1" dirty="0">
                <a:solidFill>
                  <a:srgbClr val="000000"/>
                </a:solidFill>
                <a:latin typeface="Courier New" pitchFamily="34" charset="0"/>
                <a:ea typeface="Courier New" pitchFamily="34" charset="-122"/>
                <a:cs typeface="Courier New" pitchFamily="34" charset="-120"/>
              </a:rPr>
              <a:t>no-cors</a:t>
            </a:r>
            <a:pPr algn="l" indent="0" marL="0">
              <a:lnSpc>
                <a:spcPts val="2125"/>
              </a:lnSpc>
              <a:buNone/>
            </a:pPr>
            <a:r>
              <a:rPr lang="en-US" sz="1700" dirty="0">
                <a:solidFill>
                  <a:srgbClr val="000000"/>
                </a:solidFill>
                <a:latin typeface="Calibri" pitchFamily="34" charset="0"/>
                <a:ea typeface="Calibri" pitchFamily="34" charset="-122"/>
                <a:cs typeface="Calibri" pitchFamily="34" charset="-120"/>
              </a:rPr>
              <a:t> rejects QUERY, so a cross-site page cannot send it </a:t>
            </a:r>
            <a:pPr algn="l" indent="0" marL="0">
              <a:lnSpc>
                <a:spcPts val="2125"/>
              </a:lnSpc>
              <a:buNone/>
            </a:pPr>
            <a:r>
              <a:rPr lang="en-US" sz="1700" b="1" dirty="0">
                <a:solidFill>
                  <a:srgbClr val="000000"/>
                </a:solidFill>
                <a:latin typeface="Calibri" pitchFamily="34" charset="0"/>
                <a:ea typeface="Calibri" pitchFamily="34" charset="-122"/>
                <a:cs typeface="Calibri" pitchFamily="34" charset="-120"/>
              </a:rPr>
              <a:t>without server opt-in</a:t>
            </a:r>
            <a:pPr algn="l" indent="0" marL="0">
              <a:lnSpc>
                <a:spcPts val="2125"/>
              </a:lnSpc>
              <a:buNone/>
            </a:pPr>
            <a:r>
              <a:rPr lang="en-US" sz="1700" dirty="0">
                <a:solidFill>
                  <a:srgbClr val="000000"/>
                </a:solidFill>
                <a:latin typeface="Calibri" pitchFamily="34" charset="0"/>
                <a:ea typeface="Calibri" pitchFamily="34" charset="-122"/>
                <a:cs typeface="Calibri" pitchFamily="34" charset="-120"/>
              </a:rPr>
              <a:t>. A permissive CORS policy can still leak results. </a:t>
            </a:r>
            <a:pPr algn="l" indent="0" marL="0">
              <a:lnSpc>
                <a:spcPts val="2125"/>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[HTML] </a:t>
            </a:r>
            <a:pPr algn="l" indent="0" marL="0">
              <a:lnSpc>
                <a:spcPts val="2125"/>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[Chen et al., 2018]</a:t>
            </a:r>
            <a:endParaRPr lang="en-US" sz="17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29503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and HTTP Message Signatures (RFC 9421)</a:t>
            </a:r>
            <a:endParaRPr lang="en-US" sz="2400" dirty="0"/>
          </a:p>
        </p:txBody>
      </p:sp>
      <p:sp>
        <p:nvSpPr>
          <p:cNvPr id="10" name="Shape 7"/>
          <p:cNvSpPr/>
          <p:nvPr/>
        </p:nvSpPr>
        <p:spPr>
          <a:xfrm>
            <a:off x="97631" y="1738908"/>
            <a:ext cx="6337300" cy="12700"/>
          </a:xfrm>
          <a:prstGeom prst="rect">
            <a:avLst/>
          </a:prstGeom>
          <a:solidFill>
            <a:srgbClr val="9CA3AF">
              <a:alpha val="20000"/>
            </a:srgbClr>
          </a:solidFill>
          <a:ln/>
        </p:spPr>
      </p:sp>
      <p:sp>
        <p:nvSpPr>
          <p:cNvPr id="11" name="Shape 8"/>
          <p:cNvSpPr/>
          <p:nvPr/>
        </p:nvSpPr>
        <p:spPr>
          <a:xfrm>
            <a:off x="97631" y="1367631"/>
            <a:ext cx="2004417" cy="383976"/>
          </a:xfrm>
          <a:prstGeom prst="rect">
            <a:avLst/>
          </a:prstGeom>
          <a:solidFill>
            <a:srgbClr val="FFFFFF"/>
          </a:solidFill>
          <a:ln/>
        </p:spPr>
      </p:sp>
      <p:sp>
        <p:nvSpPr>
          <p:cNvPr id="12" name="Shape 9"/>
          <p:cNvSpPr/>
          <p:nvPr/>
        </p:nvSpPr>
        <p:spPr>
          <a:xfrm>
            <a:off x="97631" y="1367631"/>
            <a:ext cx="2004417" cy="12700"/>
          </a:xfrm>
          <a:prstGeom prst="rect">
            <a:avLst/>
          </a:prstGeom>
          <a:solidFill>
            <a:srgbClr val="333399"/>
          </a:solidFill>
          <a:ln/>
        </p:spPr>
      </p:sp>
      <p:sp>
        <p:nvSpPr>
          <p:cNvPr id="13" name="Shape 10"/>
          <p:cNvSpPr/>
          <p:nvPr/>
        </p:nvSpPr>
        <p:spPr>
          <a:xfrm>
            <a:off x="2089348" y="1367631"/>
            <a:ext cx="12700" cy="383976"/>
          </a:xfrm>
          <a:prstGeom prst="rect">
            <a:avLst/>
          </a:prstGeom>
          <a:solidFill>
            <a:srgbClr val="333399"/>
          </a:solidFill>
          <a:ln/>
        </p:spPr>
      </p:sp>
      <p:sp>
        <p:nvSpPr>
          <p:cNvPr id="14" name="Shape 11"/>
          <p:cNvSpPr/>
          <p:nvPr/>
        </p:nvSpPr>
        <p:spPr>
          <a:xfrm>
            <a:off x="97631" y="1726208"/>
            <a:ext cx="2004417" cy="25400"/>
          </a:xfrm>
          <a:prstGeom prst="rect">
            <a:avLst/>
          </a:prstGeom>
          <a:solidFill>
            <a:srgbClr val="333399"/>
          </a:solidFill>
          <a:ln/>
        </p:spPr>
      </p:sp>
      <p:sp>
        <p:nvSpPr>
          <p:cNvPr id="15" name="Shape 12"/>
          <p:cNvSpPr/>
          <p:nvPr/>
        </p:nvSpPr>
        <p:spPr>
          <a:xfrm>
            <a:off x="97631" y="1367631"/>
            <a:ext cx="12700" cy="383976"/>
          </a:xfrm>
          <a:prstGeom prst="rect">
            <a:avLst/>
          </a:prstGeom>
          <a:solidFill>
            <a:srgbClr val="333399"/>
          </a:solidFill>
          <a:ln/>
        </p:spPr>
      </p:sp>
      <p:sp>
        <p:nvSpPr>
          <p:cNvPr id="16" name="Text 13"/>
          <p:cNvSpPr txBox="1"/>
          <p:nvPr/>
        </p:nvSpPr>
        <p:spPr>
          <a:xfrm>
            <a:off x="187127" y="1412081"/>
            <a:ext cx="1825228"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Signed component</a:t>
            </a:r>
            <a:endParaRPr lang="en-US" sz="1700" dirty="0"/>
          </a:p>
        </p:txBody>
      </p:sp>
      <p:sp>
        <p:nvSpPr>
          <p:cNvPr id="17" name="Shape 14"/>
          <p:cNvSpPr/>
          <p:nvPr/>
        </p:nvSpPr>
        <p:spPr>
          <a:xfrm>
            <a:off x="2102048" y="1367631"/>
            <a:ext cx="2326879" cy="383976"/>
          </a:xfrm>
          <a:prstGeom prst="rect">
            <a:avLst/>
          </a:prstGeom>
          <a:solidFill>
            <a:srgbClr val="FFFFFF"/>
          </a:solidFill>
          <a:ln/>
        </p:spPr>
      </p:sp>
      <p:sp>
        <p:nvSpPr>
          <p:cNvPr id="18" name="Shape 15"/>
          <p:cNvSpPr/>
          <p:nvPr/>
        </p:nvSpPr>
        <p:spPr>
          <a:xfrm>
            <a:off x="2102048" y="1367631"/>
            <a:ext cx="2326879" cy="12700"/>
          </a:xfrm>
          <a:prstGeom prst="rect">
            <a:avLst/>
          </a:prstGeom>
          <a:solidFill>
            <a:srgbClr val="333399"/>
          </a:solidFill>
          <a:ln/>
        </p:spPr>
      </p:sp>
      <p:sp>
        <p:nvSpPr>
          <p:cNvPr id="19" name="Shape 16"/>
          <p:cNvSpPr/>
          <p:nvPr/>
        </p:nvSpPr>
        <p:spPr>
          <a:xfrm>
            <a:off x="4416227" y="1367631"/>
            <a:ext cx="12700" cy="383976"/>
          </a:xfrm>
          <a:prstGeom prst="rect">
            <a:avLst/>
          </a:prstGeom>
          <a:solidFill>
            <a:srgbClr val="333399"/>
          </a:solidFill>
          <a:ln/>
        </p:spPr>
      </p:sp>
      <p:sp>
        <p:nvSpPr>
          <p:cNvPr id="20" name="Shape 17"/>
          <p:cNvSpPr/>
          <p:nvPr/>
        </p:nvSpPr>
        <p:spPr>
          <a:xfrm>
            <a:off x="2102048" y="1726208"/>
            <a:ext cx="2326879" cy="25400"/>
          </a:xfrm>
          <a:prstGeom prst="rect">
            <a:avLst/>
          </a:prstGeom>
          <a:solidFill>
            <a:srgbClr val="333399"/>
          </a:solidFill>
          <a:ln/>
        </p:spPr>
      </p:sp>
      <p:sp>
        <p:nvSpPr>
          <p:cNvPr id="21" name="Shape 18"/>
          <p:cNvSpPr/>
          <p:nvPr/>
        </p:nvSpPr>
        <p:spPr>
          <a:xfrm>
            <a:off x="2102048" y="1367631"/>
            <a:ext cx="12700" cy="383976"/>
          </a:xfrm>
          <a:prstGeom prst="rect">
            <a:avLst/>
          </a:prstGeom>
          <a:solidFill>
            <a:srgbClr val="333399"/>
          </a:solidFill>
          <a:ln/>
        </p:spPr>
      </p:sp>
      <p:sp>
        <p:nvSpPr>
          <p:cNvPr id="22" name="Text 19"/>
          <p:cNvSpPr txBox="1"/>
          <p:nvPr/>
        </p:nvSpPr>
        <p:spPr>
          <a:xfrm>
            <a:off x="2544167" y="1412081"/>
            <a:ext cx="1442640"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What it covers</a:t>
            </a:r>
            <a:endParaRPr lang="en-US" sz="1700" dirty="0"/>
          </a:p>
        </p:txBody>
      </p:sp>
      <p:sp>
        <p:nvSpPr>
          <p:cNvPr id="23" name="Shape 20"/>
          <p:cNvSpPr/>
          <p:nvPr/>
        </p:nvSpPr>
        <p:spPr>
          <a:xfrm>
            <a:off x="4428927" y="1367631"/>
            <a:ext cx="2006005" cy="383976"/>
          </a:xfrm>
          <a:prstGeom prst="rect">
            <a:avLst/>
          </a:prstGeom>
          <a:solidFill>
            <a:srgbClr val="FFFFFF"/>
          </a:solidFill>
          <a:ln/>
        </p:spPr>
      </p:sp>
      <p:sp>
        <p:nvSpPr>
          <p:cNvPr id="24" name="Shape 21"/>
          <p:cNvSpPr/>
          <p:nvPr/>
        </p:nvSpPr>
        <p:spPr>
          <a:xfrm>
            <a:off x="4428927" y="1367631"/>
            <a:ext cx="2006005" cy="12700"/>
          </a:xfrm>
          <a:prstGeom prst="rect">
            <a:avLst/>
          </a:prstGeom>
          <a:solidFill>
            <a:srgbClr val="333399"/>
          </a:solidFill>
          <a:ln/>
        </p:spPr>
      </p:sp>
      <p:sp>
        <p:nvSpPr>
          <p:cNvPr id="25" name="Shape 22"/>
          <p:cNvSpPr/>
          <p:nvPr/>
        </p:nvSpPr>
        <p:spPr>
          <a:xfrm>
            <a:off x="6422231" y="1367631"/>
            <a:ext cx="12700" cy="383976"/>
          </a:xfrm>
          <a:prstGeom prst="rect">
            <a:avLst/>
          </a:prstGeom>
          <a:solidFill>
            <a:srgbClr val="333399"/>
          </a:solidFill>
          <a:ln/>
        </p:spPr>
      </p:sp>
      <p:sp>
        <p:nvSpPr>
          <p:cNvPr id="26" name="Shape 23"/>
          <p:cNvSpPr/>
          <p:nvPr/>
        </p:nvSpPr>
        <p:spPr>
          <a:xfrm>
            <a:off x="4428927" y="1726208"/>
            <a:ext cx="2006005" cy="25400"/>
          </a:xfrm>
          <a:prstGeom prst="rect">
            <a:avLst/>
          </a:prstGeom>
          <a:solidFill>
            <a:srgbClr val="333399"/>
          </a:solidFill>
          <a:ln/>
        </p:spPr>
      </p:sp>
      <p:sp>
        <p:nvSpPr>
          <p:cNvPr id="27" name="Shape 24"/>
          <p:cNvSpPr/>
          <p:nvPr/>
        </p:nvSpPr>
        <p:spPr>
          <a:xfrm>
            <a:off x="4428927" y="1367631"/>
            <a:ext cx="12700" cy="383976"/>
          </a:xfrm>
          <a:prstGeom prst="rect">
            <a:avLst/>
          </a:prstGeom>
          <a:solidFill>
            <a:srgbClr val="333399"/>
          </a:solidFill>
          <a:ln/>
        </p:spPr>
      </p:sp>
      <p:sp>
        <p:nvSpPr>
          <p:cNvPr id="28" name="Text 25"/>
          <p:cNvSpPr txBox="1"/>
          <p:nvPr/>
        </p:nvSpPr>
        <p:spPr>
          <a:xfrm>
            <a:off x="4489451" y="1412081"/>
            <a:ext cx="1884957"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In a QUERY request</a:t>
            </a:r>
            <a:endParaRPr lang="en-US" sz="1700" dirty="0"/>
          </a:p>
        </p:txBody>
      </p:sp>
      <p:sp>
        <p:nvSpPr>
          <p:cNvPr id="29" name="Shape 26"/>
          <p:cNvSpPr/>
          <p:nvPr/>
        </p:nvSpPr>
        <p:spPr>
          <a:xfrm>
            <a:off x="97631" y="2224484"/>
            <a:ext cx="6337300" cy="12700"/>
          </a:xfrm>
          <a:prstGeom prst="rect">
            <a:avLst/>
          </a:prstGeom>
          <a:solidFill>
            <a:srgbClr val="9CA3AF">
              <a:alpha val="20000"/>
            </a:srgbClr>
          </a:solidFill>
          <a:ln/>
        </p:spPr>
      </p:sp>
      <p:sp>
        <p:nvSpPr>
          <p:cNvPr id="30" name="Shape 27"/>
          <p:cNvSpPr/>
          <p:nvPr/>
        </p:nvSpPr>
        <p:spPr>
          <a:xfrm>
            <a:off x="97631" y="1751608"/>
            <a:ext cx="2004417" cy="485576"/>
          </a:xfrm>
          <a:prstGeom prst="rect">
            <a:avLst/>
          </a:prstGeom>
          <a:solidFill>
            <a:srgbClr val="D6D6EB"/>
          </a:solidFill>
          <a:ln w="12700">
            <a:solidFill>
              <a:srgbClr val="333399"/>
            </a:solidFill>
            <a:prstDash val="solid"/>
          </a:ln>
        </p:spPr>
      </p:sp>
      <p:sp>
        <p:nvSpPr>
          <p:cNvPr id="31" name="Text 28"/>
          <p:cNvSpPr txBox="1"/>
          <p:nvPr/>
        </p:nvSpPr>
        <p:spPr>
          <a:xfrm>
            <a:off x="192881" y="1865908"/>
            <a:ext cx="10594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@method</a:t>
            </a:r>
            <a:endParaRPr lang="en-US" sz="1700" dirty="0"/>
          </a:p>
        </p:txBody>
      </p:sp>
      <p:sp>
        <p:nvSpPr>
          <p:cNvPr id="32" name="Shape 29"/>
          <p:cNvSpPr/>
          <p:nvPr/>
        </p:nvSpPr>
        <p:spPr>
          <a:xfrm>
            <a:off x="2102048" y="1751608"/>
            <a:ext cx="2326879" cy="485576"/>
          </a:xfrm>
          <a:prstGeom prst="rect">
            <a:avLst/>
          </a:prstGeom>
          <a:solidFill>
            <a:srgbClr val="D6D6EB"/>
          </a:solidFill>
          <a:ln w="12700">
            <a:solidFill>
              <a:srgbClr val="333399"/>
            </a:solidFill>
            <a:prstDash val="solid"/>
          </a:ln>
        </p:spPr>
      </p:sp>
      <p:sp>
        <p:nvSpPr>
          <p:cNvPr id="33" name="Text 30"/>
          <p:cNvSpPr txBox="1"/>
          <p:nvPr/>
        </p:nvSpPr>
        <p:spPr>
          <a:xfrm>
            <a:off x="2197299" y="1853208"/>
            <a:ext cx="156150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request method</a:t>
            </a:r>
            <a:endParaRPr lang="en-US" sz="1700" dirty="0"/>
          </a:p>
        </p:txBody>
      </p:sp>
      <p:sp>
        <p:nvSpPr>
          <p:cNvPr id="34" name="Shape 31"/>
          <p:cNvSpPr/>
          <p:nvPr/>
        </p:nvSpPr>
        <p:spPr>
          <a:xfrm>
            <a:off x="4428927" y="1751608"/>
            <a:ext cx="2006005" cy="485576"/>
          </a:xfrm>
          <a:prstGeom prst="rect">
            <a:avLst/>
          </a:prstGeom>
          <a:solidFill>
            <a:srgbClr val="D6D6EB"/>
          </a:solidFill>
          <a:ln w="12700">
            <a:solidFill>
              <a:srgbClr val="333399"/>
            </a:solidFill>
            <a:prstDash val="solid"/>
          </a:ln>
        </p:spPr>
      </p:sp>
      <p:sp>
        <p:nvSpPr>
          <p:cNvPr id="35" name="Text 32"/>
          <p:cNvSpPr txBox="1"/>
          <p:nvPr/>
        </p:nvSpPr>
        <p:spPr>
          <a:xfrm>
            <a:off x="4524176" y="1853208"/>
            <a:ext cx="974924"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QUERY</a:t>
            </a:r>
            <a:endParaRPr lang="en-US" sz="1700" dirty="0"/>
          </a:p>
        </p:txBody>
      </p:sp>
      <p:sp>
        <p:nvSpPr>
          <p:cNvPr id="36" name="Shape 33"/>
          <p:cNvSpPr/>
          <p:nvPr/>
        </p:nvSpPr>
        <p:spPr>
          <a:xfrm>
            <a:off x="97631" y="2703711"/>
            <a:ext cx="6337300" cy="12700"/>
          </a:xfrm>
          <a:prstGeom prst="rect">
            <a:avLst/>
          </a:prstGeom>
          <a:solidFill>
            <a:srgbClr val="9CA3AF">
              <a:alpha val="20000"/>
            </a:srgbClr>
          </a:solidFill>
          <a:ln/>
        </p:spPr>
      </p:sp>
      <p:sp>
        <p:nvSpPr>
          <p:cNvPr id="37" name="Shape 34"/>
          <p:cNvSpPr/>
          <p:nvPr/>
        </p:nvSpPr>
        <p:spPr>
          <a:xfrm>
            <a:off x="97631" y="2237184"/>
            <a:ext cx="2004417" cy="479227"/>
          </a:xfrm>
          <a:prstGeom prst="rect">
            <a:avLst/>
          </a:prstGeom>
          <a:solidFill>
            <a:srgbClr val="FFFFFF"/>
          </a:solidFill>
          <a:ln w="12700">
            <a:solidFill>
              <a:srgbClr val="333399"/>
            </a:solidFill>
            <a:prstDash val="solid"/>
          </a:ln>
        </p:spPr>
      </p:sp>
      <p:sp>
        <p:nvSpPr>
          <p:cNvPr id="38" name="Text 35"/>
          <p:cNvSpPr txBox="1"/>
          <p:nvPr/>
        </p:nvSpPr>
        <p:spPr>
          <a:xfrm>
            <a:off x="192881" y="2345135"/>
            <a:ext cx="15775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@target-uri</a:t>
            </a:r>
            <a:endParaRPr lang="en-US" sz="1700" dirty="0"/>
          </a:p>
        </p:txBody>
      </p:sp>
      <p:sp>
        <p:nvSpPr>
          <p:cNvPr id="39" name="Shape 36"/>
          <p:cNvSpPr/>
          <p:nvPr/>
        </p:nvSpPr>
        <p:spPr>
          <a:xfrm>
            <a:off x="2102048" y="2237184"/>
            <a:ext cx="2326879" cy="479227"/>
          </a:xfrm>
          <a:prstGeom prst="rect">
            <a:avLst/>
          </a:prstGeom>
          <a:solidFill>
            <a:srgbClr val="FFFFFF"/>
          </a:solidFill>
          <a:ln w="12700">
            <a:solidFill>
              <a:srgbClr val="333399"/>
            </a:solidFill>
            <a:prstDash val="solid"/>
          </a:ln>
        </p:spPr>
      </p:sp>
      <p:sp>
        <p:nvSpPr>
          <p:cNvPr id="40" name="Text 37"/>
          <p:cNvSpPr txBox="1"/>
          <p:nvPr/>
        </p:nvSpPr>
        <p:spPr>
          <a:xfrm>
            <a:off x="2197299" y="2332435"/>
            <a:ext cx="136247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full target URI</a:t>
            </a:r>
            <a:endParaRPr lang="en-US" sz="1700" dirty="0"/>
          </a:p>
        </p:txBody>
      </p:sp>
      <p:sp>
        <p:nvSpPr>
          <p:cNvPr id="41" name="Shape 38"/>
          <p:cNvSpPr/>
          <p:nvPr/>
        </p:nvSpPr>
        <p:spPr>
          <a:xfrm>
            <a:off x="4428927" y="2237184"/>
            <a:ext cx="2006005" cy="479227"/>
          </a:xfrm>
          <a:prstGeom prst="rect">
            <a:avLst/>
          </a:prstGeom>
          <a:solidFill>
            <a:srgbClr val="FFFFFF"/>
          </a:solidFill>
          <a:ln w="12700">
            <a:solidFill>
              <a:srgbClr val="333399"/>
            </a:solidFill>
            <a:prstDash val="solid"/>
          </a:ln>
        </p:spPr>
      </p:sp>
      <p:sp>
        <p:nvSpPr>
          <p:cNvPr id="42" name="Text 39"/>
          <p:cNvSpPr txBox="1"/>
          <p:nvPr/>
        </p:nvSpPr>
        <p:spPr>
          <a:xfrm>
            <a:off x="4524176" y="2332435"/>
            <a:ext cx="1166812"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…/search</a:t>
            </a:r>
            <a:endParaRPr lang="en-US" sz="1700" dirty="0"/>
          </a:p>
        </p:txBody>
      </p:sp>
      <p:sp>
        <p:nvSpPr>
          <p:cNvPr id="43" name="Shape 40"/>
          <p:cNvSpPr/>
          <p:nvPr/>
        </p:nvSpPr>
        <p:spPr>
          <a:xfrm>
            <a:off x="97631" y="3182937"/>
            <a:ext cx="6337300" cy="12700"/>
          </a:xfrm>
          <a:prstGeom prst="rect">
            <a:avLst/>
          </a:prstGeom>
          <a:solidFill>
            <a:srgbClr val="9CA3AF">
              <a:alpha val="20000"/>
            </a:srgbClr>
          </a:solidFill>
          <a:ln/>
        </p:spPr>
      </p:sp>
      <p:sp>
        <p:nvSpPr>
          <p:cNvPr id="44" name="Shape 41"/>
          <p:cNvSpPr/>
          <p:nvPr/>
        </p:nvSpPr>
        <p:spPr>
          <a:xfrm>
            <a:off x="97631" y="2716411"/>
            <a:ext cx="2004417" cy="479227"/>
          </a:xfrm>
          <a:prstGeom prst="rect">
            <a:avLst/>
          </a:prstGeom>
          <a:solidFill>
            <a:srgbClr val="D6D6EB"/>
          </a:solidFill>
          <a:ln w="12700">
            <a:solidFill>
              <a:srgbClr val="333399"/>
            </a:solidFill>
            <a:prstDash val="solid"/>
          </a:ln>
        </p:spPr>
      </p:sp>
      <p:sp>
        <p:nvSpPr>
          <p:cNvPr id="45" name="Text 42"/>
          <p:cNvSpPr txBox="1"/>
          <p:nvPr/>
        </p:nvSpPr>
        <p:spPr>
          <a:xfrm>
            <a:off x="192881" y="2824361"/>
            <a:ext cx="9298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a:t>
            </a:r>
            <a:endParaRPr lang="en-US" sz="1700" dirty="0"/>
          </a:p>
        </p:txBody>
      </p:sp>
      <p:sp>
        <p:nvSpPr>
          <p:cNvPr id="46" name="Shape 43"/>
          <p:cNvSpPr/>
          <p:nvPr/>
        </p:nvSpPr>
        <p:spPr>
          <a:xfrm>
            <a:off x="2102048" y="2716411"/>
            <a:ext cx="2326879" cy="479227"/>
          </a:xfrm>
          <a:prstGeom prst="rect">
            <a:avLst/>
          </a:prstGeom>
          <a:solidFill>
            <a:srgbClr val="D6D6EB"/>
          </a:solidFill>
          <a:ln w="12700">
            <a:solidFill>
              <a:srgbClr val="333399"/>
            </a:solidFill>
            <a:prstDash val="solid"/>
          </a:ln>
        </p:spPr>
      </p:sp>
      <p:sp>
        <p:nvSpPr>
          <p:cNvPr id="47" name="Text 44"/>
          <p:cNvSpPr txBox="1"/>
          <p:nvPr/>
        </p:nvSpPr>
        <p:spPr>
          <a:xfrm>
            <a:off x="2197299" y="2811661"/>
            <a:ext cx="207625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URI query component</a:t>
            </a:r>
            <a:endParaRPr lang="en-US" sz="1700" dirty="0"/>
          </a:p>
        </p:txBody>
      </p:sp>
      <p:sp>
        <p:nvSpPr>
          <p:cNvPr id="48" name="Shape 45"/>
          <p:cNvSpPr/>
          <p:nvPr/>
        </p:nvSpPr>
        <p:spPr>
          <a:xfrm>
            <a:off x="4428927" y="2716411"/>
            <a:ext cx="2006005" cy="479227"/>
          </a:xfrm>
          <a:prstGeom prst="rect">
            <a:avLst/>
          </a:prstGeom>
          <a:solidFill>
            <a:srgbClr val="D6D6EB"/>
          </a:solidFill>
          <a:ln w="12700">
            <a:solidFill>
              <a:srgbClr val="333399"/>
            </a:solidFill>
            <a:prstDash val="solid"/>
          </a:ln>
        </p:spPr>
      </p:sp>
      <p:sp>
        <p:nvSpPr>
          <p:cNvPr id="49" name="Shape 46"/>
          <p:cNvSpPr/>
          <p:nvPr/>
        </p:nvSpPr>
        <p:spPr>
          <a:xfrm>
            <a:off x="5725120" y="2837061"/>
            <a:ext cx="243681" cy="254000"/>
          </a:xfrm>
          <a:prstGeom prst="rect">
            <a:avLst/>
          </a:prstGeom>
          <a:solidFill>
            <a:srgbClr val="FFFFFF"/>
          </a:solidFill>
          <a:ln w="12700">
            <a:solidFill>
              <a:srgbClr val="333399"/>
            </a:solidFill>
            <a:prstDash val="solid"/>
          </a:ln>
        </p:spPr>
      </p:sp>
      <p:sp>
        <p:nvSpPr>
          <p:cNvPr id="50" name="Text 47"/>
          <p:cNvSpPr txBox="1"/>
          <p:nvPr/>
        </p:nvSpPr>
        <p:spPr>
          <a:xfrm>
            <a:off x="4524176" y="2811661"/>
            <a:ext cx="1533525" cy="266700"/>
          </a:xfrm>
          <a:prstGeom prst="rect">
            <a:avLst/>
          </a:prstGeom>
          <a:noFill/>
          <a:ln/>
        </p:spPr>
        <p:txBody>
          <a:bodyPr wrap="none" lIns="0" tIns="0" rIns="0" bIns="0" rtlCol="0" anchor="t"/>
          <a:lstStyle/>
          <a:p>
            <a:pPr algn="l" indent="0" marL="0">
              <a:buNone/>
            </a:pPr>
            <a:r>
              <a:rPr lang="en-US" sz="1700" b="1" dirty="0">
                <a:solidFill>
                  <a:srgbClr val="993300"/>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usually just </a:t>
            </a:r>
            <a:pPr algn="l" indent="0" marL="0">
              <a:buNone/>
            </a:pPr>
            <a:r>
              <a:rPr lang="en-US" sz="1531"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51" name="Shape 48"/>
          <p:cNvSpPr/>
          <p:nvPr/>
        </p:nvSpPr>
        <p:spPr>
          <a:xfrm>
            <a:off x="97631" y="3925491"/>
            <a:ext cx="6337300" cy="12700"/>
          </a:xfrm>
          <a:prstGeom prst="rect">
            <a:avLst/>
          </a:prstGeom>
          <a:solidFill>
            <a:srgbClr val="9CA3AF">
              <a:alpha val="20000"/>
            </a:srgbClr>
          </a:solidFill>
          <a:ln/>
        </p:spPr>
      </p:sp>
      <p:sp>
        <p:nvSpPr>
          <p:cNvPr id="52" name="Shape 49"/>
          <p:cNvSpPr/>
          <p:nvPr/>
        </p:nvSpPr>
        <p:spPr>
          <a:xfrm>
            <a:off x="97631" y="3195637"/>
            <a:ext cx="2004417" cy="742553"/>
          </a:xfrm>
          <a:prstGeom prst="rect">
            <a:avLst/>
          </a:prstGeom>
          <a:solidFill>
            <a:srgbClr val="FFFFFF"/>
          </a:solidFill>
          <a:ln w="12700">
            <a:solidFill>
              <a:srgbClr val="333399"/>
            </a:solidFill>
            <a:prstDash val="solid"/>
          </a:ln>
        </p:spPr>
      </p:sp>
      <p:sp>
        <p:nvSpPr>
          <p:cNvPr id="53" name="Text 50"/>
          <p:cNvSpPr txBox="1"/>
          <p:nvPr/>
        </p:nvSpPr>
        <p:spPr>
          <a:xfrm>
            <a:off x="192881" y="3435152"/>
            <a:ext cx="17071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@query-param</a:t>
            </a:r>
            <a:endParaRPr lang="en-US" sz="1700" dirty="0"/>
          </a:p>
        </p:txBody>
      </p:sp>
      <p:sp>
        <p:nvSpPr>
          <p:cNvPr id="54" name="Shape 51"/>
          <p:cNvSpPr/>
          <p:nvPr/>
        </p:nvSpPr>
        <p:spPr>
          <a:xfrm>
            <a:off x="2102048" y="3195637"/>
            <a:ext cx="2326879" cy="742553"/>
          </a:xfrm>
          <a:prstGeom prst="rect">
            <a:avLst/>
          </a:prstGeom>
          <a:solidFill>
            <a:srgbClr val="FFFFFF"/>
          </a:solidFill>
          <a:ln w="12700">
            <a:solidFill>
              <a:srgbClr val="333399"/>
            </a:solidFill>
            <a:prstDash val="solid"/>
          </a:ln>
        </p:spPr>
      </p:sp>
      <p:sp>
        <p:nvSpPr>
          <p:cNvPr id="55" name="Text 52"/>
          <p:cNvSpPr txBox="1"/>
          <p:nvPr/>
        </p:nvSpPr>
        <p:spPr>
          <a:xfrm>
            <a:off x="2190948" y="3290888"/>
            <a:ext cx="2174479" cy="530027"/>
          </a:xfrm>
          <a:prstGeom prst="rect">
            <a:avLst/>
          </a:prstGeom>
          <a:noFill/>
          <a:ln/>
        </p:spPr>
        <p:txBody>
          <a:bodyPr wrap="square" lIns="0" tIns="0" rIns="0" bIns="0" rtlCol="0" anchor="t"/>
          <a:lstStyle/>
          <a:p>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one URI query parameter</a:t>
            </a:r>
            <a:endParaRPr lang="en-US" sz="1700" dirty="0"/>
          </a:p>
        </p:txBody>
      </p:sp>
      <p:sp>
        <p:nvSpPr>
          <p:cNvPr id="56" name="Shape 53"/>
          <p:cNvSpPr/>
          <p:nvPr/>
        </p:nvSpPr>
        <p:spPr>
          <a:xfrm>
            <a:off x="4428927" y="3195637"/>
            <a:ext cx="2006005" cy="742553"/>
          </a:xfrm>
          <a:prstGeom prst="rect">
            <a:avLst/>
          </a:prstGeom>
          <a:solidFill>
            <a:srgbClr val="FFFFFF"/>
          </a:solidFill>
          <a:ln w="12700">
            <a:solidFill>
              <a:srgbClr val="333399"/>
            </a:solidFill>
            <a:prstDash val="solid"/>
          </a:ln>
        </p:spPr>
      </p:sp>
      <p:sp>
        <p:nvSpPr>
          <p:cNvPr id="57" name="Text 54"/>
          <p:cNvSpPr txBox="1"/>
          <p:nvPr/>
        </p:nvSpPr>
        <p:spPr>
          <a:xfrm>
            <a:off x="4517827" y="3290888"/>
            <a:ext cx="1853605" cy="530027"/>
          </a:xfrm>
          <a:prstGeom prst="rect">
            <a:avLst/>
          </a:prstGeom>
          <a:noFill/>
          <a:ln/>
        </p:spPr>
        <p:txBody>
          <a:bodyPr wrap="square" lIns="0" tIns="0" rIns="0" bIns="0" rtlCol="0" anchor="t"/>
          <a:lstStyle/>
          <a:p>
            <a:pPr algn="l" indent="0" marL="0">
              <a:lnSpc>
                <a:spcPts val="2073"/>
              </a:lnSpc>
              <a:buNone/>
            </a:pPr>
            <a:r>
              <a:rPr lang="en-US" sz="1700" b="1" dirty="0">
                <a:solidFill>
                  <a:srgbClr val="993300"/>
                </a:solidFill>
                <a:latin typeface="Calibri" pitchFamily="34" charset="0"/>
                <a:ea typeface="Calibri" pitchFamily="34" charset="-122"/>
                <a:cs typeface="Calibri" pitchFamily="34" charset="-120"/>
              </a:rPr>
              <a:t>✗</a:t>
            </a:r>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 nothing in the content</a:t>
            </a:r>
            <a:endParaRPr lang="en-US" sz="1700" dirty="0"/>
          </a:p>
        </p:txBody>
      </p:sp>
      <p:sp>
        <p:nvSpPr>
          <p:cNvPr id="58" name="Shape 55"/>
          <p:cNvSpPr/>
          <p:nvPr/>
        </p:nvSpPr>
        <p:spPr>
          <a:xfrm>
            <a:off x="97631" y="4668044"/>
            <a:ext cx="6337300" cy="12700"/>
          </a:xfrm>
          <a:prstGeom prst="rect">
            <a:avLst/>
          </a:prstGeom>
          <a:solidFill>
            <a:srgbClr val="9CA3AF">
              <a:alpha val="20000"/>
            </a:srgbClr>
          </a:solidFill>
          <a:ln/>
        </p:spPr>
      </p:sp>
      <p:sp>
        <p:nvSpPr>
          <p:cNvPr id="59" name="Shape 56"/>
          <p:cNvSpPr/>
          <p:nvPr/>
        </p:nvSpPr>
        <p:spPr>
          <a:xfrm>
            <a:off x="97631" y="3938191"/>
            <a:ext cx="2004417" cy="742553"/>
          </a:xfrm>
          <a:prstGeom prst="rect">
            <a:avLst/>
          </a:prstGeom>
          <a:solidFill>
            <a:srgbClr val="D6D6EB"/>
          </a:solidFill>
          <a:ln w="12700">
            <a:solidFill>
              <a:srgbClr val="333399"/>
            </a:solidFill>
            <a:prstDash val="solid"/>
          </a:ln>
        </p:spPr>
      </p:sp>
      <p:sp>
        <p:nvSpPr>
          <p:cNvPr id="60" name="Text 57"/>
          <p:cNvSpPr txBox="1"/>
          <p:nvPr/>
        </p:nvSpPr>
        <p:spPr>
          <a:xfrm>
            <a:off x="192881" y="4177705"/>
            <a:ext cx="19663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content-digest</a:t>
            </a:r>
            <a:endParaRPr lang="en-US" sz="1700" dirty="0"/>
          </a:p>
        </p:txBody>
      </p:sp>
      <p:sp>
        <p:nvSpPr>
          <p:cNvPr id="61" name="Shape 58"/>
          <p:cNvSpPr/>
          <p:nvPr/>
        </p:nvSpPr>
        <p:spPr>
          <a:xfrm>
            <a:off x="2102048" y="3938191"/>
            <a:ext cx="2326879" cy="742553"/>
          </a:xfrm>
          <a:prstGeom prst="rect">
            <a:avLst/>
          </a:prstGeom>
          <a:solidFill>
            <a:srgbClr val="D6D6EB"/>
          </a:solidFill>
          <a:ln w="12700">
            <a:solidFill>
              <a:srgbClr val="333399"/>
            </a:solidFill>
            <a:prstDash val="solid"/>
          </a:ln>
        </p:spPr>
      </p:sp>
      <p:sp>
        <p:nvSpPr>
          <p:cNvPr id="62" name="Text 59"/>
          <p:cNvSpPr txBox="1"/>
          <p:nvPr/>
        </p:nvSpPr>
        <p:spPr>
          <a:xfrm>
            <a:off x="2190948" y="4033440"/>
            <a:ext cx="2174479" cy="504627"/>
          </a:xfrm>
          <a:prstGeom prst="rect">
            <a:avLst/>
          </a:prstGeom>
          <a:noFill/>
          <a:ln/>
        </p:spPr>
        <p:txBody>
          <a:bodyPr wrap="square" lIns="0" tIns="0" rIns="0" bIns="0" rtlCol="0" anchor="t"/>
          <a:lstStyle/>
          <a:p>
            <a:pPr algn="l" indent="0" marL="0">
              <a:lnSpc>
                <a:spcPts val="2473"/>
              </a:lnSpc>
              <a:buNone/>
            </a:pPr>
            <a:r>
              <a:rPr lang="en-US" sz="1700" dirty="0">
                <a:solidFill>
                  <a:srgbClr val="000000"/>
                </a:solidFill>
                <a:latin typeface="Calibri" pitchFamily="34" charset="0"/>
                <a:ea typeface="Calibri" pitchFamily="34" charset="-122"/>
                <a:cs typeface="Calibri" pitchFamily="34" charset="-120"/>
              </a:rPr>
              <a:t>hash of the content </a:t>
            </a:r>
            <a:pPr algn="l" indent="0" marL="0">
              <a:lnSpc>
                <a:spcPts val="2473"/>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9530]</a:t>
            </a:r>
            <a:endParaRPr lang="en-US" sz="1700" dirty="0"/>
          </a:p>
        </p:txBody>
      </p:sp>
      <p:sp>
        <p:nvSpPr>
          <p:cNvPr id="63" name="Shape 60"/>
          <p:cNvSpPr/>
          <p:nvPr/>
        </p:nvSpPr>
        <p:spPr>
          <a:xfrm>
            <a:off x="4428927" y="3938191"/>
            <a:ext cx="2006005" cy="742553"/>
          </a:xfrm>
          <a:prstGeom prst="rect">
            <a:avLst/>
          </a:prstGeom>
          <a:solidFill>
            <a:srgbClr val="D6D6EB"/>
          </a:solidFill>
          <a:ln w="12700">
            <a:solidFill>
              <a:srgbClr val="333399"/>
            </a:solidFill>
            <a:prstDash val="solid"/>
          </a:ln>
        </p:spPr>
      </p:sp>
      <p:sp>
        <p:nvSpPr>
          <p:cNvPr id="64" name="Text 61"/>
          <p:cNvSpPr txBox="1"/>
          <p:nvPr/>
        </p:nvSpPr>
        <p:spPr>
          <a:xfrm>
            <a:off x="4524176" y="4165005"/>
            <a:ext cx="1694656"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the query itself</a:t>
            </a:r>
            <a:endParaRPr lang="en-US" sz="1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29503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and HTTP Message Signatures (RFC 9421)</a:t>
            </a:r>
            <a:endParaRPr lang="en-US" sz="2400" dirty="0"/>
          </a:p>
        </p:txBody>
      </p:sp>
      <p:sp>
        <p:nvSpPr>
          <p:cNvPr id="10" name="Shape 7"/>
          <p:cNvSpPr/>
          <p:nvPr/>
        </p:nvSpPr>
        <p:spPr>
          <a:xfrm>
            <a:off x="97631" y="1738908"/>
            <a:ext cx="6337300" cy="12700"/>
          </a:xfrm>
          <a:prstGeom prst="rect">
            <a:avLst/>
          </a:prstGeom>
          <a:solidFill>
            <a:srgbClr val="9CA3AF">
              <a:alpha val="20000"/>
            </a:srgbClr>
          </a:solidFill>
          <a:ln/>
        </p:spPr>
      </p:sp>
      <p:sp>
        <p:nvSpPr>
          <p:cNvPr id="11" name="Shape 8"/>
          <p:cNvSpPr/>
          <p:nvPr/>
        </p:nvSpPr>
        <p:spPr>
          <a:xfrm>
            <a:off x="97631" y="1367631"/>
            <a:ext cx="2004417" cy="383976"/>
          </a:xfrm>
          <a:prstGeom prst="rect">
            <a:avLst/>
          </a:prstGeom>
          <a:solidFill>
            <a:srgbClr val="FFFFFF"/>
          </a:solidFill>
          <a:ln/>
        </p:spPr>
      </p:sp>
      <p:sp>
        <p:nvSpPr>
          <p:cNvPr id="12" name="Shape 9"/>
          <p:cNvSpPr/>
          <p:nvPr/>
        </p:nvSpPr>
        <p:spPr>
          <a:xfrm>
            <a:off x="97631" y="1367631"/>
            <a:ext cx="2004417" cy="12700"/>
          </a:xfrm>
          <a:prstGeom prst="rect">
            <a:avLst/>
          </a:prstGeom>
          <a:solidFill>
            <a:srgbClr val="333399"/>
          </a:solidFill>
          <a:ln/>
        </p:spPr>
      </p:sp>
      <p:sp>
        <p:nvSpPr>
          <p:cNvPr id="13" name="Shape 10"/>
          <p:cNvSpPr/>
          <p:nvPr/>
        </p:nvSpPr>
        <p:spPr>
          <a:xfrm>
            <a:off x="2089348" y="1367631"/>
            <a:ext cx="12700" cy="383976"/>
          </a:xfrm>
          <a:prstGeom prst="rect">
            <a:avLst/>
          </a:prstGeom>
          <a:solidFill>
            <a:srgbClr val="333399"/>
          </a:solidFill>
          <a:ln/>
        </p:spPr>
      </p:sp>
      <p:sp>
        <p:nvSpPr>
          <p:cNvPr id="14" name="Shape 11"/>
          <p:cNvSpPr/>
          <p:nvPr/>
        </p:nvSpPr>
        <p:spPr>
          <a:xfrm>
            <a:off x="97631" y="1726208"/>
            <a:ext cx="2004417" cy="25400"/>
          </a:xfrm>
          <a:prstGeom prst="rect">
            <a:avLst/>
          </a:prstGeom>
          <a:solidFill>
            <a:srgbClr val="333399"/>
          </a:solidFill>
          <a:ln/>
        </p:spPr>
      </p:sp>
      <p:sp>
        <p:nvSpPr>
          <p:cNvPr id="15" name="Shape 12"/>
          <p:cNvSpPr/>
          <p:nvPr/>
        </p:nvSpPr>
        <p:spPr>
          <a:xfrm>
            <a:off x="97631" y="1367631"/>
            <a:ext cx="12700" cy="383976"/>
          </a:xfrm>
          <a:prstGeom prst="rect">
            <a:avLst/>
          </a:prstGeom>
          <a:solidFill>
            <a:srgbClr val="333399"/>
          </a:solidFill>
          <a:ln/>
        </p:spPr>
      </p:sp>
      <p:sp>
        <p:nvSpPr>
          <p:cNvPr id="16" name="Text 13"/>
          <p:cNvSpPr txBox="1"/>
          <p:nvPr/>
        </p:nvSpPr>
        <p:spPr>
          <a:xfrm>
            <a:off x="187127" y="1412081"/>
            <a:ext cx="1825228"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Signed component</a:t>
            </a:r>
            <a:endParaRPr lang="en-US" sz="1700" dirty="0"/>
          </a:p>
        </p:txBody>
      </p:sp>
      <p:sp>
        <p:nvSpPr>
          <p:cNvPr id="17" name="Shape 14"/>
          <p:cNvSpPr/>
          <p:nvPr/>
        </p:nvSpPr>
        <p:spPr>
          <a:xfrm>
            <a:off x="2102048" y="1367631"/>
            <a:ext cx="2326879" cy="383976"/>
          </a:xfrm>
          <a:prstGeom prst="rect">
            <a:avLst/>
          </a:prstGeom>
          <a:solidFill>
            <a:srgbClr val="FFFFFF"/>
          </a:solidFill>
          <a:ln/>
        </p:spPr>
      </p:sp>
      <p:sp>
        <p:nvSpPr>
          <p:cNvPr id="18" name="Shape 15"/>
          <p:cNvSpPr/>
          <p:nvPr/>
        </p:nvSpPr>
        <p:spPr>
          <a:xfrm>
            <a:off x="2102048" y="1367631"/>
            <a:ext cx="2326879" cy="12700"/>
          </a:xfrm>
          <a:prstGeom prst="rect">
            <a:avLst/>
          </a:prstGeom>
          <a:solidFill>
            <a:srgbClr val="333399"/>
          </a:solidFill>
          <a:ln/>
        </p:spPr>
      </p:sp>
      <p:sp>
        <p:nvSpPr>
          <p:cNvPr id="19" name="Shape 16"/>
          <p:cNvSpPr/>
          <p:nvPr/>
        </p:nvSpPr>
        <p:spPr>
          <a:xfrm>
            <a:off x="4416227" y="1367631"/>
            <a:ext cx="12700" cy="383976"/>
          </a:xfrm>
          <a:prstGeom prst="rect">
            <a:avLst/>
          </a:prstGeom>
          <a:solidFill>
            <a:srgbClr val="333399"/>
          </a:solidFill>
          <a:ln/>
        </p:spPr>
      </p:sp>
      <p:sp>
        <p:nvSpPr>
          <p:cNvPr id="20" name="Shape 17"/>
          <p:cNvSpPr/>
          <p:nvPr/>
        </p:nvSpPr>
        <p:spPr>
          <a:xfrm>
            <a:off x="2102048" y="1726208"/>
            <a:ext cx="2326879" cy="25400"/>
          </a:xfrm>
          <a:prstGeom prst="rect">
            <a:avLst/>
          </a:prstGeom>
          <a:solidFill>
            <a:srgbClr val="333399"/>
          </a:solidFill>
          <a:ln/>
        </p:spPr>
      </p:sp>
      <p:sp>
        <p:nvSpPr>
          <p:cNvPr id="21" name="Shape 18"/>
          <p:cNvSpPr/>
          <p:nvPr/>
        </p:nvSpPr>
        <p:spPr>
          <a:xfrm>
            <a:off x="2102048" y="1367631"/>
            <a:ext cx="12700" cy="383976"/>
          </a:xfrm>
          <a:prstGeom prst="rect">
            <a:avLst/>
          </a:prstGeom>
          <a:solidFill>
            <a:srgbClr val="333399"/>
          </a:solidFill>
          <a:ln/>
        </p:spPr>
      </p:sp>
      <p:sp>
        <p:nvSpPr>
          <p:cNvPr id="22" name="Text 19"/>
          <p:cNvSpPr txBox="1"/>
          <p:nvPr/>
        </p:nvSpPr>
        <p:spPr>
          <a:xfrm>
            <a:off x="2544167" y="1412081"/>
            <a:ext cx="1442640"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What it covers</a:t>
            </a:r>
            <a:endParaRPr lang="en-US" sz="1700" dirty="0"/>
          </a:p>
        </p:txBody>
      </p:sp>
      <p:sp>
        <p:nvSpPr>
          <p:cNvPr id="23" name="Shape 20"/>
          <p:cNvSpPr/>
          <p:nvPr/>
        </p:nvSpPr>
        <p:spPr>
          <a:xfrm>
            <a:off x="4428927" y="1367631"/>
            <a:ext cx="2006005" cy="383976"/>
          </a:xfrm>
          <a:prstGeom prst="rect">
            <a:avLst/>
          </a:prstGeom>
          <a:solidFill>
            <a:srgbClr val="FFFFFF"/>
          </a:solidFill>
          <a:ln/>
        </p:spPr>
      </p:sp>
      <p:sp>
        <p:nvSpPr>
          <p:cNvPr id="24" name="Shape 21"/>
          <p:cNvSpPr/>
          <p:nvPr/>
        </p:nvSpPr>
        <p:spPr>
          <a:xfrm>
            <a:off x="4428927" y="1367631"/>
            <a:ext cx="2006005" cy="12700"/>
          </a:xfrm>
          <a:prstGeom prst="rect">
            <a:avLst/>
          </a:prstGeom>
          <a:solidFill>
            <a:srgbClr val="333399"/>
          </a:solidFill>
          <a:ln/>
        </p:spPr>
      </p:sp>
      <p:sp>
        <p:nvSpPr>
          <p:cNvPr id="25" name="Shape 22"/>
          <p:cNvSpPr/>
          <p:nvPr/>
        </p:nvSpPr>
        <p:spPr>
          <a:xfrm>
            <a:off x="6422231" y="1367631"/>
            <a:ext cx="12700" cy="383976"/>
          </a:xfrm>
          <a:prstGeom prst="rect">
            <a:avLst/>
          </a:prstGeom>
          <a:solidFill>
            <a:srgbClr val="333399"/>
          </a:solidFill>
          <a:ln/>
        </p:spPr>
      </p:sp>
      <p:sp>
        <p:nvSpPr>
          <p:cNvPr id="26" name="Shape 23"/>
          <p:cNvSpPr/>
          <p:nvPr/>
        </p:nvSpPr>
        <p:spPr>
          <a:xfrm>
            <a:off x="4428927" y="1726208"/>
            <a:ext cx="2006005" cy="25400"/>
          </a:xfrm>
          <a:prstGeom prst="rect">
            <a:avLst/>
          </a:prstGeom>
          <a:solidFill>
            <a:srgbClr val="333399"/>
          </a:solidFill>
          <a:ln/>
        </p:spPr>
      </p:sp>
      <p:sp>
        <p:nvSpPr>
          <p:cNvPr id="27" name="Shape 24"/>
          <p:cNvSpPr/>
          <p:nvPr/>
        </p:nvSpPr>
        <p:spPr>
          <a:xfrm>
            <a:off x="4428927" y="1367631"/>
            <a:ext cx="12700" cy="383976"/>
          </a:xfrm>
          <a:prstGeom prst="rect">
            <a:avLst/>
          </a:prstGeom>
          <a:solidFill>
            <a:srgbClr val="333399"/>
          </a:solidFill>
          <a:ln/>
        </p:spPr>
      </p:sp>
      <p:sp>
        <p:nvSpPr>
          <p:cNvPr id="28" name="Text 25"/>
          <p:cNvSpPr txBox="1"/>
          <p:nvPr/>
        </p:nvSpPr>
        <p:spPr>
          <a:xfrm>
            <a:off x="4489451" y="1412081"/>
            <a:ext cx="1884957"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In a QUERY request</a:t>
            </a:r>
            <a:endParaRPr lang="en-US" sz="1700" dirty="0"/>
          </a:p>
        </p:txBody>
      </p:sp>
      <p:sp>
        <p:nvSpPr>
          <p:cNvPr id="29" name="Shape 26"/>
          <p:cNvSpPr/>
          <p:nvPr/>
        </p:nvSpPr>
        <p:spPr>
          <a:xfrm>
            <a:off x="97631" y="2224484"/>
            <a:ext cx="6337300" cy="12700"/>
          </a:xfrm>
          <a:prstGeom prst="rect">
            <a:avLst/>
          </a:prstGeom>
          <a:solidFill>
            <a:srgbClr val="9CA3AF">
              <a:alpha val="20000"/>
            </a:srgbClr>
          </a:solidFill>
          <a:ln/>
        </p:spPr>
      </p:sp>
      <p:sp>
        <p:nvSpPr>
          <p:cNvPr id="30" name="Shape 27"/>
          <p:cNvSpPr/>
          <p:nvPr/>
        </p:nvSpPr>
        <p:spPr>
          <a:xfrm>
            <a:off x="97631" y="1751608"/>
            <a:ext cx="2004417" cy="485576"/>
          </a:xfrm>
          <a:prstGeom prst="rect">
            <a:avLst/>
          </a:prstGeom>
          <a:solidFill>
            <a:srgbClr val="D6D6EB"/>
          </a:solidFill>
          <a:ln w="12700">
            <a:solidFill>
              <a:srgbClr val="333399"/>
            </a:solidFill>
            <a:prstDash val="solid"/>
          </a:ln>
        </p:spPr>
      </p:sp>
      <p:sp>
        <p:nvSpPr>
          <p:cNvPr id="31" name="Text 28"/>
          <p:cNvSpPr txBox="1"/>
          <p:nvPr/>
        </p:nvSpPr>
        <p:spPr>
          <a:xfrm>
            <a:off x="192881" y="1865908"/>
            <a:ext cx="10594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@method</a:t>
            </a:r>
            <a:endParaRPr lang="en-US" sz="1700" dirty="0"/>
          </a:p>
        </p:txBody>
      </p:sp>
      <p:sp>
        <p:nvSpPr>
          <p:cNvPr id="32" name="Shape 29"/>
          <p:cNvSpPr/>
          <p:nvPr/>
        </p:nvSpPr>
        <p:spPr>
          <a:xfrm>
            <a:off x="2102048" y="1751608"/>
            <a:ext cx="2326879" cy="485576"/>
          </a:xfrm>
          <a:prstGeom prst="rect">
            <a:avLst/>
          </a:prstGeom>
          <a:solidFill>
            <a:srgbClr val="D6D6EB"/>
          </a:solidFill>
          <a:ln w="12700">
            <a:solidFill>
              <a:srgbClr val="333399"/>
            </a:solidFill>
            <a:prstDash val="solid"/>
          </a:ln>
        </p:spPr>
      </p:sp>
      <p:sp>
        <p:nvSpPr>
          <p:cNvPr id="33" name="Text 30"/>
          <p:cNvSpPr txBox="1"/>
          <p:nvPr/>
        </p:nvSpPr>
        <p:spPr>
          <a:xfrm>
            <a:off x="2197299" y="1853208"/>
            <a:ext cx="156150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request method</a:t>
            </a:r>
            <a:endParaRPr lang="en-US" sz="1700" dirty="0"/>
          </a:p>
        </p:txBody>
      </p:sp>
      <p:sp>
        <p:nvSpPr>
          <p:cNvPr id="34" name="Shape 31"/>
          <p:cNvSpPr/>
          <p:nvPr/>
        </p:nvSpPr>
        <p:spPr>
          <a:xfrm>
            <a:off x="4428927" y="1751608"/>
            <a:ext cx="2006005" cy="485576"/>
          </a:xfrm>
          <a:prstGeom prst="rect">
            <a:avLst/>
          </a:prstGeom>
          <a:solidFill>
            <a:srgbClr val="D6D6EB"/>
          </a:solidFill>
          <a:ln w="12700">
            <a:solidFill>
              <a:srgbClr val="333399"/>
            </a:solidFill>
            <a:prstDash val="solid"/>
          </a:ln>
        </p:spPr>
      </p:sp>
      <p:sp>
        <p:nvSpPr>
          <p:cNvPr id="35" name="Text 32"/>
          <p:cNvSpPr txBox="1"/>
          <p:nvPr/>
        </p:nvSpPr>
        <p:spPr>
          <a:xfrm>
            <a:off x="4524176" y="1853208"/>
            <a:ext cx="974924"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QUERY</a:t>
            </a:r>
            <a:endParaRPr lang="en-US" sz="1700" dirty="0"/>
          </a:p>
        </p:txBody>
      </p:sp>
      <p:sp>
        <p:nvSpPr>
          <p:cNvPr id="36" name="Shape 33"/>
          <p:cNvSpPr/>
          <p:nvPr/>
        </p:nvSpPr>
        <p:spPr>
          <a:xfrm>
            <a:off x="97631" y="2703711"/>
            <a:ext cx="6337300" cy="12700"/>
          </a:xfrm>
          <a:prstGeom prst="rect">
            <a:avLst/>
          </a:prstGeom>
          <a:solidFill>
            <a:srgbClr val="9CA3AF">
              <a:alpha val="20000"/>
            </a:srgbClr>
          </a:solidFill>
          <a:ln/>
        </p:spPr>
      </p:sp>
      <p:sp>
        <p:nvSpPr>
          <p:cNvPr id="37" name="Shape 34"/>
          <p:cNvSpPr/>
          <p:nvPr/>
        </p:nvSpPr>
        <p:spPr>
          <a:xfrm>
            <a:off x="97631" y="2237184"/>
            <a:ext cx="2004417" cy="479227"/>
          </a:xfrm>
          <a:prstGeom prst="rect">
            <a:avLst/>
          </a:prstGeom>
          <a:solidFill>
            <a:srgbClr val="FFFFFF"/>
          </a:solidFill>
          <a:ln w="12700">
            <a:solidFill>
              <a:srgbClr val="333399"/>
            </a:solidFill>
            <a:prstDash val="solid"/>
          </a:ln>
        </p:spPr>
      </p:sp>
      <p:sp>
        <p:nvSpPr>
          <p:cNvPr id="38" name="Text 35"/>
          <p:cNvSpPr txBox="1"/>
          <p:nvPr/>
        </p:nvSpPr>
        <p:spPr>
          <a:xfrm>
            <a:off x="192881" y="2345135"/>
            <a:ext cx="15775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@target-uri</a:t>
            </a:r>
            <a:endParaRPr lang="en-US" sz="1700" dirty="0"/>
          </a:p>
        </p:txBody>
      </p:sp>
      <p:sp>
        <p:nvSpPr>
          <p:cNvPr id="39" name="Shape 36"/>
          <p:cNvSpPr/>
          <p:nvPr/>
        </p:nvSpPr>
        <p:spPr>
          <a:xfrm>
            <a:off x="2102048" y="2237184"/>
            <a:ext cx="2326879" cy="479227"/>
          </a:xfrm>
          <a:prstGeom prst="rect">
            <a:avLst/>
          </a:prstGeom>
          <a:solidFill>
            <a:srgbClr val="FFFFFF"/>
          </a:solidFill>
          <a:ln w="12700">
            <a:solidFill>
              <a:srgbClr val="333399"/>
            </a:solidFill>
            <a:prstDash val="solid"/>
          </a:ln>
        </p:spPr>
      </p:sp>
      <p:sp>
        <p:nvSpPr>
          <p:cNvPr id="40" name="Text 37"/>
          <p:cNvSpPr txBox="1"/>
          <p:nvPr/>
        </p:nvSpPr>
        <p:spPr>
          <a:xfrm>
            <a:off x="2197299" y="2332435"/>
            <a:ext cx="136247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full target URI</a:t>
            </a:r>
            <a:endParaRPr lang="en-US" sz="1700" dirty="0"/>
          </a:p>
        </p:txBody>
      </p:sp>
      <p:sp>
        <p:nvSpPr>
          <p:cNvPr id="41" name="Shape 38"/>
          <p:cNvSpPr/>
          <p:nvPr/>
        </p:nvSpPr>
        <p:spPr>
          <a:xfrm>
            <a:off x="4428927" y="2237184"/>
            <a:ext cx="2006005" cy="479227"/>
          </a:xfrm>
          <a:prstGeom prst="rect">
            <a:avLst/>
          </a:prstGeom>
          <a:solidFill>
            <a:srgbClr val="FFFFFF"/>
          </a:solidFill>
          <a:ln w="12700">
            <a:solidFill>
              <a:srgbClr val="333399"/>
            </a:solidFill>
            <a:prstDash val="solid"/>
          </a:ln>
        </p:spPr>
      </p:sp>
      <p:sp>
        <p:nvSpPr>
          <p:cNvPr id="42" name="Text 39"/>
          <p:cNvSpPr txBox="1"/>
          <p:nvPr/>
        </p:nvSpPr>
        <p:spPr>
          <a:xfrm>
            <a:off x="4524176" y="2332435"/>
            <a:ext cx="1166812"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…/search</a:t>
            </a:r>
            <a:endParaRPr lang="en-US" sz="1700" dirty="0"/>
          </a:p>
        </p:txBody>
      </p:sp>
      <p:sp>
        <p:nvSpPr>
          <p:cNvPr id="43" name="Shape 40"/>
          <p:cNvSpPr/>
          <p:nvPr/>
        </p:nvSpPr>
        <p:spPr>
          <a:xfrm>
            <a:off x="97631" y="3182937"/>
            <a:ext cx="6337300" cy="12700"/>
          </a:xfrm>
          <a:prstGeom prst="rect">
            <a:avLst/>
          </a:prstGeom>
          <a:solidFill>
            <a:srgbClr val="9CA3AF">
              <a:alpha val="20000"/>
            </a:srgbClr>
          </a:solidFill>
          <a:ln/>
        </p:spPr>
      </p:sp>
      <p:sp>
        <p:nvSpPr>
          <p:cNvPr id="44" name="Shape 41"/>
          <p:cNvSpPr/>
          <p:nvPr/>
        </p:nvSpPr>
        <p:spPr>
          <a:xfrm>
            <a:off x="97631" y="2716411"/>
            <a:ext cx="2004417" cy="479227"/>
          </a:xfrm>
          <a:prstGeom prst="rect">
            <a:avLst/>
          </a:prstGeom>
          <a:solidFill>
            <a:srgbClr val="D6D6EB"/>
          </a:solidFill>
          <a:ln w="12700">
            <a:solidFill>
              <a:srgbClr val="333399"/>
            </a:solidFill>
            <a:prstDash val="solid"/>
          </a:ln>
        </p:spPr>
      </p:sp>
      <p:sp>
        <p:nvSpPr>
          <p:cNvPr id="45" name="Text 42"/>
          <p:cNvSpPr txBox="1"/>
          <p:nvPr/>
        </p:nvSpPr>
        <p:spPr>
          <a:xfrm>
            <a:off x="192881" y="2824361"/>
            <a:ext cx="9298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a:t>
            </a:r>
            <a:endParaRPr lang="en-US" sz="1700" dirty="0"/>
          </a:p>
        </p:txBody>
      </p:sp>
      <p:sp>
        <p:nvSpPr>
          <p:cNvPr id="46" name="Shape 43"/>
          <p:cNvSpPr/>
          <p:nvPr/>
        </p:nvSpPr>
        <p:spPr>
          <a:xfrm>
            <a:off x="2102048" y="2716411"/>
            <a:ext cx="2326879" cy="479227"/>
          </a:xfrm>
          <a:prstGeom prst="rect">
            <a:avLst/>
          </a:prstGeom>
          <a:solidFill>
            <a:srgbClr val="D6D6EB"/>
          </a:solidFill>
          <a:ln w="12700">
            <a:solidFill>
              <a:srgbClr val="333399"/>
            </a:solidFill>
            <a:prstDash val="solid"/>
          </a:ln>
        </p:spPr>
      </p:sp>
      <p:sp>
        <p:nvSpPr>
          <p:cNvPr id="47" name="Text 44"/>
          <p:cNvSpPr txBox="1"/>
          <p:nvPr/>
        </p:nvSpPr>
        <p:spPr>
          <a:xfrm>
            <a:off x="2197299" y="2811661"/>
            <a:ext cx="207625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URI query component</a:t>
            </a:r>
            <a:endParaRPr lang="en-US" sz="1700" dirty="0"/>
          </a:p>
        </p:txBody>
      </p:sp>
      <p:sp>
        <p:nvSpPr>
          <p:cNvPr id="48" name="Shape 45"/>
          <p:cNvSpPr/>
          <p:nvPr/>
        </p:nvSpPr>
        <p:spPr>
          <a:xfrm>
            <a:off x="4428927" y="2716411"/>
            <a:ext cx="2006005" cy="479227"/>
          </a:xfrm>
          <a:prstGeom prst="rect">
            <a:avLst/>
          </a:prstGeom>
          <a:solidFill>
            <a:srgbClr val="D6D6EB"/>
          </a:solidFill>
          <a:ln w="12700">
            <a:solidFill>
              <a:srgbClr val="333399"/>
            </a:solidFill>
            <a:prstDash val="solid"/>
          </a:ln>
        </p:spPr>
      </p:sp>
      <p:sp>
        <p:nvSpPr>
          <p:cNvPr id="49" name="Shape 46"/>
          <p:cNvSpPr/>
          <p:nvPr/>
        </p:nvSpPr>
        <p:spPr>
          <a:xfrm>
            <a:off x="5725120" y="2837061"/>
            <a:ext cx="243681" cy="254000"/>
          </a:xfrm>
          <a:prstGeom prst="rect">
            <a:avLst/>
          </a:prstGeom>
          <a:solidFill>
            <a:srgbClr val="FFFFFF"/>
          </a:solidFill>
          <a:ln w="12700">
            <a:solidFill>
              <a:srgbClr val="333399"/>
            </a:solidFill>
            <a:prstDash val="solid"/>
          </a:ln>
        </p:spPr>
      </p:sp>
      <p:sp>
        <p:nvSpPr>
          <p:cNvPr id="50" name="Text 47"/>
          <p:cNvSpPr txBox="1"/>
          <p:nvPr/>
        </p:nvSpPr>
        <p:spPr>
          <a:xfrm>
            <a:off x="4524176" y="2811661"/>
            <a:ext cx="1533525" cy="266700"/>
          </a:xfrm>
          <a:prstGeom prst="rect">
            <a:avLst/>
          </a:prstGeom>
          <a:noFill/>
          <a:ln/>
        </p:spPr>
        <p:txBody>
          <a:bodyPr wrap="none" lIns="0" tIns="0" rIns="0" bIns="0" rtlCol="0" anchor="t"/>
          <a:lstStyle/>
          <a:p>
            <a:pPr algn="l" indent="0" marL="0">
              <a:buNone/>
            </a:pPr>
            <a:r>
              <a:rPr lang="en-US" sz="1700" b="1" dirty="0">
                <a:solidFill>
                  <a:srgbClr val="993300"/>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usually just </a:t>
            </a:r>
            <a:pPr algn="l" indent="0" marL="0">
              <a:buNone/>
            </a:pPr>
            <a:r>
              <a:rPr lang="en-US" sz="1531"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51" name="Shape 48"/>
          <p:cNvSpPr/>
          <p:nvPr/>
        </p:nvSpPr>
        <p:spPr>
          <a:xfrm>
            <a:off x="97631" y="3925491"/>
            <a:ext cx="6337300" cy="12700"/>
          </a:xfrm>
          <a:prstGeom prst="rect">
            <a:avLst/>
          </a:prstGeom>
          <a:solidFill>
            <a:srgbClr val="9CA3AF">
              <a:alpha val="20000"/>
            </a:srgbClr>
          </a:solidFill>
          <a:ln/>
        </p:spPr>
      </p:sp>
      <p:sp>
        <p:nvSpPr>
          <p:cNvPr id="52" name="Shape 49"/>
          <p:cNvSpPr/>
          <p:nvPr/>
        </p:nvSpPr>
        <p:spPr>
          <a:xfrm>
            <a:off x="97631" y="3195637"/>
            <a:ext cx="2004417" cy="742553"/>
          </a:xfrm>
          <a:prstGeom prst="rect">
            <a:avLst/>
          </a:prstGeom>
          <a:solidFill>
            <a:srgbClr val="FFFFFF"/>
          </a:solidFill>
          <a:ln w="12700">
            <a:solidFill>
              <a:srgbClr val="333399"/>
            </a:solidFill>
            <a:prstDash val="solid"/>
          </a:ln>
        </p:spPr>
      </p:sp>
      <p:sp>
        <p:nvSpPr>
          <p:cNvPr id="53" name="Text 50"/>
          <p:cNvSpPr txBox="1"/>
          <p:nvPr/>
        </p:nvSpPr>
        <p:spPr>
          <a:xfrm>
            <a:off x="192881" y="3435152"/>
            <a:ext cx="17071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@query-param</a:t>
            </a:r>
            <a:endParaRPr lang="en-US" sz="1700" dirty="0"/>
          </a:p>
        </p:txBody>
      </p:sp>
      <p:sp>
        <p:nvSpPr>
          <p:cNvPr id="54" name="Shape 51"/>
          <p:cNvSpPr/>
          <p:nvPr/>
        </p:nvSpPr>
        <p:spPr>
          <a:xfrm>
            <a:off x="2102048" y="3195637"/>
            <a:ext cx="2326879" cy="742553"/>
          </a:xfrm>
          <a:prstGeom prst="rect">
            <a:avLst/>
          </a:prstGeom>
          <a:solidFill>
            <a:srgbClr val="FFFFFF"/>
          </a:solidFill>
          <a:ln w="12700">
            <a:solidFill>
              <a:srgbClr val="333399"/>
            </a:solidFill>
            <a:prstDash val="solid"/>
          </a:ln>
        </p:spPr>
      </p:sp>
      <p:sp>
        <p:nvSpPr>
          <p:cNvPr id="55" name="Text 52"/>
          <p:cNvSpPr txBox="1"/>
          <p:nvPr/>
        </p:nvSpPr>
        <p:spPr>
          <a:xfrm>
            <a:off x="2190948" y="3290888"/>
            <a:ext cx="2174479" cy="530027"/>
          </a:xfrm>
          <a:prstGeom prst="rect">
            <a:avLst/>
          </a:prstGeom>
          <a:noFill/>
          <a:ln/>
        </p:spPr>
        <p:txBody>
          <a:bodyPr wrap="square" lIns="0" tIns="0" rIns="0" bIns="0" rtlCol="0" anchor="t"/>
          <a:lstStyle/>
          <a:p>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one URI query parameter</a:t>
            </a:r>
            <a:endParaRPr lang="en-US" sz="1700" dirty="0"/>
          </a:p>
        </p:txBody>
      </p:sp>
      <p:sp>
        <p:nvSpPr>
          <p:cNvPr id="56" name="Shape 53"/>
          <p:cNvSpPr/>
          <p:nvPr/>
        </p:nvSpPr>
        <p:spPr>
          <a:xfrm>
            <a:off x="4428927" y="3195637"/>
            <a:ext cx="2006005" cy="742553"/>
          </a:xfrm>
          <a:prstGeom prst="rect">
            <a:avLst/>
          </a:prstGeom>
          <a:solidFill>
            <a:srgbClr val="FFFFFF"/>
          </a:solidFill>
          <a:ln w="12700">
            <a:solidFill>
              <a:srgbClr val="333399"/>
            </a:solidFill>
            <a:prstDash val="solid"/>
          </a:ln>
        </p:spPr>
      </p:sp>
      <p:sp>
        <p:nvSpPr>
          <p:cNvPr id="57" name="Text 54"/>
          <p:cNvSpPr txBox="1"/>
          <p:nvPr/>
        </p:nvSpPr>
        <p:spPr>
          <a:xfrm>
            <a:off x="4517827" y="3290888"/>
            <a:ext cx="1853605" cy="530027"/>
          </a:xfrm>
          <a:prstGeom prst="rect">
            <a:avLst/>
          </a:prstGeom>
          <a:noFill/>
          <a:ln/>
        </p:spPr>
        <p:txBody>
          <a:bodyPr wrap="square" lIns="0" tIns="0" rIns="0" bIns="0" rtlCol="0" anchor="t"/>
          <a:lstStyle/>
          <a:p>
            <a:pPr algn="l" indent="0" marL="0">
              <a:lnSpc>
                <a:spcPts val="2073"/>
              </a:lnSpc>
              <a:buNone/>
            </a:pPr>
            <a:r>
              <a:rPr lang="en-US" sz="1700" b="1" dirty="0">
                <a:solidFill>
                  <a:srgbClr val="993300"/>
                </a:solidFill>
                <a:latin typeface="Calibri" pitchFamily="34" charset="0"/>
                <a:ea typeface="Calibri" pitchFamily="34" charset="-122"/>
                <a:cs typeface="Calibri" pitchFamily="34" charset="-120"/>
              </a:rPr>
              <a:t>✗</a:t>
            </a:r>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 nothing in the content</a:t>
            </a:r>
            <a:endParaRPr lang="en-US" sz="1700" dirty="0"/>
          </a:p>
        </p:txBody>
      </p:sp>
      <p:sp>
        <p:nvSpPr>
          <p:cNvPr id="58" name="Shape 55"/>
          <p:cNvSpPr/>
          <p:nvPr/>
        </p:nvSpPr>
        <p:spPr>
          <a:xfrm>
            <a:off x="97631" y="4668044"/>
            <a:ext cx="6337300" cy="12700"/>
          </a:xfrm>
          <a:prstGeom prst="rect">
            <a:avLst/>
          </a:prstGeom>
          <a:solidFill>
            <a:srgbClr val="9CA3AF">
              <a:alpha val="20000"/>
            </a:srgbClr>
          </a:solidFill>
          <a:ln/>
        </p:spPr>
      </p:sp>
      <p:sp>
        <p:nvSpPr>
          <p:cNvPr id="59" name="Shape 56"/>
          <p:cNvSpPr/>
          <p:nvPr/>
        </p:nvSpPr>
        <p:spPr>
          <a:xfrm>
            <a:off x="97631" y="3938191"/>
            <a:ext cx="2004417" cy="742553"/>
          </a:xfrm>
          <a:prstGeom prst="rect">
            <a:avLst/>
          </a:prstGeom>
          <a:solidFill>
            <a:srgbClr val="D6D6EB"/>
          </a:solidFill>
          <a:ln w="12700">
            <a:solidFill>
              <a:srgbClr val="333399"/>
            </a:solidFill>
            <a:prstDash val="solid"/>
          </a:ln>
        </p:spPr>
      </p:sp>
      <p:sp>
        <p:nvSpPr>
          <p:cNvPr id="60" name="Text 57"/>
          <p:cNvSpPr txBox="1"/>
          <p:nvPr/>
        </p:nvSpPr>
        <p:spPr>
          <a:xfrm>
            <a:off x="192881" y="4177705"/>
            <a:ext cx="19663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content-digest</a:t>
            </a:r>
            <a:endParaRPr lang="en-US" sz="1700" dirty="0"/>
          </a:p>
        </p:txBody>
      </p:sp>
      <p:sp>
        <p:nvSpPr>
          <p:cNvPr id="61" name="Shape 58"/>
          <p:cNvSpPr/>
          <p:nvPr/>
        </p:nvSpPr>
        <p:spPr>
          <a:xfrm>
            <a:off x="2102048" y="3938191"/>
            <a:ext cx="2326879" cy="742553"/>
          </a:xfrm>
          <a:prstGeom prst="rect">
            <a:avLst/>
          </a:prstGeom>
          <a:solidFill>
            <a:srgbClr val="D6D6EB"/>
          </a:solidFill>
          <a:ln w="12700">
            <a:solidFill>
              <a:srgbClr val="333399"/>
            </a:solidFill>
            <a:prstDash val="solid"/>
          </a:ln>
        </p:spPr>
      </p:sp>
      <p:sp>
        <p:nvSpPr>
          <p:cNvPr id="62" name="Text 59"/>
          <p:cNvSpPr txBox="1"/>
          <p:nvPr/>
        </p:nvSpPr>
        <p:spPr>
          <a:xfrm>
            <a:off x="2190948" y="4033440"/>
            <a:ext cx="2174479" cy="504627"/>
          </a:xfrm>
          <a:prstGeom prst="rect">
            <a:avLst/>
          </a:prstGeom>
          <a:noFill/>
          <a:ln/>
        </p:spPr>
        <p:txBody>
          <a:bodyPr wrap="square" lIns="0" tIns="0" rIns="0" bIns="0" rtlCol="0" anchor="t"/>
          <a:lstStyle/>
          <a:p>
            <a:pPr algn="l" indent="0" marL="0">
              <a:lnSpc>
                <a:spcPts val="2473"/>
              </a:lnSpc>
              <a:buNone/>
            </a:pPr>
            <a:r>
              <a:rPr lang="en-US" sz="1700" dirty="0">
                <a:solidFill>
                  <a:srgbClr val="000000"/>
                </a:solidFill>
                <a:latin typeface="Calibri" pitchFamily="34" charset="0"/>
                <a:ea typeface="Calibri" pitchFamily="34" charset="-122"/>
                <a:cs typeface="Calibri" pitchFamily="34" charset="-120"/>
              </a:rPr>
              <a:t>hash of the content </a:t>
            </a:r>
            <a:pPr algn="l" indent="0" marL="0">
              <a:lnSpc>
                <a:spcPts val="2473"/>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9530]</a:t>
            </a:r>
            <a:endParaRPr lang="en-US" sz="1700" dirty="0"/>
          </a:p>
        </p:txBody>
      </p:sp>
      <p:sp>
        <p:nvSpPr>
          <p:cNvPr id="63" name="Shape 60"/>
          <p:cNvSpPr/>
          <p:nvPr/>
        </p:nvSpPr>
        <p:spPr>
          <a:xfrm>
            <a:off x="4428927" y="3938191"/>
            <a:ext cx="2006005" cy="742553"/>
          </a:xfrm>
          <a:prstGeom prst="rect">
            <a:avLst/>
          </a:prstGeom>
          <a:solidFill>
            <a:srgbClr val="D6D6EB"/>
          </a:solidFill>
          <a:ln w="12700">
            <a:solidFill>
              <a:srgbClr val="333399"/>
            </a:solidFill>
            <a:prstDash val="solid"/>
          </a:ln>
        </p:spPr>
      </p:sp>
      <p:sp>
        <p:nvSpPr>
          <p:cNvPr id="64" name="Text 61"/>
          <p:cNvSpPr txBox="1"/>
          <p:nvPr/>
        </p:nvSpPr>
        <p:spPr>
          <a:xfrm>
            <a:off x="4524176" y="4165005"/>
            <a:ext cx="1694656"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the query itself</a:t>
            </a:r>
            <a:endParaRPr lang="en-US" sz="1700" dirty="0"/>
          </a:p>
        </p:txBody>
      </p:sp>
      <p:sp>
        <p:nvSpPr>
          <p:cNvPr id="65" name="Text 62"/>
          <p:cNvSpPr txBox="1"/>
          <p:nvPr/>
        </p:nvSpPr>
        <p:spPr>
          <a:xfrm>
            <a:off x="6985992" y="13612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6" name="Shape 63"/>
          <p:cNvSpPr/>
          <p:nvPr/>
        </p:nvSpPr>
        <p:spPr>
          <a:xfrm>
            <a:off x="9670653" y="1386681"/>
            <a:ext cx="1951633" cy="266700"/>
          </a:xfrm>
          <a:prstGeom prst="rect">
            <a:avLst/>
          </a:prstGeom>
          <a:solidFill>
            <a:srgbClr val="FFFFFF"/>
          </a:solidFill>
          <a:ln w="12700">
            <a:solidFill>
              <a:srgbClr val="333399"/>
            </a:solidFill>
            <a:prstDash val="solid"/>
          </a:ln>
        </p:spPr>
      </p:sp>
      <p:sp>
        <p:nvSpPr>
          <p:cNvPr id="67" name="Text 64"/>
          <p:cNvSpPr txBox="1"/>
          <p:nvPr/>
        </p:nvSpPr>
        <p:spPr>
          <a:xfrm>
            <a:off x="7328892" y="1348581"/>
            <a:ext cx="4594027" cy="590551"/>
          </a:xfrm>
          <a:prstGeom prst="rect">
            <a:avLst/>
          </a:prstGeom>
          <a:noFill/>
          <a:ln/>
        </p:spPr>
        <p:txBody>
          <a:bodyPr wrap="square" lIns="0" tIns="0" rIns="0" bIns="0" rtlCol="0" anchor="t"/>
          <a:lstStyle/>
          <a:p>
            <a:pPr algn="l" indent="0" marL="0">
              <a:lnSpc>
                <a:spcPts val="2351"/>
              </a:lnSpc>
              <a:buNone/>
            </a:pPr>
            <a:r>
              <a:rPr lang="en-US" sz="1900" b="1" dirty="0">
                <a:solidFill>
                  <a:srgbClr val="000000"/>
                </a:solidFill>
                <a:latin typeface="Calibri" pitchFamily="34" charset="0"/>
                <a:ea typeface="Calibri" pitchFamily="34" charset="-122"/>
                <a:cs typeface="Calibri" pitchFamily="34" charset="-120"/>
              </a:rPr>
              <a:t>Sign the content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cover </a:t>
            </a:r>
            <a:pPr algn="l" indent="0" marL="0">
              <a:lnSpc>
                <a:spcPts val="2351"/>
              </a:lnSpc>
              <a:buNone/>
            </a:pPr>
            <a:r>
              <a:rPr lang="en-US" sz="1711" b="1" dirty="0">
                <a:solidFill>
                  <a:srgbClr val="000000"/>
                </a:solidFill>
                <a:latin typeface="Courier New" pitchFamily="34" charset="0"/>
                <a:ea typeface="Courier New" pitchFamily="34" charset="-122"/>
                <a:cs typeface="Courier New" pitchFamily="34" charset="-120"/>
              </a:rPr>
              <a:t>content-digest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the verifier must recompute it </a:t>
            </a:r>
            <a:pPr algn="l" indent="0" marL="0">
              <a:lnSpc>
                <a:spcPts val="23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9421 §7.2.8]</a:t>
            </a:r>
            <a:endParaRPr lang="en-US" sz="1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29503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and HTTP Message Signatures (RFC 9421)</a:t>
            </a:r>
            <a:endParaRPr lang="en-US" sz="2400" dirty="0"/>
          </a:p>
        </p:txBody>
      </p:sp>
      <p:sp>
        <p:nvSpPr>
          <p:cNvPr id="10" name="Shape 7"/>
          <p:cNvSpPr/>
          <p:nvPr/>
        </p:nvSpPr>
        <p:spPr>
          <a:xfrm>
            <a:off x="97631" y="1738908"/>
            <a:ext cx="6337300" cy="12700"/>
          </a:xfrm>
          <a:prstGeom prst="rect">
            <a:avLst/>
          </a:prstGeom>
          <a:solidFill>
            <a:srgbClr val="9CA3AF">
              <a:alpha val="20000"/>
            </a:srgbClr>
          </a:solidFill>
          <a:ln/>
        </p:spPr>
      </p:sp>
      <p:sp>
        <p:nvSpPr>
          <p:cNvPr id="11" name="Shape 8"/>
          <p:cNvSpPr/>
          <p:nvPr/>
        </p:nvSpPr>
        <p:spPr>
          <a:xfrm>
            <a:off x="97631" y="1367631"/>
            <a:ext cx="2004417" cy="383976"/>
          </a:xfrm>
          <a:prstGeom prst="rect">
            <a:avLst/>
          </a:prstGeom>
          <a:solidFill>
            <a:srgbClr val="FFFFFF"/>
          </a:solidFill>
          <a:ln/>
        </p:spPr>
      </p:sp>
      <p:sp>
        <p:nvSpPr>
          <p:cNvPr id="12" name="Shape 9"/>
          <p:cNvSpPr/>
          <p:nvPr/>
        </p:nvSpPr>
        <p:spPr>
          <a:xfrm>
            <a:off x="97631" y="1367631"/>
            <a:ext cx="2004417" cy="12700"/>
          </a:xfrm>
          <a:prstGeom prst="rect">
            <a:avLst/>
          </a:prstGeom>
          <a:solidFill>
            <a:srgbClr val="333399"/>
          </a:solidFill>
          <a:ln/>
        </p:spPr>
      </p:sp>
      <p:sp>
        <p:nvSpPr>
          <p:cNvPr id="13" name="Shape 10"/>
          <p:cNvSpPr/>
          <p:nvPr/>
        </p:nvSpPr>
        <p:spPr>
          <a:xfrm>
            <a:off x="2089348" y="1367631"/>
            <a:ext cx="12700" cy="383976"/>
          </a:xfrm>
          <a:prstGeom prst="rect">
            <a:avLst/>
          </a:prstGeom>
          <a:solidFill>
            <a:srgbClr val="333399"/>
          </a:solidFill>
          <a:ln/>
        </p:spPr>
      </p:sp>
      <p:sp>
        <p:nvSpPr>
          <p:cNvPr id="14" name="Shape 11"/>
          <p:cNvSpPr/>
          <p:nvPr/>
        </p:nvSpPr>
        <p:spPr>
          <a:xfrm>
            <a:off x="97631" y="1726208"/>
            <a:ext cx="2004417" cy="25400"/>
          </a:xfrm>
          <a:prstGeom prst="rect">
            <a:avLst/>
          </a:prstGeom>
          <a:solidFill>
            <a:srgbClr val="333399"/>
          </a:solidFill>
          <a:ln/>
        </p:spPr>
      </p:sp>
      <p:sp>
        <p:nvSpPr>
          <p:cNvPr id="15" name="Shape 12"/>
          <p:cNvSpPr/>
          <p:nvPr/>
        </p:nvSpPr>
        <p:spPr>
          <a:xfrm>
            <a:off x="97631" y="1367631"/>
            <a:ext cx="12700" cy="383976"/>
          </a:xfrm>
          <a:prstGeom prst="rect">
            <a:avLst/>
          </a:prstGeom>
          <a:solidFill>
            <a:srgbClr val="333399"/>
          </a:solidFill>
          <a:ln/>
        </p:spPr>
      </p:sp>
      <p:sp>
        <p:nvSpPr>
          <p:cNvPr id="16" name="Text 13"/>
          <p:cNvSpPr txBox="1"/>
          <p:nvPr/>
        </p:nvSpPr>
        <p:spPr>
          <a:xfrm>
            <a:off x="187127" y="1412081"/>
            <a:ext cx="1825228"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Signed component</a:t>
            </a:r>
            <a:endParaRPr lang="en-US" sz="1700" dirty="0"/>
          </a:p>
        </p:txBody>
      </p:sp>
      <p:sp>
        <p:nvSpPr>
          <p:cNvPr id="17" name="Shape 14"/>
          <p:cNvSpPr/>
          <p:nvPr/>
        </p:nvSpPr>
        <p:spPr>
          <a:xfrm>
            <a:off x="2102048" y="1367631"/>
            <a:ext cx="2326879" cy="383976"/>
          </a:xfrm>
          <a:prstGeom prst="rect">
            <a:avLst/>
          </a:prstGeom>
          <a:solidFill>
            <a:srgbClr val="FFFFFF"/>
          </a:solidFill>
          <a:ln/>
        </p:spPr>
      </p:sp>
      <p:sp>
        <p:nvSpPr>
          <p:cNvPr id="18" name="Shape 15"/>
          <p:cNvSpPr/>
          <p:nvPr/>
        </p:nvSpPr>
        <p:spPr>
          <a:xfrm>
            <a:off x="2102048" y="1367631"/>
            <a:ext cx="2326879" cy="12700"/>
          </a:xfrm>
          <a:prstGeom prst="rect">
            <a:avLst/>
          </a:prstGeom>
          <a:solidFill>
            <a:srgbClr val="333399"/>
          </a:solidFill>
          <a:ln/>
        </p:spPr>
      </p:sp>
      <p:sp>
        <p:nvSpPr>
          <p:cNvPr id="19" name="Shape 16"/>
          <p:cNvSpPr/>
          <p:nvPr/>
        </p:nvSpPr>
        <p:spPr>
          <a:xfrm>
            <a:off x="4416227" y="1367631"/>
            <a:ext cx="12700" cy="383976"/>
          </a:xfrm>
          <a:prstGeom prst="rect">
            <a:avLst/>
          </a:prstGeom>
          <a:solidFill>
            <a:srgbClr val="333399"/>
          </a:solidFill>
          <a:ln/>
        </p:spPr>
      </p:sp>
      <p:sp>
        <p:nvSpPr>
          <p:cNvPr id="20" name="Shape 17"/>
          <p:cNvSpPr/>
          <p:nvPr/>
        </p:nvSpPr>
        <p:spPr>
          <a:xfrm>
            <a:off x="2102048" y="1726208"/>
            <a:ext cx="2326879" cy="25400"/>
          </a:xfrm>
          <a:prstGeom prst="rect">
            <a:avLst/>
          </a:prstGeom>
          <a:solidFill>
            <a:srgbClr val="333399"/>
          </a:solidFill>
          <a:ln/>
        </p:spPr>
      </p:sp>
      <p:sp>
        <p:nvSpPr>
          <p:cNvPr id="21" name="Shape 18"/>
          <p:cNvSpPr/>
          <p:nvPr/>
        </p:nvSpPr>
        <p:spPr>
          <a:xfrm>
            <a:off x="2102048" y="1367631"/>
            <a:ext cx="12700" cy="383976"/>
          </a:xfrm>
          <a:prstGeom prst="rect">
            <a:avLst/>
          </a:prstGeom>
          <a:solidFill>
            <a:srgbClr val="333399"/>
          </a:solidFill>
          <a:ln/>
        </p:spPr>
      </p:sp>
      <p:sp>
        <p:nvSpPr>
          <p:cNvPr id="22" name="Text 19"/>
          <p:cNvSpPr txBox="1"/>
          <p:nvPr/>
        </p:nvSpPr>
        <p:spPr>
          <a:xfrm>
            <a:off x="2544167" y="1412081"/>
            <a:ext cx="1442640"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What it covers</a:t>
            </a:r>
            <a:endParaRPr lang="en-US" sz="1700" dirty="0"/>
          </a:p>
        </p:txBody>
      </p:sp>
      <p:sp>
        <p:nvSpPr>
          <p:cNvPr id="23" name="Shape 20"/>
          <p:cNvSpPr/>
          <p:nvPr/>
        </p:nvSpPr>
        <p:spPr>
          <a:xfrm>
            <a:off x="4428927" y="1367631"/>
            <a:ext cx="2006005" cy="383976"/>
          </a:xfrm>
          <a:prstGeom prst="rect">
            <a:avLst/>
          </a:prstGeom>
          <a:solidFill>
            <a:srgbClr val="FFFFFF"/>
          </a:solidFill>
          <a:ln/>
        </p:spPr>
      </p:sp>
      <p:sp>
        <p:nvSpPr>
          <p:cNvPr id="24" name="Shape 21"/>
          <p:cNvSpPr/>
          <p:nvPr/>
        </p:nvSpPr>
        <p:spPr>
          <a:xfrm>
            <a:off x="4428927" y="1367631"/>
            <a:ext cx="2006005" cy="12700"/>
          </a:xfrm>
          <a:prstGeom prst="rect">
            <a:avLst/>
          </a:prstGeom>
          <a:solidFill>
            <a:srgbClr val="333399"/>
          </a:solidFill>
          <a:ln/>
        </p:spPr>
      </p:sp>
      <p:sp>
        <p:nvSpPr>
          <p:cNvPr id="25" name="Shape 22"/>
          <p:cNvSpPr/>
          <p:nvPr/>
        </p:nvSpPr>
        <p:spPr>
          <a:xfrm>
            <a:off x="6422231" y="1367631"/>
            <a:ext cx="12700" cy="383976"/>
          </a:xfrm>
          <a:prstGeom prst="rect">
            <a:avLst/>
          </a:prstGeom>
          <a:solidFill>
            <a:srgbClr val="333399"/>
          </a:solidFill>
          <a:ln/>
        </p:spPr>
      </p:sp>
      <p:sp>
        <p:nvSpPr>
          <p:cNvPr id="26" name="Shape 23"/>
          <p:cNvSpPr/>
          <p:nvPr/>
        </p:nvSpPr>
        <p:spPr>
          <a:xfrm>
            <a:off x="4428927" y="1726208"/>
            <a:ext cx="2006005" cy="25400"/>
          </a:xfrm>
          <a:prstGeom prst="rect">
            <a:avLst/>
          </a:prstGeom>
          <a:solidFill>
            <a:srgbClr val="333399"/>
          </a:solidFill>
          <a:ln/>
        </p:spPr>
      </p:sp>
      <p:sp>
        <p:nvSpPr>
          <p:cNvPr id="27" name="Shape 24"/>
          <p:cNvSpPr/>
          <p:nvPr/>
        </p:nvSpPr>
        <p:spPr>
          <a:xfrm>
            <a:off x="4428927" y="1367631"/>
            <a:ext cx="12700" cy="383976"/>
          </a:xfrm>
          <a:prstGeom prst="rect">
            <a:avLst/>
          </a:prstGeom>
          <a:solidFill>
            <a:srgbClr val="333399"/>
          </a:solidFill>
          <a:ln/>
        </p:spPr>
      </p:sp>
      <p:sp>
        <p:nvSpPr>
          <p:cNvPr id="28" name="Text 25"/>
          <p:cNvSpPr txBox="1"/>
          <p:nvPr/>
        </p:nvSpPr>
        <p:spPr>
          <a:xfrm>
            <a:off x="4489451" y="1412081"/>
            <a:ext cx="1884957"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In a QUERY request</a:t>
            </a:r>
            <a:endParaRPr lang="en-US" sz="1700" dirty="0"/>
          </a:p>
        </p:txBody>
      </p:sp>
      <p:sp>
        <p:nvSpPr>
          <p:cNvPr id="29" name="Shape 26"/>
          <p:cNvSpPr/>
          <p:nvPr/>
        </p:nvSpPr>
        <p:spPr>
          <a:xfrm>
            <a:off x="97631" y="2224484"/>
            <a:ext cx="6337300" cy="12700"/>
          </a:xfrm>
          <a:prstGeom prst="rect">
            <a:avLst/>
          </a:prstGeom>
          <a:solidFill>
            <a:srgbClr val="9CA3AF">
              <a:alpha val="20000"/>
            </a:srgbClr>
          </a:solidFill>
          <a:ln/>
        </p:spPr>
      </p:sp>
      <p:sp>
        <p:nvSpPr>
          <p:cNvPr id="30" name="Shape 27"/>
          <p:cNvSpPr/>
          <p:nvPr/>
        </p:nvSpPr>
        <p:spPr>
          <a:xfrm>
            <a:off x="97631" y="1751608"/>
            <a:ext cx="2004417" cy="485576"/>
          </a:xfrm>
          <a:prstGeom prst="rect">
            <a:avLst/>
          </a:prstGeom>
          <a:solidFill>
            <a:srgbClr val="D6D6EB"/>
          </a:solidFill>
          <a:ln w="12700">
            <a:solidFill>
              <a:srgbClr val="333399"/>
            </a:solidFill>
            <a:prstDash val="solid"/>
          </a:ln>
        </p:spPr>
      </p:sp>
      <p:sp>
        <p:nvSpPr>
          <p:cNvPr id="31" name="Text 28"/>
          <p:cNvSpPr txBox="1"/>
          <p:nvPr/>
        </p:nvSpPr>
        <p:spPr>
          <a:xfrm>
            <a:off x="192881" y="1865908"/>
            <a:ext cx="10594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@method</a:t>
            </a:r>
            <a:endParaRPr lang="en-US" sz="1700" dirty="0"/>
          </a:p>
        </p:txBody>
      </p:sp>
      <p:sp>
        <p:nvSpPr>
          <p:cNvPr id="32" name="Shape 29"/>
          <p:cNvSpPr/>
          <p:nvPr/>
        </p:nvSpPr>
        <p:spPr>
          <a:xfrm>
            <a:off x="2102048" y="1751608"/>
            <a:ext cx="2326879" cy="485576"/>
          </a:xfrm>
          <a:prstGeom prst="rect">
            <a:avLst/>
          </a:prstGeom>
          <a:solidFill>
            <a:srgbClr val="D6D6EB"/>
          </a:solidFill>
          <a:ln w="12700">
            <a:solidFill>
              <a:srgbClr val="333399"/>
            </a:solidFill>
            <a:prstDash val="solid"/>
          </a:ln>
        </p:spPr>
      </p:sp>
      <p:sp>
        <p:nvSpPr>
          <p:cNvPr id="33" name="Text 30"/>
          <p:cNvSpPr txBox="1"/>
          <p:nvPr/>
        </p:nvSpPr>
        <p:spPr>
          <a:xfrm>
            <a:off x="2197299" y="1853208"/>
            <a:ext cx="156150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request method</a:t>
            </a:r>
            <a:endParaRPr lang="en-US" sz="1700" dirty="0"/>
          </a:p>
        </p:txBody>
      </p:sp>
      <p:sp>
        <p:nvSpPr>
          <p:cNvPr id="34" name="Shape 31"/>
          <p:cNvSpPr/>
          <p:nvPr/>
        </p:nvSpPr>
        <p:spPr>
          <a:xfrm>
            <a:off x="4428927" y="1751608"/>
            <a:ext cx="2006005" cy="485576"/>
          </a:xfrm>
          <a:prstGeom prst="rect">
            <a:avLst/>
          </a:prstGeom>
          <a:solidFill>
            <a:srgbClr val="D6D6EB"/>
          </a:solidFill>
          <a:ln w="12700">
            <a:solidFill>
              <a:srgbClr val="333399"/>
            </a:solidFill>
            <a:prstDash val="solid"/>
          </a:ln>
        </p:spPr>
      </p:sp>
      <p:sp>
        <p:nvSpPr>
          <p:cNvPr id="35" name="Text 32"/>
          <p:cNvSpPr txBox="1"/>
          <p:nvPr/>
        </p:nvSpPr>
        <p:spPr>
          <a:xfrm>
            <a:off x="4524176" y="1853208"/>
            <a:ext cx="974924"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QUERY</a:t>
            </a:r>
            <a:endParaRPr lang="en-US" sz="1700" dirty="0"/>
          </a:p>
        </p:txBody>
      </p:sp>
      <p:sp>
        <p:nvSpPr>
          <p:cNvPr id="36" name="Shape 33"/>
          <p:cNvSpPr/>
          <p:nvPr/>
        </p:nvSpPr>
        <p:spPr>
          <a:xfrm>
            <a:off x="97631" y="2703711"/>
            <a:ext cx="6337300" cy="12700"/>
          </a:xfrm>
          <a:prstGeom prst="rect">
            <a:avLst/>
          </a:prstGeom>
          <a:solidFill>
            <a:srgbClr val="9CA3AF">
              <a:alpha val="20000"/>
            </a:srgbClr>
          </a:solidFill>
          <a:ln/>
        </p:spPr>
      </p:sp>
      <p:sp>
        <p:nvSpPr>
          <p:cNvPr id="37" name="Shape 34"/>
          <p:cNvSpPr/>
          <p:nvPr/>
        </p:nvSpPr>
        <p:spPr>
          <a:xfrm>
            <a:off x="97631" y="2237184"/>
            <a:ext cx="2004417" cy="479227"/>
          </a:xfrm>
          <a:prstGeom prst="rect">
            <a:avLst/>
          </a:prstGeom>
          <a:solidFill>
            <a:srgbClr val="FFFFFF"/>
          </a:solidFill>
          <a:ln w="12700">
            <a:solidFill>
              <a:srgbClr val="333399"/>
            </a:solidFill>
            <a:prstDash val="solid"/>
          </a:ln>
        </p:spPr>
      </p:sp>
      <p:sp>
        <p:nvSpPr>
          <p:cNvPr id="38" name="Text 35"/>
          <p:cNvSpPr txBox="1"/>
          <p:nvPr/>
        </p:nvSpPr>
        <p:spPr>
          <a:xfrm>
            <a:off x="192881" y="2345135"/>
            <a:ext cx="15775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@target-uri</a:t>
            </a:r>
            <a:endParaRPr lang="en-US" sz="1700" dirty="0"/>
          </a:p>
        </p:txBody>
      </p:sp>
      <p:sp>
        <p:nvSpPr>
          <p:cNvPr id="39" name="Shape 36"/>
          <p:cNvSpPr/>
          <p:nvPr/>
        </p:nvSpPr>
        <p:spPr>
          <a:xfrm>
            <a:off x="2102048" y="2237184"/>
            <a:ext cx="2326879" cy="479227"/>
          </a:xfrm>
          <a:prstGeom prst="rect">
            <a:avLst/>
          </a:prstGeom>
          <a:solidFill>
            <a:srgbClr val="FFFFFF"/>
          </a:solidFill>
          <a:ln w="12700">
            <a:solidFill>
              <a:srgbClr val="333399"/>
            </a:solidFill>
            <a:prstDash val="solid"/>
          </a:ln>
        </p:spPr>
      </p:sp>
      <p:sp>
        <p:nvSpPr>
          <p:cNvPr id="40" name="Text 37"/>
          <p:cNvSpPr txBox="1"/>
          <p:nvPr/>
        </p:nvSpPr>
        <p:spPr>
          <a:xfrm>
            <a:off x="2197299" y="2332435"/>
            <a:ext cx="136247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full target URI</a:t>
            </a:r>
            <a:endParaRPr lang="en-US" sz="1700" dirty="0"/>
          </a:p>
        </p:txBody>
      </p:sp>
      <p:sp>
        <p:nvSpPr>
          <p:cNvPr id="41" name="Shape 38"/>
          <p:cNvSpPr/>
          <p:nvPr/>
        </p:nvSpPr>
        <p:spPr>
          <a:xfrm>
            <a:off x="4428927" y="2237184"/>
            <a:ext cx="2006005" cy="479227"/>
          </a:xfrm>
          <a:prstGeom prst="rect">
            <a:avLst/>
          </a:prstGeom>
          <a:solidFill>
            <a:srgbClr val="FFFFFF"/>
          </a:solidFill>
          <a:ln w="12700">
            <a:solidFill>
              <a:srgbClr val="333399"/>
            </a:solidFill>
            <a:prstDash val="solid"/>
          </a:ln>
        </p:spPr>
      </p:sp>
      <p:sp>
        <p:nvSpPr>
          <p:cNvPr id="42" name="Text 39"/>
          <p:cNvSpPr txBox="1"/>
          <p:nvPr/>
        </p:nvSpPr>
        <p:spPr>
          <a:xfrm>
            <a:off x="4524176" y="2332435"/>
            <a:ext cx="1166812"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…/search</a:t>
            </a:r>
            <a:endParaRPr lang="en-US" sz="1700" dirty="0"/>
          </a:p>
        </p:txBody>
      </p:sp>
      <p:sp>
        <p:nvSpPr>
          <p:cNvPr id="43" name="Shape 40"/>
          <p:cNvSpPr/>
          <p:nvPr/>
        </p:nvSpPr>
        <p:spPr>
          <a:xfrm>
            <a:off x="97631" y="3182937"/>
            <a:ext cx="6337300" cy="12700"/>
          </a:xfrm>
          <a:prstGeom prst="rect">
            <a:avLst/>
          </a:prstGeom>
          <a:solidFill>
            <a:srgbClr val="9CA3AF">
              <a:alpha val="20000"/>
            </a:srgbClr>
          </a:solidFill>
          <a:ln/>
        </p:spPr>
      </p:sp>
      <p:sp>
        <p:nvSpPr>
          <p:cNvPr id="44" name="Shape 41"/>
          <p:cNvSpPr/>
          <p:nvPr/>
        </p:nvSpPr>
        <p:spPr>
          <a:xfrm>
            <a:off x="97631" y="2716411"/>
            <a:ext cx="2004417" cy="479227"/>
          </a:xfrm>
          <a:prstGeom prst="rect">
            <a:avLst/>
          </a:prstGeom>
          <a:solidFill>
            <a:srgbClr val="D6D6EB"/>
          </a:solidFill>
          <a:ln w="12700">
            <a:solidFill>
              <a:srgbClr val="333399"/>
            </a:solidFill>
            <a:prstDash val="solid"/>
          </a:ln>
        </p:spPr>
      </p:sp>
      <p:sp>
        <p:nvSpPr>
          <p:cNvPr id="45" name="Text 42"/>
          <p:cNvSpPr txBox="1"/>
          <p:nvPr/>
        </p:nvSpPr>
        <p:spPr>
          <a:xfrm>
            <a:off x="192881" y="2824361"/>
            <a:ext cx="9298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a:t>
            </a:r>
            <a:endParaRPr lang="en-US" sz="1700" dirty="0"/>
          </a:p>
        </p:txBody>
      </p:sp>
      <p:sp>
        <p:nvSpPr>
          <p:cNvPr id="46" name="Shape 43"/>
          <p:cNvSpPr/>
          <p:nvPr/>
        </p:nvSpPr>
        <p:spPr>
          <a:xfrm>
            <a:off x="2102048" y="2716411"/>
            <a:ext cx="2326879" cy="479227"/>
          </a:xfrm>
          <a:prstGeom prst="rect">
            <a:avLst/>
          </a:prstGeom>
          <a:solidFill>
            <a:srgbClr val="D6D6EB"/>
          </a:solidFill>
          <a:ln w="12700">
            <a:solidFill>
              <a:srgbClr val="333399"/>
            </a:solidFill>
            <a:prstDash val="solid"/>
          </a:ln>
        </p:spPr>
      </p:sp>
      <p:sp>
        <p:nvSpPr>
          <p:cNvPr id="47" name="Text 44"/>
          <p:cNvSpPr txBox="1"/>
          <p:nvPr/>
        </p:nvSpPr>
        <p:spPr>
          <a:xfrm>
            <a:off x="2197299" y="2811661"/>
            <a:ext cx="207625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URI query component</a:t>
            </a:r>
            <a:endParaRPr lang="en-US" sz="1700" dirty="0"/>
          </a:p>
        </p:txBody>
      </p:sp>
      <p:sp>
        <p:nvSpPr>
          <p:cNvPr id="48" name="Shape 45"/>
          <p:cNvSpPr/>
          <p:nvPr/>
        </p:nvSpPr>
        <p:spPr>
          <a:xfrm>
            <a:off x="4428927" y="2716411"/>
            <a:ext cx="2006005" cy="479227"/>
          </a:xfrm>
          <a:prstGeom prst="rect">
            <a:avLst/>
          </a:prstGeom>
          <a:solidFill>
            <a:srgbClr val="D6D6EB"/>
          </a:solidFill>
          <a:ln w="12700">
            <a:solidFill>
              <a:srgbClr val="333399"/>
            </a:solidFill>
            <a:prstDash val="solid"/>
          </a:ln>
        </p:spPr>
      </p:sp>
      <p:sp>
        <p:nvSpPr>
          <p:cNvPr id="49" name="Shape 46"/>
          <p:cNvSpPr/>
          <p:nvPr/>
        </p:nvSpPr>
        <p:spPr>
          <a:xfrm>
            <a:off x="5725120" y="2837061"/>
            <a:ext cx="243681" cy="254000"/>
          </a:xfrm>
          <a:prstGeom prst="rect">
            <a:avLst/>
          </a:prstGeom>
          <a:solidFill>
            <a:srgbClr val="FFFFFF"/>
          </a:solidFill>
          <a:ln w="12700">
            <a:solidFill>
              <a:srgbClr val="333399"/>
            </a:solidFill>
            <a:prstDash val="solid"/>
          </a:ln>
        </p:spPr>
      </p:sp>
      <p:sp>
        <p:nvSpPr>
          <p:cNvPr id="50" name="Text 47"/>
          <p:cNvSpPr txBox="1"/>
          <p:nvPr/>
        </p:nvSpPr>
        <p:spPr>
          <a:xfrm>
            <a:off x="4524176" y="2811661"/>
            <a:ext cx="1533525" cy="266700"/>
          </a:xfrm>
          <a:prstGeom prst="rect">
            <a:avLst/>
          </a:prstGeom>
          <a:noFill/>
          <a:ln/>
        </p:spPr>
        <p:txBody>
          <a:bodyPr wrap="none" lIns="0" tIns="0" rIns="0" bIns="0" rtlCol="0" anchor="t"/>
          <a:lstStyle/>
          <a:p>
            <a:pPr algn="l" indent="0" marL="0">
              <a:buNone/>
            </a:pPr>
            <a:r>
              <a:rPr lang="en-US" sz="1700" b="1" dirty="0">
                <a:solidFill>
                  <a:srgbClr val="993300"/>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usually just </a:t>
            </a:r>
            <a:pPr algn="l" indent="0" marL="0">
              <a:buNone/>
            </a:pPr>
            <a:r>
              <a:rPr lang="en-US" sz="1531"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51" name="Shape 48"/>
          <p:cNvSpPr/>
          <p:nvPr/>
        </p:nvSpPr>
        <p:spPr>
          <a:xfrm>
            <a:off x="97631" y="3925491"/>
            <a:ext cx="6337300" cy="12700"/>
          </a:xfrm>
          <a:prstGeom prst="rect">
            <a:avLst/>
          </a:prstGeom>
          <a:solidFill>
            <a:srgbClr val="9CA3AF">
              <a:alpha val="20000"/>
            </a:srgbClr>
          </a:solidFill>
          <a:ln/>
        </p:spPr>
      </p:sp>
      <p:sp>
        <p:nvSpPr>
          <p:cNvPr id="52" name="Shape 49"/>
          <p:cNvSpPr/>
          <p:nvPr/>
        </p:nvSpPr>
        <p:spPr>
          <a:xfrm>
            <a:off x="97631" y="3195637"/>
            <a:ext cx="2004417" cy="742553"/>
          </a:xfrm>
          <a:prstGeom prst="rect">
            <a:avLst/>
          </a:prstGeom>
          <a:solidFill>
            <a:srgbClr val="FFFFFF"/>
          </a:solidFill>
          <a:ln w="12700">
            <a:solidFill>
              <a:srgbClr val="333399"/>
            </a:solidFill>
            <a:prstDash val="solid"/>
          </a:ln>
        </p:spPr>
      </p:sp>
      <p:sp>
        <p:nvSpPr>
          <p:cNvPr id="53" name="Text 50"/>
          <p:cNvSpPr txBox="1"/>
          <p:nvPr/>
        </p:nvSpPr>
        <p:spPr>
          <a:xfrm>
            <a:off x="192881" y="3435152"/>
            <a:ext cx="17071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@query-param</a:t>
            </a:r>
            <a:endParaRPr lang="en-US" sz="1700" dirty="0"/>
          </a:p>
        </p:txBody>
      </p:sp>
      <p:sp>
        <p:nvSpPr>
          <p:cNvPr id="54" name="Shape 51"/>
          <p:cNvSpPr/>
          <p:nvPr/>
        </p:nvSpPr>
        <p:spPr>
          <a:xfrm>
            <a:off x="2102048" y="3195637"/>
            <a:ext cx="2326879" cy="742553"/>
          </a:xfrm>
          <a:prstGeom prst="rect">
            <a:avLst/>
          </a:prstGeom>
          <a:solidFill>
            <a:srgbClr val="FFFFFF"/>
          </a:solidFill>
          <a:ln w="12700">
            <a:solidFill>
              <a:srgbClr val="333399"/>
            </a:solidFill>
            <a:prstDash val="solid"/>
          </a:ln>
        </p:spPr>
      </p:sp>
      <p:sp>
        <p:nvSpPr>
          <p:cNvPr id="55" name="Text 52"/>
          <p:cNvSpPr txBox="1"/>
          <p:nvPr/>
        </p:nvSpPr>
        <p:spPr>
          <a:xfrm>
            <a:off x="2190948" y="3290888"/>
            <a:ext cx="2174479" cy="530027"/>
          </a:xfrm>
          <a:prstGeom prst="rect">
            <a:avLst/>
          </a:prstGeom>
          <a:noFill/>
          <a:ln/>
        </p:spPr>
        <p:txBody>
          <a:bodyPr wrap="square" lIns="0" tIns="0" rIns="0" bIns="0" rtlCol="0" anchor="t"/>
          <a:lstStyle/>
          <a:p>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one URI query parameter</a:t>
            </a:r>
            <a:endParaRPr lang="en-US" sz="1700" dirty="0"/>
          </a:p>
        </p:txBody>
      </p:sp>
      <p:sp>
        <p:nvSpPr>
          <p:cNvPr id="56" name="Shape 53"/>
          <p:cNvSpPr/>
          <p:nvPr/>
        </p:nvSpPr>
        <p:spPr>
          <a:xfrm>
            <a:off x="4428927" y="3195637"/>
            <a:ext cx="2006005" cy="742553"/>
          </a:xfrm>
          <a:prstGeom prst="rect">
            <a:avLst/>
          </a:prstGeom>
          <a:solidFill>
            <a:srgbClr val="FFFFFF"/>
          </a:solidFill>
          <a:ln w="12700">
            <a:solidFill>
              <a:srgbClr val="333399"/>
            </a:solidFill>
            <a:prstDash val="solid"/>
          </a:ln>
        </p:spPr>
      </p:sp>
      <p:sp>
        <p:nvSpPr>
          <p:cNvPr id="57" name="Text 54"/>
          <p:cNvSpPr txBox="1"/>
          <p:nvPr/>
        </p:nvSpPr>
        <p:spPr>
          <a:xfrm>
            <a:off x="4517827" y="3290888"/>
            <a:ext cx="1853605" cy="530027"/>
          </a:xfrm>
          <a:prstGeom prst="rect">
            <a:avLst/>
          </a:prstGeom>
          <a:noFill/>
          <a:ln/>
        </p:spPr>
        <p:txBody>
          <a:bodyPr wrap="square" lIns="0" tIns="0" rIns="0" bIns="0" rtlCol="0" anchor="t"/>
          <a:lstStyle/>
          <a:p>
            <a:pPr algn="l" indent="0" marL="0">
              <a:lnSpc>
                <a:spcPts val="2073"/>
              </a:lnSpc>
              <a:buNone/>
            </a:pPr>
            <a:r>
              <a:rPr lang="en-US" sz="1700" b="1" dirty="0">
                <a:solidFill>
                  <a:srgbClr val="993300"/>
                </a:solidFill>
                <a:latin typeface="Calibri" pitchFamily="34" charset="0"/>
                <a:ea typeface="Calibri" pitchFamily="34" charset="-122"/>
                <a:cs typeface="Calibri" pitchFamily="34" charset="-120"/>
              </a:rPr>
              <a:t>✗</a:t>
            </a:r>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 nothing in the content</a:t>
            </a:r>
            <a:endParaRPr lang="en-US" sz="1700" dirty="0"/>
          </a:p>
        </p:txBody>
      </p:sp>
      <p:sp>
        <p:nvSpPr>
          <p:cNvPr id="58" name="Shape 55"/>
          <p:cNvSpPr/>
          <p:nvPr/>
        </p:nvSpPr>
        <p:spPr>
          <a:xfrm>
            <a:off x="97631" y="4668044"/>
            <a:ext cx="6337300" cy="12700"/>
          </a:xfrm>
          <a:prstGeom prst="rect">
            <a:avLst/>
          </a:prstGeom>
          <a:solidFill>
            <a:srgbClr val="9CA3AF">
              <a:alpha val="20000"/>
            </a:srgbClr>
          </a:solidFill>
          <a:ln/>
        </p:spPr>
      </p:sp>
      <p:sp>
        <p:nvSpPr>
          <p:cNvPr id="59" name="Shape 56"/>
          <p:cNvSpPr/>
          <p:nvPr/>
        </p:nvSpPr>
        <p:spPr>
          <a:xfrm>
            <a:off x="97631" y="3938191"/>
            <a:ext cx="2004417" cy="742553"/>
          </a:xfrm>
          <a:prstGeom prst="rect">
            <a:avLst/>
          </a:prstGeom>
          <a:solidFill>
            <a:srgbClr val="D6D6EB"/>
          </a:solidFill>
          <a:ln w="12700">
            <a:solidFill>
              <a:srgbClr val="333399"/>
            </a:solidFill>
            <a:prstDash val="solid"/>
          </a:ln>
        </p:spPr>
      </p:sp>
      <p:sp>
        <p:nvSpPr>
          <p:cNvPr id="60" name="Text 57"/>
          <p:cNvSpPr txBox="1"/>
          <p:nvPr/>
        </p:nvSpPr>
        <p:spPr>
          <a:xfrm>
            <a:off x="192881" y="4177705"/>
            <a:ext cx="19663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content-digest</a:t>
            </a:r>
            <a:endParaRPr lang="en-US" sz="1700" dirty="0"/>
          </a:p>
        </p:txBody>
      </p:sp>
      <p:sp>
        <p:nvSpPr>
          <p:cNvPr id="61" name="Shape 58"/>
          <p:cNvSpPr/>
          <p:nvPr/>
        </p:nvSpPr>
        <p:spPr>
          <a:xfrm>
            <a:off x="2102048" y="3938191"/>
            <a:ext cx="2326879" cy="742553"/>
          </a:xfrm>
          <a:prstGeom prst="rect">
            <a:avLst/>
          </a:prstGeom>
          <a:solidFill>
            <a:srgbClr val="D6D6EB"/>
          </a:solidFill>
          <a:ln w="12700">
            <a:solidFill>
              <a:srgbClr val="333399"/>
            </a:solidFill>
            <a:prstDash val="solid"/>
          </a:ln>
        </p:spPr>
      </p:sp>
      <p:sp>
        <p:nvSpPr>
          <p:cNvPr id="62" name="Text 59"/>
          <p:cNvSpPr txBox="1"/>
          <p:nvPr/>
        </p:nvSpPr>
        <p:spPr>
          <a:xfrm>
            <a:off x="2190948" y="4033440"/>
            <a:ext cx="2174479" cy="504627"/>
          </a:xfrm>
          <a:prstGeom prst="rect">
            <a:avLst/>
          </a:prstGeom>
          <a:noFill/>
          <a:ln/>
        </p:spPr>
        <p:txBody>
          <a:bodyPr wrap="square" lIns="0" tIns="0" rIns="0" bIns="0" rtlCol="0" anchor="t"/>
          <a:lstStyle/>
          <a:p>
            <a:pPr algn="l" indent="0" marL="0">
              <a:lnSpc>
                <a:spcPts val="2473"/>
              </a:lnSpc>
              <a:buNone/>
            </a:pPr>
            <a:r>
              <a:rPr lang="en-US" sz="1700" dirty="0">
                <a:solidFill>
                  <a:srgbClr val="000000"/>
                </a:solidFill>
                <a:latin typeface="Calibri" pitchFamily="34" charset="0"/>
                <a:ea typeface="Calibri" pitchFamily="34" charset="-122"/>
                <a:cs typeface="Calibri" pitchFamily="34" charset="-120"/>
              </a:rPr>
              <a:t>hash of the content </a:t>
            </a:r>
            <a:pPr algn="l" indent="0" marL="0">
              <a:lnSpc>
                <a:spcPts val="2473"/>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9530]</a:t>
            </a:r>
            <a:endParaRPr lang="en-US" sz="1700" dirty="0"/>
          </a:p>
        </p:txBody>
      </p:sp>
      <p:sp>
        <p:nvSpPr>
          <p:cNvPr id="63" name="Shape 60"/>
          <p:cNvSpPr/>
          <p:nvPr/>
        </p:nvSpPr>
        <p:spPr>
          <a:xfrm>
            <a:off x="4428927" y="3938191"/>
            <a:ext cx="2006005" cy="742553"/>
          </a:xfrm>
          <a:prstGeom prst="rect">
            <a:avLst/>
          </a:prstGeom>
          <a:solidFill>
            <a:srgbClr val="D6D6EB"/>
          </a:solidFill>
          <a:ln w="12700">
            <a:solidFill>
              <a:srgbClr val="333399"/>
            </a:solidFill>
            <a:prstDash val="solid"/>
          </a:ln>
        </p:spPr>
      </p:sp>
      <p:sp>
        <p:nvSpPr>
          <p:cNvPr id="64" name="Text 61"/>
          <p:cNvSpPr txBox="1"/>
          <p:nvPr/>
        </p:nvSpPr>
        <p:spPr>
          <a:xfrm>
            <a:off x="4524176" y="4165005"/>
            <a:ext cx="1694656"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the query itself</a:t>
            </a:r>
            <a:endParaRPr lang="en-US" sz="1700" dirty="0"/>
          </a:p>
        </p:txBody>
      </p:sp>
      <p:sp>
        <p:nvSpPr>
          <p:cNvPr id="65" name="Text 62"/>
          <p:cNvSpPr txBox="1"/>
          <p:nvPr/>
        </p:nvSpPr>
        <p:spPr>
          <a:xfrm>
            <a:off x="6985992" y="13612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6" name="Shape 63"/>
          <p:cNvSpPr/>
          <p:nvPr/>
        </p:nvSpPr>
        <p:spPr>
          <a:xfrm>
            <a:off x="9670653" y="1386681"/>
            <a:ext cx="1951633" cy="266700"/>
          </a:xfrm>
          <a:prstGeom prst="rect">
            <a:avLst/>
          </a:prstGeom>
          <a:solidFill>
            <a:srgbClr val="FFFFFF"/>
          </a:solidFill>
          <a:ln w="12700">
            <a:solidFill>
              <a:srgbClr val="333399"/>
            </a:solidFill>
            <a:prstDash val="solid"/>
          </a:ln>
        </p:spPr>
      </p:sp>
      <p:sp>
        <p:nvSpPr>
          <p:cNvPr id="67" name="Text 64"/>
          <p:cNvSpPr txBox="1"/>
          <p:nvPr/>
        </p:nvSpPr>
        <p:spPr>
          <a:xfrm>
            <a:off x="7328892" y="1348581"/>
            <a:ext cx="4594027" cy="590551"/>
          </a:xfrm>
          <a:prstGeom prst="rect">
            <a:avLst/>
          </a:prstGeom>
          <a:noFill/>
          <a:ln/>
        </p:spPr>
        <p:txBody>
          <a:bodyPr wrap="square" lIns="0" tIns="0" rIns="0" bIns="0" rtlCol="0" anchor="t"/>
          <a:lstStyle/>
          <a:p>
            <a:pPr algn="l" indent="0" marL="0">
              <a:lnSpc>
                <a:spcPts val="2351"/>
              </a:lnSpc>
              <a:buNone/>
            </a:pPr>
            <a:r>
              <a:rPr lang="en-US" sz="1900" b="1" dirty="0">
                <a:solidFill>
                  <a:srgbClr val="000000"/>
                </a:solidFill>
                <a:latin typeface="Calibri" pitchFamily="34" charset="0"/>
                <a:ea typeface="Calibri" pitchFamily="34" charset="-122"/>
                <a:cs typeface="Calibri" pitchFamily="34" charset="-120"/>
              </a:rPr>
              <a:t>Sign the content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cover </a:t>
            </a:r>
            <a:pPr algn="l" indent="0" marL="0">
              <a:lnSpc>
                <a:spcPts val="2351"/>
              </a:lnSpc>
              <a:buNone/>
            </a:pPr>
            <a:r>
              <a:rPr lang="en-US" sz="1711" b="1" dirty="0">
                <a:solidFill>
                  <a:srgbClr val="000000"/>
                </a:solidFill>
                <a:latin typeface="Courier New" pitchFamily="34" charset="0"/>
                <a:ea typeface="Courier New" pitchFamily="34" charset="-122"/>
                <a:cs typeface="Courier New" pitchFamily="34" charset="-120"/>
              </a:rPr>
              <a:t>content-digest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the verifier must recompute it </a:t>
            </a:r>
            <a:pPr algn="l" indent="0" marL="0">
              <a:lnSpc>
                <a:spcPts val="23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9421 §7.2.8]</a:t>
            </a:r>
            <a:endParaRPr lang="en-US" sz="1900" dirty="0"/>
          </a:p>
        </p:txBody>
      </p:sp>
      <p:sp>
        <p:nvSpPr>
          <p:cNvPr id="68" name="Text 65"/>
          <p:cNvSpPr txBox="1"/>
          <p:nvPr/>
        </p:nvSpPr>
        <p:spPr>
          <a:xfrm>
            <a:off x="6985992" y="20762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9" name="Text 66"/>
          <p:cNvSpPr txBox="1"/>
          <p:nvPr/>
        </p:nvSpPr>
        <p:spPr>
          <a:xfrm>
            <a:off x="7328892" y="2063552"/>
            <a:ext cx="4594027" cy="1135261"/>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Parameter shadowing</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frameworks that merge URI and form parameters let an unsigned body value override a signed one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9421 §7.5.8]</a:t>
            </a:r>
            <a:endParaRPr lang="en-US" sz="1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29503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and HTTP Message Signatures (RFC 9421)</a:t>
            </a:r>
            <a:endParaRPr lang="en-US" sz="2400" dirty="0"/>
          </a:p>
        </p:txBody>
      </p:sp>
      <p:sp>
        <p:nvSpPr>
          <p:cNvPr id="10" name="Shape 7"/>
          <p:cNvSpPr/>
          <p:nvPr/>
        </p:nvSpPr>
        <p:spPr>
          <a:xfrm>
            <a:off x="97631" y="1738908"/>
            <a:ext cx="6337300" cy="12700"/>
          </a:xfrm>
          <a:prstGeom prst="rect">
            <a:avLst/>
          </a:prstGeom>
          <a:solidFill>
            <a:srgbClr val="9CA3AF">
              <a:alpha val="20000"/>
            </a:srgbClr>
          </a:solidFill>
          <a:ln/>
        </p:spPr>
      </p:sp>
      <p:sp>
        <p:nvSpPr>
          <p:cNvPr id="11" name="Shape 8"/>
          <p:cNvSpPr/>
          <p:nvPr/>
        </p:nvSpPr>
        <p:spPr>
          <a:xfrm>
            <a:off x="97631" y="1367631"/>
            <a:ext cx="2004417" cy="383976"/>
          </a:xfrm>
          <a:prstGeom prst="rect">
            <a:avLst/>
          </a:prstGeom>
          <a:solidFill>
            <a:srgbClr val="FFFFFF"/>
          </a:solidFill>
          <a:ln/>
        </p:spPr>
      </p:sp>
      <p:sp>
        <p:nvSpPr>
          <p:cNvPr id="12" name="Shape 9"/>
          <p:cNvSpPr/>
          <p:nvPr/>
        </p:nvSpPr>
        <p:spPr>
          <a:xfrm>
            <a:off x="97631" y="1367631"/>
            <a:ext cx="2004417" cy="12700"/>
          </a:xfrm>
          <a:prstGeom prst="rect">
            <a:avLst/>
          </a:prstGeom>
          <a:solidFill>
            <a:srgbClr val="333399"/>
          </a:solidFill>
          <a:ln/>
        </p:spPr>
      </p:sp>
      <p:sp>
        <p:nvSpPr>
          <p:cNvPr id="13" name="Shape 10"/>
          <p:cNvSpPr/>
          <p:nvPr/>
        </p:nvSpPr>
        <p:spPr>
          <a:xfrm>
            <a:off x="2089348" y="1367631"/>
            <a:ext cx="12700" cy="383976"/>
          </a:xfrm>
          <a:prstGeom prst="rect">
            <a:avLst/>
          </a:prstGeom>
          <a:solidFill>
            <a:srgbClr val="333399"/>
          </a:solidFill>
          <a:ln/>
        </p:spPr>
      </p:sp>
      <p:sp>
        <p:nvSpPr>
          <p:cNvPr id="14" name="Shape 11"/>
          <p:cNvSpPr/>
          <p:nvPr/>
        </p:nvSpPr>
        <p:spPr>
          <a:xfrm>
            <a:off x="97631" y="1726208"/>
            <a:ext cx="2004417" cy="25400"/>
          </a:xfrm>
          <a:prstGeom prst="rect">
            <a:avLst/>
          </a:prstGeom>
          <a:solidFill>
            <a:srgbClr val="333399"/>
          </a:solidFill>
          <a:ln/>
        </p:spPr>
      </p:sp>
      <p:sp>
        <p:nvSpPr>
          <p:cNvPr id="15" name="Shape 12"/>
          <p:cNvSpPr/>
          <p:nvPr/>
        </p:nvSpPr>
        <p:spPr>
          <a:xfrm>
            <a:off x="97631" y="1367631"/>
            <a:ext cx="12700" cy="383976"/>
          </a:xfrm>
          <a:prstGeom prst="rect">
            <a:avLst/>
          </a:prstGeom>
          <a:solidFill>
            <a:srgbClr val="333399"/>
          </a:solidFill>
          <a:ln/>
        </p:spPr>
      </p:sp>
      <p:sp>
        <p:nvSpPr>
          <p:cNvPr id="16" name="Text 13"/>
          <p:cNvSpPr txBox="1"/>
          <p:nvPr/>
        </p:nvSpPr>
        <p:spPr>
          <a:xfrm>
            <a:off x="187127" y="1412081"/>
            <a:ext cx="1825228"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Signed component</a:t>
            </a:r>
            <a:endParaRPr lang="en-US" sz="1700" dirty="0"/>
          </a:p>
        </p:txBody>
      </p:sp>
      <p:sp>
        <p:nvSpPr>
          <p:cNvPr id="17" name="Shape 14"/>
          <p:cNvSpPr/>
          <p:nvPr/>
        </p:nvSpPr>
        <p:spPr>
          <a:xfrm>
            <a:off x="2102048" y="1367631"/>
            <a:ext cx="2326879" cy="383976"/>
          </a:xfrm>
          <a:prstGeom prst="rect">
            <a:avLst/>
          </a:prstGeom>
          <a:solidFill>
            <a:srgbClr val="FFFFFF"/>
          </a:solidFill>
          <a:ln/>
        </p:spPr>
      </p:sp>
      <p:sp>
        <p:nvSpPr>
          <p:cNvPr id="18" name="Shape 15"/>
          <p:cNvSpPr/>
          <p:nvPr/>
        </p:nvSpPr>
        <p:spPr>
          <a:xfrm>
            <a:off x="2102048" y="1367631"/>
            <a:ext cx="2326879" cy="12700"/>
          </a:xfrm>
          <a:prstGeom prst="rect">
            <a:avLst/>
          </a:prstGeom>
          <a:solidFill>
            <a:srgbClr val="333399"/>
          </a:solidFill>
          <a:ln/>
        </p:spPr>
      </p:sp>
      <p:sp>
        <p:nvSpPr>
          <p:cNvPr id="19" name="Shape 16"/>
          <p:cNvSpPr/>
          <p:nvPr/>
        </p:nvSpPr>
        <p:spPr>
          <a:xfrm>
            <a:off x="4416227" y="1367631"/>
            <a:ext cx="12700" cy="383976"/>
          </a:xfrm>
          <a:prstGeom prst="rect">
            <a:avLst/>
          </a:prstGeom>
          <a:solidFill>
            <a:srgbClr val="333399"/>
          </a:solidFill>
          <a:ln/>
        </p:spPr>
      </p:sp>
      <p:sp>
        <p:nvSpPr>
          <p:cNvPr id="20" name="Shape 17"/>
          <p:cNvSpPr/>
          <p:nvPr/>
        </p:nvSpPr>
        <p:spPr>
          <a:xfrm>
            <a:off x="2102048" y="1726208"/>
            <a:ext cx="2326879" cy="25400"/>
          </a:xfrm>
          <a:prstGeom prst="rect">
            <a:avLst/>
          </a:prstGeom>
          <a:solidFill>
            <a:srgbClr val="333399"/>
          </a:solidFill>
          <a:ln/>
        </p:spPr>
      </p:sp>
      <p:sp>
        <p:nvSpPr>
          <p:cNvPr id="21" name="Shape 18"/>
          <p:cNvSpPr/>
          <p:nvPr/>
        </p:nvSpPr>
        <p:spPr>
          <a:xfrm>
            <a:off x="2102048" y="1367631"/>
            <a:ext cx="12700" cy="383976"/>
          </a:xfrm>
          <a:prstGeom prst="rect">
            <a:avLst/>
          </a:prstGeom>
          <a:solidFill>
            <a:srgbClr val="333399"/>
          </a:solidFill>
          <a:ln/>
        </p:spPr>
      </p:sp>
      <p:sp>
        <p:nvSpPr>
          <p:cNvPr id="22" name="Text 19"/>
          <p:cNvSpPr txBox="1"/>
          <p:nvPr/>
        </p:nvSpPr>
        <p:spPr>
          <a:xfrm>
            <a:off x="2544167" y="1412081"/>
            <a:ext cx="1442640"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What it covers</a:t>
            </a:r>
            <a:endParaRPr lang="en-US" sz="1700" dirty="0"/>
          </a:p>
        </p:txBody>
      </p:sp>
      <p:sp>
        <p:nvSpPr>
          <p:cNvPr id="23" name="Shape 20"/>
          <p:cNvSpPr/>
          <p:nvPr/>
        </p:nvSpPr>
        <p:spPr>
          <a:xfrm>
            <a:off x="4428927" y="1367631"/>
            <a:ext cx="2006005" cy="383976"/>
          </a:xfrm>
          <a:prstGeom prst="rect">
            <a:avLst/>
          </a:prstGeom>
          <a:solidFill>
            <a:srgbClr val="FFFFFF"/>
          </a:solidFill>
          <a:ln/>
        </p:spPr>
      </p:sp>
      <p:sp>
        <p:nvSpPr>
          <p:cNvPr id="24" name="Shape 21"/>
          <p:cNvSpPr/>
          <p:nvPr/>
        </p:nvSpPr>
        <p:spPr>
          <a:xfrm>
            <a:off x="4428927" y="1367631"/>
            <a:ext cx="2006005" cy="12700"/>
          </a:xfrm>
          <a:prstGeom prst="rect">
            <a:avLst/>
          </a:prstGeom>
          <a:solidFill>
            <a:srgbClr val="333399"/>
          </a:solidFill>
          <a:ln/>
        </p:spPr>
      </p:sp>
      <p:sp>
        <p:nvSpPr>
          <p:cNvPr id="25" name="Shape 22"/>
          <p:cNvSpPr/>
          <p:nvPr/>
        </p:nvSpPr>
        <p:spPr>
          <a:xfrm>
            <a:off x="6422231" y="1367631"/>
            <a:ext cx="12700" cy="383976"/>
          </a:xfrm>
          <a:prstGeom prst="rect">
            <a:avLst/>
          </a:prstGeom>
          <a:solidFill>
            <a:srgbClr val="333399"/>
          </a:solidFill>
          <a:ln/>
        </p:spPr>
      </p:sp>
      <p:sp>
        <p:nvSpPr>
          <p:cNvPr id="26" name="Shape 23"/>
          <p:cNvSpPr/>
          <p:nvPr/>
        </p:nvSpPr>
        <p:spPr>
          <a:xfrm>
            <a:off x="4428927" y="1726208"/>
            <a:ext cx="2006005" cy="25400"/>
          </a:xfrm>
          <a:prstGeom prst="rect">
            <a:avLst/>
          </a:prstGeom>
          <a:solidFill>
            <a:srgbClr val="333399"/>
          </a:solidFill>
          <a:ln/>
        </p:spPr>
      </p:sp>
      <p:sp>
        <p:nvSpPr>
          <p:cNvPr id="27" name="Shape 24"/>
          <p:cNvSpPr/>
          <p:nvPr/>
        </p:nvSpPr>
        <p:spPr>
          <a:xfrm>
            <a:off x="4428927" y="1367631"/>
            <a:ext cx="12700" cy="383976"/>
          </a:xfrm>
          <a:prstGeom prst="rect">
            <a:avLst/>
          </a:prstGeom>
          <a:solidFill>
            <a:srgbClr val="333399"/>
          </a:solidFill>
          <a:ln/>
        </p:spPr>
      </p:sp>
      <p:sp>
        <p:nvSpPr>
          <p:cNvPr id="28" name="Text 25"/>
          <p:cNvSpPr txBox="1"/>
          <p:nvPr/>
        </p:nvSpPr>
        <p:spPr>
          <a:xfrm>
            <a:off x="4489451" y="1412081"/>
            <a:ext cx="1884957"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In a QUERY request</a:t>
            </a:r>
            <a:endParaRPr lang="en-US" sz="1700" dirty="0"/>
          </a:p>
        </p:txBody>
      </p:sp>
      <p:sp>
        <p:nvSpPr>
          <p:cNvPr id="29" name="Shape 26"/>
          <p:cNvSpPr/>
          <p:nvPr/>
        </p:nvSpPr>
        <p:spPr>
          <a:xfrm>
            <a:off x="97631" y="2224484"/>
            <a:ext cx="6337300" cy="12700"/>
          </a:xfrm>
          <a:prstGeom prst="rect">
            <a:avLst/>
          </a:prstGeom>
          <a:solidFill>
            <a:srgbClr val="9CA3AF">
              <a:alpha val="20000"/>
            </a:srgbClr>
          </a:solidFill>
          <a:ln/>
        </p:spPr>
      </p:sp>
      <p:sp>
        <p:nvSpPr>
          <p:cNvPr id="30" name="Shape 27"/>
          <p:cNvSpPr/>
          <p:nvPr/>
        </p:nvSpPr>
        <p:spPr>
          <a:xfrm>
            <a:off x="97631" y="1751608"/>
            <a:ext cx="2004417" cy="485576"/>
          </a:xfrm>
          <a:prstGeom prst="rect">
            <a:avLst/>
          </a:prstGeom>
          <a:solidFill>
            <a:srgbClr val="D6D6EB"/>
          </a:solidFill>
          <a:ln w="12700">
            <a:solidFill>
              <a:srgbClr val="333399"/>
            </a:solidFill>
            <a:prstDash val="solid"/>
          </a:ln>
        </p:spPr>
      </p:sp>
      <p:sp>
        <p:nvSpPr>
          <p:cNvPr id="31" name="Text 28"/>
          <p:cNvSpPr txBox="1"/>
          <p:nvPr/>
        </p:nvSpPr>
        <p:spPr>
          <a:xfrm>
            <a:off x="192881" y="1865908"/>
            <a:ext cx="10594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@method</a:t>
            </a:r>
            <a:endParaRPr lang="en-US" sz="1700" dirty="0"/>
          </a:p>
        </p:txBody>
      </p:sp>
      <p:sp>
        <p:nvSpPr>
          <p:cNvPr id="32" name="Shape 29"/>
          <p:cNvSpPr/>
          <p:nvPr/>
        </p:nvSpPr>
        <p:spPr>
          <a:xfrm>
            <a:off x="2102048" y="1751608"/>
            <a:ext cx="2326879" cy="485576"/>
          </a:xfrm>
          <a:prstGeom prst="rect">
            <a:avLst/>
          </a:prstGeom>
          <a:solidFill>
            <a:srgbClr val="D6D6EB"/>
          </a:solidFill>
          <a:ln w="12700">
            <a:solidFill>
              <a:srgbClr val="333399"/>
            </a:solidFill>
            <a:prstDash val="solid"/>
          </a:ln>
        </p:spPr>
      </p:sp>
      <p:sp>
        <p:nvSpPr>
          <p:cNvPr id="33" name="Text 30"/>
          <p:cNvSpPr txBox="1"/>
          <p:nvPr/>
        </p:nvSpPr>
        <p:spPr>
          <a:xfrm>
            <a:off x="2197299" y="1853208"/>
            <a:ext cx="156150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request method</a:t>
            </a:r>
            <a:endParaRPr lang="en-US" sz="1700" dirty="0"/>
          </a:p>
        </p:txBody>
      </p:sp>
      <p:sp>
        <p:nvSpPr>
          <p:cNvPr id="34" name="Shape 31"/>
          <p:cNvSpPr/>
          <p:nvPr/>
        </p:nvSpPr>
        <p:spPr>
          <a:xfrm>
            <a:off x="4428927" y="1751608"/>
            <a:ext cx="2006005" cy="485576"/>
          </a:xfrm>
          <a:prstGeom prst="rect">
            <a:avLst/>
          </a:prstGeom>
          <a:solidFill>
            <a:srgbClr val="D6D6EB"/>
          </a:solidFill>
          <a:ln w="12700">
            <a:solidFill>
              <a:srgbClr val="333399"/>
            </a:solidFill>
            <a:prstDash val="solid"/>
          </a:ln>
        </p:spPr>
      </p:sp>
      <p:sp>
        <p:nvSpPr>
          <p:cNvPr id="35" name="Text 32"/>
          <p:cNvSpPr txBox="1"/>
          <p:nvPr/>
        </p:nvSpPr>
        <p:spPr>
          <a:xfrm>
            <a:off x="4524176" y="1853208"/>
            <a:ext cx="974924"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QUERY</a:t>
            </a:r>
            <a:endParaRPr lang="en-US" sz="1700" dirty="0"/>
          </a:p>
        </p:txBody>
      </p:sp>
      <p:sp>
        <p:nvSpPr>
          <p:cNvPr id="36" name="Shape 33"/>
          <p:cNvSpPr/>
          <p:nvPr/>
        </p:nvSpPr>
        <p:spPr>
          <a:xfrm>
            <a:off x="97631" y="2703711"/>
            <a:ext cx="6337300" cy="12700"/>
          </a:xfrm>
          <a:prstGeom prst="rect">
            <a:avLst/>
          </a:prstGeom>
          <a:solidFill>
            <a:srgbClr val="9CA3AF">
              <a:alpha val="20000"/>
            </a:srgbClr>
          </a:solidFill>
          <a:ln/>
        </p:spPr>
      </p:sp>
      <p:sp>
        <p:nvSpPr>
          <p:cNvPr id="37" name="Shape 34"/>
          <p:cNvSpPr/>
          <p:nvPr/>
        </p:nvSpPr>
        <p:spPr>
          <a:xfrm>
            <a:off x="97631" y="2237184"/>
            <a:ext cx="2004417" cy="479227"/>
          </a:xfrm>
          <a:prstGeom prst="rect">
            <a:avLst/>
          </a:prstGeom>
          <a:solidFill>
            <a:srgbClr val="FFFFFF"/>
          </a:solidFill>
          <a:ln w="12700">
            <a:solidFill>
              <a:srgbClr val="333399"/>
            </a:solidFill>
            <a:prstDash val="solid"/>
          </a:ln>
        </p:spPr>
      </p:sp>
      <p:sp>
        <p:nvSpPr>
          <p:cNvPr id="38" name="Text 35"/>
          <p:cNvSpPr txBox="1"/>
          <p:nvPr/>
        </p:nvSpPr>
        <p:spPr>
          <a:xfrm>
            <a:off x="192881" y="2345135"/>
            <a:ext cx="15775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@target-uri</a:t>
            </a:r>
            <a:endParaRPr lang="en-US" sz="1700" dirty="0"/>
          </a:p>
        </p:txBody>
      </p:sp>
      <p:sp>
        <p:nvSpPr>
          <p:cNvPr id="39" name="Shape 36"/>
          <p:cNvSpPr/>
          <p:nvPr/>
        </p:nvSpPr>
        <p:spPr>
          <a:xfrm>
            <a:off x="2102048" y="2237184"/>
            <a:ext cx="2326879" cy="479227"/>
          </a:xfrm>
          <a:prstGeom prst="rect">
            <a:avLst/>
          </a:prstGeom>
          <a:solidFill>
            <a:srgbClr val="FFFFFF"/>
          </a:solidFill>
          <a:ln w="12700">
            <a:solidFill>
              <a:srgbClr val="333399"/>
            </a:solidFill>
            <a:prstDash val="solid"/>
          </a:ln>
        </p:spPr>
      </p:sp>
      <p:sp>
        <p:nvSpPr>
          <p:cNvPr id="40" name="Text 37"/>
          <p:cNvSpPr txBox="1"/>
          <p:nvPr/>
        </p:nvSpPr>
        <p:spPr>
          <a:xfrm>
            <a:off x="2197299" y="2332435"/>
            <a:ext cx="136247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full target URI</a:t>
            </a:r>
            <a:endParaRPr lang="en-US" sz="1700" dirty="0"/>
          </a:p>
        </p:txBody>
      </p:sp>
      <p:sp>
        <p:nvSpPr>
          <p:cNvPr id="41" name="Shape 38"/>
          <p:cNvSpPr/>
          <p:nvPr/>
        </p:nvSpPr>
        <p:spPr>
          <a:xfrm>
            <a:off x="4428927" y="2237184"/>
            <a:ext cx="2006005" cy="479227"/>
          </a:xfrm>
          <a:prstGeom prst="rect">
            <a:avLst/>
          </a:prstGeom>
          <a:solidFill>
            <a:srgbClr val="FFFFFF"/>
          </a:solidFill>
          <a:ln w="12700">
            <a:solidFill>
              <a:srgbClr val="333399"/>
            </a:solidFill>
            <a:prstDash val="solid"/>
          </a:ln>
        </p:spPr>
      </p:sp>
      <p:sp>
        <p:nvSpPr>
          <p:cNvPr id="42" name="Text 39"/>
          <p:cNvSpPr txBox="1"/>
          <p:nvPr/>
        </p:nvSpPr>
        <p:spPr>
          <a:xfrm>
            <a:off x="4524176" y="2332435"/>
            <a:ext cx="1166812"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…/search</a:t>
            </a:r>
            <a:endParaRPr lang="en-US" sz="1700" dirty="0"/>
          </a:p>
        </p:txBody>
      </p:sp>
      <p:sp>
        <p:nvSpPr>
          <p:cNvPr id="43" name="Shape 40"/>
          <p:cNvSpPr/>
          <p:nvPr/>
        </p:nvSpPr>
        <p:spPr>
          <a:xfrm>
            <a:off x="97631" y="3182937"/>
            <a:ext cx="6337300" cy="12700"/>
          </a:xfrm>
          <a:prstGeom prst="rect">
            <a:avLst/>
          </a:prstGeom>
          <a:solidFill>
            <a:srgbClr val="9CA3AF">
              <a:alpha val="20000"/>
            </a:srgbClr>
          </a:solidFill>
          <a:ln/>
        </p:spPr>
      </p:sp>
      <p:sp>
        <p:nvSpPr>
          <p:cNvPr id="44" name="Shape 41"/>
          <p:cNvSpPr/>
          <p:nvPr/>
        </p:nvSpPr>
        <p:spPr>
          <a:xfrm>
            <a:off x="97631" y="2716411"/>
            <a:ext cx="2004417" cy="479227"/>
          </a:xfrm>
          <a:prstGeom prst="rect">
            <a:avLst/>
          </a:prstGeom>
          <a:solidFill>
            <a:srgbClr val="D6D6EB"/>
          </a:solidFill>
          <a:ln w="12700">
            <a:solidFill>
              <a:srgbClr val="333399"/>
            </a:solidFill>
            <a:prstDash val="solid"/>
          </a:ln>
        </p:spPr>
      </p:sp>
      <p:sp>
        <p:nvSpPr>
          <p:cNvPr id="45" name="Text 42"/>
          <p:cNvSpPr txBox="1"/>
          <p:nvPr/>
        </p:nvSpPr>
        <p:spPr>
          <a:xfrm>
            <a:off x="192881" y="2824361"/>
            <a:ext cx="9298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a:t>
            </a:r>
            <a:endParaRPr lang="en-US" sz="1700" dirty="0"/>
          </a:p>
        </p:txBody>
      </p:sp>
      <p:sp>
        <p:nvSpPr>
          <p:cNvPr id="46" name="Shape 43"/>
          <p:cNvSpPr/>
          <p:nvPr/>
        </p:nvSpPr>
        <p:spPr>
          <a:xfrm>
            <a:off x="2102048" y="2716411"/>
            <a:ext cx="2326879" cy="479227"/>
          </a:xfrm>
          <a:prstGeom prst="rect">
            <a:avLst/>
          </a:prstGeom>
          <a:solidFill>
            <a:srgbClr val="D6D6EB"/>
          </a:solidFill>
          <a:ln w="12700">
            <a:solidFill>
              <a:srgbClr val="333399"/>
            </a:solidFill>
            <a:prstDash val="solid"/>
          </a:ln>
        </p:spPr>
      </p:sp>
      <p:sp>
        <p:nvSpPr>
          <p:cNvPr id="47" name="Text 44"/>
          <p:cNvSpPr txBox="1"/>
          <p:nvPr/>
        </p:nvSpPr>
        <p:spPr>
          <a:xfrm>
            <a:off x="2197299" y="2811661"/>
            <a:ext cx="207625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URI query component</a:t>
            </a:r>
            <a:endParaRPr lang="en-US" sz="1700" dirty="0"/>
          </a:p>
        </p:txBody>
      </p:sp>
      <p:sp>
        <p:nvSpPr>
          <p:cNvPr id="48" name="Shape 45"/>
          <p:cNvSpPr/>
          <p:nvPr/>
        </p:nvSpPr>
        <p:spPr>
          <a:xfrm>
            <a:off x="4428927" y="2716411"/>
            <a:ext cx="2006005" cy="479227"/>
          </a:xfrm>
          <a:prstGeom prst="rect">
            <a:avLst/>
          </a:prstGeom>
          <a:solidFill>
            <a:srgbClr val="D6D6EB"/>
          </a:solidFill>
          <a:ln w="12700">
            <a:solidFill>
              <a:srgbClr val="333399"/>
            </a:solidFill>
            <a:prstDash val="solid"/>
          </a:ln>
        </p:spPr>
      </p:sp>
      <p:sp>
        <p:nvSpPr>
          <p:cNvPr id="49" name="Shape 46"/>
          <p:cNvSpPr/>
          <p:nvPr/>
        </p:nvSpPr>
        <p:spPr>
          <a:xfrm>
            <a:off x="5725120" y="2837061"/>
            <a:ext cx="243681" cy="254000"/>
          </a:xfrm>
          <a:prstGeom prst="rect">
            <a:avLst/>
          </a:prstGeom>
          <a:solidFill>
            <a:srgbClr val="FFFFFF"/>
          </a:solidFill>
          <a:ln w="12700">
            <a:solidFill>
              <a:srgbClr val="333399"/>
            </a:solidFill>
            <a:prstDash val="solid"/>
          </a:ln>
        </p:spPr>
      </p:sp>
      <p:sp>
        <p:nvSpPr>
          <p:cNvPr id="50" name="Text 47"/>
          <p:cNvSpPr txBox="1"/>
          <p:nvPr/>
        </p:nvSpPr>
        <p:spPr>
          <a:xfrm>
            <a:off x="4524176" y="2811661"/>
            <a:ext cx="1533525" cy="266700"/>
          </a:xfrm>
          <a:prstGeom prst="rect">
            <a:avLst/>
          </a:prstGeom>
          <a:noFill/>
          <a:ln/>
        </p:spPr>
        <p:txBody>
          <a:bodyPr wrap="none" lIns="0" tIns="0" rIns="0" bIns="0" rtlCol="0" anchor="t"/>
          <a:lstStyle/>
          <a:p>
            <a:pPr algn="l" indent="0" marL="0">
              <a:buNone/>
            </a:pPr>
            <a:r>
              <a:rPr lang="en-US" sz="1700" b="1" dirty="0">
                <a:solidFill>
                  <a:srgbClr val="993300"/>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usually just </a:t>
            </a:r>
            <a:pPr algn="l" indent="0" marL="0">
              <a:buNone/>
            </a:pPr>
            <a:r>
              <a:rPr lang="en-US" sz="1531"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51" name="Shape 48"/>
          <p:cNvSpPr/>
          <p:nvPr/>
        </p:nvSpPr>
        <p:spPr>
          <a:xfrm>
            <a:off x="97631" y="3925491"/>
            <a:ext cx="6337300" cy="12700"/>
          </a:xfrm>
          <a:prstGeom prst="rect">
            <a:avLst/>
          </a:prstGeom>
          <a:solidFill>
            <a:srgbClr val="9CA3AF">
              <a:alpha val="20000"/>
            </a:srgbClr>
          </a:solidFill>
          <a:ln/>
        </p:spPr>
      </p:sp>
      <p:sp>
        <p:nvSpPr>
          <p:cNvPr id="52" name="Shape 49"/>
          <p:cNvSpPr/>
          <p:nvPr/>
        </p:nvSpPr>
        <p:spPr>
          <a:xfrm>
            <a:off x="97631" y="3195637"/>
            <a:ext cx="2004417" cy="742553"/>
          </a:xfrm>
          <a:prstGeom prst="rect">
            <a:avLst/>
          </a:prstGeom>
          <a:solidFill>
            <a:srgbClr val="FFFFFF"/>
          </a:solidFill>
          <a:ln w="12700">
            <a:solidFill>
              <a:srgbClr val="333399"/>
            </a:solidFill>
            <a:prstDash val="solid"/>
          </a:ln>
        </p:spPr>
      </p:sp>
      <p:sp>
        <p:nvSpPr>
          <p:cNvPr id="53" name="Text 50"/>
          <p:cNvSpPr txBox="1"/>
          <p:nvPr/>
        </p:nvSpPr>
        <p:spPr>
          <a:xfrm>
            <a:off x="192881" y="3435152"/>
            <a:ext cx="17071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@query-param</a:t>
            </a:r>
            <a:endParaRPr lang="en-US" sz="1700" dirty="0"/>
          </a:p>
        </p:txBody>
      </p:sp>
      <p:sp>
        <p:nvSpPr>
          <p:cNvPr id="54" name="Shape 51"/>
          <p:cNvSpPr/>
          <p:nvPr/>
        </p:nvSpPr>
        <p:spPr>
          <a:xfrm>
            <a:off x="2102048" y="3195637"/>
            <a:ext cx="2326879" cy="742553"/>
          </a:xfrm>
          <a:prstGeom prst="rect">
            <a:avLst/>
          </a:prstGeom>
          <a:solidFill>
            <a:srgbClr val="FFFFFF"/>
          </a:solidFill>
          <a:ln w="12700">
            <a:solidFill>
              <a:srgbClr val="333399"/>
            </a:solidFill>
            <a:prstDash val="solid"/>
          </a:ln>
        </p:spPr>
      </p:sp>
      <p:sp>
        <p:nvSpPr>
          <p:cNvPr id="55" name="Text 52"/>
          <p:cNvSpPr txBox="1"/>
          <p:nvPr/>
        </p:nvSpPr>
        <p:spPr>
          <a:xfrm>
            <a:off x="2190948" y="3290888"/>
            <a:ext cx="2174479" cy="530027"/>
          </a:xfrm>
          <a:prstGeom prst="rect">
            <a:avLst/>
          </a:prstGeom>
          <a:noFill/>
          <a:ln/>
        </p:spPr>
        <p:txBody>
          <a:bodyPr wrap="square" lIns="0" tIns="0" rIns="0" bIns="0" rtlCol="0" anchor="t"/>
          <a:lstStyle/>
          <a:p>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one URI query parameter</a:t>
            </a:r>
            <a:endParaRPr lang="en-US" sz="1700" dirty="0"/>
          </a:p>
        </p:txBody>
      </p:sp>
      <p:sp>
        <p:nvSpPr>
          <p:cNvPr id="56" name="Shape 53"/>
          <p:cNvSpPr/>
          <p:nvPr/>
        </p:nvSpPr>
        <p:spPr>
          <a:xfrm>
            <a:off x="4428927" y="3195637"/>
            <a:ext cx="2006005" cy="742553"/>
          </a:xfrm>
          <a:prstGeom prst="rect">
            <a:avLst/>
          </a:prstGeom>
          <a:solidFill>
            <a:srgbClr val="FFFFFF"/>
          </a:solidFill>
          <a:ln w="12700">
            <a:solidFill>
              <a:srgbClr val="333399"/>
            </a:solidFill>
            <a:prstDash val="solid"/>
          </a:ln>
        </p:spPr>
      </p:sp>
      <p:sp>
        <p:nvSpPr>
          <p:cNvPr id="57" name="Text 54"/>
          <p:cNvSpPr txBox="1"/>
          <p:nvPr/>
        </p:nvSpPr>
        <p:spPr>
          <a:xfrm>
            <a:off x="4517827" y="3290888"/>
            <a:ext cx="1853605" cy="530027"/>
          </a:xfrm>
          <a:prstGeom prst="rect">
            <a:avLst/>
          </a:prstGeom>
          <a:noFill/>
          <a:ln/>
        </p:spPr>
        <p:txBody>
          <a:bodyPr wrap="square" lIns="0" tIns="0" rIns="0" bIns="0" rtlCol="0" anchor="t"/>
          <a:lstStyle/>
          <a:p>
            <a:pPr algn="l" indent="0" marL="0">
              <a:lnSpc>
                <a:spcPts val="2073"/>
              </a:lnSpc>
              <a:buNone/>
            </a:pPr>
            <a:r>
              <a:rPr lang="en-US" sz="1700" b="1" dirty="0">
                <a:solidFill>
                  <a:srgbClr val="993300"/>
                </a:solidFill>
                <a:latin typeface="Calibri" pitchFamily="34" charset="0"/>
                <a:ea typeface="Calibri" pitchFamily="34" charset="-122"/>
                <a:cs typeface="Calibri" pitchFamily="34" charset="-120"/>
              </a:rPr>
              <a:t>✗</a:t>
            </a:r>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 nothing in the content</a:t>
            </a:r>
            <a:endParaRPr lang="en-US" sz="1700" dirty="0"/>
          </a:p>
        </p:txBody>
      </p:sp>
      <p:sp>
        <p:nvSpPr>
          <p:cNvPr id="58" name="Shape 55"/>
          <p:cNvSpPr/>
          <p:nvPr/>
        </p:nvSpPr>
        <p:spPr>
          <a:xfrm>
            <a:off x="97631" y="4668044"/>
            <a:ext cx="6337300" cy="12700"/>
          </a:xfrm>
          <a:prstGeom prst="rect">
            <a:avLst/>
          </a:prstGeom>
          <a:solidFill>
            <a:srgbClr val="9CA3AF">
              <a:alpha val="20000"/>
            </a:srgbClr>
          </a:solidFill>
          <a:ln/>
        </p:spPr>
      </p:sp>
      <p:sp>
        <p:nvSpPr>
          <p:cNvPr id="59" name="Shape 56"/>
          <p:cNvSpPr/>
          <p:nvPr/>
        </p:nvSpPr>
        <p:spPr>
          <a:xfrm>
            <a:off x="97631" y="3938191"/>
            <a:ext cx="2004417" cy="742553"/>
          </a:xfrm>
          <a:prstGeom prst="rect">
            <a:avLst/>
          </a:prstGeom>
          <a:solidFill>
            <a:srgbClr val="D6D6EB"/>
          </a:solidFill>
          <a:ln w="12700">
            <a:solidFill>
              <a:srgbClr val="333399"/>
            </a:solidFill>
            <a:prstDash val="solid"/>
          </a:ln>
        </p:spPr>
      </p:sp>
      <p:sp>
        <p:nvSpPr>
          <p:cNvPr id="60" name="Text 57"/>
          <p:cNvSpPr txBox="1"/>
          <p:nvPr/>
        </p:nvSpPr>
        <p:spPr>
          <a:xfrm>
            <a:off x="192881" y="4177705"/>
            <a:ext cx="19663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content-digest</a:t>
            </a:r>
            <a:endParaRPr lang="en-US" sz="1700" dirty="0"/>
          </a:p>
        </p:txBody>
      </p:sp>
      <p:sp>
        <p:nvSpPr>
          <p:cNvPr id="61" name="Shape 58"/>
          <p:cNvSpPr/>
          <p:nvPr/>
        </p:nvSpPr>
        <p:spPr>
          <a:xfrm>
            <a:off x="2102048" y="3938191"/>
            <a:ext cx="2326879" cy="742553"/>
          </a:xfrm>
          <a:prstGeom prst="rect">
            <a:avLst/>
          </a:prstGeom>
          <a:solidFill>
            <a:srgbClr val="D6D6EB"/>
          </a:solidFill>
          <a:ln w="12700">
            <a:solidFill>
              <a:srgbClr val="333399"/>
            </a:solidFill>
            <a:prstDash val="solid"/>
          </a:ln>
        </p:spPr>
      </p:sp>
      <p:sp>
        <p:nvSpPr>
          <p:cNvPr id="62" name="Text 59"/>
          <p:cNvSpPr txBox="1"/>
          <p:nvPr/>
        </p:nvSpPr>
        <p:spPr>
          <a:xfrm>
            <a:off x="2190948" y="4033440"/>
            <a:ext cx="2174479" cy="504627"/>
          </a:xfrm>
          <a:prstGeom prst="rect">
            <a:avLst/>
          </a:prstGeom>
          <a:noFill/>
          <a:ln/>
        </p:spPr>
        <p:txBody>
          <a:bodyPr wrap="square" lIns="0" tIns="0" rIns="0" bIns="0" rtlCol="0" anchor="t"/>
          <a:lstStyle/>
          <a:p>
            <a:pPr algn="l" indent="0" marL="0">
              <a:lnSpc>
                <a:spcPts val="2473"/>
              </a:lnSpc>
              <a:buNone/>
            </a:pPr>
            <a:r>
              <a:rPr lang="en-US" sz="1700" dirty="0">
                <a:solidFill>
                  <a:srgbClr val="000000"/>
                </a:solidFill>
                <a:latin typeface="Calibri" pitchFamily="34" charset="0"/>
                <a:ea typeface="Calibri" pitchFamily="34" charset="-122"/>
                <a:cs typeface="Calibri" pitchFamily="34" charset="-120"/>
              </a:rPr>
              <a:t>hash of the content </a:t>
            </a:r>
            <a:pPr algn="l" indent="0" marL="0">
              <a:lnSpc>
                <a:spcPts val="2473"/>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9530]</a:t>
            </a:r>
            <a:endParaRPr lang="en-US" sz="1700" dirty="0"/>
          </a:p>
        </p:txBody>
      </p:sp>
      <p:sp>
        <p:nvSpPr>
          <p:cNvPr id="63" name="Shape 60"/>
          <p:cNvSpPr/>
          <p:nvPr/>
        </p:nvSpPr>
        <p:spPr>
          <a:xfrm>
            <a:off x="4428927" y="3938191"/>
            <a:ext cx="2006005" cy="742553"/>
          </a:xfrm>
          <a:prstGeom prst="rect">
            <a:avLst/>
          </a:prstGeom>
          <a:solidFill>
            <a:srgbClr val="D6D6EB"/>
          </a:solidFill>
          <a:ln w="12700">
            <a:solidFill>
              <a:srgbClr val="333399"/>
            </a:solidFill>
            <a:prstDash val="solid"/>
          </a:ln>
        </p:spPr>
      </p:sp>
      <p:sp>
        <p:nvSpPr>
          <p:cNvPr id="64" name="Text 61"/>
          <p:cNvSpPr txBox="1"/>
          <p:nvPr/>
        </p:nvSpPr>
        <p:spPr>
          <a:xfrm>
            <a:off x="4524176" y="4165005"/>
            <a:ext cx="1694656"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the query itself</a:t>
            </a:r>
            <a:endParaRPr lang="en-US" sz="1700" dirty="0"/>
          </a:p>
        </p:txBody>
      </p:sp>
      <p:sp>
        <p:nvSpPr>
          <p:cNvPr id="65" name="Text 62"/>
          <p:cNvSpPr txBox="1"/>
          <p:nvPr/>
        </p:nvSpPr>
        <p:spPr>
          <a:xfrm>
            <a:off x="6985992" y="13612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6" name="Shape 63"/>
          <p:cNvSpPr/>
          <p:nvPr/>
        </p:nvSpPr>
        <p:spPr>
          <a:xfrm>
            <a:off x="9670653" y="1386681"/>
            <a:ext cx="1951633" cy="266700"/>
          </a:xfrm>
          <a:prstGeom prst="rect">
            <a:avLst/>
          </a:prstGeom>
          <a:solidFill>
            <a:srgbClr val="FFFFFF"/>
          </a:solidFill>
          <a:ln w="12700">
            <a:solidFill>
              <a:srgbClr val="333399"/>
            </a:solidFill>
            <a:prstDash val="solid"/>
          </a:ln>
        </p:spPr>
      </p:sp>
      <p:sp>
        <p:nvSpPr>
          <p:cNvPr id="67" name="Text 64"/>
          <p:cNvSpPr txBox="1"/>
          <p:nvPr/>
        </p:nvSpPr>
        <p:spPr>
          <a:xfrm>
            <a:off x="7328892" y="1348581"/>
            <a:ext cx="4594027" cy="590551"/>
          </a:xfrm>
          <a:prstGeom prst="rect">
            <a:avLst/>
          </a:prstGeom>
          <a:noFill/>
          <a:ln/>
        </p:spPr>
        <p:txBody>
          <a:bodyPr wrap="square" lIns="0" tIns="0" rIns="0" bIns="0" rtlCol="0" anchor="t"/>
          <a:lstStyle/>
          <a:p>
            <a:pPr algn="l" indent="0" marL="0">
              <a:lnSpc>
                <a:spcPts val="2351"/>
              </a:lnSpc>
              <a:buNone/>
            </a:pPr>
            <a:r>
              <a:rPr lang="en-US" sz="1900" b="1" dirty="0">
                <a:solidFill>
                  <a:srgbClr val="000000"/>
                </a:solidFill>
                <a:latin typeface="Calibri" pitchFamily="34" charset="0"/>
                <a:ea typeface="Calibri" pitchFamily="34" charset="-122"/>
                <a:cs typeface="Calibri" pitchFamily="34" charset="-120"/>
              </a:rPr>
              <a:t>Sign the content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cover </a:t>
            </a:r>
            <a:pPr algn="l" indent="0" marL="0">
              <a:lnSpc>
                <a:spcPts val="2351"/>
              </a:lnSpc>
              <a:buNone/>
            </a:pPr>
            <a:r>
              <a:rPr lang="en-US" sz="1711" b="1" dirty="0">
                <a:solidFill>
                  <a:srgbClr val="000000"/>
                </a:solidFill>
                <a:latin typeface="Courier New" pitchFamily="34" charset="0"/>
                <a:ea typeface="Courier New" pitchFamily="34" charset="-122"/>
                <a:cs typeface="Courier New" pitchFamily="34" charset="-120"/>
              </a:rPr>
              <a:t>content-digest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the verifier must recompute it </a:t>
            </a:r>
            <a:pPr algn="l" indent="0" marL="0">
              <a:lnSpc>
                <a:spcPts val="23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9421 §7.2.8]</a:t>
            </a:r>
            <a:endParaRPr lang="en-US" sz="1900" dirty="0"/>
          </a:p>
        </p:txBody>
      </p:sp>
      <p:sp>
        <p:nvSpPr>
          <p:cNvPr id="68" name="Text 65"/>
          <p:cNvSpPr txBox="1"/>
          <p:nvPr/>
        </p:nvSpPr>
        <p:spPr>
          <a:xfrm>
            <a:off x="6985992" y="20762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9" name="Text 66"/>
          <p:cNvSpPr txBox="1"/>
          <p:nvPr/>
        </p:nvSpPr>
        <p:spPr>
          <a:xfrm>
            <a:off x="7328892" y="2063552"/>
            <a:ext cx="4594027" cy="1135261"/>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Parameter shadowing</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frameworks that merge URI and form parameters let an unsigned body value override a signed one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9421 §7.5.8]</a:t>
            </a:r>
            <a:endParaRPr lang="en-US" sz="1900" dirty="0"/>
          </a:p>
        </p:txBody>
      </p:sp>
      <p:sp>
        <p:nvSpPr>
          <p:cNvPr id="70" name="Text 67"/>
          <p:cNvSpPr txBox="1"/>
          <p:nvPr/>
        </p:nvSpPr>
        <p:spPr>
          <a:xfrm>
            <a:off x="6985992" y="336133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71" name="Text 68"/>
          <p:cNvSpPr txBox="1"/>
          <p:nvPr/>
        </p:nvSpPr>
        <p:spPr>
          <a:xfrm>
            <a:off x="7328892" y="3348633"/>
            <a:ext cx="4618200"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Re-encoding</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intermediaries change the digest and must re-sign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9421 §7.2.8]</a:t>
            </a:r>
            <a:endParaRPr lang="en-US" sz="1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29503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and HTTP Message Signatures (RFC 9421)</a:t>
            </a:r>
            <a:endParaRPr lang="en-US" sz="2400" dirty="0"/>
          </a:p>
        </p:txBody>
      </p:sp>
      <p:sp>
        <p:nvSpPr>
          <p:cNvPr id="10" name="Shape 7"/>
          <p:cNvSpPr/>
          <p:nvPr/>
        </p:nvSpPr>
        <p:spPr>
          <a:xfrm>
            <a:off x="97631" y="1738908"/>
            <a:ext cx="6337300" cy="12700"/>
          </a:xfrm>
          <a:prstGeom prst="rect">
            <a:avLst/>
          </a:prstGeom>
          <a:solidFill>
            <a:srgbClr val="9CA3AF">
              <a:alpha val="20000"/>
            </a:srgbClr>
          </a:solidFill>
          <a:ln/>
        </p:spPr>
      </p:sp>
      <p:sp>
        <p:nvSpPr>
          <p:cNvPr id="11" name="Shape 8"/>
          <p:cNvSpPr/>
          <p:nvPr/>
        </p:nvSpPr>
        <p:spPr>
          <a:xfrm>
            <a:off x="97631" y="1367631"/>
            <a:ext cx="2004417" cy="383976"/>
          </a:xfrm>
          <a:prstGeom prst="rect">
            <a:avLst/>
          </a:prstGeom>
          <a:solidFill>
            <a:srgbClr val="FFFFFF"/>
          </a:solidFill>
          <a:ln/>
        </p:spPr>
      </p:sp>
      <p:sp>
        <p:nvSpPr>
          <p:cNvPr id="12" name="Shape 9"/>
          <p:cNvSpPr/>
          <p:nvPr/>
        </p:nvSpPr>
        <p:spPr>
          <a:xfrm>
            <a:off x="97631" y="1367631"/>
            <a:ext cx="2004417" cy="12700"/>
          </a:xfrm>
          <a:prstGeom prst="rect">
            <a:avLst/>
          </a:prstGeom>
          <a:solidFill>
            <a:srgbClr val="333399"/>
          </a:solidFill>
          <a:ln/>
        </p:spPr>
      </p:sp>
      <p:sp>
        <p:nvSpPr>
          <p:cNvPr id="13" name="Shape 10"/>
          <p:cNvSpPr/>
          <p:nvPr/>
        </p:nvSpPr>
        <p:spPr>
          <a:xfrm>
            <a:off x="2089348" y="1367631"/>
            <a:ext cx="12700" cy="383976"/>
          </a:xfrm>
          <a:prstGeom prst="rect">
            <a:avLst/>
          </a:prstGeom>
          <a:solidFill>
            <a:srgbClr val="333399"/>
          </a:solidFill>
          <a:ln/>
        </p:spPr>
      </p:sp>
      <p:sp>
        <p:nvSpPr>
          <p:cNvPr id="14" name="Shape 11"/>
          <p:cNvSpPr/>
          <p:nvPr/>
        </p:nvSpPr>
        <p:spPr>
          <a:xfrm>
            <a:off x="97631" y="1726208"/>
            <a:ext cx="2004417" cy="25400"/>
          </a:xfrm>
          <a:prstGeom prst="rect">
            <a:avLst/>
          </a:prstGeom>
          <a:solidFill>
            <a:srgbClr val="333399"/>
          </a:solidFill>
          <a:ln/>
        </p:spPr>
      </p:sp>
      <p:sp>
        <p:nvSpPr>
          <p:cNvPr id="15" name="Shape 12"/>
          <p:cNvSpPr/>
          <p:nvPr/>
        </p:nvSpPr>
        <p:spPr>
          <a:xfrm>
            <a:off x="97631" y="1367631"/>
            <a:ext cx="12700" cy="383976"/>
          </a:xfrm>
          <a:prstGeom prst="rect">
            <a:avLst/>
          </a:prstGeom>
          <a:solidFill>
            <a:srgbClr val="333399"/>
          </a:solidFill>
          <a:ln/>
        </p:spPr>
      </p:sp>
      <p:sp>
        <p:nvSpPr>
          <p:cNvPr id="16" name="Text 13"/>
          <p:cNvSpPr txBox="1"/>
          <p:nvPr/>
        </p:nvSpPr>
        <p:spPr>
          <a:xfrm>
            <a:off x="187127" y="1412081"/>
            <a:ext cx="1825228"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Signed component</a:t>
            </a:r>
            <a:endParaRPr lang="en-US" sz="1700" dirty="0"/>
          </a:p>
        </p:txBody>
      </p:sp>
      <p:sp>
        <p:nvSpPr>
          <p:cNvPr id="17" name="Shape 14"/>
          <p:cNvSpPr/>
          <p:nvPr/>
        </p:nvSpPr>
        <p:spPr>
          <a:xfrm>
            <a:off x="2102048" y="1367631"/>
            <a:ext cx="2326879" cy="383976"/>
          </a:xfrm>
          <a:prstGeom prst="rect">
            <a:avLst/>
          </a:prstGeom>
          <a:solidFill>
            <a:srgbClr val="FFFFFF"/>
          </a:solidFill>
          <a:ln/>
        </p:spPr>
      </p:sp>
      <p:sp>
        <p:nvSpPr>
          <p:cNvPr id="18" name="Shape 15"/>
          <p:cNvSpPr/>
          <p:nvPr/>
        </p:nvSpPr>
        <p:spPr>
          <a:xfrm>
            <a:off x="2102048" y="1367631"/>
            <a:ext cx="2326879" cy="12700"/>
          </a:xfrm>
          <a:prstGeom prst="rect">
            <a:avLst/>
          </a:prstGeom>
          <a:solidFill>
            <a:srgbClr val="333399"/>
          </a:solidFill>
          <a:ln/>
        </p:spPr>
      </p:sp>
      <p:sp>
        <p:nvSpPr>
          <p:cNvPr id="19" name="Shape 16"/>
          <p:cNvSpPr/>
          <p:nvPr/>
        </p:nvSpPr>
        <p:spPr>
          <a:xfrm>
            <a:off x="4416227" y="1367631"/>
            <a:ext cx="12700" cy="383976"/>
          </a:xfrm>
          <a:prstGeom prst="rect">
            <a:avLst/>
          </a:prstGeom>
          <a:solidFill>
            <a:srgbClr val="333399"/>
          </a:solidFill>
          <a:ln/>
        </p:spPr>
      </p:sp>
      <p:sp>
        <p:nvSpPr>
          <p:cNvPr id="20" name="Shape 17"/>
          <p:cNvSpPr/>
          <p:nvPr/>
        </p:nvSpPr>
        <p:spPr>
          <a:xfrm>
            <a:off x="2102048" y="1726208"/>
            <a:ext cx="2326879" cy="25400"/>
          </a:xfrm>
          <a:prstGeom prst="rect">
            <a:avLst/>
          </a:prstGeom>
          <a:solidFill>
            <a:srgbClr val="333399"/>
          </a:solidFill>
          <a:ln/>
        </p:spPr>
      </p:sp>
      <p:sp>
        <p:nvSpPr>
          <p:cNvPr id="21" name="Shape 18"/>
          <p:cNvSpPr/>
          <p:nvPr/>
        </p:nvSpPr>
        <p:spPr>
          <a:xfrm>
            <a:off x="2102048" y="1367631"/>
            <a:ext cx="12700" cy="383976"/>
          </a:xfrm>
          <a:prstGeom prst="rect">
            <a:avLst/>
          </a:prstGeom>
          <a:solidFill>
            <a:srgbClr val="333399"/>
          </a:solidFill>
          <a:ln/>
        </p:spPr>
      </p:sp>
      <p:sp>
        <p:nvSpPr>
          <p:cNvPr id="22" name="Text 19"/>
          <p:cNvSpPr txBox="1"/>
          <p:nvPr/>
        </p:nvSpPr>
        <p:spPr>
          <a:xfrm>
            <a:off x="2544167" y="1412081"/>
            <a:ext cx="1442640"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What it covers</a:t>
            </a:r>
            <a:endParaRPr lang="en-US" sz="1700" dirty="0"/>
          </a:p>
        </p:txBody>
      </p:sp>
      <p:sp>
        <p:nvSpPr>
          <p:cNvPr id="23" name="Shape 20"/>
          <p:cNvSpPr/>
          <p:nvPr/>
        </p:nvSpPr>
        <p:spPr>
          <a:xfrm>
            <a:off x="4428927" y="1367631"/>
            <a:ext cx="2006005" cy="383976"/>
          </a:xfrm>
          <a:prstGeom prst="rect">
            <a:avLst/>
          </a:prstGeom>
          <a:solidFill>
            <a:srgbClr val="FFFFFF"/>
          </a:solidFill>
          <a:ln/>
        </p:spPr>
      </p:sp>
      <p:sp>
        <p:nvSpPr>
          <p:cNvPr id="24" name="Shape 21"/>
          <p:cNvSpPr/>
          <p:nvPr/>
        </p:nvSpPr>
        <p:spPr>
          <a:xfrm>
            <a:off x="4428927" y="1367631"/>
            <a:ext cx="2006005" cy="12700"/>
          </a:xfrm>
          <a:prstGeom prst="rect">
            <a:avLst/>
          </a:prstGeom>
          <a:solidFill>
            <a:srgbClr val="333399"/>
          </a:solidFill>
          <a:ln/>
        </p:spPr>
      </p:sp>
      <p:sp>
        <p:nvSpPr>
          <p:cNvPr id="25" name="Shape 22"/>
          <p:cNvSpPr/>
          <p:nvPr/>
        </p:nvSpPr>
        <p:spPr>
          <a:xfrm>
            <a:off x="6422231" y="1367631"/>
            <a:ext cx="12700" cy="383976"/>
          </a:xfrm>
          <a:prstGeom prst="rect">
            <a:avLst/>
          </a:prstGeom>
          <a:solidFill>
            <a:srgbClr val="333399"/>
          </a:solidFill>
          <a:ln/>
        </p:spPr>
      </p:sp>
      <p:sp>
        <p:nvSpPr>
          <p:cNvPr id="26" name="Shape 23"/>
          <p:cNvSpPr/>
          <p:nvPr/>
        </p:nvSpPr>
        <p:spPr>
          <a:xfrm>
            <a:off x="4428927" y="1726208"/>
            <a:ext cx="2006005" cy="25400"/>
          </a:xfrm>
          <a:prstGeom prst="rect">
            <a:avLst/>
          </a:prstGeom>
          <a:solidFill>
            <a:srgbClr val="333399"/>
          </a:solidFill>
          <a:ln/>
        </p:spPr>
      </p:sp>
      <p:sp>
        <p:nvSpPr>
          <p:cNvPr id="27" name="Shape 24"/>
          <p:cNvSpPr/>
          <p:nvPr/>
        </p:nvSpPr>
        <p:spPr>
          <a:xfrm>
            <a:off x="4428927" y="1367631"/>
            <a:ext cx="12700" cy="383976"/>
          </a:xfrm>
          <a:prstGeom prst="rect">
            <a:avLst/>
          </a:prstGeom>
          <a:solidFill>
            <a:srgbClr val="333399"/>
          </a:solidFill>
          <a:ln/>
        </p:spPr>
      </p:sp>
      <p:sp>
        <p:nvSpPr>
          <p:cNvPr id="28" name="Text 25"/>
          <p:cNvSpPr txBox="1"/>
          <p:nvPr/>
        </p:nvSpPr>
        <p:spPr>
          <a:xfrm>
            <a:off x="4489451" y="1412081"/>
            <a:ext cx="1884957" cy="266700"/>
          </a:xfrm>
          <a:prstGeom prst="rect">
            <a:avLst/>
          </a:prstGeom>
          <a:noFill/>
          <a:ln/>
        </p:spPr>
        <p:txBody>
          <a:bodyPr wrap="none" lIns="0" tIns="0" rIns="0" bIns="0" rtlCol="0" anchor="t"/>
          <a:lstStyle/>
          <a:p>
            <a:pPr algn="ctr" indent="0" marL="0">
              <a:buNone/>
            </a:pPr>
            <a:r>
              <a:rPr lang="en-US" sz="1700" b="1" dirty="0">
                <a:solidFill>
                  <a:srgbClr val="000000"/>
                </a:solidFill>
                <a:latin typeface="Calibri" pitchFamily="34" charset="0"/>
                <a:ea typeface="Calibri" pitchFamily="34" charset="-122"/>
                <a:cs typeface="Calibri" pitchFamily="34" charset="-120"/>
              </a:rPr>
              <a:t>In a QUERY request</a:t>
            </a:r>
            <a:endParaRPr lang="en-US" sz="1700" dirty="0"/>
          </a:p>
        </p:txBody>
      </p:sp>
      <p:sp>
        <p:nvSpPr>
          <p:cNvPr id="29" name="Shape 26"/>
          <p:cNvSpPr/>
          <p:nvPr/>
        </p:nvSpPr>
        <p:spPr>
          <a:xfrm>
            <a:off x="97631" y="2224484"/>
            <a:ext cx="6337300" cy="12700"/>
          </a:xfrm>
          <a:prstGeom prst="rect">
            <a:avLst/>
          </a:prstGeom>
          <a:solidFill>
            <a:srgbClr val="9CA3AF">
              <a:alpha val="20000"/>
            </a:srgbClr>
          </a:solidFill>
          <a:ln/>
        </p:spPr>
      </p:sp>
      <p:sp>
        <p:nvSpPr>
          <p:cNvPr id="30" name="Shape 27"/>
          <p:cNvSpPr/>
          <p:nvPr/>
        </p:nvSpPr>
        <p:spPr>
          <a:xfrm>
            <a:off x="97631" y="1751608"/>
            <a:ext cx="2004417" cy="485576"/>
          </a:xfrm>
          <a:prstGeom prst="rect">
            <a:avLst/>
          </a:prstGeom>
          <a:solidFill>
            <a:srgbClr val="D6D6EB"/>
          </a:solidFill>
          <a:ln w="12700">
            <a:solidFill>
              <a:srgbClr val="333399"/>
            </a:solidFill>
            <a:prstDash val="solid"/>
          </a:ln>
        </p:spPr>
      </p:sp>
      <p:sp>
        <p:nvSpPr>
          <p:cNvPr id="31" name="Text 28"/>
          <p:cNvSpPr txBox="1"/>
          <p:nvPr/>
        </p:nvSpPr>
        <p:spPr>
          <a:xfrm>
            <a:off x="192881" y="1865908"/>
            <a:ext cx="10594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@method</a:t>
            </a:r>
            <a:endParaRPr lang="en-US" sz="1700" dirty="0"/>
          </a:p>
        </p:txBody>
      </p:sp>
      <p:sp>
        <p:nvSpPr>
          <p:cNvPr id="32" name="Shape 29"/>
          <p:cNvSpPr/>
          <p:nvPr/>
        </p:nvSpPr>
        <p:spPr>
          <a:xfrm>
            <a:off x="2102048" y="1751608"/>
            <a:ext cx="2326879" cy="485576"/>
          </a:xfrm>
          <a:prstGeom prst="rect">
            <a:avLst/>
          </a:prstGeom>
          <a:solidFill>
            <a:srgbClr val="D6D6EB"/>
          </a:solidFill>
          <a:ln w="12700">
            <a:solidFill>
              <a:srgbClr val="333399"/>
            </a:solidFill>
            <a:prstDash val="solid"/>
          </a:ln>
        </p:spPr>
      </p:sp>
      <p:sp>
        <p:nvSpPr>
          <p:cNvPr id="33" name="Text 30"/>
          <p:cNvSpPr txBox="1"/>
          <p:nvPr/>
        </p:nvSpPr>
        <p:spPr>
          <a:xfrm>
            <a:off x="2197299" y="1853208"/>
            <a:ext cx="1561505"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request method</a:t>
            </a:r>
            <a:endParaRPr lang="en-US" sz="1700" dirty="0"/>
          </a:p>
        </p:txBody>
      </p:sp>
      <p:sp>
        <p:nvSpPr>
          <p:cNvPr id="34" name="Shape 31"/>
          <p:cNvSpPr/>
          <p:nvPr/>
        </p:nvSpPr>
        <p:spPr>
          <a:xfrm>
            <a:off x="4428927" y="1751608"/>
            <a:ext cx="2006005" cy="485576"/>
          </a:xfrm>
          <a:prstGeom prst="rect">
            <a:avLst/>
          </a:prstGeom>
          <a:solidFill>
            <a:srgbClr val="D6D6EB"/>
          </a:solidFill>
          <a:ln w="12700">
            <a:solidFill>
              <a:srgbClr val="333399"/>
            </a:solidFill>
            <a:prstDash val="solid"/>
          </a:ln>
        </p:spPr>
      </p:sp>
      <p:sp>
        <p:nvSpPr>
          <p:cNvPr id="35" name="Text 32"/>
          <p:cNvSpPr txBox="1"/>
          <p:nvPr/>
        </p:nvSpPr>
        <p:spPr>
          <a:xfrm>
            <a:off x="4524176" y="1853208"/>
            <a:ext cx="974924"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QUERY</a:t>
            </a:r>
            <a:endParaRPr lang="en-US" sz="1700" dirty="0"/>
          </a:p>
        </p:txBody>
      </p:sp>
      <p:sp>
        <p:nvSpPr>
          <p:cNvPr id="36" name="Shape 33"/>
          <p:cNvSpPr/>
          <p:nvPr/>
        </p:nvSpPr>
        <p:spPr>
          <a:xfrm>
            <a:off x="97631" y="2703711"/>
            <a:ext cx="6337300" cy="12700"/>
          </a:xfrm>
          <a:prstGeom prst="rect">
            <a:avLst/>
          </a:prstGeom>
          <a:solidFill>
            <a:srgbClr val="9CA3AF">
              <a:alpha val="20000"/>
            </a:srgbClr>
          </a:solidFill>
          <a:ln/>
        </p:spPr>
      </p:sp>
      <p:sp>
        <p:nvSpPr>
          <p:cNvPr id="37" name="Shape 34"/>
          <p:cNvSpPr/>
          <p:nvPr/>
        </p:nvSpPr>
        <p:spPr>
          <a:xfrm>
            <a:off x="97631" y="2237184"/>
            <a:ext cx="2004417" cy="479227"/>
          </a:xfrm>
          <a:prstGeom prst="rect">
            <a:avLst/>
          </a:prstGeom>
          <a:solidFill>
            <a:srgbClr val="FFFFFF"/>
          </a:solidFill>
          <a:ln w="12700">
            <a:solidFill>
              <a:srgbClr val="333399"/>
            </a:solidFill>
            <a:prstDash val="solid"/>
          </a:ln>
        </p:spPr>
      </p:sp>
      <p:sp>
        <p:nvSpPr>
          <p:cNvPr id="38" name="Text 35"/>
          <p:cNvSpPr txBox="1"/>
          <p:nvPr/>
        </p:nvSpPr>
        <p:spPr>
          <a:xfrm>
            <a:off x="192881" y="2345135"/>
            <a:ext cx="15775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@target-uri</a:t>
            </a:r>
            <a:endParaRPr lang="en-US" sz="1700" dirty="0"/>
          </a:p>
        </p:txBody>
      </p:sp>
      <p:sp>
        <p:nvSpPr>
          <p:cNvPr id="39" name="Shape 36"/>
          <p:cNvSpPr/>
          <p:nvPr/>
        </p:nvSpPr>
        <p:spPr>
          <a:xfrm>
            <a:off x="2102048" y="2237184"/>
            <a:ext cx="2326879" cy="479227"/>
          </a:xfrm>
          <a:prstGeom prst="rect">
            <a:avLst/>
          </a:prstGeom>
          <a:solidFill>
            <a:srgbClr val="FFFFFF"/>
          </a:solidFill>
          <a:ln w="12700">
            <a:solidFill>
              <a:srgbClr val="333399"/>
            </a:solidFill>
            <a:prstDash val="solid"/>
          </a:ln>
        </p:spPr>
      </p:sp>
      <p:sp>
        <p:nvSpPr>
          <p:cNvPr id="40" name="Text 37"/>
          <p:cNvSpPr txBox="1"/>
          <p:nvPr/>
        </p:nvSpPr>
        <p:spPr>
          <a:xfrm>
            <a:off x="2197299" y="2332435"/>
            <a:ext cx="136247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full target URI</a:t>
            </a:r>
            <a:endParaRPr lang="en-US" sz="1700" dirty="0"/>
          </a:p>
        </p:txBody>
      </p:sp>
      <p:sp>
        <p:nvSpPr>
          <p:cNvPr id="41" name="Shape 38"/>
          <p:cNvSpPr/>
          <p:nvPr/>
        </p:nvSpPr>
        <p:spPr>
          <a:xfrm>
            <a:off x="4428927" y="2237184"/>
            <a:ext cx="2006005" cy="479227"/>
          </a:xfrm>
          <a:prstGeom prst="rect">
            <a:avLst/>
          </a:prstGeom>
          <a:solidFill>
            <a:srgbClr val="FFFFFF"/>
          </a:solidFill>
          <a:ln w="12700">
            <a:solidFill>
              <a:srgbClr val="333399"/>
            </a:solidFill>
            <a:prstDash val="solid"/>
          </a:ln>
        </p:spPr>
      </p:sp>
      <p:sp>
        <p:nvSpPr>
          <p:cNvPr id="42" name="Text 39"/>
          <p:cNvSpPr txBox="1"/>
          <p:nvPr/>
        </p:nvSpPr>
        <p:spPr>
          <a:xfrm>
            <a:off x="4524176" y="2332435"/>
            <a:ext cx="1166812"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…/search</a:t>
            </a:r>
            <a:endParaRPr lang="en-US" sz="1700" dirty="0"/>
          </a:p>
        </p:txBody>
      </p:sp>
      <p:sp>
        <p:nvSpPr>
          <p:cNvPr id="43" name="Shape 40"/>
          <p:cNvSpPr/>
          <p:nvPr/>
        </p:nvSpPr>
        <p:spPr>
          <a:xfrm>
            <a:off x="97631" y="3182937"/>
            <a:ext cx="6337300" cy="12700"/>
          </a:xfrm>
          <a:prstGeom prst="rect">
            <a:avLst/>
          </a:prstGeom>
          <a:solidFill>
            <a:srgbClr val="9CA3AF">
              <a:alpha val="20000"/>
            </a:srgbClr>
          </a:solidFill>
          <a:ln/>
        </p:spPr>
      </p:sp>
      <p:sp>
        <p:nvSpPr>
          <p:cNvPr id="44" name="Shape 41"/>
          <p:cNvSpPr/>
          <p:nvPr/>
        </p:nvSpPr>
        <p:spPr>
          <a:xfrm>
            <a:off x="97631" y="2716411"/>
            <a:ext cx="2004417" cy="479227"/>
          </a:xfrm>
          <a:prstGeom prst="rect">
            <a:avLst/>
          </a:prstGeom>
          <a:solidFill>
            <a:srgbClr val="D6D6EB"/>
          </a:solidFill>
          <a:ln w="12700">
            <a:solidFill>
              <a:srgbClr val="333399"/>
            </a:solidFill>
            <a:prstDash val="solid"/>
          </a:ln>
        </p:spPr>
      </p:sp>
      <p:sp>
        <p:nvSpPr>
          <p:cNvPr id="45" name="Text 42"/>
          <p:cNvSpPr txBox="1"/>
          <p:nvPr/>
        </p:nvSpPr>
        <p:spPr>
          <a:xfrm>
            <a:off x="192881" y="2824361"/>
            <a:ext cx="92987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a:t>
            </a:r>
            <a:endParaRPr lang="en-US" sz="1700" dirty="0"/>
          </a:p>
        </p:txBody>
      </p:sp>
      <p:sp>
        <p:nvSpPr>
          <p:cNvPr id="46" name="Shape 43"/>
          <p:cNvSpPr/>
          <p:nvPr/>
        </p:nvSpPr>
        <p:spPr>
          <a:xfrm>
            <a:off x="2102048" y="2716411"/>
            <a:ext cx="2326879" cy="479227"/>
          </a:xfrm>
          <a:prstGeom prst="rect">
            <a:avLst/>
          </a:prstGeom>
          <a:solidFill>
            <a:srgbClr val="D6D6EB"/>
          </a:solidFill>
          <a:ln w="12700">
            <a:solidFill>
              <a:srgbClr val="333399"/>
            </a:solidFill>
            <a:prstDash val="solid"/>
          </a:ln>
        </p:spPr>
      </p:sp>
      <p:sp>
        <p:nvSpPr>
          <p:cNvPr id="47" name="Text 44"/>
          <p:cNvSpPr txBox="1"/>
          <p:nvPr/>
        </p:nvSpPr>
        <p:spPr>
          <a:xfrm>
            <a:off x="2197299" y="2811661"/>
            <a:ext cx="2076252" cy="266700"/>
          </a:xfrm>
          <a:prstGeom prst="rect">
            <a:avLst/>
          </a:prstGeom>
          <a:noFill/>
          <a:ln/>
        </p:spPr>
        <p:txBody>
          <a:bodyPr wrap="none" lIns="0" tIns="0" rIns="0" bIns="0" rtlCol="0" anchor="t"/>
          <a:lstStyle/>
          <a:p>
            <a:pPr algn="l" indent="0" marL="0">
              <a:buNone/>
            </a:pPr>
            <a:r>
              <a:rPr lang="en-US" sz="1700" dirty="0">
                <a:solidFill>
                  <a:srgbClr val="000000"/>
                </a:solidFill>
                <a:latin typeface="Calibri" pitchFamily="34" charset="0"/>
                <a:ea typeface="Calibri" pitchFamily="34" charset="-122"/>
                <a:cs typeface="Calibri" pitchFamily="34" charset="-120"/>
              </a:rPr>
              <a:t>URI query component</a:t>
            </a:r>
            <a:endParaRPr lang="en-US" sz="1700" dirty="0"/>
          </a:p>
        </p:txBody>
      </p:sp>
      <p:sp>
        <p:nvSpPr>
          <p:cNvPr id="48" name="Shape 45"/>
          <p:cNvSpPr/>
          <p:nvPr/>
        </p:nvSpPr>
        <p:spPr>
          <a:xfrm>
            <a:off x="4428927" y="2716411"/>
            <a:ext cx="2006005" cy="479227"/>
          </a:xfrm>
          <a:prstGeom prst="rect">
            <a:avLst/>
          </a:prstGeom>
          <a:solidFill>
            <a:srgbClr val="D6D6EB"/>
          </a:solidFill>
          <a:ln w="12700">
            <a:solidFill>
              <a:srgbClr val="333399"/>
            </a:solidFill>
            <a:prstDash val="solid"/>
          </a:ln>
        </p:spPr>
      </p:sp>
      <p:sp>
        <p:nvSpPr>
          <p:cNvPr id="49" name="Shape 46"/>
          <p:cNvSpPr/>
          <p:nvPr/>
        </p:nvSpPr>
        <p:spPr>
          <a:xfrm>
            <a:off x="5725120" y="2837061"/>
            <a:ext cx="243681" cy="254000"/>
          </a:xfrm>
          <a:prstGeom prst="rect">
            <a:avLst/>
          </a:prstGeom>
          <a:solidFill>
            <a:srgbClr val="FFFFFF"/>
          </a:solidFill>
          <a:ln w="12700">
            <a:solidFill>
              <a:srgbClr val="333399"/>
            </a:solidFill>
            <a:prstDash val="solid"/>
          </a:ln>
        </p:spPr>
      </p:sp>
      <p:sp>
        <p:nvSpPr>
          <p:cNvPr id="50" name="Text 47"/>
          <p:cNvSpPr txBox="1"/>
          <p:nvPr/>
        </p:nvSpPr>
        <p:spPr>
          <a:xfrm>
            <a:off x="4524176" y="2811661"/>
            <a:ext cx="1533525" cy="266700"/>
          </a:xfrm>
          <a:prstGeom prst="rect">
            <a:avLst/>
          </a:prstGeom>
          <a:noFill/>
          <a:ln/>
        </p:spPr>
        <p:txBody>
          <a:bodyPr wrap="none" lIns="0" tIns="0" rIns="0" bIns="0" rtlCol="0" anchor="t"/>
          <a:lstStyle/>
          <a:p>
            <a:pPr algn="l" indent="0" marL="0">
              <a:buNone/>
            </a:pPr>
            <a:r>
              <a:rPr lang="en-US" sz="1700" b="1" dirty="0">
                <a:solidFill>
                  <a:srgbClr val="993300"/>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usually just </a:t>
            </a:r>
            <a:pPr algn="l" indent="0" marL="0">
              <a:buNone/>
            </a:pPr>
            <a:r>
              <a:rPr lang="en-US" sz="1531"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51" name="Shape 48"/>
          <p:cNvSpPr/>
          <p:nvPr/>
        </p:nvSpPr>
        <p:spPr>
          <a:xfrm>
            <a:off x="97631" y="3925491"/>
            <a:ext cx="6337300" cy="12700"/>
          </a:xfrm>
          <a:prstGeom prst="rect">
            <a:avLst/>
          </a:prstGeom>
          <a:solidFill>
            <a:srgbClr val="9CA3AF">
              <a:alpha val="20000"/>
            </a:srgbClr>
          </a:solidFill>
          <a:ln/>
        </p:spPr>
      </p:sp>
      <p:sp>
        <p:nvSpPr>
          <p:cNvPr id="52" name="Shape 49"/>
          <p:cNvSpPr/>
          <p:nvPr/>
        </p:nvSpPr>
        <p:spPr>
          <a:xfrm>
            <a:off x="97631" y="3195637"/>
            <a:ext cx="2004417" cy="742553"/>
          </a:xfrm>
          <a:prstGeom prst="rect">
            <a:avLst/>
          </a:prstGeom>
          <a:solidFill>
            <a:srgbClr val="FFFFFF"/>
          </a:solidFill>
          <a:ln w="12700">
            <a:solidFill>
              <a:srgbClr val="333399"/>
            </a:solidFill>
            <a:prstDash val="solid"/>
          </a:ln>
        </p:spPr>
      </p:sp>
      <p:sp>
        <p:nvSpPr>
          <p:cNvPr id="53" name="Text 50"/>
          <p:cNvSpPr txBox="1"/>
          <p:nvPr/>
        </p:nvSpPr>
        <p:spPr>
          <a:xfrm>
            <a:off x="192881" y="3435152"/>
            <a:ext cx="170715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@query-param</a:t>
            </a:r>
            <a:endParaRPr lang="en-US" sz="1700" dirty="0"/>
          </a:p>
        </p:txBody>
      </p:sp>
      <p:sp>
        <p:nvSpPr>
          <p:cNvPr id="54" name="Shape 51"/>
          <p:cNvSpPr/>
          <p:nvPr/>
        </p:nvSpPr>
        <p:spPr>
          <a:xfrm>
            <a:off x="2102048" y="3195637"/>
            <a:ext cx="2326879" cy="742553"/>
          </a:xfrm>
          <a:prstGeom prst="rect">
            <a:avLst/>
          </a:prstGeom>
          <a:solidFill>
            <a:srgbClr val="FFFFFF"/>
          </a:solidFill>
          <a:ln w="12700">
            <a:solidFill>
              <a:srgbClr val="333399"/>
            </a:solidFill>
            <a:prstDash val="solid"/>
          </a:ln>
        </p:spPr>
      </p:sp>
      <p:sp>
        <p:nvSpPr>
          <p:cNvPr id="55" name="Text 52"/>
          <p:cNvSpPr txBox="1"/>
          <p:nvPr/>
        </p:nvSpPr>
        <p:spPr>
          <a:xfrm>
            <a:off x="2190948" y="3290888"/>
            <a:ext cx="2174479" cy="530027"/>
          </a:xfrm>
          <a:prstGeom prst="rect">
            <a:avLst/>
          </a:prstGeom>
          <a:noFill/>
          <a:ln/>
        </p:spPr>
        <p:txBody>
          <a:bodyPr wrap="square" lIns="0" tIns="0" rIns="0" bIns="0" rtlCol="0" anchor="t"/>
          <a:lstStyle/>
          <a:p>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one URI query parameter</a:t>
            </a:r>
            <a:endParaRPr lang="en-US" sz="1700" dirty="0"/>
          </a:p>
        </p:txBody>
      </p:sp>
      <p:sp>
        <p:nvSpPr>
          <p:cNvPr id="56" name="Shape 53"/>
          <p:cNvSpPr/>
          <p:nvPr/>
        </p:nvSpPr>
        <p:spPr>
          <a:xfrm>
            <a:off x="4428927" y="3195637"/>
            <a:ext cx="2006005" cy="742553"/>
          </a:xfrm>
          <a:prstGeom prst="rect">
            <a:avLst/>
          </a:prstGeom>
          <a:solidFill>
            <a:srgbClr val="FFFFFF"/>
          </a:solidFill>
          <a:ln w="12700">
            <a:solidFill>
              <a:srgbClr val="333399"/>
            </a:solidFill>
            <a:prstDash val="solid"/>
          </a:ln>
        </p:spPr>
      </p:sp>
      <p:sp>
        <p:nvSpPr>
          <p:cNvPr id="57" name="Text 54"/>
          <p:cNvSpPr txBox="1"/>
          <p:nvPr/>
        </p:nvSpPr>
        <p:spPr>
          <a:xfrm>
            <a:off x="4517827" y="3290888"/>
            <a:ext cx="1853605" cy="530027"/>
          </a:xfrm>
          <a:prstGeom prst="rect">
            <a:avLst/>
          </a:prstGeom>
          <a:noFill/>
          <a:ln/>
        </p:spPr>
        <p:txBody>
          <a:bodyPr wrap="square" lIns="0" tIns="0" rIns="0" bIns="0" rtlCol="0" anchor="t"/>
          <a:lstStyle/>
          <a:p>
            <a:pPr algn="l" indent="0" marL="0">
              <a:lnSpc>
                <a:spcPts val="2073"/>
              </a:lnSpc>
              <a:buNone/>
            </a:pPr>
            <a:r>
              <a:rPr lang="en-US" sz="1700" b="1" dirty="0">
                <a:solidFill>
                  <a:srgbClr val="993300"/>
                </a:solidFill>
                <a:latin typeface="Calibri" pitchFamily="34" charset="0"/>
                <a:ea typeface="Calibri" pitchFamily="34" charset="-122"/>
                <a:cs typeface="Calibri" pitchFamily="34" charset="-120"/>
              </a:rPr>
              <a:t>✗</a:t>
            </a:r>
            <a:pPr algn="l" indent="0" marL="0">
              <a:lnSpc>
                <a:spcPts val="2073"/>
              </a:lnSpc>
              <a:buNone/>
            </a:pPr>
            <a:r>
              <a:rPr lang="en-US" sz="1700" dirty="0">
                <a:solidFill>
                  <a:srgbClr val="000000"/>
                </a:solidFill>
                <a:latin typeface="Calibri" pitchFamily="34" charset="0"/>
                <a:ea typeface="Calibri" pitchFamily="34" charset="-122"/>
                <a:cs typeface="Calibri" pitchFamily="34" charset="-120"/>
              </a:rPr>
              <a:t> nothing in the content</a:t>
            </a:r>
            <a:endParaRPr lang="en-US" sz="1700" dirty="0"/>
          </a:p>
        </p:txBody>
      </p:sp>
      <p:sp>
        <p:nvSpPr>
          <p:cNvPr id="58" name="Shape 55"/>
          <p:cNvSpPr/>
          <p:nvPr/>
        </p:nvSpPr>
        <p:spPr>
          <a:xfrm>
            <a:off x="97631" y="4668044"/>
            <a:ext cx="6337300" cy="12700"/>
          </a:xfrm>
          <a:prstGeom prst="rect">
            <a:avLst/>
          </a:prstGeom>
          <a:solidFill>
            <a:srgbClr val="9CA3AF">
              <a:alpha val="20000"/>
            </a:srgbClr>
          </a:solidFill>
          <a:ln/>
        </p:spPr>
      </p:sp>
      <p:sp>
        <p:nvSpPr>
          <p:cNvPr id="59" name="Shape 56"/>
          <p:cNvSpPr/>
          <p:nvPr/>
        </p:nvSpPr>
        <p:spPr>
          <a:xfrm>
            <a:off x="97631" y="3938191"/>
            <a:ext cx="2004417" cy="742553"/>
          </a:xfrm>
          <a:prstGeom prst="rect">
            <a:avLst/>
          </a:prstGeom>
          <a:solidFill>
            <a:srgbClr val="D6D6EB"/>
          </a:solidFill>
          <a:ln w="12700">
            <a:solidFill>
              <a:srgbClr val="333399"/>
            </a:solidFill>
            <a:prstDash val="solid"/>
          </a:ln>
        </p:spPr>
      </p:sp>
      <p:sp>
        <p:nvSpPr>
          <p:cNvPr id="60" name="Text 57"/>
          <p:cNvSpPr txBox="1"/>
          <p:nvPr/>
        </p:nvSpPr>
        <p:spPr>
          <a:xfrm>
            <a:off x="192881" y="4177705"/>
            <a:ext cx="196631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content-digest</a:t>
            </a:r>
            <a:endParaRPr lang="en-US" sz="1700" dirty="0"/>
          </a:p>
        </p:txBody>
      </p:sp>
      <p:sp>
        <p:nvSpPr>
          <p:cNvPr id="61" name="Shape 58"/>
          <p:cNvSpPr/>
          <p:nvPr/>
        </p:nvSpPr>
        <p:spPr>
          <a:xfrm>
            <a:off x="2102048" y="3938191"/>
            <a:ext cx="2326879" cy="742553"/>
          </a:xfrm>
          <a:prstGeom prst="rect">
            <a:avLst/>
          </a:prstGeom>
          <a:solidFill>
            <a:srgbClr val="D6D6EB"/>
          </a:solidFill>
          <a:ln w="12700">
            <a:solidFill>
              <a:srgbClr val="333399"/>
            </a:solidFill>
            <a:prstDash val="solid"/>
          </a:ln>
        </p:spPr>
      </p:sp>
      <p:sp>
        <p:nvSpPr>
          <p:cNvPr id="62" name="Text 59"/>
          <p:cNvSpPr txBox="1"/>
          <p:nvPr/>
        </p:nvSpPr>
        <p:spPr>
          <a:xfrm>
            <a:off x="2190948" y="4033440"/>
            <a:ext cx="2174479" cy="504627"/>
          </a:xfrm>
          <a:prstGeom prst="rect">
            <a:avLst/>
          </a:prstGeom>
          <a:noFill/>
          <a:ln/>
        </p:spPr>
        <p:txBody>
          <a:bodyPr wrap="square" lIns="0" tIns="0" rIns="0" bIns="0" rtlCol="0" anchor="t"/>
          <a:lstStyle/>
          <a:p>
            <a:pPr algn="l" indent="0" marL="0">
              <a:lnSpc>
                <a:spcPts val="2473"/>
              </a:lnSpc>
              <a:buNone/>
            </a:pPr>
            <a:r>
              <a:rPr lang="en-US" sz="1700" dirty="0">
                <a:solidFill>
                  <a:srgbClr val="000000"/>
                </a:solidFill>
                <a:latin typeface="Calibri" pitchFamily="34" charset="0"/>
                <a:ea typeface="Calibri" pitchFamily="34" charset="-122"/>
                <a:cs typeface="Calibri" pitchFamily="34" charset="-120"/>
              </a:rPr>
              <a:t>hash of the content </a:t>
            </a:r>
            <a:pPr algn="l" indent="0" marL="0">
              <a:lnSpc>
                <a:spcPts val="2473"/>
              </a:lnSpc>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9530]</a:t>
            </a:r>
            <a:endParaRPr lang="en-US" sz="1700" dirty="0"/>
          </a:p>
        </p:txBody>
      </p:sp>
      <p:sp>
        <p:nvSpPr>
          <p:cNvPr id="63" name="Shape 60"/>
          <p:cNvSpPr/>
          <p:nvPr/>
        </p:nvSpPr>
        <p:spPr>
          <a:xfrm>
            <a:off x="4428927" y="3938191"/>
            <a:ext cx="2006005" cy="742553"/>
          </a:xfrm>
          <a:prstGeom prst="rect">
            <a:avLst/>
          </a:prstGeom>
          <a:solidFill>
            <a:srgbClr val="D6D6EB"/>
          </a:solidFill>
          <a:ln w="12700">
            <a:solidFill>
              <a:srgbClr val="333399"/>
            </a:solidFill>
            <a:prstDash val="solid"/>
          </a:ln>
        </p:spPr>
      </p:sp>
      <p:sp>
        <p:nvSpPr>
          <p:cNvPr id="64" name="Text 61"/>
          <p:cNvSpPr txBox="1"/>
          <p:nvPr/>
        </p:nvSpPr>
        <p:spPr>
          <a:xfrm>
            <a:off x="4524176" y="4165005"/>
            <a:ext cx="1694656" cy="266700"/>
          </a:xfrm>
          <a:prstGeom prst="rect">
            <a:avLst/>
          </a:prstGeom>
          <a:noFill/>
          <a:ln/>
        </p:spPr>
        <p:txBody>
          <a:bodyPr wrap="none" lIns="0" tIns="0" rIns="0" bIns="0" rtlCol="0" anchor="t"/>
          <a:lstStyle/>
          <a:p>
            <a:pPr algn="l" indent="0" marL="0">
              <a:buNone/>
            </a:pPr>
            <a:r>
              <a:rPr lang="en-US" sz="1700" b="1" dirty="0">
                <a:solidFill>
                  <a:srgbClr val="009999"/>
                </a:solidFill>
                <a:latin typeface="Calibri" pitchFamily="34" charset="0"/>
                <a:ea typeface="Calibri" pitchFamily="34" charset="-122"/>
                <a:cs typeface="Calibri" pitchFamily="34" charset="-120"/>
              </a:rPr>
              <a:t>✓</a:t>
            </a:r>
            <a:pPr algn="l" indent="0" marL="0">
              <a:buNone/>
            </a:pPr>
            <a:r>
              <a:rPr lang="en-US" sz="1700" dirty="0">
                <a:solidFill>
                  <a:srgbClr val="000000"/>
                </a:solidFill>
                <a:latin typeface="Calibri" pitchFamily="34" charset="0"/>
                <a:ea typeface="Calibri" pitchFamily="34" charset="-122"/>
                <a:cs typeface="Calibri" pitchFamily="34" charset="-120"/>
              </a:rPr>
              <a:t> the query itself</a:t>
            </a:r>
            <a:endParaRPr lang="en-US" sz="1700" dirty="0"/>
          </a:p>
        </p:txBody>
      </p:sp>
      <p:sp>
        <p:nvSpPr>
          <p:cNvPr id="65" name="Text 62"/>
          <p:cNvSpPr txBox="1"/>
          <p:nvPr/>
        </p:nvSpPr>
        <p:spPr>
          <a:xfrm>
            <a:off x="6985992" y="13612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6" name="Shape 63"/>
          <p:cNvSpPr/>
          <p:nvPr/>
        </p:nvSpPr>
        <p:spPr>
          <a:xfrm>
            <a:off x="9670653" y="1386681"/>
            <a:ext cx="1951633" cy="266700"/>
          </a:xfrm>
          <a:prstGeom prst="rect">
            <a:avLst/>
          </a:prstGeom>
          <a:solidFill>
            <a:srgbClr val="FFFFFF"/>
          </a:solidFill>
          <a:ln w="12700">
            <a:solidFill>
              <a:srgbClr val="333399"/>
            </a:solidFill>
            <a:prstDash val="solid"/>
          </a:ln>
        </p:spPr>
      </p:sp>
      <p:sp>
        <p:nvSpPr>
          <p:cNvPr id="67" name="Text 64"/>
          <p:cNvSpPr txBox="1"/>
          <p:nvPr/>
        </p:nvSpPr>
        <p:spPr>
          <a:xfrm>
            <a:off x="7328892" y="1348581"/>
            <a:ext cx="4594027" cy="590551"/>
          </a:xfrm>
          <a:prstGeom prst="rect">
            <a:avLst/>
          </a:prstGeom>
          <a:noFill/>
          <a:ln/>
        </p:spPr>
        <p:txBody>
          <a:bodyPr wrap="square" lIns="0" tIns="0" rIns="0" bIns="0" rtlCol="0" anchor="t"/>
          <a:lstStyle/>
          <a:p>
            <a:pPr algn="l" indent="0" marL="0">
              <a:lnSpc>
                <a:spcPts val="2351"/>
              </a:lnSpc>
              <a:buNone/>
            </a:pPr>
            <a:r>
              <a:rPr lang="en-US" sz="1900" b="1" dirty="0">
                <a:solidFill>
                  <a:srgbClr val="000000"/>
                </a:solidFill>
                <a:latin typeface="Calibri" pitchFamily="34" charset="0"/>
                <a:ea typeface="Calibri" pitchFamily="34" charset="-122"/>
                <a:cs typeface="Calibri" pitchFamily="34" charset="-120"/>
              </a:rPr>
              <a:t>Sign the content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cover </a:t>
            </a:r>
            <a:pPr algn="l" indent="0" marL="0">
              <a:lnSpc>
                <a:spcPts val="2351"/>
              </a:lnSpc>
              <a:buNone/>
            </a:pPr>
            <a:r>
              <a:rPr lang="en-US" sz="1711" b="1" dirty="0">
                <a:solidFill>
                  <a:srgbClr val="000000"/>
                </a:solidFill>
                <a:latin typeface="Courier New" pitchFamily="34" charset="0"/>
                <a:ea typeface="Courier New" pitchFamily="34" charset="-122"/>
                <a:cs typeface="Courier New" pitchFamily="34" charset="-120"/>
              </a:rPr>
              <a:t>content-digest</a:t>
            </a:r>
            <a:pPr algn="l" indent="0" marL="0">
              <a:lnSpc>
                <a:spcPts val="2351"/>
              </a:lnSpc>
              <a:buNone/>
            </a:pPr>
            <a:r>
              <a:rPr lang="en-US" sz="1900" dirty="0">
                <a:solidFill>
                  <a:srgbClr val="000000"/>
                </a:solidFill>
                <a:latin typeface="Calibri" pitchFamily="34" charset="0"/>
                <a:ea typeface="Calibri" pitchFamily="34" charset="-122"/>
                <a:cs typeface="Calibri" pitchFamily="34" charset="-120"/>
              </a:rPr>
              <a:t>; the verifier must recompute it </a:t>
            </a:r>
            <a:pPr algn="l" indent="0" marL="0">
              <a:lnSpc>
                <a:spcPts val="23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9421 §7.2.8]</a:t>
            </a:r>
            <a:endParaRPr lang="en-US" sz="1900" dirty="0"/>
          </a:p>
        </p:txBody>
      </p:sp>
      <p:sp>
        <p:nvSpPr>
          <p:cNvPr id="68" name="Text 65"/>
          <p:cNvSpPr txBox="1"/>
          <p:nvPr/>
        </p:nvSpPr>
        <p:spPr>
          <a:xfrm>
            <a:off x="6985992" y="20762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69" name="Text 66"/>
          <p:cNvSpPr txBox="1"/>
          <p:nvPr/>
        </p:nvSpPr>
        <p:spPr>
          <a:xfrm>
            <a:off x="7328892" y="2063552"/>
            <a:ext cx="4594027" cy="1135261"/>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Parameter shadowing</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frameworks that merge URI and form parameters let an unsigned body value override a signed one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9421 §7.5.8]</a:t>
            </a:r>
            <a:endParaRPr lang="en-US" sz="1900" dirty="0"/>
          </a:p>
        </p:txBody>
      </p:sp>
      <p:sp>
        <p:nvSpPr>
          <p:cNvPr id="70" name="Text 67"/>
          <p:cNvSpPr txBox="1"/>
          <p:nvPr/>
        </p:nvSpPr>
        <p:spPr>
          <a:xfrm>
            <a:off x="6985992" y="336133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71" name="Text 68"/>
          <p:cNvSpPr txBox="1"/>
          <p:nvPr/>
        </p:nvSpPr>
        <p:spPr>
          <a:xfrm>
            <a:off x="7328892" y="3348633"/>
            <a:ext cx="4618200"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Re-encoding</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intermediaries change the digest and must re-sign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9421 §7.2.8]</a:t>
            </a:r>
            <a:endParaRPr lang="en-US" sz="1900" dirty="0"/>
          </a:p>
        </p:txBody>
      </p:sp>
      <p:sp>
        <p:nvSpPr>
          <p:cNvPr id="72" name="Text 69"/>
          <p:cNvSpPr txBox="1"/>
          <p:nvPr/>
        </p:nvSpPr>
        <p:spPr>
          <a:xfrm>
            <a:off x="6985992" y="406737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73" name="Text 70"/>
          <p:cNvSpPr txBox="1"/>
          <p:nvPr/>
        </p:nvSpPr>
        <p:spPr>
          <a:xfrm>
            <a:off x="7328892" y="4054673"/>
            <a:ext cx="4594027" cy="581620"/>
          </a:xfrm>
          <a:prstGeom prst="rect">
            <a:avLst/>
          </a:prstGeom>
          <a:noFill/>
          <a:ln/>
        </p:spPr>
        <p:txBody>
          <a:bodyPr wrap="square" lIns="0" tIns="0" rIns="0" bIns="0" rtlCol="0" anchor="t"/>
          <a:lstStyle/>
          <a:p>
            <a:pPr algn="l" indent="0" marL="0">
              <a:lnSpc>
                <a:spcPts val="2280"/>
              </a:lnSpc>
              <a:buNone/>
            </a:pPr>
            <a:r>
              <a:rPr lang="en-US" sz="1900" b="1" dirty="0">
                <a:solidFill>
                  <a:srgbClr val="000000"/>
                </a:solidFill>
                <a:latin typeface="Calibri" pitchFamily="34" charset="0"/>
                <a:ea typeface="Calibri" pitchFamily="34" charset="-122"/>
                <a:cs typeface="Calibri" pitchFamily="34" charset="-120"/>
              </a:rPr>
              <a:t>Integrity and origin only</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not authorization, validation or confidentiality </a:t>
            </a:r>
            <a:pPr algn="l" indent="0" marL="0">
              <a:lnSpc>
                <a:spcPts val="2280"/>
              </a:lnSpc>
              <a:buNone/>
            </a:pPr>
            <a:r>
              <a:rPr lang="en-US" sz="1300" u="sng" dirty="0">
                <a:solidFill>
                  <a:srgbClr val="00999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9421 §1]</a:t>
            </a:r>
            <a:endParaRPr lang="en-US" sz="1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91281" y="1975843"/>
            <a:ext cx="2603500" cy="512961"/>
          </a:xfrm>
          <a:prstGeom prst="rect">
            <a:avLst/>
          </a:prstGeom>
          <a:solidFill>
            <a:srgbClr val="D6D6EB"/>
          </a:solidFill>
          <a:ln w="12700">
            <a:solidFill>
              <a:srgbClr val="333399"/>
            </a:solidFill>
            <a:prstDash val="solid"/>
          </a:ln>
        </p:spPr>
      </p:sp>
      <p:pic>
        <p:nvPicPr>
          <p:cNvPr id="14"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5" name="Text 10"/>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6" name="Shape 11"/>
          <p:cNvSpPr/>
          <p:nvPr/>
        </p:nvSpPr>
        <p:spPr>
          <a:xfrm>
            <a:off x="91281" y="2590403"/>
            <a:ext cx="2603500" cy="512961"/>
          </a:xfrm>
          <a:prstGeom prst="rect">
            <a:avLst/>
          </a:prstGeom>
          <a:solidFill>
            <a:srgbClr val="D6D6EB"/>
          </a:solidFill>
          <a:ln w="12700">
            <a:solidFill>
              <a:srgbClr val="333399"/>
            </a:solidFill>
            <a:prstDash val="solid"/>
          </a:ln>
        </p:spPr>
      </p:sp>
      <p:pic>
        <p:nvPicPr>
          <p:cNvPr id="17"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18" name="Text 12"/>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19" name="Shape 13"/>
          <p:cNvSpPr/>
          <p:nvPr/>
        </p:nvSpPr>
        <p:spPr>
          <a:xfrm>
            <a:off x="91281" y="3204964"/>
            <a:ext cx="2603500" cy="512961"/>
          </a:xfrm>
          <a:prstGeom prst="rect">
            <a:avLst/>
          </a:prstGeom>
          <a:solidFill>
            <a:srgbClr val="D6D6EB"/>
          </a:solidFill>
          <a:ln w="12700">
            <a:solidFill>
              <a:srgbClr val="333399"/>
            </a:solidFill>
            <a:prstDash val="solid"/>
          </a:ln>
        </p:spPr>
      </p:sp>
      <p:pic>
        <p:nvPicPr>
          <p:cNvPr id="20"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1" name="Text 14"/>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2" name="Shape 15"/>
          <p:cNvSpPr/>
          <p:nvPr/>
        </p:nvSpPr>
        <p:spPr>
          <a:xfrm>
            <a:off x="91281" y="3819525"/>
            <a:ext cx="2603500" cy="512961"/>
          </a:xfrm>
          <a:prstGeom prst="rect">
            <a:avLst/>
          </a:prstGeom>
          <a:solidFill>
            <a:srgbClr val="D6D6EB"/>
          </a:solidFill>
          <a:ln w="12700">
            <a:solidFill>
              <a:srgbClr val="333399"/>
            </a:solidFill>
            <a:prstDash val="solid"/>
          </a:ln>
        </p:spPr>
      </p:sp>
      <p:pic>
        <p:nvPicPr>
          <p:cNvPr id="23"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24" name="Text 16"/>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25" name="Shape 17"/>
          <p:cNvSpPr/>
          <p:nvPr/>
        </p:nvSpPr>
        <p:spPr>
          <a:xfrm>
            <a:off x="91281" y="4434085"/>
            <a:ext cx="2603500" cy="512961"/>
          </a:xfrm>
          <a:prstGeom prst="rect">
            <a:avLst/>
          </a:prstGeom>
          <a:solidFill>
            <a:srgbClr val="D6D6EB"/>
          </a:solidFill>
          <a:ln w="12700">
            <a:solidFill>
              <a:srgbClr val="333399"/>
            </a:solidFill>
            <a:prstDash val="solid"/>
          </a:ln>
        </p:spPr>
      </p:sp>
      <p:pic>
        <p:nvPicPr>
          <p:cNvPr id="26"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27" name="Text 18"/>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28" name="Text 19"/>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2872581" y="1470620"/>
            <a:ext cx="38100" cy="294283"/>
          </a:xfrm>
          <a:prstGeom prst="rect">
            <a:avLst/>
          </a:prstGeom>
          <a:solidFill>
            <a:srgbClr val="993300"/>
          </a:solidFill>
          <a:ln/>
        </p:spPr>
      </p:sp>
      <p:sp>
        <p:nvSpPr>
          <p:cNvPr id="14" name="Text 10"/>
          <p:cNvSpPr txBox="1"/>
          <p:nvPr/>
        </p:nvSpPr>
        <p:spPr>
          <a:xfrm>
            <a:off x="3037681" y="1470620"/>
            <a:ext cx="75578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preflight and allowed origins · credentials mode · exact method casing</a:t>
            </a:r>
            <a:endParaRPr lang="en-US" sz="1900" dirty="0"/>
          </a:p>
        </p:txBody>
      </p:sp>
      <p:sp>
        <p:nvSpPr>
          <p:cNvPr id="15" name="Shape 11"/>
          <p:cNvSpPr/>
          <p:nvPr/>
        </p:nvSpPr>
        <p:spPr>
          <a:xfrm>
            <a:off x="91281" y="1975843"/>
            <a:ext cx="2603500" cy="512961"/>
          </a:xfrm>
          <a:prstGeom prst="rect">
            <a:avLst/>
          </a:prstGeom>
          <a:solidFill>
            <a:srgbClr val="D6D6EB"/>
          </a:solidFill>
          <a:ln w="12700">
            <a:solidFill>
              <a:srgbClr val="333399"/>
            </a:solidFill>
            <a:prstDash val="solid"/>
          </a:ln>
        </p:spPr>
      </p:sp>
      <p:pic>
        <p:nvPicPr>
          <p:cNvPr id="16"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7" name="Text 12"/>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8" name="Shape 13"/>
          <p:cNvSpPr/>
          <p:nvPr/>
        </p:nvSpPr>
        <p:spPr>
          <a:xfrm>
            <a:off x="91281" y="2590403"/>
            <a:ext cx="2603500" cy="512961"/>
          </a:xfrm>
          <a:prstGeom prst="rect">
            <a:avLst/>
          </a:prstGeom>
          <a:solidFill>
            <a:srgbClr val="D6D6EB"/>
          </a:solidFill>
          <a:ln w="12700">
            <a:solidFill>
              <a:srgbClr val="333399"/>
            </a:solidFill>
            <a:prstDash val="solid"/>
          </a:ln>
        </p:spPr>
      </p:sp>
      <p:pic>
        <p:nvPicPr>
          <p:cNvPr id="19"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20" name="Text 14"/>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21" name="Shape 15"/>
          <p:cNvSpPr/>
          <p:nvPr/>
        </p:nvSpPr>
        <p:spPr>
          <a:xfrm>
            <a:off x="91281" y="3204964"/>
            <a:ext cx="2603500" cy="512961"/>
          </a:xfrm>
          <a:prstGeom prst="rect">
            <a:avLst/>
          </a:prstGeom>
          <a:solidFill>
            <a:srgbClr val="D6D6EB"/>
          </a:solidFill>
          <a:ln w="12700">
            <a:solidFill>
              <a:srgbClr val="333399"/>
            </a:solidFill>
            <a:prstDash val="solid"/>
          </a:ln>
        </p:spPr>
      </p:sp>
      <p:pic>
        <p:nvPicPr>
          <p:cNvPr id="22"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3" name="Text 16"/>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4" name="Shape 17"/>
          <p:cNvSpPr/>
          <p:nvPr/>
        </p:nvSpPr>
        <p:spPr>
          <a:xfrm>
            <a:off x="91281" y="3819525"/>
            <a:ext cx="2603500" cy="512961"/>
          </a:xfrm>
          <a:prstGeom prst="rect">
            <a:avLst/>
          </a:prstGeom>
          <a:solidFill>
            <a:srgbClr val="D6D6EB"/>
          </a:solidFill>
          <a:ln w="12700">
            <a:solidFill>
              <a:srgbClr val="333399"/>
            </a:solidFill>
            <a:prstDash val="solid"/>
          </a:ln>
        </p:spPr>
      </p:sp>
      <p:pic>
        <p:nvPicPr>
          <p:cNvPr id="25"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26" name="Text 18"/>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27" name="Shape 19"/>
          <p:cNvSpPr/>
          <p:nvPr/>
        </p:nvSpPr>
        <p:spPr>
          <a:xfrm>
            <a:off x="91281" y="4434085"/>
            <a:ext cx="2603500" cy="512961"/>
          </a:xfrm>
          <a:prstGeom prst="rect">
            <a:avLst/>
          </a:prstGeom>
          <a:solidFill>
            <a:srgbClr val="D6D6EB"/>
          </a:solidFill>
          <a:ln w="12700">
            <a:solidFill>
              <a:srgbClr val="333399"/>
            </a:solidFill>
            <a:prstDash val="solid"/>
          </a:ln>
        </p:spPr>
      </p:sp>
      <p:pic>
        <p:nvPicPr>
          <p:cNvPr id="28"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29" name="Text 20"/>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30" name="Text 21"/>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2872581" y="1470620"/>
            <a:ext cx="38100" cy="294283"/>
          </a:xfrm>
          <a:prstGeom prst="rect">
            <a:avLst/>
          </a:prstGeom>
          <a:solidFill>
            <a:srgbClr val="993300"/>
          </a:solidFill>
          <a:ln/>
        </p:spPr>
      </p:sp>
      <p:sp>
        <p:nvSpPr>
          <p:cNvPr id="14" name="Text 10"/>
          <p:cNvSpPr txBox="1"/>
          <p:nvPr/>
        </p:nvSpPr>
        <p:spPr>
          <a:xfrm>
            <a:off x="3037681" y="1470620"/>
            <a:ext cx="75578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preflight and allowed origins · credentials mode · exact method casing</a:t>
            </a:r>
            <a:endParaRPr lang="en-US" sz="1900" dirty="0"/>
          </a:p>
        </p:txBody>
      </p:sp>
      <p:sp>
        <p:nvSpPr>
          <p:cNvPr id="15" name="Shape 11"/>
          <p:cNvSpPr/>
          <p:nvPr/>
        </p:nvSpPr>
        <p:spPr>
          <a:xfrm>
            <a:off x="91281" y="1975843"/>
            <a:ext cx="2603500" cy="512961"/>
          </a:xfrm>
          <a:prstGeom prst="rect">
            <a:avLst/>
          </a:prstGeom>
          <a:solidFill>
            <a:srgbClr val="D6D6EB"/>
          </a:solidFill>
          <a:ln w="12700">
            <a:solidFill>
              <a:srgbClr val="333399"/>
            </a:solidFill>
            <a:prstDash val="solid"/>
          </a:ln>
        </p:spPr>
      </p:sp>
      <p:pic>
        <p:nvPicPr>
          <p:cNvPr id="16"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7" name="Text 12"/>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8" name="Shape 13"/>
          <p:cNvSpPr/>
          <p:nvPr/>
        </p:nvSpPr>
        <p:spPr>
          <a:xfrm>
            <a:off x="2872581" y="2085181"/>
            <a:ext cx="38100" cy="294283"/>
          </a:xfrm>
          <a:prstGeom prst="rect">
            <a:avLst/>
          </a:prstGeom>
          <a:solidFill>
            <a:srgbClr val="993300"/>
          </a:solidFill>
          <a:ln/>
        </p:spPr>
      </p:sp>
      <p:sp>
        <p:nvSpPr>
          <p:cNvPr id="19" name="Text 14"/>
          <p:cNvSpPr txBox="1"/>
          <p:nvPr/>
        </p:nvSpPr>
        <p:spPr>
          <a:xfrm>
            <a:off x="3037681" y="2085181"/>
            <a:ext cx="7634883"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 key includes content + type · safe normalization · poisoning, deception</a:t>
            </a:r>
            <a:endParaRPr lang="en-US" sz="1900" dirty="0"/>
          </a:p>
        </p:txBody>
      </p:sp>
      <p:sp>
        <p:nvSpPr>
          <p:cNvPr id="20" name="Shape 15"/>
          <p:cNvSpPr/>
          <p:nvPr/>
        </p:nvSpPr>
        <p:spPr>
          <a:xfrm>
            <a:off x="91281" y="2590403"/>
            <a:ext cx="2603500" cy="512961"/>
          </a:xfrm>
          <a:prstGeom prst="rect">
            <a:avLst/>
          </a:prstGeom>
          <a:solidFill>
            <a:srgbClr val="D6D6EB"/>
          </a:solidFill>
          <a:ln w="12700">
            <a:solidFill>
              <a:srgbClr val="333399"/>
            </a:solidFill>
            <a:prstDash val="solid"/>
          </a:ln>
        </p:spPr>
      </p:sp>
      <p:pic>
        <p:nvPicPr>
          <p:cNvPr id="21"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22" name="Text 16"/>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23" name="Shape 17"/>
          <p:cNvSpPr/>
          <p:nvPr/>
        </p:nvSpPr>
        <p:spPr>
          <a:xfrm>
            <a:off x="91281" y="3204964"/>
            <a:ext cx="2603500" cy="512961"/>
          </a:xfrm>
          <a:prstGeom prst="rect">
            <a:avLst/>
          </a:prstGeom>
          <a:solidFill>
            <a:srgbClr val="D6D6EB"/>
          </a:solidFill>
          <a:ln w="12700">
            <a:solidFill>
              <a:srgbClr val="333399"/>
            </a:solidFill>
            <a:prstDash val="solid"/>
          </a:ln>
        </p:spPr>
      </p:sp>
      <p:pic>
        <p:nvPicPr>
          <p:cNvPr id="24"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5" name="Text 18"/>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6" name="Shape 19"/>
          <p:cNvSpPr/>
          <p:nvPr/>
        </p:nvSpPr>
        <p:spPr>
          <a:xfrm>
            <a:off x="91281" y="3819525"/>
            <a:ext cx="2603500" cy="512961"/>
          </a:xfrm>
          <a:prstGeom prst="rect">
            <a:avLst/>
          </a:prstGeom>
          <a:solidFill>
            <a:srgbClr val="D6D6EB"/>
          </a:solidFill>
          <a:ln w="12700">
            <a:solidFill>
              <a:srgbClr val="333399"/>
            </a:solidFill>
            <a:prstDash val="solid"/>
          </a:ln>
        </p:spPr>
      </p:sp>
      <p:pic>
        <p:nvPicPr>
          <p:cNvPr id="27"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28" name="Text 20"/>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29" name="Shape 21"/>
          <p:cNvSpPr/>
          <p:nvPr/>
        </p:nvSpPr>
        <p:spPr>
          <a:xfrm>
            <a:off x="91281" y="4434085"/>
            <a:ext cx="2603500" cy="512961"/>
          </a:xfrm>
          <a:prstGeom prst="rect">
            <a:avLst/>
          </a:prstGeom>
          <a:solidFill>
            <a:srgbClr val="D6D6EB"/>
          </a:solidFill>
          <a:ln w="12700">
            <a:solidFill>
              <a:srgbClr val="333399"/>
            </a:solidFill>
            <a:prstDash val="solid"/>
          </a:ln>
        </p:spPr>
      </p:sp>
      <p:pic>
        <p:nvPicPr>
          <p:cNvPr id="30"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31" name="Text 22"/>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32" name="Text 23"/>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2872581" y="1470620"/>
            <a:ext cx="38100" cy="294283"/>
          </a:xfrm>
          <a:prstGeom prst="rect">
            <a:avLst/>
          </a:prstGeom>
          <a:solidFill>
            <a:srgbClr val="993300"/>
          </a:solidFill>
          <a:ln/>
        </p:spPr>
      </p:sp>
      <p:sp>
        <p:nvSpPr>
          <p:cNvPr id="14" name="Text 10"/>
          <p:cNvSpPr txBox="1"/>
          <p:nvPr/>
        </p:nvSpPr>
        <p:spPr>
          <a:xfrm>
            <a:off x="3037681" y="1470620"/>
            <a:ext cx="75578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preflight and allowed origins · credentials mode · exact method casing</a:t>
            </a:r>
            <a:endParaRPr lang="en-US" sz="1900" dirty="0"/>
          </a:p>
        </p:txBody>
      </p:sp>
      <p:sp>
        <p:nvSpPr>
          <p:cNvPr id="15" name="Shape 11"/>
          <p:cNvSpPr/>
          <p:nvPr/>
        </p:nvSpPr>
        <p:spPr>
          <a:xfrm>
            <a:off x="91281" y="1975843"/>
            <a:ext cx="2603500" cy="512961"/>
          </a:xfrm>
          <a:prstGeom prst="rect">
            <a:avLst/>
          </a:prstGeom>
          <a:solidFill>
            <a:srgbClr val="D6D6EB"/>
          </a:solidFill>
          <a:ln w="12700">
            <a:solidFill>
              <a:srgbClr val="333399"/>
            </a:solidFill>
            <a:prstDash val="solid"/>
          </a:ln>
        </p:spPr>
      </p:sp>
      <p:pic>
        <p:nvPicPr>
          <p:cNvPr id="16"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7" name="Text 12"/>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8" name="Shape 13"/>
          <p:cNvSpPr/>
          <p:nvPr/>
        </p:nvSpPr>
        <p:spPr>
          <a:xfrm>
            <a:off x="2872581" y="2085181"/>
            <a:ext cx="38100" cy="294283"/>
          </a:xfrm>
          <a:prstGeom prst="rect">
            <a:avLst/>
          </a:prstGeom>
          <a:solidFill>
            <a:srgbClr val="993300"/>
          </a:solidFill>
          <a:ln/>
        </p:spPr>
      </p:sp>
      <p:sp>
        <p:nvSpPr>
          <p:cNvPr id="19" name="Text 14"/>
          <p:cNvSpPr txBox="1"/>
          <p:nvPr/>
        </p:nvSpPr>
        <p:spPr>
          <a:xfrm>
            <a:off x="3037681" y="2085181"/>
            <a:ext cx="7634883"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 key includes content + type · safe normalization · poisoning, deception</a:t>
            </a:r>
            <a:endParaRPr lang="en-US" sz="1900" dirty="0"/>
          </a:p>
        </p:txBody>
      </p:sp>
      <p:sp>
        <p:nvSpPr>
          <p:cNvPr id="20" name="Shape 15"/>
          <p:cNvSpPr/>
          <p:nvPr/>
        </p:nvSpPr>
        <p:spPr>
          <a:xfrm>
            <a:off x="91281" y="2590403"/>
            <a:ext cx="2603500" cy="512961"/>
          </a:xfrm>
          <a:prstGeom prst="rect">
            <a:avLst/>
          </a:prstGeom>
          <a:solidFill>
            <a:srgbClr val="D6D6EB"/>
          </a:solidFill>
          <a:ln w="12700">
            <a:solidFill>
              <a:srgbClr val="333399"/>
            </a:solidFill>
            <a:prstDash val="solid"/>
          </a:ln>
        </p:spPr>
      </p:sp>
      <p:pic>
        <p:nvPicPr>
          <p:cNvPr id="21"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22" name="Text 16"/>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23" name="Shape 17"/>
          <p:cNvSpPr/>
          <p:nvPr/>
        </p:nvSpPr>
        <p:spPr>
          <a:xfrm>
            <a:off x="2872581" y="2699743"/>
            <a:ext cx="38100" cy="294283"/>
          </a:xfrm>
          <a:prstGeom prst="rect">
            <a:avLst/>
          </a:prstGeom>
          <a:solidFill>
            <a:srgbClr val="993300"/>
          </a:solidFill>
          <a:ln/>
        </p:spPr>
      </p:sp>
      <p:sp>
        <p:nvSpPr>
          <p:cNvPr id="24" name="Text 18"/>
          <p:cNvSpPr txBox="1"/>
          <p:nvPr/>
        </p:nvSpPr>
        <p:spPr>
          <a:xfrm>
            <a:off x="3037681" y="2699743"/>
            <a:ext cx="688121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method allowlist · inspect QUERY bodies like POST bodies · size limits</a:t>
            </a:r>
            <a:endParaRPr lang="en-US" sz="1900" dirty="0"/>
          </a:p>
        </p:txBody>
      </p:sp>
      <p:sp>
        <p:nvSpPr>
          <p:cNvPr id="25" name="Shape 19"/>
          <p:cNvSpPr/>
          <p:nvPr/>
        </p:nvSpPr>
        <p:spPr>
          <a:xfrm>
            <a:off x="91281" y="3204964"/>
            <a:ext cx="2603500" cy="512961"/>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7" name="Text 20"/>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8" name="Shape 21"/>
          <p:cNvSpPr/>
          <p:nvPr/>
        </p:nvSpPr>
        <p:spPr>
          <a:xfrm>
            <a:off x="91281" y="3819525"/>
            <a:ext cx="2603500" cy="512961"/>
          </a:xfrm>
          <a:prstGeom prst="rect">
            <a:avLst/>
          </a:prstGeom>
          <a:solidFill>
            <a:srgbClr val="D6D6EB"/>
          </a:solidFill>
          <a:ln w="12700">
            <a:solidFill>
              <a:srgbClr val="333399"/>
            </a:solidFill>
            <a:prstDash val="solid"/>
          </a:ln>
        </p:spPr>
      </p:sp>
      <p:pic>
        <p:nvPicPr>
          <p:cNvPr id="29"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30" name="Text 22"/>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31" name="Shape 23"/>
          <p:cNvSpPr/>
          <p:nvPr/>
        </p:nvSpPr>
        <p:spPr>
          <a:xfrm>
            <a:off x="91281" y="4434085"/>
            <a:ext cx="2603500" cy="512961"/>
          </a:xfrm>
          <a:prstGeom prst="rect">
            <a:avLst/>
          </a:prstGeom>
          <a:solidFill>
            <a:srgbClr val="D6D6EB"/>
          </a:solidFill>
          <a:ln w="12700">
            <a:solidFill>
              <a:srgbClr val="333399"/>
            </a:solidFill>
            <a:prstDash val="solid"/>
          </a:ln>
        </p:spPr>
      </p:sp>
      <p:pic>
        <p:nvPicPr>
          <p:cNvPr id="32"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33" name="Text 24"/>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34" name="Text 25"/>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2872581" y="1470620"/>
            <a:ext cx="38100" cy="294283"/>
          </a:xfrm>
          <a:prstGeom prst="rect">
            <a:avLst/>
          </a:prstGeom>
          <a:solidFill>
            <a:srgbClr val="993300"/>
          </a:solidFill>
          <a:ln/>
        </p:spPr>
      </p:sp>
      <p:sp>
        <p:nvSpPr>
          <p:cNvPr id="14" name="Text 10"/>
          <p:cNvSpPr txBox="1"/>
          <p:nvPr/>
        </p:nvSpPr>
        <p:spPr>
          <a:xfrm>
            <a:off x="3037681" y="1470620"/>
            <a:ext cx="75578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preflight and allowed origins · credentials mode · exact method casing</a:t>
            </a:r>
            <a:endParaRPr lang="en-US" sz="1900" dirty="0"/>
          </a:p>
        </p:txBody>
      </p:sp>
      <p:sp>
        <p:nvSpPr>
          <p:cNvPr id="15" name="Shape 11"/>
          <p:cNvSpPr/>
          <p:nvPr/>
        </p:nvSpPr>
        <p:spPr>
          <a:xfrm>
            <a:off x="91281" y="1975843"/>
            <a:ext cx="2603500" cy="512961"/>
          </a:xfrm>
          <a:prstGeom prst="rect">
            <a:avLst/>
          </a:prstGeom>
          <a:solidFill>
            <a:srgbClr val="D6D6EB"/>
          </a:solidFill>
          <a:ln w="12700">
            <a:solidFill>
              <a:srgbClr val="333399"/>
            </a:solidFill>
            <a:prstDash val="solid"/>
          </a:ln>
        </p:spPr>
      </p:sp>
      <p:pic>
        <p:nvPicPr>
          <p:cNvPr id="16"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7" name="Text 12"/>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8" name="Shape 13"/>
          <p:cNvSpPr/>
          <p:nvPr/>
        </p:nvSpPr>
        <p:spPr>
          <a:xfrm>
            <a:off x="2872581" y="2085181"/>
            <a:ext cx="38100" cy="294283"/>
          </a:xfrm>
          <a:prstGeom prst="rect">
            <a:avLst/>
          </a:prstGeom>
          <a:solidFill>
            <a:srgbClr val="993300"/>
          </a:solidFill>
          <a:ln/>
        </p:spPr>
      </p:sp>
      <p:sp>
        <p:nvSpPr>
          <p:cNvPr id="19" name="Text 14"/>
          <p:cNvSpPr txBox="1"/>
          <p:nvPr/>
        </p:nvSpPr>
        <p:spPr>
          <a:xfrm>
            <a:off x="3037681" y="2085181"/>
            <a:ext cx="7634883"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 key includes content + type · safe normalization · poisoning, deception</a:t>
            </a:r>
            <a:endParaRPr lang="en-US" sz="1900" dirty="0"/>
          </a:p>
        </p:txBody>
      </p:sp>
      <p:sp>
        <p:nvSpPr>
          <p:cNvPr id="20" name="Shape 15"/>
          <p:cNvSpPr/>
          <p:nvPr/>
        </p:nvSpPr>
        <p:spPr>
          <a:xfrm>
            <a:off x="91281" y="2590403"/>
            <a:ext cx="2603500" cy="512961"/>
          </a:xfrm>
          <a:prstGeom prst="rect">
            <a:avLst/>
          </a:prstGeom>
          <a:solidFill>
            <a:srgbClr val="D6D6EB"/>
          </a:solidFill>
          <a:ln w="12700">
            <a:solidFill>
              <a:srgbClr val="333399"/>
            </a:solidFill>
            <a:prstDash val="solid"/>
          </a:ln>
        </p:spPr>
      </p:sp>
      <p:pic>
        <p:nvPicPr>
          <p:cNvPr id="21"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22" name="Text 16"/>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23" name="Shape 17"/>
          <p:cNvSpPr/>
          <p:nvPr/>
        </p:nvSpPr>
        <p:spPr>
          <a:xfrm>
            <a:off x="2872581" y="2699743"/>
            <a:ext cx="38100" cy="294283"/>
          </a:xfrm>
          <a:prstGeom prst="rect">
            <a:avLst/>
          </a:prstGeom>
          <a:solidFill>
            <a:srgbClr val="993300"/>
          </a:solidFill>
          <a:ln/>
        </p:spPr>
      </p:sp>
      <p:sp>
        <p:nvSpPr>
          <p:cNvPr id="24" name="Text 18"/>
          <p:cNvSpPr txBox="1"/>
          <p:nvPr/>
        </p:nvSpPr>
        <p:spPr>
          <a:xfrm>
            <a:off x="3037681" y="2699743"/>
            <a:ext cx="688121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method allowlist · inspect QUERY bodies like POST bodies · size limits</a:t>
            </a:r>
            <a:endParaRPr lang="en-US" sz="1900" dirty="0"/>
          </a:p>
        </p:txBody>
      </p:sp>
      <p:sp>
        <p:nvSpPr>
          <p:cNvPr id="25" name="Shape 19"/>
          <p:cNvSpPr/>
          <p:nvPr/>
        </p:nvSpPr>
        <p:spPr>
          <a:xfrm>
            <a:off x="91281" y="3204964"/>
            <a:ext cx="2603500" cy="512961"/>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7" name="Text 20"/>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8" name="Shape 21"/>
          <p:cNvSpPr/>
          <p:nvPr/>
        </p:nvSpPr>
        <p:spPr>
          <a:xfrm>
            <a:off x="2872581" y="3314303"/>
            <a:ext cx="38100" cy="294283"/>
          </a:xfrm>
          <a:prstGeom prst="rect">
            <a:avLst/>
          </a:prstGeom>
          <a:solidFill>
            <a:srgbClr val="993300"/>
          </a:solidFill>
          <a:ln/>
        </p:spPr>
      </p:sp>
      <p:sp>
        <p:nvSpPr>
          <p:cNvPr id="29" name="Text 22"/>
          <p:cNvSpPr txBox="1"/>
          <p:nvPr/>
        </p:nvSpPr>
        <p:spPr>
          <a:xfrm>
            <a:off x="3037681" y="3314303"/>
            <a:ext cx="7527528"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consistent message framing (no smuggling) · rate limits · 405 / 501 handling</a:t>
            </a:r>
            <a:endParaRPr lang="en-US" sz="1900" dirty="0"/>
          </a:p>
        </p:txBody>
      </p:sp>
      <p:sp>
        <p:nvSpPr>
          <p:cNvPr id="30" name="Shape 23"/>
          <p:cNvSpPr/>
          <p:nvPr/>
        </p:nvSpPr>
        <p:spPr>
          <a:xfrm>
            <a:off x="91281" y="3819525"/>
            <a:ext cx="2603500" cy="512961"/>
          </a:xfrm>
          <a:prstGeom prst="rect">
            <a:avLst/>
          </a:prstGeom>
          <a:solidFill>
            <a:srgbClr val="D6D6EB"/>
          </a:solidFill>
          <a:ln w="12700">
            <a:solidFill>
              <a:srgbClr val="333399"/>
            </a:solidFill>
            <a:prstDash val="solid"/>
          </a:ln>
        </p:spPr>
      </p:sp>
      <p:pic>
        <p:nvPicPr>
          <p:cNvPr id="31"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32" name="Text 24"/>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33" name="Shape 25"/>
          <p:cNvSpPr/>
          <p:nvPr/>
        </p:nvSpPr>
        <p:spPr>
          <a:xfrm>
            <a:off x="91281" y="4434085"/>
            <a:ext cx="2603500" cy="512961"/>
          </a:xfrm>
          <a:prstGeom prst="rect">
            <a:avLst/>
          </a:prstGeom>
          <a:solidFill>
            <a:srgbClr val="D6D6EB"/>
          </a:solidFill>
          <a:ln w="12700">
            <a:solidFill>
              <a:srgbClr val="333399"/>
            </a:solidFill>
            <a:prstDash val="solid"/>
          </a:ln>
        </p:spPr>
      </p:sp>
      <p:pic>
        <p:nvPicPr>
          <p:cNvPr id="34"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35" name="Text 26"/>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36" name="Text 27"/>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2872581" y="1470620"/>
            <a:ext cx="38100" cy="294283"/>
          </a:xfrm>
          <a:prstGeom prst="rect">
            <a:avLst/>
          </a:prstGeom>
          <a:solidFill>
            <a:srgbClr val="993300"/>
          </a:solidFill>
          <a:ln/>
        </p:spPr>
      </p:sp>
      <p:sp>
        <p:nvSpPr>
          <p:cNvPr id="14" name="Text 10"/>
          <p:cNvSpPr txBox="1"/>
          <p:nvPr/>
        </p:nvSpPr>
        <p:spPr>
          <a:xfrm>
            <a:off x="3037681" y="1470620"/>
            <a:ext cx="75578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preflight and allowed origins · credentials mode · exact method casing</a:t>
            </a:r>
            <a:endParaRPr lang="en-US" sz="1900" dirty="0"/>
          </a:p>
        </p:txBody>
      </p:sp>
      <p:sp>
        <p:nvSpPr>
          <p:cNvPr id="15" name="Shape 11"/>
          <p:cNvSpPr/>
          <p:nvPr/>
        </p:nvSpPr>
        <p:spPr>
          <a:xfrm>
            <a:off x="91281" y="1975843"/>
            <a:ext cx="2603500" cy="512961"/>
          </a:xfrm>
          <a:prstGeom prst="rect">
            <a:avLst/>
          </a:prstGeom>
          <a:solidFill>
            <a:srgbClr val="D6D6EB"/>
          </a:solidFill>
          <a:ln w="12700">
            <a:solidFill>
              <a:srgbClr val="333399"/>
            </a:solidFill>
            <a:prstDash val="solid"/>
          </a:ln>
        </p:spPr>
      </p:sp>
      <p:pic>
        <p:nvPicPr>
          <p:cNvPr id="16"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7" name="Text 12"/>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8" name="Shape 13"/>
          <p:cNvSpPr/>
          <p:nvPr/>
        </p:nvSpPr>
        <p:spPr>
          <a:xfrm>
            <a:off x="2872581" y="2085181"/>
            <a:ext cx="38100" cy="294283"/>
          </a:xfrm>
          <a:prstGeom prst="rect">
            <a:avLst/>
          </a:prstGeom>
          <a:solidFill>
            <a:srgbClr val="993300"/>
          </a:solidFill>
          <a:ln/>
        </p:spPr>
      </p:sp>
      <p:sp>
        <p:nvSpPr>
          <p:cNvPr id="19" name="Text 14"/>
          <p:cNvSpPr txBox="1"/>
          <p:nvPr/>
        </p:nvSpPr>
        <p:spPr>
          <a:xfrm>
            <a:off x="3037681" y="2085181"/>
            <a:ext cx="7634883"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 key includes content + type · safe normalization · poisoning, deception</a:t>
            </a:r>
            <a:endParaRPr lang="en-US" sz="1900" dirty="0"/>
          </a:p>
        </p:txBody>
      </p:sp>
      <p:sp>
        <p:nvSpPr>
          <p:cNvPr id="20" name="Shape 15"/>
          <p:cNvSpPr/>
          <p:nvPr/>
        </p:nvSpPr>
        <p:spPr>
          <a:xfrm>
            <a:off x="91281" y="2590403"/>
            <a:ext cx="2603500" cy="512961"/>
          </a:xfrm>
          <a:prstGeom prst="rect">
            <a:avLst/>
          </a:prstGeom>
          <a:solidFill>
            <a:srgbClr val="D6D6EB"/>
          </a:solidFill>
          <a:ln w="12700">
            <a:solidFill>
              <a:srgbClr val="333399"/>
            </a:solidFill>
            <a:prstDash val="solid"/>
          </a:ln>
        </p:spPr>
      </p:sp>
      <p:pic>
        <p:nvPicPr>
          <p:cNvPr id="21"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22" name="Text 16"/>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23" name="Shape 17"/>
          <p:cNvSpPr/>
          <p:nvPr/>
        </p:nvSpPr>
        <p:spPr>
          <a:xfrm>
            <a:off x="2872581" y="2699743"/>
            <a:ext cx="38100" cy="294283"/>
          </a:xfrm>
          <a:prstGeom prst="rect">
            <a:avLst/>
          </a:prstGeom>
          <a:solidFill>
            <a:srgbClr val="993300"/>
          </a:solidFill>
          <a:ln/>
        </p:spPr>
      </p:sp>
      <p:sp>
        <p:nvSpPr>
          <p:cNvPr id="24" name="Text 18"/>
          <p:cNvSpPr txBox="1"/>
          <p:nvPr/>
        </p:nvSpPr>
        <p:spPr>
          <a:xfrm>
            <a:off x="3037681" y="2699743"/>
            <a:ext cx="688121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method allowlist · inspect QUERY bodies like POST bodies · size limits</a:t>
            </a:r>
            <a:endParaRPr lang="en-US" sz="1900" dirty="0"/>
          </a:p>
        </p:txBody>
      </p:sp>
      <p:sp>
        <p:nvSpPr>
          <p:cNvPr id="25" name="Shape 19"/>
          <p:cNvSpPr/>
          <p:nvPr/>
        </p:nvSpPr>
        <p:spPr>
          <a:xfrm>
            <a:off x="91281" y="3204964"/>
            <a:ext cx="2603500" cy="512961"/>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7" name="Text 20"/>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8" name="Shape 21"/>
          <p:cNvSpPr/>
          <p:nvPr/>
        </p:nvSpPr>
        <p:spPr>
          <a:xfrm>
            <a:off x="2872581" y="3314303"/>
            <a:ext cx="38100" cy="294283"/>
          </a:xfrm>
          <a:prstGeom prst="rect">
            <a:avLst/>
          </a:prstGeom>
          <a:solidFill>
            <a:srgbClr val="993300"/>
          </a:solidFill>
          <a:ln/>
        </p:spPr>
      </p:sp>
      <p:sp>
        <p:nvSpPr>
          <p:cNvPr id="29" name="Text 22"/>
          <p:cNvSpPr txBox="1"/>
          <p:nvPr/>
        </p:nvSpPr>
        <p:spPr>
          <a:xfrm>
            <a:off x="3037681" y="3314303"/>
            <a:ext cx="7527528"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consistent message framing (no smuggling) · rate limits · 405 / 501 handling</a:t>
            </a:r>
            <a:endParaRPr lang="en-US" sz="1900" dirty="0"/>
          </a:p>
        </p:txBody>
      </p:sp>
      <p:sp>
        <p:nvSpPr>
          <p:cNvPr id="30" name="Shape 23"/>
          <p:cNvSpPr/>
          <p:nvPr/>
        </p:nvSpPr>
        <p:spPr>
          <a:xfrm>
            <a:off x="91281" y="3819525"/>
            <a:ext cx="2603500" cy="512961"/>
          </a:xfrm>
          <a:prstGeom prst="rect">
            <a:avLst/>
          </a:prstGeom>
          <a:solidFill>
            <a:srgbClr val="D6D6EB"/>
          </a:solidFill>
          <a:ln w="12700">
            <a:solidFill>
              <a:srgbClr val="333399"/>
            </a:solidFill>
            <a:prstDash val="solid"/>
          </a:ln>
        </p:spPr>
      </p:sp>
      <p:pic>
        <p:nvPicPr>
          <p:cNvPr id="31"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32" name="Text 24"/>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33" name="Shape 25"/>
          <p:cNvSpPr/>
          <p:nvPr/>
        </p:nvSpPr>
        <p:spPr>
          <a:xfrm>
            <a:off x="2872581" y="3928864"/>
            <a:ext cx="38100" cy="294283"/>
          </a:xfrm>
          <a:prstGeom prst="rect">
            <a:avLst/>
          </a:prstGeom>
          <a:solidFill>
            <a:srgbClr val="993300"/>
          </a:solidFill>
          <a:ln/>
        </p:spPr>
      </p:sp>
      <p:sp>
        <p:nvSpPr>
          <p:cNvPr id="34" name="Text 26"/>
          <p:cNvSpPr txBox="1"/>
          <p:nvPr/>
        </p:nvSpPr>
        <p:spPr>
          <a:xfrm>
            <a:off x="3037681" y="3928864"/>
            <a:ext cx="831472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authN + per-query authZ · strict Content-Type · validation · cost limits · body logging</a:t>
            </a:r>
            <a:endParaRPr lang="en-US" sz="1900" dirty="0"/>
          </a:p>
        </p:txBody>
      </p:sp>
      <p:sp>
        <p:nvSpPr>
          <p:cNvPr id="35" name="Shape 27"/>
          <p:cNvSpPr/>
          <p:nvPr/>
        </p:nvSpPr>
        <p:spPr>
          <a:xfrm>
            <a:off x="91281" y="4434085"/>
            <a:ext cx="2603500" cy="512961"/>
          </a:xfrm>
          <a:prstGeom prst="rect">
            <a:avLst/>
          </a:prstGeom>
          <a:solidFill>
            <a:srgbClr val="D6D6EB"/>
          </a:solidFill>
          <a:ln w="12700">
            <a:solidFill>
              <a:srgbClr val="333399"/>
            </a:solidFill>
            <a:prstDash val="solid"/>
          </a:ln>
        </p:spPr>
      </p:sp>
      <p:pic>
        <p:nvPicPr>
          <p:cNvPr id="36"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37" name="Text 28"/>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38" name="Text 29"/>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789884"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Threat model along the request path</a:t>
            </a:r>
            <a:endParaRPr lang="en-US" sz="2400" dirty="0"/>
          </a:p>
        </p:txBody>
      </p:sp>
      <p:sp>
        <p:nvSpPr>
          <p:cNvPr id="10" name="Shape 7"/>
          <p:cNvSpPr/>
          <p:nvPr/>
        </p:nvSpPr>
        <p:spPr>
          <a:xfrm>
            <a:off x="91281" y="1361281"/>
            <a:ext cx="2603500" cy="512961"/>
          </a:xfrm>
          <a:prstGeom prst="rect">
            <a:avLst/>
          </a:prstGeom>
          <a:solidFill>
            <a:srgbClr val="D6D6EB"/>
          </a:solidFill>
          <a:ln w="12700">
            <a:solidFill>
              <a:srgbClr val="333399"/>
            </a:solidFill>
            <a:prstDash val="solid"/>
          </a:ln>
        </p:spPr>
      </p:sp>
      <p:pic>
        <p:nvPicPr>
          <p:cNvPr id="11" name="Image 1" descr="Rendered as an image because of CSS svg">    </p:cNvPr>
          <p:cNvPicPr>
            <a:picLocks noChangeAspect="1"/>
          </p:cNvPicPr>
          <p:nvPr/>
        </p:nvPicPr>
        <p:blipFill>
          <a:blip r:embed="rId2"/>
          <a:stretch>
            <a:fillRect/>
          </a:stretch>
        </p:blipFill>
        <p:spPr>
          <a:xfrm>
            <a:off x="230981" y="1450181"/>
            <a:ext cx="335161" cy="335161"/>
          </a:xfrm>
          <a:prstGeom prst="rect">
            <a:avLst/>
          </a:prstGeom>
        </p:spPr>
      </p:pic>
      <p:sp>
        <p:nvSpPr>
          <p:cNvPr id="12" name="Text 8"/>
          <p:cNvSpPr txBox="1"/>
          <p:nvPr/>
        </p:nvSpPr>
        <p:spPr>
          <a:xfrm>
            <a:off x="591543" y="1466652"/>
            <a:ext cx="166231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Browser / client</a:t>
            </a:r>
            <a:endParaRPr lang="en-US" sz="1800" dirty="0"/>
          </a:p>
        </p:txBody>
      </p:sp>
      <p:sp>
        <p:nvSpPr>
          <p:cNvPr id="13" name="Shape 9"/>
          <p:cNvSpPr/>
          <p:nvPr/>
        </p:nvSpPr>
        <p:spPr>
          <a:xfrm>
            <a:off x="2872581" y="1470620"/>
            <a:ext cx="38100" cy="294283"/>
          </a:xfrm>
          <a:prstGeom prst="rect">
            <a:avLst/>
          </a:prstGeom>
          <a:solidFill>
            <a:srgbClr val="993300"/>
          </a:solidFill>
          <a:ln/>
        </p:spPr>
      </p:sp>
      <p:sp>
        <p:nvSpPr>
          <p:cNvPr id="14" name="Text 10"/>
          <p:cNvSpPr txBox="1"/>
          <p:nvPr/>
        </p:nvSpPr>
        <p:spPr>
          <a:xfrm>
            <a:off x="3037681" y="1470620"/>
            <a:ext cx="755788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preflight and allowed origins · credentials mode · exact method casing</a:t>
            </a:r>
            <a:endParaRPr lang="en-US" sz="1900" dirty="0"/>
          </a:p>
        </p:txBody>
      </p:sp>
      <p:sp>
        <p:nvSpPr>
          <p:cNvPr id="15" name="Shape 11"/>
          <p:cNvSpPr/>
          <p:nvPr/>
        </p:nvSpPr>
        <p:spPr>
          <a:xfrm>
            <a:off x="91281" y="1975843"/>
            <a:ext cx="2603500" cy="512961"/>
          </a:xfrm>
          <a:prstGeom prst="rect">
            <a:avLst/>
          </a:prstGeom>
          <a:solidFill>
            <a:srgbClr val="D6D6EB"/>
          </a:solidFill>
          <a:ln w="12700">
            <a:solidFill>
              <a:srgbClr val="333399"/>
            </a:solidFill>
            <a:prstDash val="solid"/>
          </a:ln>
        </p:spPr>
      </p:sp>
      <p:pic>
        <p:nvPicPr>
          <p:cNvPr id="16" name="Image 2" descr="Rendered as an image because of CSS svg">    </p:cNvPr>
          <p:cNvPicPr>
            <a:picLocks noChangeAspect="1"/>
          </p:cNvPicPr>
          <p:nvPr/>
        </p:nvPicPr>
        <p:blipFill>
          <a:blip r:embed="rId3"/>
          <a:stretch>
            <a:fillRect/>
          </a:stretch>
        </p:blipFill>
        <p:spPr>
          <a:xfrm>
            <a:off x="230981" y="2064743"/>
            <a:ext cx="335161" cy="335161"/>
          </a:xfrm>
          <a:prstGeom prst="rect">
            <a:avLst/>
          </a:prstGeom>
        </p:spPr>
      </p:pic>
      <p:sp>
        <p:nvSpPr>
          <p:cNvPr id="17" name="Text 12"/>
          <p:cNvSpPr txBox="1"/>
          <p:nvPr/>
        </p:nvSpPr>
        <p:spPr>
          <a:xfrm>
            <a:off x="591543" y="2081212"/>
            <a:ext cx="131028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CDN / cache</a:t>
            </a:r>
            <a:endParaRPr lang="en-US" sz="1800" dirty="0"/>
          </a:p>
        </p:txBody>
      </p:sp>
      <p:sp>
        <p:nvSpPr>
          <p:cNvPr id="18" name="Shape 13"/>
          <p:cNvSpPr/>
          <p:nvPr/>
        </p:nvSpPr>
        <p:spPr>
          <a:xfrm>
            <a:off x="2872581" y="2085181"/>
            <a:ext cx="38100" cy="294283"/>
          </a:xfrm>
          <a:prstGeom prst="rect">
            <a:avLst/>
          </a:prstGeom>
          <a:solidFill>
            <a:srgbClr val="993300"/>
          </a:solidFill>
          <a:ln/>
        </p:spPr>
      </p:sp>
      <p:sp>
        <p:nvSpPr>
          <p:cNvPr id="19" name="Text 14"/>
          <p:cNvSpPr txBox="1"/>
          <p:nvPr/>
        </p:nvSpPr>
        <p:spPr>
          <a:xfrm>
            <a:off x="3037681" y="2085181"/>
            <a:ext cx="7634883"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 key includes content + type · safe normalization · poisoning, deception</a:t>
            </a:r>
            <a:endParaRPr lang="en-US" sz="1900" dirty="0"/>
          </a:p>
        </p:txBody>
      </p:sp>
      <p:sp>
        <p:nvSpPr>
          <p:cNvPr id="20" name="Shape 15"/>
          <p:cNvSpPr/>
          <p:nvPr/>
        </p:nvSpPr>
        <p:spPr>
          <a:xfrm>
            <a:off x="91281" y="2590403"/>
            <a:ext cx="2603500" cy="512961"/>
          </a:xfrm>
          <a:prstGeom prst="rect">
            <a:avLst/>
          </a:prstGeom>
          <a:solidFill>
            <a:srgbClr val="D6D6EB"/>
          </a:solidFill>
          <a:ln w="12700">
            <a:solidFill>
              <a:srgbClr val="333399"/>
            </a:solidFill>
            <a:prstDash val="solid"/>
          </a:ln>
        </p:spPr>
      </p:sp>
      <p:pic>
        <p:nvPicPr>
          <p:cNvPr id="21" name="Image 3" descr="Rendered as an image because of CSS svg">    </p:cNvPr>
          <p:cNvPicPr>
            <a:picLocks noChangeAspect="1"/>
          </p:cNvPicPr>
          <p:nvPr/>
        </p:nvPicPr>
        <p:blipFill>
          <a:blip r:embed="rId4"/>
          <a:stretch>
            <a:fillRect/>
          </a:stretch>
        </p:blipFill>
        <p:spPr>
          <a:xfrm>
            <a:off x="230981" y="2679303"/>
            <a:ext cx="335161" cy="335161"/>
          </a:xfrm>
          <a:prstGeom prst="rect">
            <a:avLst/>
          </a:prstGeom>
        </p:spPr>
      </p:pic>
      <p:sp>
        <p:nvSpPr>
          <p:cNvPr id="22" name="Text 16"/>
          <p:cNvSpPr txBox="1"/>
          <p:nvPr/>
        </p:nvSpPr>
        <p:spPr>
          <a:xfrm>
            <a:off x="591543" y="2695773"/>
            <a:ext cx="592336"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23" name="Shape 17"/>
          <p:cNvSpPr/>
          <p:nvPr/>
        </p:nvSpPr>
        <p:spPr>
          <a:xfrm>
            <a:off x="2872581" y="2699743"/>
            <a:ext cx="38100" cy="294283"/>
          </a:xfrm>
          <a:prstGeom prst="rect">
            <a:avLst/>
          </a:prstGeom>
          <a:solidFill>
            <a:srgbClr val="993300"/>
          </a:solidFill>
          <a:ln/>
        </p:spPr>
      </p:sp>
      <p:sp>
        <p:nvSpPr>
          <p:cNvPr id="24" name="Text 18"/>
          <p:cNvSpPr txBox="1"/>
          <p:nvPr/>
        </p:nvSpPr>
        <p:spPr>
          <a:xfrm>
            <a:off x="3037681" y="2699743"/>
            <a:ext cx="688121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method allowlist · inspect QUERY bodies like POST bodies · size limits</a:t>
            </a:r>
            <a:endParaRPr lang="en-US" sz="1900" dirty="0"/>
          </a:p>
        </p:txBody>
      </p:sp>
      <p:sp>
        <p:nvSpPr>
          <p:cNvPr id="25" name="Shape 19"/>
          <p:cNvSpPr/>
          <p:nvPr/>
        </p:nvSpPr>
        <p:spPr>
          <a:xfrm>
            <a:off x="91281" y="3204964"/>
            <a:ext cx="2603500" cy="512961"/>
          </a:xfrm>
          <a:prstGeom prst="rect">
            <a:avLst/>
          </a:prstGeom>
          <a:solidFill>
            <a:srgbClr val="D6D6EB"/>
          </a:solidFill>
          <a:ln w="12700">
            <a:solidFill>
              <a:srgbClr val="333399"/>
            </a:solidFill>
            <a:prstDash val="solid"/>
          </a:ln>
        </p:spPr>
      </p:sp>
      <p:pic>
        <p:nvPicPr>
          <p:cNvPr id="26" name="Image 4" descr="Rendered as an image because of CSS svg">    </p:cNvPr>
          <p:cNvPicPr>
            <a:picLocks noChangeAspect="1"/>
          </p:cNvPicPr>
          <p:nvPr/>
        </p:nvPicPr>
        <p:blipFill>
          <a:blip r:embed="rId5"/>
          <a:stretch>
            <a:fillRect/>
          </a:stretch>
        </p:blipFill>
        <p:spPr>
          <a:xfrm>
            <a:off x="230981" y="3293864"/>
            <a:ext cx="335161" cy="335161"/>
          </a:xfrm>
          <a:prstGeom prst="rect">
            <a:avLst/>
          </a:prstGeom>
        </p:spPr>
      </p:pic>
      <p:sp>
        <p:nvSpPr>
          <p:cNvPr id="27" name="Text 20"/>
          <p:cNvSpPr txBox="1"/>
          <p:nvPr/>
        </p:nvSpPr>
        <p:spPr>
          <a:xfrm>
            <a:off x="591543" y="3310335"/>
            <a:ext cx="171846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Gateway / proxy</a:t>
            </a:r>
            <a:endParaRPr lang="en-US" sz="1800" dirty="0"/>
          </a:p>
        </p:txBody>
      </p:sp>
      <p:sp>
        <p:nvSpPr>
          <p:cNvPr id="28" name="Shape 21"/>
          <p:cNvSpPr/>
          <p:nvPr/>
        </p:nvSpPr>
        <p:spPr>
          <a:xfrm>
            <a:off x="2872581" y="3314303"/>
            <a:ext cx="38100" cy="294283"/>
          </a:xfrm>
          <a:prstGeom prst="rect">
            <a:avLst/>
          </a:prstGeom>
          <a:solidFill>
            <a:srgbClr val="993300"/>
          </a:solidFill>
          <a:ln/>
        </p:spPr>
      </p:sp>
      <p:sp>
        <p:nvSpPr>
          <p:cNvPr id="29" name="Text 22"/>
          <p:cNvSpPr txBox="1"/>
          <p:nvPr/>
        </p:nvSpPr>
        <p:spPr>
          <a:xfrm>
            <a:off x="3037681" y="3314303"/>
            <a:ext cx="7527528"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consistent message framing (no smuggling) · rate limits · 405 / 501 handling</a:t>
            </a:r>
            <a:endParaRPr lang="en-US" sz="1900" dirty="0"/>
          </a:p>
        </p:txBody>
      </p:sp>
      <p:sp>
        <p:nvSpPr>
          <p:cNvPr id="30" name="Shape 23"/>
          <p:cNvSpPr/>
          <p:nvPr/>
        </p:nvSpPr>
        <p:spPr>
          <a:xfrm>
            <a:off x="91281" y="3819525"/>
            <a:ext cx="2603500" cy="512961"/>
          </a:xfrm>
          <a:prstGeom prst="rect">
            <a:avLst/>
          </a:prstGeom>
          <a:solidFill>
            <a:srgbClr val="D6D6EB"/>
          </a:solidFill>
          <a:ln w="12700">
            <a:solidFill>
              <a:srgbClr val="333399"/>
            </a:solidFill>
            <a:prstDash val="solid"/>
          </a:ln>
        </p:spPr>
      </p:sp>
      <p:pic>
        <p:nvPicPr>
          <p:cNvPr id="31" name="Image 5" descr="Rendered as an image because of CSS svg">    </p:cNvPr>
          <p:cNvPicPr>
            <a:picLocks noChangeAspect="1"/>
          </p:cNvPicPr>
          <p:nvPr/>
        </p:nvPicPr>
        <p:blipFill>
          <a:blip r:embed="rId6"/>
          <a:stretch>
            <a:fillRect/>
          </a:stretch>
        </p:blipFill>
        <p:spPr>
          <a:xfrm>
            <a:off x="230981" y="3908425"/>
            <a:ext cx="335161" cy="335161"/>
          </a:xfrm>
          <a:prstGeom prst="rect">
            <a:avLst/>
          </a:prstGeom>
        </p:spPr>
      </p:pic>
      <p:sp>
        <p:nvSpPr>
          <p:cNvPr id="32" name="Text 24"/>
          <p:cNvSpPr txBox="1"/>
          <p:nvPr/>
        </p:nvSpPr>
        <p:spPr>
          <a:xfrm>
            <a:off x="591543" y="3924895"/>
            <a:ext cx="1233091"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33" name="Shape 25"/>
          <p:cNvSpPr/>
          <p:nvPr/>
        </p:nvSpPr>
        <p:spPr>
          <a:xfrm>
            <a:off x="2872581" y="3928864"/>
            <a:ext cx="38100" cy="294283"/>
          </a:xfrm>
          <a:prstGeom prst="rect">
            <a:avLst/>
          </a:prstGeom>
          <a:solidFill>
            <a:srgbClr val="993300"/>
          </a:solidFill>
          <a:ln/>
        </p:spPr>
      </p:sp>
      <p:sp>
        <p:nvSpPr>
          <p:cNvPr id="34" name="Text 26"/>
          <p:cNvSpPr txBox="1"/>
          <p:nvPr/>
        </p:nvSpPr>
        <p:spPr>
          <a:xfrm>
            <a:off x="3037681" y="3928864"/>
            <a:ext cx="831472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authN + per-query authZ · strict Content-Type · validation · cost limits · body logging</a:t>
            </a:r>
            <a:endParaRPr lang="en-US" sz="1900" dirty="0"/>
          </a:p>
        </p:txBody>
      </p:sp>
      <p:sp>
        <p:nvSpPr>
          <p:cNvPr id="35" name="Shape 27"/>
          <p:cNvSpPr/>
          <p:nvPr/>
        </p:nvSpPr>
        <p:spPr>
          <a:xfrm>
            <a:off x="91281" y="4434085"/>
            <a:ext cx="2603500" cy="512961"/>
          </a:xfrm>
          <a:prstGeom prst="rect">
            <a:avLst/>
          </a:prstGeom>
          <a:solidFill>
            <a:srgbClr val="D6D6EB"/>
          </a:solidFill>
          <a:ln w="12700">
            <a:solidFill>
              <a:srgbClr val="333399"/>
            </a:solidFill>
            <a:prstDash val="solid"/>
          </a:ln>
        </p:spPr>
      </p:sp>
      <p:pic>
        <p:nvPicPr>
          <p:cNvPr id="36" name="Image 6" descr="Rendered as an image because of CSS svg">    </p:cNvPr>
          <p:cNvPicPr>
            <a:picLocks noChangeAspect="1"/>
          </p:cNvPicPr>
          <p:nvPr/>
        </p:nvPicPr>
        <p:blipFill>
          <a:blip r:embed="rId7"/>
          <a:stretch>
            <a:fillRect/>
          </a:stretch>
        </p:blipFill>
        <p:spPr>
          <a:xfrm>
            <a:off x="230981" y="4522985"/>
            <a:ext cx="335161" cy="335161"/>
          </a:xfrm>
          <a:prstGeom prst="rect">
            <a:avLst/>
          </a:prstGeom>
        </p:spPr>
      </p:pic>
      <p:sp>
        <p:nvSpPr>
          <p:cNvPr id="37" name="Text 28"/>
          <p:cNvSpPr txBox="1"/>
          <p:nvPr/>
        </p:nvSpPr>
        <p:spPr>
          <a:xfrm>
            <a:off x="591543" y="4539456"/>
            <a:ext cx="1855985"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Database / search</a:t>
            </a:r>
            <a:endParaRPr lang="en-US" sz="1800" dirty="0"/>
          </a:p>
        </p:txBody>
      </p:sp>
      <p:sp>
        <p:nvSpPr>
          <p:cNvPr id="38" name="Shape 29"/>
          <p:cNvSpPr/>
          <p:nvPr/>
        </p:nvSpPr>
        <p:spPr>
          <a:xfrm>
            <a:off x="2872581" y="4543425"/>
            <a:ext cx="38100" cy="294283"/>
          </a:xfrm>
          <a:prstGeom prst="rect">
            <a:avLst/>
          </a:prstGeom>
          <a:solidFill>
            <a:srgbClr val="993300"/>
          </a:solidFill>
          <a:ln/>
        </p:spPr>
      </p:sp>
      <p:sp>
        <p:nvSpPr>
          <p:cNvPr id="39" name="Text 30"/>
          <p:cNvSpPr txBox="1"/>
          <p:nvPr/>
        </p:nvSpPr>
        <p:spPr>
          <a:xfrm>
            <a:off x="3037681" y="4543425"/>
            <a:ext cx="6413301"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parameterised queries (no injection) · timeouts · result-size caps</a:t>
            </a:r>
            <a:endParaRPr lang="en-US" sz="1900" dirty="0"/>
          </a:p>
        </p:txBody>
      </p:sp>
      <p:sp>
        <p:nvSpPr>
          <p:cNvPr id="40" name="Text 31"/>
          <p:cNvSpPr txBox="1"/>
          <p:nvPr/>
        </p:nvSpPr>
        <p:spPr>
          <a:xfrm>
            <a:off x="91281" y="5099447"/>
            <a:ext cx="782260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Sources: </a:t>
            </a:r>
            <a:pPr algn="l" indent="0" marL="0">
              <a:buNone/>
            </a:pPr>
            <a:r>
              <a:rPr lang="en-US" sz="1300" u="sng" dirty="0">
                <a:solidFill>
                  <a:srgbClr val="00999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§2.7] </a:t>
            </a:r>
            <a:pPr algn="l" indent="0" marL="0">
              <a:buNone/>
            </a:pPr>
            <a:r>
              <a:rPr lang="en-US" sz="1300" u="sng" dirty="0">
                <a:solidFill>
                  <a:srgbClr val="00999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[Fetch] </a:t>
            </a:r>
            <a:pPr algn="l" indent="0" marL="0">
              <a:buNone/>
            </a:pPr>
            <a:r>
              <a:rPr lang="en-US" sz="1300" u="sng" dirty="0">
                <a:solidFill>
                  <a:srgbClr val="00999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9112 §6] </a:t>
            </a:r>
            <a:pPr algn="l" indent="0" marL="0">
              <a:buNone/>
            </a:pPr>
            <a:r>
              <a:rPr lang="en-US" sz="1300" u="sng" dirty="0">
                <a:solidFill>
                  <a:srgbClr val="009999"/>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[Jabiyev et al., 2021] </a:t>
            </a:r>
            <a:pPr algn="l" indent="0" marL="0">
              <a:buNone/>
            </a:pPr>
            <a:r>
              <a:rPr lang="en-US" sz="1300" u="sng" dirty="0">
                <a:solidFill>
                  <a:srgbClr val="009999"/>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[Chen et al., 2016] </a:t>
            </a:r>
            <a:pPr algn="l" indent="0" marL="0">
              <a:buNone/>
            </a:pPr>
            <a:r>
              <a:rPr lang="en-US" sz="1300" u="sng" dirty="0">
                <a:solidFill>
                  <a:srgbClr val="009999"/>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[OWASP WSTG-CONF-06]</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21</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61148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Worked example: a user-search API</a:t>
            </a:r>
            <a:endParaRPr lang="en-US" sz="2400" dirty="0"/>
          </a:p>
        </p:txBody>
      </p:sp>
      <p:sp>
        <p:nvSpPr>
          <p:cNvPr id="10" name="Shape 7"/>
          <p:cNvSpPr/>
          <p:nvPr/>
        </p:nvSpPr>
        <p:spPr>
          <a:xfrm>
            <a:off x="97631" y="2047676"/>
            <a:ext cx="11793537" cy="12700"/>
          </a:xfrm>
          <a:prstGeom prst="rect">
            <a:avLst/>
          </a:prstGeom>
          <a:solidFill>
            <a:srgbClr val="9CA3AF">
              <a:alpha val="20000"/>
            </a:srgbClr>
          </a:solidFill>
          <a:ln/>
        </p:spPr>
      </p:sp>
      <p:sp>
        <p:nvSpPr>
          <p:cNvPr id="11" name="Shape 8"/>
          <p:cNvSpPr/>
          <p:nvPr/>
        </p:nvSpPr>
        <p:spPr>
          <a:xfrm>
            <a:off x="97631" y="1367631"/>
            <a:ext cx="4245571" cy="692745"/>
          </a:xfrm>
          <a:prstGeom prst="rect">
            <a:avLst/>
          </a:prstGeom>
          <a:solidFill>
            <a:srgbClr val="FFFFFF"/>
          </a:solidFill>
          <a:ln/>
        </p:spPr>
      </p:sp>
      <p:sp>
        <p:nvSpPr>
          <p:cNvPr id="12" name="Shape 9"/>
          <p:cNvSpPr/>
          <p:nvPr/>
        </p:nvSpPr>
        <p:spPr>
          <a:xfrm>
            <a:off x="97631" y="1367631"/>
            <a:ext cx="4245571" cy="12700"/>
          </a:xfrm>
          <a:prstGeom prst="rect">
            <a:avLst/>
          </a:prstGeom>
          <a:solidFill>
            <a:srgbClr val="333399"/>
          </a:solidFill>
          <a:ln/>
        </p:spPr>
      </p:sp>
      <p:sp>
        <p:nvSpPr>
          <p:cNvPr id="13" name="Shape 10"/>
          <p:cNvSpPr/>
          <p:nvPr/>
        </p:nvSpPr>
        <p:spPr>
          <a:xfrm>
            <a:off x="4330501" y="1367631"/>
            <a:ext cx="12700" cy="692745"/>
          </a:xfrm>
          <a:prstGeom prst="rect">
            <a:avLst/>
          </a:prstGeom>
          <a:solidFill>
            <a:srgbClr val="333399"/>
          </a:solidFill>
          <a:ln/>
        </p:spPr>
      </p:sp>
      <p:sp>
        <p:nvSpPr>
          <p:cNvPr id="14" name="Shape 11"/>
          <p:cNvSpPr/>
          <p:nvPr/>
        </p:nvSpPr>
        <p:spPr>
          <a:xfrm>
            <a:off x="97631" y="2034976"/>
            <a:ext cx="4245571" cy="25400"/>
          </a:xfrm>
          <a:prstGeom prst="rect">
            <a:avLst/>
          </a:prstGeom>
          <a:solidFill>
            <a:srgbClr val="333399"/>
          </a:solidFill>
          <a:ln/>
        </p:spPr>
      </p:sp>
      <p:sp>
        <p:nvSpPr>
          <p:cNvPr id="15" name="Shape 12"/>
          <p:cNvSpPr/>
          <p:nvPr/>
        </p:nvSpPr>
        <p:spPr>
          <a:xfrm>
            <a:off x="97631" y="1367631"/>
            <a:ext cx="12700" cy="692745"/>
          </a:xfrm>
          <a:prstGeom prst="rect">
            <a:avLst/>
          </a:prstGeom>
          <a:solidFill>
            <a:srgbClr val="333399"/>
          </a:solidFill>
          <a:ln/>
        </p:spPr>
      </p:sp>
      <p:sp>
        <p:nvSpPr>
          <p:cNvPr id="16" name="Text 13"/>
          <p:cNvSpPr txBox="1"/>
          <p:nvPr/>
        </p:nvSpPr>
        <p:spPr>
          <a:xfrm>
            <a:off x="1731764" y="1563688"/>
            <a:ext cx="977107"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Concern</a:t>
            </a:r>
            <a:endParaRPr lang="en-US" sz="1900" dirty="0"/>
          </a:p>
        </p:txBody>
      </p:sp>
      <p:sp>
        <p:nvSpPr>
          <p:cNvPr id="17" name="Shape 14"/>
          <p:cNvSpPr/>
          <p:nvPr/>
        </p:nvSpPr>
        <p:spPr>
          <a:xfrm>
            <a:off x="4343201" y="1367631"/>
            <a:ext cx="2740421" cy="692745"/>
          </a:xfrm>
          <a:prstGeom prst="rect">
            <a:avLst/>
          </a:prstGeom>
          <a:solidFill>
            <a:srgbClr val="FFFFFF"/>
          </a:solidFill>
          <a:ln/>
        </p:spPr>
      </p:sp>
      <p:sp>
        <p:nvSpPr>
          <p:cNvPr id="18" name="Shape 15"/>
          <p:cNvSpPr/>
          <p:nvPr/>
        </p:nvSpPr>
        <p:spPr>
          <a:xfrm>
            <a:off x="4343201" y="1367631"/>
            <a:ext cx="2740421" cy="12700"/>
          </a:xfrm>
          <a:prstGeom prst="rect">
            <a:avLst/>
          </a:prstGeom>
          <a:solidFill>
            <a:srgbClr val="333399"/>
          </a:solidFill>
          <a:ln/>
        </p:spPr>
      </p:sp>
      <p:sp>
        <p:nvSpPr>
          <p:cNvPr id="19" name="Shape 16"/>
          <p:cNvSpPr/>
          <p:nvPr/>
        </p:nvSpPr>
        <p:spPr>
          <a:xfrm>
            <a:off x="7070924" y="1367631"/>
            <a:ext cx="12700" cy="692745"/>
          </a:xfrm>
          <a:prstGeom prst="rect">
            <a:avLst/>
          </a:prstGeom>
          <a:solidFill>
            <a:srgbClr val="333399"/>
          </a:solidFill>
          <a:ln/>
        </p:spPr>
      </p:sp>
      <p:sp>
        <p:nvSpPr>
          <p:cNvPr id="20" name="Shape 17"/>
          <p:cNvSpPr/>
          <p:nvPr/>
        </p:nvSpPr>
        <p:spPr>
          <a:xfrm>
            <a:off x="4343201" y="2034976"/>
            <a:ext cx="2740421" cy="25400"/>
          </a:xfrm>
          <a:prstGeom prst="rect">
            <a:avLst/>
          </a:prstGeom>
          <a:solidFill>
            <a:srgbClr val="333399"/>
          </a:solidFill>
          <a:ln/>
        </p:spPr>
      </p:sp>
      <p:sp>
        <p:nvSpPr>
          <p:cNvPr id="21" name="Shape 18"/>
          <p:cNvSpPr/>
          <p:nvPr/>
        </p:nvSpPr>
        <p:spPr>
          <a:xfrm>
            <a:off x="4343201" y="1367631"/>
            <a:ext cx="12700" cy="692745"/>
          </a:xfrm>
          <a:prstGeom prst="rect">
            <a:avLst/>
          </a:prstGeom>
          <a:solidFill>
            <a:srgbClr val="333399"/>
          </a:solidFill>
          <a:ln/>
        </p:spPr>
      </p:sp>
      <p:sp>
        <p:nvSpPr>
          <p:cNvPr id="22" name="Shape 19"/>
          <p:cNvSpPr/>
          <p:nvPr/>
        </p:nvSpPr>
        <p:spPr>
          <a:xfrm>
            <a:off x="5437188" y="1475581"/>
            <a:ext cx="552252" cy="266303"/>
          </a:xfrm>
          <a:prstGeom prst="roundRect">
            <a:avLst>
              <a:gd name="adj" fmla="val 14307"/>
            </a:avLst>
          </a:prstGeom>
          <a:solidFill>
            <a:srgbClr val="333399"/>
          </a:solidFill>
          <a:ln/>
        </p:spPr>
      </p:sp>
      <p:sp>
        <p:nvSpPr>
          <p:cNvPr id="23" name="Text 20"/>
          <p:cNvSpPr txBox="1"/>
          <p:nvPr/>
        </p:nvSpPr>
        <p:spPr>
          <a:xfrm>
            <a:off x="5437188" y="1475581"/>
            <a:ext cx="552252"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GET</a:t>
            </a:r>
            <a:endParaRPr lang="en-US" sz="1748" dirty="0"/>
          </a:p>
        </p:txBody>
      </p:sp>
      <p:sp>
        <p:nvSpPr>
          <p:cNvPr id="24" name="Text 21"/>
          <p:cNvSpPr txBox="1"/>
          <p:nvPr/>
        </p:nvSpPr>
        <p:spPr>
          <a:xfrm>
            <a:off x="4890293" y="1767284"/>
            <a:ext cx="164623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?email=alice@…</a:t>
            </a:r>
            <a:endParaRPr lang="en-US" sz="1400" dirty="0"/>
          </a:p>
        </p:txBody>
      </p:sp>
      <p:sp>
        <p:nvSpPr>
          <p:cNvPr id="25" name="Shape 22"/>
          <p:cNvSpPr/>
          <p:nvPr/>
        </p:nvSpPr>
        <p:spPr>
          <a:xfrm>
            <a:off x="7083624" y="1367631"/>
            <a:ext cx="2403673" cy="692745"/>
          </a:xfrm>
          <a:prstGeom prst="rect">
            <a:avLst/>
          </a:prstGeom>
          <a:solidFill>
            <a:srgbClr val="FFFFFF"/>
          </a:solidFill>
          <a:ln/>
        </p:spPr>
      </p:sp>
      <p:sp>
        <p:nvSpPr>
          <p:cNvPr id="26" name="Shape 23"/>
          <p:cNvSpPr/>
          <p:nvPr/>
        </p:nvSpPr>
        <p:spPr>
          <a:xfrm>
            <a:off x="7083624" y="1367631"/>
            <a:ext cx="2403673" cy="12700"/>
          </a:xfrm>
          <a:prstGeom prst="rect">
            <a:avLst/>
          </a:prstGeom>
          <a:solidFill>
            <a:srgbClr val="333399"/>
          </a:solidFill>
          <a:ln/>
        </p:spPr>
      </p:sp>
      <p:sp>
        <p:nvSpPr>
          <p:cNvPr id="27" name="Shape 24"/>
          <p:cNvSpPr/>
          <p:nvPr/>
        </p:nvSpPr>
        <p:spPr>
          <a:xfrm>
            <a:off x="9474597" y="1367631"/>
            <a:ext cx="12700" cy="692745"/>
          </a:xfrm>
          <a:prstGeom prst="rect">
            <a:avLst/>
          </a:prstGeom>
          <a:solidFill>
            <a:srgbClr val="333399"/>
          </a:solidFill>
          <a:ln/>
        </p:spPr>
      </p:sp>
      <p:sp>
        <p:nvSpPr>
          <p:cNvPr id="28" name="Shape 25"/>
          <p:cNvSpPr/>
          <p:nvPr/>
        </p:nvSpPr>
        <p:spPr>
          <a:xfrm>
            <a:off x="7083624" y="2034976"/>
            <a:ext cx="2403673" cy="25400"/>
          </a:xfrm>
          <a:prstGeom prst="rect">
            <a:avLst/>
          </a:prstGeom>
          <a:solidFill>
            <a:srgbClr val="333399"/>
          </a:solidFill>
          <a:ln/>
        </p:spPr>
      </p:sp>
      <p:sp>
        <p:nvSpPr>
          <p:cNvPr id="29" name="Shape 26"/>
          <p:cNvSpPr/>
          <p:nvPr/>
        </p:nvSpPr>
        <p:spPr>
          <a:xfrm>
            <a:off x="7083624" y="1367631"/>
            <a:ext cx="12700" cy="692745"/>
          </a:xfrm>
          <a:prstGeom prst="rect">
            <a:avLst/>
          </a:prstGeom>
          <a:solidFill>
            <a:srgbClr val="333399"/>
          </a:solidFill>
          <a:ln/>
        </p:spPr>
      </p:sp>
      <p:sp>
        <p:nvSpPr>
          <p:cNvPr id="30" name="Shape 27"/>
          <p:cNvSpPr/>
          <p:nvPr/>
        </p:nvSpPr>
        <p:spPr>
          <a:xfrm>
            <a:off x="7942660" y="1475581"/>
            <a:ext cx="685403" cy="266303"/>
          </a:xfrm>
          <a:prstGeom prst="roundRect">
            <a:avLst>
              <a:gd name="adj" fmla="val 14307"/>
            </a:avLst>
          </a:prstGeom>
          <a:solidFill>
            <a:srgbClr val="993300"/>
          </a:solidFill>
          <a:ln/>
        </p:spPr>
      </p:sp>
      <p:sp>
        <p:nvSpPr>
          <p:cNvPr id="31" name="Text 28"/>
          <p:cNvSpPr txBox="1"/>
          <p:nvPr/>
        </p:nvSpPr>
        <p:spPr>
          <a:xfrm>
            <a:off x="7942660" y="1475581"/>
            <a:ext cx="685403"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POST</a:t>
            </a:r>
            <a:endParaRPr lang="en-US" sz="1748" dirty="0"/>
          </a:p>
        </p:txBody>
      </p:sp>
      <p:sp>
        <p:nvSpPr>
          <p:cNvPr id="32" name="Text 29"/>
          <p:cNvSpPr txBox="1"/>
          <p:nvPr/>
        </p:nvSpPr>
        <p:spPr>
          <a:xfrm>
            <a:off x="7569001" y="1767284"/>
            <a:ext cx="143291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 …}</a:t>
            </a:r>
            <a:endParaRPr lang="en-US" sz="1400" dirty="0"/>
          </a:p>
        </p:txBody>
      </p:sp>
      <p:sp>
        <p:nvSpPr>
          <p:cNvPr id="33" name="Shape 30"/>
          <p:cNvSpPr/>
          <p:nvPr/>
        </p:nvSpPr>
        <p:spPr>
          <a:xfrm>
            <a:off x="9487297" y="1367631"/>
            <a:ext cx="2403872" cy="692745"/>
          </a:xfrm>
          <a:prstGeom prst="rect">
            <a:avLst/>
          </a:prstGeom>
          <a:solidFill>
            <a:srgbClr val="FFFFFF"/>
          </a:solidFill>
          <a:ln/>
        </p:spPr>
      </p:sp>
      <p:sp>
        <p:nvSpPr>
          <p:cNvPr id="34" name="Shape 31"/>
          <p:cNvSpPr/>
          <p:nvPr/>
        </p:nvSpPr>
        <p:spPr>
          <a:xfrm>
            <a:off x="9487297" y="1367631"/>
            <a:ext cx="2403872" cy="12700"/>
          </a:xfrm>
          <a:prstGeom prst="rect">
            <a:avLst/>
          </a:prstGeom>
          <a:solidFill>
            <a:srgbClr val="333399"/>
          </a:solidFill>
          <a:ln/>
        </p:spPr>
      </p:sp>
      <p:sp>
        <p:nvSpPr>
          <p:cNvPr id="35" name="Shape 32"/>
          <p:cNvSpPr/>
          <p:nvPr/>
        </p:nvSpPr>
        <p:spPr>
          <a:xfrm>
            <a:off x="11878469" y="1367631"/>
            <a:ext cx="12700" cy="692745"/>
          </a:xfrm>
          <a:prstGeom prst="rect">
            <a:avLst/>
          </a:prstGeom>
          <a:solidFill>
            <a:srgbClr val="333399"/>
          </a:solidFill>
          <a:ln/>
        </p:spPr>
      </p:sp>
      <p:sp>
        <p:nvSpPr>
          <p:cNvPr id="36" name="Shape 33"/>
          <p:cNvSpPr/>
          <p:nvPr/>
        </p:nvSpPr>
        <p:spPr>
          <a:xfrm>
            <a:off x="9487297" y="2034976"/>
            <a:ext cx="2403872" cy="25400"/>
          </a:xfrm>
          <a:prstGeom prst="rect">
            <a:avLst/>
          </a:prstGeom>
          <a:solidFill>
            <a:srgbClr val="333399"/>
          </a:solidFill>
          <a:ln/>
        </p:spPr>
      </p:sp>
      <p:sp>
        <p:nvSpPr>
          <p:cNvPr id="37" name="Shape 34"/>
          <p:cNvSpPr/>
          <p:nvPr/>
        </p:nvSpPr>
        <p:spPr>
          <a:xfrm>
            <a:off x="9487297" y="1367631"/>
            <a:ext cx="12700" cy="692745"/>
          </a:xfrm>
          <a:prstGeom prst="rect">
            <a:avLst/>
          </a:prstGeom>
          <a:solidFill>
            <a:srgbClr val="333399"/>
          </a:solidFill>
          <a:ln/>
        </p:spPr>
      </p:sp>
      <p:sp>
        <p:nvSpPr>
          <p:cNvPr id="38" name="Shape 35"/>
          <p:cNvSpPr/>
          <p:nvPr/>
        </p:nvSpPr>
        <p:spPr>
          <a:xfrm>
            <a:off x="10279856" y="1475581"/>
            <a:ext cx="818555" cy="266303"/>
          </a:xfrm>
          <a:prstGeom prst="roundRect">
            <a:avLst>
              <a:gd name="adj" fmla="val 14307"/>
            </a:avLst>
          </a:prstGeom>
          <a:solidFill>
            <a:srgbClr val="CC6600"/>
          </a:solidFill>
          <a:ln/>
        </p:spPr>
      </p:sp>
      <p:sp>
        <p:nvSpPr>
          <p:cNvPr id="39" name="Text 36"/>
          <p:cNvSpPr txBox="1"/>
          <p:nvPr/>
        </p:nvSpPr>
        <p:spPr>
          <a:xfrm>
            <a:off x="10279856" y="1475581"/>
            <a:ext cx="818555"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QUERY</a:t>
            </a:r>
            <a:endParaRPr lang="en-US" sz="1748" dirty="0"/>
          </a:p>
        </p:txBody>
      </p:sp>
      <p:sp>
        <p:nvSpPr>
          <p:cNvPr id="40" name="Text 37"/>
          <p:cNvSpPr txBox="1"/>
          <p:nvPr/>
        </p:nvSpPr>
        <p:spPr>
          <a:xfrm>
            <a:off x="9972675" y="1767284"/>
            <a:ext cx="143291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 …}</a:t>
            </a:r>
            <a:endParaRPr lang="en-US" sz="1400" dirty="0"/>
          </a:p>
        </p:txBody>
      </p:sp>
      <p:sp>
        <p:nvSpPr>
          <p:cNvPr id="41" name="Shape 38"/>
          <p:cNvSpPr/>
          <p:nvPr/>
        </p:nvSpPr>
        <p:spPr>
          <a:xfrm>
            <a:off x="97631" y="2488009"/>
            <a:ext cx="11793537" cy="12700"/>
          </a:xfrm>
          <a:prstGeom prst="rect">
            <a:avLst/>
          </a:prstGeom>
          <a:solidFill>
            <a:srgbClr val="9CA3AF">
              <a:alpha val="20000"/>
            </a:srgbClr>
          </a:solidFill>
          <a:ln/>
        </p:spPr>
      </p:sp>
      <p:sp>
        <p:nvSpPr>
          <p:cNvPr id="42" name="Shape 39"/>
          <p:cNvSpPr/>
          <p:nvPr/>
        </p:nvSpPr>
        <p:spPr>
          <a:xfrm>
            <a:off x="97631" y="2060376"/>
            <a:ext cx="4245571" cy="440333"/>
          </a:xfrm>
          <a:prstGeom prst="rect">
            <a:avLst/>
          </a:prstGeom>
          <a:solidFill>
            <a:srgbClr val="D6D6EB"/>
          </a:solidFill>
          <a:ln w="12700">
            <a:solidFill>
              <a:srgbClr val="333399"/>
            </a:solidFill>
            <a:prstDash val="solid"/>
          </a:ln>
        </p:spPr>
      </p:sp>
      <p:sp>
        <p:nvSpPr>
          <p:cNvPr id="43" name="Text 40"/>
          <p:cNvSpPr txBox="1"/>
          <p:nvPr/>
        </p:nvSpPr>
        <p:spPr>
          <a:xfrm>
            <a:off x="218281" y="2136576"/>
            <a:ext cx="316468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Email in the URI (logs, history)</a:t>
            </a:r>
            <a:endParaRPr lang="en-US" sz="1900" dirty="0"/>
          </a:p>
        </p:txBody>
      </p:sp>
      <p:sp>
        <p:nvSpPr>
          <p:cNvPr id="44" name="Shape 41"/>
          <p:cNvSpPr/>
          <p:nvPr/>
        </p:nvSpPr>
        <p:spPr>
          <a:xfrm>
            <a:off x="4343201" y="2060376"/>
            <a:ext cx="2740421" cy="440333"/>
          </a:xfrm>
          <a:prstGeom prst="rect">
            <a:avLst/>
          </a:prstGeom>
          <a:solidFill>
            <a:srgbClr val="D6D6EB"/>
          </a:solidFill>
          <a:ln w="12700">
            <a:solidFill>
              <a:srgbClr val="333399"/>
            </a:solidFill>
            <a:prstDash val="solid"/>
          </a:ln>
        </p:spPr>
      </p:sp>
      <p:sp>
        <p:nvSpPr>
          <p:cNvPr id="45" name="Text 42"/>
          <p:cNvSpPr txBox="1"/>
          <p:nvPr/>
        </p:nvSpPr>
        <p:spPr>
          <a:xfrm>
            <a:off x="4463852" y="2136576"/>
            <a:ext cx="1162447"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Exposed</a:t>
            </a:r>
            <a:endParaRPr lang="en-US" sz="1900" dirty="0"/>
          </a:p>
        </p:txBody>
      </p:sp>
      <p:sp>
        <p:nvSpPr>
          <p:cNvPr id="46" name="Shape 43"/>
          <p:cNvSpPr/>
          <p:nvPr/>
        </p:nvSpPr>
        <p:spPr>
          <a:xfrm>
            <a:off x="7083624" y="2060376"/>
            <a:ext cx="2403673" cy="440333"/>
          </a:xfrm>
          <a:prstGeom prst="rect">
            <a:avLst/>
          </a:prstGeom>
          <a:solidFill>
            <a:srgbClr val="D6D6EB"/>
          </a:solidFill>
          <a:ln w="12700">
            <a:solidFill>
              <a:srgbClr val="333399"/>
            </a:solidFill>
            <a:prstDash val="solid"/>
          </a:ln>
        </p:spPr>
      </p:sp>
      <p:sp>
        <p:nvSpPr>
          <p:cNvPr id="47" name="Text 44"/>
          <p:cNvSpPr txBox="1"/>
          <p:nvPr/>
        </p:nvSpPr>
        <p:spPr>
          <a:xfrm>
            <a:off x="7204273" y="2136576"/>
            <a:ext cx="1189633"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Avoided</a:t>
            </a:r>
            <a:endParaRPr lang="en-US" sz="1900" dirty="0"/>
          </a:p>
        </p:txBody>
      </p:sp>
      <p:sp>
        <p:nvSpPr>
          <p:cNvPr id="48" name="Shape 45"/>
          <p:cNvSpPr/>
          <p:nvPr/>
        </p:nvSpPr>
        <p:spPr>
          <a:xfrm>
            <a:off x="9487297" y="2060376"/>
            <a:ext cx="2403872" cy="440333"/>
          </a:xfrm>
          <a:prstGeom prst="rect">
            <a:avLst/>
          </a:prstGeom>
          <a:solidFill>
            <a:srgbClr val="D6D6EB"/>
          </a:solidFill>
          <a:ln w="12700">
            <a:solidFill>
              <a:srgbClr val="333399"/>
            </a:solidFill>
            <a:prstDash val="solid"/>
          </a:ln>
        </p:spPr>
      </p:sp>
      <p:sp>
        <p:nvSpPr>
          <p:cNvPr id="49" name="Text 46"/>
          <p:cNvSpPr txBox="1"/>
          <p:nvPr/>
        </p:nvSpPr>
        <p:spPr>
          <a:xfrm>
            <a:off x="9607947" y="2136576"/>
            <a:ext cx="1189633"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Avoided</a:t>
            </a:r>
            <a:endParaRPr lang="en-US" sz="1900" dirty="0"/>
          </a:p>
        </p:txBody>
      </p:sp>
      <p:sp>
        <p:nvSpPr>
          <p:cNvPr id="50" name="Shape 47"/>
          <p:cNvSpPr/>
          <p:nvPr/>
        </p:nvSpPr>
        <p:spPr>
          <a:xfrm>
            <a:off x="97631" y="2921992"/>
            <a:ext cx="11793537" cy="12700"/>
          </a:xfrm>
          <a:prstGeom prst="rect">
            <a:avLst/>
          </a:prstGeom>
          <a:solidFill>
            <a:srgbClr val="9CA3AF">
              <a:alpha val="20000"/>
            </a:srgbClr>
          </a:solidFill>
          <a:ln/>
        </p:spPr>
      </p:sp>
      <p:sp>
        <p:nvSpPr>
          <p:cNvPr id="51" name="Shape 48"/>
          <p:cNvSpPr/>
          <p:nvPr/>
        </p:nvSpPr>
        <p:spPr>
          <a:xfrm>
            <a:off x="97631" y="2500709"/>
            <a:ext cx="4245571" cy="433983"/>
          </a:xfrm>
          <a:prstGeom prst="rect">
            <a:avLst/>
          </a:prstGeom>
          <a:solidFill>
            <a:srgbClr val="FFFFFF"/>
          </a:solidFill>
          <a:ln w="12700">
            <a:solidFill>
              <a:srgbClr val="333399"/>
            </a:solidFill>
            <a:prstDash val="solid"/>
          </a:ln>
        </p:spPr>
      </p:sp>
      <p:sp>
        <p:nvSpPr>
          <p:cNvPr id="52" name="Text 49"/>
          <p:cNvSpPr txBox="1"/>
          <p:nvPr/>
        </p:nvSpPr>
        <p:spPr>
          <a:xfrm>
            <a:off x="218281" y="2570560"/>
            <a:ext cx="2912864"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Safe intent visible to caches</a:t>
            </a:r>
            <a:endParaRPr lang="en-US" sz="1900" dirty="0"/>
          </a:p>
        </p:txBody>
      </p:sp>
      <p:sp>
        <p:nvSpPr>
          <p:cNvPr id="53" name="Shape 50"/>
          <p:cNvSpPr/>
          <p:nvPr/>
        </p:nvSpPr>
        <p:spPr>
          <a:xfrm>
            <a:off x="4343201" y="2500709"/>
            <a:ext cx="2740421" cy="433983"/>
          </a:xfrm>
          <a:prstGeom prst="rect">
            <a:avLst/>
          </a:prstGeom>
          <a:solidFill>
            <a:srgbClr val="FFFFFF"/>
          </a:solidFill>
          <a:ln w="12700">
            <a:solidFill>
              <a:srgbClr val="333399"/>
            </a:solidFill>
            <a:prstDash val="solid"/>
          </a:ln>
        </p:spPr>
      </p:sp>
      <p:sp>
        <p:nvSpPr>
          <p:cNvPr id="54" name="Text 51"/>
          <p:cNvSpPr txBox="1"/>
          <p:nvPr/>
        </p:nvSpPr>
        <p:spPr>
          <a:xfrm>
            <a:off x="4463852" y="2570560"/>
            <a:ext cx="706239"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55" name="Shape 52"/>
          <p:cNvSpPr/>
          <p:nvPr/>
        </p:nvSpPr>
        <p:spPr>
          <a:xfrm>
            <a:off x="7083624" y="2500709"/>
            <a:ext cx="2403673" cy="433983"/>
          </a:xfrm>
          <a:prstGeom prst="rect">
            <a:avLst/>
          </a:prstGeom>
          <a:solidFill>
            <a:srgbClr val="FFFFFF"/>
          </a:solidFill>
          <a:ln w="12700">
            <a:solidFill>
              <a:srgbClr val="333399"/>
            </a:solidFill>
            <a:prstDash val="solid"/>
          </a:ln>
        </p:spPr>
      </p:sp>
      <p:sp>
        <p:nvSpPr>
          <p:cNvPr id="56" name="Text 53"/>
          <p:cNvSpPr txBox="1"/>
          <p:nvPr/>
        </p:nvSpPr>
        <p:spPr>
          <a:xfrm>
            <a:off x="7204273" y="2570560"/>
            <a:ext cx="112077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Opaque</a:t>
            </a:r>
            <a:endParaRPr lang="en-US" sz="1900" dirty="0"/>
          </a:p>
        </p:txBody>
      </p:sp>
      <p:sp>
        <p:nvSpPr>
          <p:cNvPr id="57" name="Shape 54"/>
          <p:cNvSpPr/>
          <p:nvPr/>
        </p:nvSpPr>
        <p:spPr>
          <a:xfrm>
            <a:off x="9487297" y="2500709"/>
            <a:ext cx="2403872" cy="433983"/>
          </a:xfrm>
          <a:prstGeom prst="rect">
            <a:avLst/>
          </a:prstGeom>
          <a:solidFill>
            <a:srgbClr val="FFFFFF"/>
          </a:solidFill>
          <a:ln w="12700">
            <a:solidFill>
              <a:srgbClr val="333399"/>
            </a:solidFill>
            <a:prstDash val="solid"/>
          </a:ln>
        </p:spPr>
      </p:sp>
      <p:sp>
        <p:nvSpPr>
          <p:cNvPr id="58" name="Text 55"/>
          <p:cNvSpPr txBox="1"/>
          <p:nvPr/>
        </p:nvSpPr>
        <p:spPr>
          <a:xfrm>
            <a:off x="9607947" y="2570560"/>
            <a:ext cx="706239"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59" name="Shape 56"/>
          <p:cNvSpPr/>
          <p:nvPr/>
        </p:nvSpPr>
        <p:spPr>
          <a:xfrm>
            <a:off x="97631" y="3355975"/>
            <a:ext cx="11793537" cy="12700"/>
          </a:xfrm>
          <a:prstGeom prst="rect">
            <a:avLst/>
          </a:prstGeom>
          <a:solidFill>
            <a:srgbClr val="9CA3AF">
              <a:alpha val="20000"/>
            </a:srgbClr>
          </a:solidFill>
          <a:ln/>
        </p:spPr>
      </p:sp>
      <p:sp>
        <p:nvSpPr>
          <p:cNvPr id="60" name="Shape 57"/>
          <p:cNvSpPr/>
          <p:nvPr/>
        </p:nvSpPr>
        <p:spPr>
          <a:xfrm>
            <a:off x="97631" y="2934692"/>
            <a:ext cx="4245571" cy="433983"/>
          </a:xfrm>
          <a:prstGeom prst="rect">
            <a:avLst/>
          </a:prstGeom>
          <a:solidFill>
            <a:srgbClr val="D6D6EB"/>
          </a:solidFill>
          <a:ln w="12700">
            <a:solidFill>
              <a:srgbClr val="333399"/>
            </a:solidFill>
            <a:prstDash val="solid"/>
          </a:ln>
        </p:spPr>
      </p:sp>
      <p:sp>
        <p:nvSpPr>
          <p:cNvPr id="61" name="Text 58"/>
          <p:cNvSpPr txBox="1"/>
          <p:nvPr/>
        </p:nvSpPr>
        <p:spPr>
          <a:xfrm>
            <a:off x="218281" y="3004543"/>
            <a:ext cx="3462536"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Body may be logged or inspected</a:t>
            </a:r>
            <a:endParaRPr lang="en-US" sz="1900" dirty="0"/>
          </a:p>
        </p:txBody>
      </p:sp>
      <p:sp>
        <p:nvSpPr>
          <p:cNvPr id="62" name="Shape 59"/>
          <p:cNvSpPr/>
          <p:nvPr/>
        </p:nvSpPr>
        <p:spPr>
          <a:xfrm>
            <a:off x="4343201" y="2934692"/>
            <a:ext cx="2740421" cy="433983"/>
          </a:xfrm>
          <a:prstGeom prst="rect">
            <a:avLst/>
          </a:prstGeom>
          <a:solidFill>
            <a:srgbClr val="D6D6EB"/>
          </a:solidFill>
          <a:ln w="12700">
            <a:solidFill>
              <a:srgbClr val="333399"/>
            </a:solidFill>
            <a:prstDash val="solid"/>
          </a:ln>
        </p:spPr>
      </p:sp>
      <p:sp>
        <p:nvSpPr>
          <p:cNvPr id="63" name="Text 60"/>
          <p:cNvSpPr txBox="1"/>
          <p:nvPr/>
        </p:nvSpPr>
        <p:spPr>
          <a:xfrm>
            <a:off x="4463852" y="3004543"/>
            <a:ext cx="483791"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n/a</a:t>
            </a:r>
            <a:endParaRPr lang="en-US" sz="1900" dirty="0"/>
          </a:p>
        </p:txBody>
      </p:sp>
      <p:sp>
        <p:nvSpPr>
          <p:cNvPr id="64" name="Shape 61"/>
          <p:cNvSpPr/>
          <p:nvPr/>
        </p:nvSpPr>
        <p:spPr>
          <a:xfrm>
            <a:off x="7083624" y="2934692"/>
            <a:ext cx="2403673" cy="433983"/>
          </a:xfrm>
          <a:prstGeom prst="rect">
            <a:avLst/>
          </a:prstGeom>
          <a:solidFill>
            <a:srgbClr val="D6D6EB"/>
          </a:solidFill>
          <a:ln w="12700">
            <a:solidFill>
              <a:srgbClr val="333399"/>
            </a:solidFill>
            <a:prstDash val="solid"/>
          </a:ln>
        </p:spPr>
      </p:sp>
      <p:sp>
        <p:nvSpPr>
          <p:cNvPr id="65" name="Text 62"/>
          <p:cNvSpPr txBox="1"/>
          <p:nvPr/>
        </p:nvSpPr>
        <p:spPr>
          <a:xfrm>
            <a:off x="7204273" y="3004543"/>
            <a:ext cx="600472"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66" name="Shape 63"/>
          <p:cNvSpPr/>
          <p:nvPr/>
        </p:nvSpPr>
        <p:spPr>
          <a:xfrm>
            <a:off x="9487297" y="2934692"/>
            <a:ext cx="2403872" cy="433983"/>
          </a:xfrm>
          <a:prstGeom prst="rect">
            <a:avLst/>
          </a:prstGeom>
          <a:solidFill>
            <a:srgbClr val="D6D6EB"/>
          </a:solidFill>
          <a:ln w="12700">
            <a:solidFill>
              <a:srgbClr val="333399"/>
            </a:solidFill>
            <a:prstDash val="solid"/>
          </a:ln>
        </p:spPr>
      </p:sp>
      <p:sp>
        <p:nvSpPr>
          <p:cNvPr id="67" name="Text 64"/>
          <p:cNvSpPr txBox="1"/>
          <p:nvPr/>
        </p:nvSpPr>
        <p:spPr>
          <a:xfrm>
            <a:off x="9607947" y="3004543"/>
            <a:ext cx="600472"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21</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61148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Worked example: a user-search API</a:t>
            </a:r>
            <a:endParaRPr lang="en-US" sz="2400" dirty="0"/>
          </a:p>
        </p:txBody>
      </p:sp>
      <p:sp>
        <p:nvSpPr>
          <p:cNvPr id="10" name="Shape 7"/>
          <p:cNvSpPr/>
          <p:nvPr/>
        </p:nvSpPr>
        <p:spPr>
          <a:xfrm>
            <a:off x="97631" y="2047676"/>
            <a:ext cx="11793537" cy="12700"/>
          </a:xfrm>
          <a:prstGeom prst="rect">
            <a:avLst/>
          </a:prstGeom>
          <a:solidFill>
            <a:srgbClr val="9CA3AF">
              <a:alpha val="20000"/>
            </a:srgbClr>
          </a:solidFill>
          <a:ln/>
        </p:spPr>
      </p:sp>
      <p:sp>
        <p:nvSpPr>
          <p:cNvPr id="11" name="Shape 8"/>
          <p:cNvSpPr/>
          <p:nvPr/>
        </p:nvSpPr>
        <p:spPr>
          <a:xfrm>
            <a:off x="97631" y="1367631"/>
            <a:ext cx="4245571" cy="692745"/>
          </a:xfrm>
          <a:prstGeom prst="rect">
            <a:avLst/>
          </a:prstGeom>
          <a:solidFill>
            <a:srgbClr val="FFFFFF"/>
          </a:solidFill>
          <a:ln/>
        </p:spPr>
      </p:sp>
      <p:sp>
        <p:nvSpPr>
          <p:cNvPr id="12" name="Shape 9"/>
          <p:cNvSpPr/>
          <p:nvPr/>
        </p:nvSpPr>
        <p:spPr>
          <a:xfrm>
            <a:off x="97631" y="1367631"/>
            <a:ext cx="4245571" cy="12700"/>
          </a:xfrm>
          <a:prstGeom prst="rect">
            <a:avLst/>
          </a:prstGeom>
          <a:solidFill>
            <a:srgbClr val="333399"/>
          </a:solidFill>
          <a:ln/>
        </p:spPr>
      </p:sp>
      <p:sp>
        <p:nvSpPr>
          <p:cNvPr id="13" name="Shape 10"/>
          <p:cNvSpPr/>
          <p:nvPr/>
        </p:nvSpPr>
        <p:spPr>
          <a:xfrm>
            <a:off x="4330501" y="1367631"/>
            <a:ext cx="12700" cy="692745"/>
          </a:xfrm>
          <a:prstGeom prst="rect">
            <a:avLst/>
          </a:prstGeom>
          <a:solidFill>
            <a:srgbClr val="333399"/>
          </a:solidFill>
          <a:ln/>
        </p:spPr>
      </p:sp>
      <p:sp>
        <p:nvSpPr>
          <p:cNvPr id="14" name="Shape 11"/>
          <p:cNvSpPr/>
          <p:nvPr/>
        </p:nvSpPr>
        <p:spPr>
          <a:xfrm>
            <a:off x="97631" y="2034976"/>
            <a:ext cx="4245571" cy="25400"/>
          </a:xfrm>
          <a:prstGeom prst="rect">
            <a:avLst/>
          </a:prstGeom>
          <a:solidFill>
            <a:srgbClr val="333399"/>
          </a:solidFill>
          <a:ln/>
        </p:spPr>
      </p:sp>
      <p:sp>
        <p:nvSpPr>
          <p:cNvPr id="15" name="Shape 12"/>
          <p:cNvSpPr/>
          <p:nvPr/>
        </p:nvSpPr>
        <p:spPr>
          <a:xfrm>
            <a:off x="97631" y="1367631"/>
            <a:ext cx="12700" cy="692745"/>
          </a:xfrm>
          <a:prstGeom prst="rect">
            <a:avLst/>
          </a:prstGeom>
          <a:solidFill>
            <a:srgbClr val="333399"/>
          </a:solidFill>
          <a:ln/>
        </p:spPr>
      </p:sp>
      <p:sp>
        <p:nvSpPr>
          <p:cNvPr id="16" name="Text 13"/>
          <p:cNvSpPr txBox="1"/>
          <p:nvPr/>
        </p:nvSpPr>
        <p:spPr>
          <a:xfrm>
            <a:off x="1731764" y="1563688"/>
            <a:ext cx="977107"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Concern</a:t>
            </a:r>
            <a:endParaRPr lang="en-US" sz="1900" dirty="0"/>
          </a:p>
        </p:txBody>
      </p:sp>
      <p:sp>
        <p:nvSpPr>
          <p:cNvPr id="17" name="Shape 14"/>
          <p:cNvSpPr/>
          <p:nvPr/>
        </p:nvSpPr>
        <p:spPr>
          <a:xfrm>
            <a:off x="4343201" y="1367631"/>
            <a:ext cx="2740421" cy="692745"/>
          </a:xfrm>
          <a:prstGeom prst="rect">
            <a:avLst/>
          </a:prstGeom>
          <a:solidFill>
            <a:srgbClr val="FFFFFF"/>
          </a:solidFill>
          <a:ln/>
        </p:spPr>
      </p:sp>
      <p:sp>
        <p:nvSpPr>
          <p:cNvPr id="18" name="Shape 15"/>
          <p:cNvSpPr/>
          <p:nvPr/>
        </p:nvSpPr>
        <p:spPr>
          <a:xfrm>
            <a:off x="4343201" y="1367631"/>
            <a:ext cx="2740421" cy="12700"/>
          </a:xfrm>
          <a:prstGeom prst="rect">
            <a:avLst/>
          </a:prstGeom>
          <a:solidFill>
            <a:srgbClr val="333399"/>
          </a:solidFill>
          <a:ln/>
        </p:spPr>
      </p:sp>
      <p:sp>
        <p:nvSpPr>
          <p:cNvPr id="19" name="Shape 16"/>
          <p:cNvSpPr/>
          <p:nvPr/>
        </p:nvSpPr>
        <p:spPr>
          <a:xfrm>
            <a:off x="7070924" y="1367631"/>
            <a:ext cx="12700" cy="692745"/>
          </a:xfrm>
          <a:prstGeom prst="rect">
            <a:avLst/>
          </a:prstGeom>
          <a:solidFill>
            <a:srgbClr val="333399"/>
          </a:solidFill>
          <a:ln/>
        </p:spPr>
      </p:sp>
      <p:sp>
        <p:nvSpPr>
          <p:cNvPr id="20" name="Shape 17"/>
          <p:cNvSpPr/>
          <p:nvPr/>
        </p:nvSpPr>
        <p:spPr>
          <a:xfrm>
            <a:off x="4343201" y="2034976"/>
            <a:ext cx="2740421" cy="25400"/>
          </a:xfrm>
          <a:prstGeom prst="rect">
            <a:avLst/>
          </a:prstGeom>
          <a:solidFill>
            <a:srgbClr val="333399"/>
          </a:solidFill>
          <a:ln/>
        </p:spPr>
      </p:sp>
      <p:sp>
        <p:nvSpPr>
          <p:cNvPr id="21" name="Shape 18"/>
          <p:cNvSpPr/>
          <p:nvPr/>
        </p:nvSpPr>
        <p:spPr>
          <a:xfrm>
            <a:off x="4343201" y="1367631"/>
            <a:ext cx="12700" cy="692745"/>
          </a:xfrm>
          <a:prstGeom prst="rect">
            <a:avLst/>
          </a:prstGeom>
          <a:solidFill>
            <a:srgbClr val="333399"/>
          </a:solidFill>
          <a:ln/>
        </p:spPr>
      </p:sp>
      <p:sp>
        <p:nvSpPr>
          <p:cNvPr id="22" name="Shape 19"/>
          <p:cNvSpPr/>
          <p:nvPr/>
        </p:nvSpPr>
        <p:spPr>
          <a:xfrm>
            <a:off x="5437188" y="1475581"/>
            <a:ext cx="552252" cy="266303"/>
          </a:xfrm>
          <a:prstGeom prst="roundRect">
            <a:avLst>
              <a:gd name="adj" fmla="val 14307"/>
            </a:avLst>
          </a:prstGeom>
          <a:solidFill>
            <a:srgbClr val="333399"/>
          </a:solidFill>
          <a:ln/>
        </p:spPr>
      </p:sp>
      <p:sp>
        <p:nvSpPr>
          <p:cNvPr id="23" name="Text 20"/>
          <p:cNvSpPr txBox="1"/>
          <p:nvPr/>
        </p:nvSpPr>
        <p:spPr>
          <a:xfrm>
            <a:off x="5437188" y="1475581"/>
            <a:ext cx="552252"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GET</a:t>
            </a:r>
            <a:endParaRPr lang="en-US" sz="1748" dirty="0"/>
          </a:p>
        </p:txBody>
      </p:sp>
      <p:sp>
        <p:nvSpPr>
          <p:cNvPr id="24" name="Text 21"/>
          <p:cNvSpPr txBox="1"/>
          <p:nvPr/>
        </p:nvSpPr>
        <p:spPr>
          <a:xfrm>
            <a:off x="4890293" y="1767284"/>
            <a:ext cx="164623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?email=alice@…</a:t>
            </a:r>
            <a:endParaRPr lang="en-US" sz="1400" dirty="0"/>
          </a:p>
        </p:txBody>
      </p:sp>
      <p:sp>
        <p:nvSpPr>
          <p:cNvPr id="25" name="Shape 22"/>
          <p:cNvSpPr/>
          <p:nvPr/>
        </p:nvSpPr>
        <p:spPr>
          <a:xfrm>
            <a:off x="7083624" y="1367631"/>
            <a:ext cx="2403673" cy="692745"/>
          </a:xfrm>
          <a:prstGeom prst="rect">
            <a:avLst/>
          </a:prstGeom>
          <a:solidFill>
            <a:srgbClr val="FFFFFF"/>
          </a:solidFill>
          <a:ln/>
        </p:spPr>
      </p:sp>
      <p:sp>
        <p:nvSpPr>
          <p:cNvPr id="26" name="Shape 23"/>
          <p:cNvSpPr/>
          <p:nvPr/>
        </p:nvSpPr>
        <p:spPr>
          <a:xfrm>
            <a:off x="7083624" y="1367631"/>
            <a:ext cx="2403673" cy="12700"/>
          </a:xfrm>
          <a:prstGeom prst="rect">
            <a:avLst/>
          </a:prstGeom>
          <a:solidFill>
            <a:srgbClr val="333399"/>
          </a:solidFill>
          <a:ln/>
        </p:spPr>
      </p:sp>
      <p:sp>
        <p:nvSpPr>
          <p:cNvPr id="27" name="Shape 24"/>
          <p:cNvSpPr/>
          <p:nvPr/>
        </p:nvSpPr>
        <p:spPr>
          <a:xfrm>
            <a:off x="9474597" y="1367631"/>
            <a:ext cx="12700" cy="692745"/>
          </a:xfrm>
          <a:prstGeom prst="rect">
            <a:avLst/>
          </a:prstGeom>
          <a:solidFill>
            <a:srgbClr val="333399"/>
          </a:solidFill>
          <a:ln/>
        </p:spPr>
      </p:sp>
      <p:sp>
        <p:nvSpPr>
          <p:cNvPr id="28" name="Shape 25"/>
          <p:cNvSpPr/>
          <p:nvPr/>
        </p:nvSpPr>
        <p:spPr>
          <a:xfrm>
            <a:off x="7083624" y="2034976"/>
            <a:ext cx="2403673" cy="25400"/>
          </a:xfrm>
          <a:prstGeom prst="rect">
            <a:avLst/>
          </a:prstGeom>
          <a:solidFill>
            <a:srgbClr val="333399"/>
          </a:solidFill>
          <a:ln/>
        </p:spPr>
      </p:sp>
      <p:sp>
        <p:nvSpPr>
          <p:cNvPr id="29" name="Shape 26"/>
          <p:cNvSpPr/>
          <p:nvPr/>
        </p:nvSpPr>
        <p:spPr>
          <a:xfrm>
            <a:off x="7083624" y="1367631"/>
            <a:ext cx="12700" cy="692745"/>
          </a:xfrm>
          <a:prstGeom prst="rect">
            <a:avLst/>
          </a:prstGeom>
          <a:solidFill>
            <a:srgbClr val="333399"/>
          </a:solidFill>
          <a:ln/>
        </p:spPr>
      </p:sp>
      <p:sp>
        <p:nvSpPr>
          <p:cNvPr id="30" name="Shape 27"/>
          <p:cNvSpPr/>
          <p:nvPr/>
        </p:nvSpPr>
        <p:spPr>
          <a:xfrm>
            <a:off x="7942660" y="1475581"/>
            <a:ext cx="685403" cy="266303"/>
          </a:xfrm>
          <a:prstGeom prst="roundRect">
            <a:avLst>
              <a:gd name="adj" fmla="val 14307"/>
            </a:avLst>
          </a:prstGeom>
          <a:solidFill>
            <a:srgbClr val="993300"/>
          </a:solidFill>
          <a:ln/>
        </p:spPr>
      </p:sp>
      <p:sp>
        <p:nvSpPr>
          <p:cNvPr id="31" name="Text 28"/>
          <p:cNvSpPr txBox="1"/>
          <p:nvPr/>
        </p:nvSpPr>
        <p:spPr>
          <a:xfrm>
            <a:off x="7942660" y="1475581"/>
            <a:ext cx="685403"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POST</a:t>
            </a:r>
            <a:endParaRPr lang="en-US" sz="1748" dirty="0"/>
          </a:p>
        </p:txBody>
      </p:sp>
      <p:sp>
        <p:nvSpPr>
          <p:cNvPr id="32" name="Text 29"/>
          <p:cNvSpPr txBox="1"/>
          <p:nvPr/>
        </p:nvSpPr>
        <p:spPr>
          <a:xfrm>
            <a:off x="7569001" y="1767284"/>
            <a:ext cx="143291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 …}</a:t>
            </a:r>
            <a:endParaRPr lang="en-US" sz="1400" dirty="0"/>
          </a:p>
        </p:txBody>
      </p:sp>
      <p:sp>
        <p:nvSpPr>
          <p:cNvPr id="33" name="Shape 30"/>
          <p:cNvSpPr/>
          <p:nvPr/>
        </p:nvSpPr>
        <p:spPr>
          <a:xfrm>
            <a:off x="9487297" y="1367631"/>
            <a:ext cx="2403872" cy="692745"/>
          </a:xfrm>
          <a:prstGeom prst="rect">
            <a:avLst/>
          </a:prstGeom>
          <a:solidFill>
            <a:srgbClr val="FFFFFF"/>
          </a:solidFill>
          <a:ln/>
        </p:spPr>
      </p:sp>
      <p:sp>
        <p:nvSpPr>
          <p:cNvPr id="34" name="Shape 31"/>
          <p:cNvSpPr/>
          <p:nvPr/>
        </p:nvSpPr>
        <p:spPr>
          <a:xfrm>
            <a:off x="9487297" y="1367631"/>
            <a:ext cx="2403872" cy="12700"/>
          </a:xfrm>
          <a:prstGeom prst="rect">
            <a:avLst/>
          </a:prstGeom>
          <a:solidFill>
            <a:srgbClr val="333399"/>
          </a:solidFill>
          <a:ln/>
        </p:spPr>
      </p:sp>
      <p:sp>
        <p:nvSpPr>
          <p:cNvPr id="35" name="Shape 32"/>
          <p:cNvSpPr/>
          <p:nvPr/>
        </p:nvSpPr>
        <p:spPr>
          <a:xfrm>
            <a:off x="11878469" y="1367631"/>
            <a:ext cx="12700" cy="692745"/>
          </a:xfrm>
          <a:prstGeom prst="rect">
            <a:avLst/>
          </a:prstGeom>
          <a:solidFill>
            <a:srgbClr val="333399"/>
          </a:solidFill>
          <a:ln/>
        </p:spPr>
      </p:sp>
      <p:sp>
        <p:nvSpPr>
          <p:cNvPr id="36" name="Shape 33"/>
          <p:cNvSpPr/>
          <p:nvPr/>
        </p:nvSpPr>
        <p:spPr>
          <a:xfrm>
            <a:off x="9487297" y="2034976"/>
            <a:ext cx="2403872" cy="25400"/>
          </a:xfrm>
          <a:prstGeom prst="rect">
            <a:avLst/>
          </a:prstGeom>
          <a:solidFill>
            <a:srgbClr val="333399"/>
          </a:solidFill>
          <a:ln/>
        </p:spPr>
      </p:sp>
      <p:sp>
        <p:nvSpPr>
          <p:cNvPr id="37" name="Shape 34"/>
          <p:cNvSpPr/>
          <p:nvPr/>
        </p:nvSpPr>
        <p:spPr>
          <a:xfrm>
            <a:off x="9487297" y="1367631"/>
            <a:ext cx="12700" cy="692745"/>
          </a:xfrm>
          <a:prstGeom prst="rect">
            <a:avLst/>
          </a:prstGeom>
          <a:solidFill>
            <a:srgbClr val="333399"/>
          </a:solidFill>
          <a:ln/>
        </p:spPr>
      </p:sp>
      <p:sp>
        <p:nvSpPr>
          <p:cNvPr id="38" name="Shape 35"/>
          <p:cNvSpPr/>
          <p:nvPr/>
        </p:nvSpPr>
        <p:spPr>
          <a:xfrm>
            <a:off x="10279856" y="1475581"/>
            <a:ext cx="818555" cy="266303"/>
          </a:xfrm>
          <a:prstGeom prst="roundRect">
            <a:avLst>
              <a:gd name="adj" fmla="val 14307"/>
            </a:avLst>
          </a:prstGeom>
          <a:solidFill>
            <a:srgbClr val="CC6600"/>
          </a:solidFill>
          <a:ln/>
        </p:spPr>
      </p:sp>
      <p:sp>
        <p:nvSpPr>
          <p:cNvPr id="39" name="Text 36"/>
          <p:cNvSpPr txBox="1"/>
          <p:nvPr/>
        </p:nvSpPr>
        <p:spPr>
          <a:xfrm>
            <a:off x="10279856" y="1475581"/>
            <a:ext cx="818555"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QUERY</a:t>
            </a:r>
            <a:endParaRPr lang="en-US" sz="1748" dirty="0"/>
          </a:p>
        </p:txBody>
      </p:sp>
      <p:sp>
        <p:nvSpPr>
          <p:cNvPr id="40" name="Text 37"/>
          <p:cNvSpPr txBox="1"/>
          <p:nvPr/>
        </p:nvSpPr>
        <p:spPr>
          <a:xfrm>
            <a:off x="9972675" y="1767284"/>
            <a:ext cx="143291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 …}</a:t>
            </a:r>
            <a:endParaRPr lang="en-US" sz="1400" dirty="0"/>
          </a:p>
        </p:txBody>
      </p:sp>
      <p:sp>
        <p:nvSpPr>
          <p:cNvPr id="41" name="Shape 38"/>
          <p:cNvSpPr/>
          <p:nvPr/>
        </p:nvSpPr>
        <p:spPr>
          <a:xfrm>
            <a:off x="97631" y="2488009"/>
            <a:ext cx="11793537" cy="12700"/>
          </a:xfrm>
          <a:prstGeom prst="rect">
            <a:avLst/>
          </a:prstGeom>
          <a:solidFill>
            <a:srgbClr val="9CA3AF">
              <a:alpha val="20000"/>
            </a:srgbClr>
          </a:solidFill>
          <a:ln/>
        </p:spPr>
      </p:sp>
      <p:sp>
        <p:nvSpPr>
          <p:cNvPr id="42" name="Shape 39"/>
          <p:cNvSpPr/>
          <p:nvPr/>
        </p:nvSpPr>
        <p:spPr>
          <a:xfrm>
            <a:off x="97631" y="2060376"/>
            <a:ext cx="4245571" cy="440333"/>
          </a:xfrm>
          <a:prstGeom prst="rect">
            <a:avLst/>
          </a:prstGeom>
          <a:solidFill>
            <a:srgbClr val="D6D6EB"/>
          </a:solidFill>
          <a:ln w="12700">
            <a:solidFill>
              <a:srgbClr val="333399"/>
            </a:solidFill>
            <a:prstDash val="solid"/>
          </a:ln>
        </p:spPr>
      </p:sp>
      <p:sp>
        <p:nvSpPr>
          <p:cNvPr id="43" name="Text 40"/>
          <p:cNvSpPr txBox="1"/>
          <p:nvPr/>
        </p:nvSpPr>
        <p:spPr>
          <a:xfrm>
            <a:off x="218281" y="2136576"/>
            <a:ext cx="316468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Email in the URI (logs, history)</a:t>
            </a:r>
            <a:endParaRPr lang="en-US" sz="1900" dirty="0"/>
          </a:p>
        </p:txBody>
      </p:sp>
      <p:sp>
        <p:nvSpPr>
          <p:cNvPr id="44" name="Shape 41"/>
          <p:cNvSpPr/>
          <p:nvPr/>
        </p:nvSpPr>
        <p:spPr>
          <a:xfrm>
            <a:off x="4343201" y="2060376"/>
            <a:ext cx="2740421" cy="440333"/>
          </a:xfrm>
          <a:prstGeom prst="rect">
            <a:avLst/>
          </a:prstGeom>
          <a:solidFill>
            <a:srgbClr val="D6D6EB"/>
          </a:solidFill>
          <a:ln w="12700">
            <a:solidFill>
              <a:srgbClr val="333399"/>
            </a:solidFill>
            <a:prstDash val="solid"/>
          </a:ln>
        </p:spPr>
      </p:sp>
      <p:sp>
        <p:nvSpPr>
          <p:cNvPr id="45" name="Text 42"/>
          <p:cNvSpPr txBox="1"/>
          <p:nvPr/>
        </p:nvSpPr>
        <p:spPr>
          <a:xfrm>
            <a:off x="4463852" y="2136576"/>
            <a:ext cx="1162447"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Exposed</a:t>
            </a:r>
            <a:endParaRPr lang="en-US" sz="1900" dirty="0"/>
          </a:p>
        </p:txBody>
      </p:sp>
      <p:sp>
        <p:nvSpPr>
          <p:cNvPr id="46" name="Shape 43"/>
          <p:cNvSpPr/>
          <p:nvPr/>
        </p:nvSpPr>
        <p:spPr>
          <a:xfrm>
            <a:off x="7083624" y="2060376"/>
            <a:ext cx="2403673" cy="440333"/>
          </a:xfrm>
          <a:prstGeom prst="rect">
            <a:avLst/>
          </a:prstGeom>
          <a:solidFill>
            <a:srgbClr val="D6D6EB"/>
          </a:solidFill>
          <a:ln w="12700">
            <a:solidFill>
              <a:srgbClr val="333399"/>
            </a:solidFill>
            <a:prstDash val="solid"/>
          </a:ln>
        </p:spPr>
      </p:sp>
      <p:sp>
        <p:nvSpPr>
          <p:cNvPr id="47" name="Text 44"/>
          <p:cNvSpPr txBox="1"/>
          <p:nvPr/>
        </p:nvSpPr>
        <p:spPr>
          <a:xfrm>
            <a:off x="7204273" y="2136576"/>
            <a:ext cx="1189633"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Avoided</a:t>
            </a:r>
            <a:endParaRPr lang="en-US" sz="1900" dirty="0"/>
          </a:p>
        </p:txBody>
      </p:sp>
      <p:sp>
        <p:nvSpPr>
          <p:cNvPr id="48" name="Shape 45"/>
          <p:cNvSpPr/>
          <p:nvPr/>
        </p:nvSpPr>
        <p:spPr>
          <a:xfrm>
            <a:off x="9487297" y="2060376"/>
            <a:ext cx="2403872" cy="440333"/>
          </a:xfrm>
          <a:prstGeom prst="rect">
            <a:avLst/>
          </a:prstGeom>
          <a:solidFill>
            <a:srgbClr val="D6D6EB"/>
          </a:solidFill>
          <a:ln w="12700">
            <a:solidFill>
              <a:srgbClr val="333399"/>
            </a:solidFill>
            <a:prstDash val="solid"/>
          </a:ln>
        </p:spPr>
      </p:sp>
      <p:sp>
        <p:nvSpPr>
          <p:cNvPr id="49" name="Text 46"/>
          <p:cNvSpPr txBox="1"/>
          <p:nvPr/>
        </p:nvSpPr>
        <p:spPr>
          <a:xfrm>
            <a:off x="9607947" y="2136576"/>
            <a:ext cx="1189633"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Avoided</a:t>
            </a:r>
            <a:endParaRPr lang="en-US" sz="1900" dirty="0"/>
          </a:p>
        </p:txBody>
      </p:sp>
      <p:sp>
        <p:nvSpPr>
          <p:cNvPr id="50" name="Shape 47"/>
          <p:cNvSpPr/>
          <p:nvPr/>
        </p:nvSpPr>
        <p:spPr>
          <a:xfrm>
            <a:off x="97631" y="2921992"/>
            <a:ext cx="11793537" cy="12700"/>
          </a:xfrm>
          <a:prstGeom prst="rect">
            <a:avLst/>
          </a:prstGeom>
          <a:solidFill>
            <a:srgbClr val="9CA3AF">
              <a:alpha val="20000"/>
            </a:srgbClr>
          </a:solidFill>
          <a:ln/>
        </p:spPr>
      </p:sp>
      <p:sp>
        <p:nvSpPr>
          <p:cNvPr id="51" name="Shape 48"/>
          <p:cNvSpPr/>
          <p:nvPr/>
        </p:nvSpPr>
        <p:spPr>
          <a:xfrm>
            <a:off x="97631" y="2500709"/>
            <a:ext cx="4245571" cy="433983"/>
          </a:xfrm>
          <a:prstGeom prst="rect">
            <a:avLst/>
          </a:prstGeom>
          <a:solidFill>
            <a:srgbClr val="FFFFFF"/>
          </a:solidFill>
          <a:ln w="12700">
            <a:solidFill>
              <a:srgbClr val="333399"/>
            </a:solidFill>
            <a:prstDash val="solid"/>
          </a:ln>
        </p:spPr>
      </p:sp>
      <p:sp>
        <p:nvSpPr>
          <p:cNvPr id="52" name="Text 49"/>
          <p:cNvSpPr txBox="1"/>
          <p:nvPr/>
        </p:nvSpPr>
        <p:spPr>
          <a:xfrm>
            <a:off x="218281" y="2570560"/>
            <a:ext cx="2912864"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Safe intent visible to caches</a:t>
            </a:r>
            <a:endParaRPr lang="en-US" sz="1900" dirty="0"/>
          </a:p>
        </p:txBody>
      </p:sp>
      <p:sp>
        <p:nvSpPr>
          <p:cNvPr id="53" name="Shape 50"/>
          <p:cNvSpPr/>
          <p:nvPr/>
        </p:nvSpPr>
        <p:spPr>
          <a:xfrm>
            <a:off x="4343201" y="2500709"/>
            <a:ext cx="2740421" cy="433983"/>
          </a:xfrm>
          <a:prstGeom prst="rect">
            <a:avLst/>
          </a:prstGeom>
          <a:solidFill>
            <a:srgbClr val="FFFFFF"/>
          </a:solidFill>
          <a:ln w="12700">
            <a:solidFill>
              <a:srgbClr val="333399"/>
            </a:solidFill>
            <a:prstDash val="solid"/>
          </a:ln>
        </p:spPr>
      </p:sp>
      <p:sp>
        <p:nvSpPr>
          <p:cNvPr id="54" name="Text 51"/>
          <p:cNvSpPr txBox="1"/>
          <p:nvPr/>
        </p:nvSpPr>
        <p:spPr>
          <a:xfrm>
            <a:off x="4463852" y="2570560"/>
            <a:ext cx="706239"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55" name="Shape 52"/>
          <p:cNvSpPr/>
          <p:nvPr/>
        </p:nvSpPr>
        <p:spPr>
          <a:xfrm>
            <a:off x="7083624" y="2500709"/>
            <a:ext cx="2403673" cy="433983"/>
          </a:xfrm>
          <a:prstGeom prst="rect">
            <a:avLst/>
          </a:prstGeom>
          <a:solidFill>
            <a:srgbClr val="FFFFFF"/>
          </a:solidFill>
          <a:ln w="12700">
            <a:solidFill>
              <a:srgbClr val="333399"/>
            </a:solidFill>
            <a:prstDash val="solid"/>
          </a:ln>
        </p:spPr>
      </p:sp>
      <p:sp>
        <p:nvSpPr>
          <p:cNvPr id="56" name="Text 53"/>
          <p:cNvSpPr txBox="1"/>
          <p:nvPr/>
        </p:nvSpPr>
        <p:spPr>
          <a:xfrm>
            <a:off x="7204273" y="2570560"/>
            <a:ext cx="112077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Opaque</a:t>
            </a:r>
            <a:endParaRPr lang="en-US" sz="1900" dirty="0"/>
          </a:p>
        </p:txBody>
      </p:sp>
      <p:sp>
        <p:nvSpPr>
          <p:cNvPr id="57" name="Shape 54"/>
          <p:cNvSpPr/>
          <p:nvPr/>
        </p:nvSpPr>
        <p:spPr>
          <a:xfrm>
            <a:off x="9487297" y="2500709"/>
            <a:ext cx="2403872" cy="433983"/>
          </a:xfrm>
          <a:prstGeom prst="rect">
            <a:avLst/>
          </a:prstGeom>
          <a:solidFill>
            <a:srgbClr val="FFFFFF"/>
          </a:solidFill>
          <a:ln w="12700">
            <a:solidFill>
              <a:srgbClr val="333399"/>
            </a:solidFill>
            <a:prstDash val="solid"/>
          </a:ln>
        </p:spPr>
      </p:sp>
      <p:sp>
        <p:nvSpPr>
          <p:cNvPr id="58" name="Text 55"/>
          <p:cNvSpPr txBox="1"/>
          <p:nvPr/>
        </p:nvSpPr>
        <p:spPr>
          <a:xfrm>
            <a:off x="9607947" y="2570560"/>
            <a:ext cx="706239"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59" name="Shape 56"/>
          <p:cNvSpPr/>
          <p:nvPr/>
        </p:nvSpPr>
        <p:spPr>
          <a:xfrm>
            <a:off x="97631" y="3355975"/>
            <a:ext cx="11793537" cy="12700"/>
          </a:xfrm>
          <a:prstGeom prst="rect">
            <a:avLst/>
          </a:prstGeom>
          <a:solidFill>
            <a:srgbClr val="9CA3AF">
              <a:alpha val="20000"/>
            </a:srgbClr>
          </a:solidFill>
          <a:ln/>
        </p:spPr>
      </p:sp>
      <p:sp>
        <p:nvSpPr>
          <p:cNvPr id="60" name="Shape 57"/>
          <p:cNvSpPr/>
          <p:nvPr/>
        </p:nvSpPr>
        <p:spPr>
          <a:xfrm>
            <a:off x="97631" y="2934692"/>
            <a:ext cx="4245571" cy="433983"/>
          </a:xfrm>
          <a:prstGeom prst="rect">
            <a:avLst/>
          </a:prstGeom>
          <a:solidFill>
            <a:srgbClr val="D6D6EB"/>
          </a:solidFill>
          <a:ln w="12700">
            <a:solidFill>
              <a:srgbClr val="333399"/>
            </a:solidFill>
            <a:prstDash val="solid"/>
          </a:ln>
        </p:spPr>
      </p:sp>
      <p:sp>
        <p:nvSpPr>
          <p:cNvPr id="61" name="Text 58"/>
          <p:cNvSpPr txBox="1"/>
          <p:nvPr/>
        </p:nvSpPr>
        <p:spPr>
          <a:xfrm>
            <a:off x="218281" y="3004543"/>
            <a:ext cx="3462536"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Body may be logged or inspected</a:t>
            </a:r>
            <a:endParaRPr lang="en-US" sz="1900" dirty="0"/>
          </a:p>
        </p:txBody>
      </p:sp>
      <p:sp>
        <p:nvSpPr>
          <p:cNvPr id="62" name="Shape 59"/>
          <p:cNvSpPr/>
          <p:nvPr/>
        </p:nvSpPr>
        <p:spPr>
          <a:xfrm>
            <a:off x="4343201" y="2934692"/>
            <a:ext cx="2740421" cy="433983"/>
          </a:xfrm>
          <a:prstGeom prst="rect">
            <a:avLst/>
          </a:prstGeom>
          <a:solidFill>
            <a:srgbClr val="D6D6EB"/>
          </a:solidFill>
          <a:ln w="12700">
            <a:solidFill>
              <a:srgbClr val="333399"/>
            </a:solidFill>
            <a:prstDash val="solid"/>
          </a:ln>
        </p:spPr>
      </p:sp>
      <p:sp>
        <p:nvSpPr>
          <p:cNvPr id="63" name="Text 60"/>
          <p:cNvSpPr txBox="1"/>
          <p:nvPr/>
        </p:nvSpPr>
        <p:spPr>
          <a:xfrm>
            <a:off x="4463852" y="3004543"/>
            <a:ext cx="483791"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n/a</a:t>
            </a:r>
            <a:endParaRPr lang="en-US" sz="1900" dirty="0"/>
          </a:p>
        </p:txBody>
      </p:sp>
      <p:sp>
        <p:nvSpPr>
          <p:cNvPr id="64" name="Shape 61"/>
          <p:cNvSpPr/>
          <p:nvPr/>
        </p:nvSpPr>
        <p:spPr>
          <a:xfrm>
            <a:off x="7083624" y="2934692"/>
            <a:ext cx="2403673" cy="433983"/>
          </a:xfrm>
          <a:prstGeom prst="rect">
            <a:avLst/>
          </a:prstGeom>
          <a:solidFill>
            <a:srgbClr val="D6D6EB"/>
          </a:solidFill>
          <a:ln w="12700">
            <a:solidFill>
              <a:srgbClr val="333399"/>
            </a:solidFill>
            <a:prstDash val="solid"/>
          </a:ln>
        </p:spPr>
      </p:sp>
      <p:sp>
        <p:nvSpPr>
          <p:cNvPr id="65" name="Text 62"/>
          <p:cNvSpPr txBox="1"/>
          <p:nvPr/>
        </p:nvSpPr>
        <p:spPr>
          <a:xfrm>
            <a:off x="7204273" y="3004543"/>
            <a:ext cx="600472"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66" name="Shape 63"/>
          <p:cNvSpPr/>
          <p:nvPr/>
        </p:nvSpPr>
        <p:spPr>
          <a:xfrm>
            <a:off x="9487297" y="2934692"/>
            <a:ext cx="2403872" cy="433983"/>
          </a:xfrm>
          <a:prstGeom prst="rect">
            <a:avLst/>
          </a:prstGeom>
          <a:solidFill>
            <a:srgbClr val="D6D6EB"/>
          </a:solidFill>
          <a:ln w="12700">
            <a:solidFill>
              <a:srgbClr val="333399"/>
            </a:solidFill>
            <a:prstDash val="solid"/>
          </a:ln>
        </p:spPr>
      </p:sp>
      <p:sp>
        <p:nvSpPr>
          <p:cNvPr id="67" name="Text 64"/>
          <p:cNvSpPr txBox="1"/>
          <p:nvPr/>
        </p:nvSpPr>
        <p:spPr>
          <a:xfrm>
            <a:off x="9607947" y="3004543"/>
            <a:ext cx="600472"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68" name="Shape 65"/>
          <p:cNvSpPr/>
          <p:nvPr/>
        </p:nvSpPr>
        <p:spPr>
          <a:xfrm>
            <a:off x="97631" y="3789957"/>
            <a:ext cx="11793537" cy="12700"/>
          </a:xfrm>
          <a:prstGeom prst="rect">
            <a:avLst/>
          </a:prstGeom>
          <a:solidFill>
            <a:srgbClr val="9CA3AF">
              <a:alpha val="20000"/>
            </a:srgbClr>
          </a:solidFill>
          <a:ln/>
        </p:spPr>
      </p:sp>
      <p:sp>
        <p:nvSpPr>
          <p:cNvPr id="69" name="Shape 66"/>
          <p:cNvSpPr/>
          <p:nvPr/>
        </p:nvSpPr>
        <p:spPr>
          <a:xfrm>
            <a:off x="97631" y="3368675"/>
            <a:ext cx="4245571" cy="433983"/>
          </a:xfrm>
          <a:prstGeom prst="rect">
            <a:avLst/>
          </a:prstGeom>
          <a:solidFill>
            <a:srgbClr val="FFFFFF"/>
          </a:solidFill>
          <a:ln w="12700">
            <a:solidFill>
              <a:srgbClr val="333399"/>
            </a:solidFill>
            <a:prstDash val="solid"/>
          </a:ln>
        </p:spPr>
      </p:sp>
      <p:sp>
        <p:nvSpPr>
          <p:cNvPr id="70" name="Text 67"/>
          <p:cNvSpPr txBox="1"/>
          <p:nvPr/>
        </p:nvSpPr>
        <p:spPr>
          <a:xfrm>
            <a:off x="218281" y="3438525"/>
            <a:ext cx="339744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Authorization for admin lookups</a:t>
            </a:r>
            <a:endParaRPr lang="en-US" sz="1900" dirty="0"/>
          </a:p>
        </p:txBody>
      </p:sp>
      <p:sp>
        <p:nvSpPr>
          <p:cNvPr id="71" name="Shape 68"/>
          <p:cNvSpPr/>
          <p:nvPr/>
        </p:nvSpPr>
        <p:spPr>
          <a:xfrm>
            <a:off x="4343201" y="3368675"/>
            <a:ext cx="2740421" cy="433983"/>
          </a:xfrm>
          <a:prstGeom prst="rect">
            <a:avLst/>
          </a:prstGeom>
          <a:solidFill>
            <a:srgbClr val="FFFFFF"/>
          </a:solidFill>
          <a:ln w="12700">
            <a:solidFill>
              <a:srgbClr val="333399"/>
            </a:solidFill>
            <a:prstDash val="solid"/>
          </a:ln>
        </p:spPr>
      </p:sp>
      <p:sp>
        <p:nvSpPr>
          <p:cNvPr id="72" name="Text 69"/>
          <p:cNvSpPr txBox="1"/>
          <p:nvPr/>
        </p:nvSpPr>
        <p:spPr>
          <a:xfrm>
            <a:off x="4463852" y="3438525"/>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73" name="Shape 70"/>
          <p:cNvSpPr/>
          <p:nvPr/>
        </p:nvSpPr>
        <p:spPr>
          <a:xfrm>
            <a:off x="7083624" y="3368675"/>
            <a:ext cx="2403673" cy="433983"/>
          </a:xfrm>
          <a:prstGeom prst="rect">
            <a:avLst/>
          </a:prstGeom>
          <a:solidFill>
            <a:srgbClr val="FFFFFF"/>
          </a:solidFill>
          <a:ln w="12700">
            <a:solidFill>
              <a:srgbClr val="333399"/>
            </a:solidFill>
            <a:prstDash val="solid"/>
          </a:ln>
        </p:spPr>
      </p:sp>
      <p:sp>
        <p:nvSpPr>
          <p:cNvPr id="74" name="Text 71"/>
          <p:cNvSpPr txBox="1"/>
          <p:nvPr/>
        </p:nvSpPr>
        <p:spPr>
          <a:xfrm>
            <a:off x="7204273" y="3438525"/>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75" name="Shape 72"/>
          <p:cNvSpPr/>
          <p:nvPr/>
        </p:nvSpPr>
        <p:spPr>
          <a:xfrm>
            <a:off x="9487297" y="3368675"/>
            <a:ext cx="2403872" cy="433983"/>
          </a:xfrm>
          <a:prstGeom prst="rect">
            <a:avLst/>
          </a:prstGeom>
          <a:solidFill>
            <a:srgbClr val="FFFFFF"/>
          </a:solidFill>
          <a:ln w="12700">
            <a:solidFill>
              <a:srgbClr val="333399"/>
            </a:solidFill>
            <a:prstDash val="solid"/>
          </a:ln>
        </p:spPr>
      </p:sp>
      <p:sp>
        <p:nvSpPr>
          <p:cNvPr id="76" name="Text 73"/>
          <p:cNvSpPr txBox="1"/>
          <p:nvPr/>
        </p:nvSpPr>
        <p:spPr>
          <a:xfrm>
            <a:off x="9607947" y="3438525"/>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77" name="Shape 74"/>
          <p:cNvSpPr/>
          <p:nvPr/>
        </p:nvSpPr>
        <p:spPr>
          <a:xfrm>
            <a:off x="97631" y="4223940"/>
            <a:ext cx="11793537" cy="12700"/>
          </a:xfrm>
          <a:prstGeom prst="rect">
            <a:avLst/>
          </a:prstGeom>
          <a:solidFill>
            <a:srgbClr val="9CA3AF">
              <a:alpha val="20000"/>
            </a:srgbClr>
          </a:solidFill>
          <a:ln/>
        </p:spPr>
      </p:sp>
      <p:sp>
        <p:nvSpPr>
          <p:cNvPr id="78" name="Shape 75"/>
          <p:cNvSpPr/>
          <p:nvPr/>
        </p:nvSpPr>
        <p:spPr>
          <a:xfrm>
            <a:off x="97631" y="3802657"/>
            <a:ext cx="4245571" cy="433983"/>
          </a:xfrm>
          <a:prstGeom prst="rect">
            <a:avLst/>
          </a:prstGeom>
          <a:solidFill>
            <a:srgbClr val="D6D6EB"/>
          </a:solidFill>
          <a:ln w="12700">
            <a:solidFill>
              <a:srgbClr val="333399"/>
            </a:solidFill>
            <a:prstDash val="solid"/>
          </a:ln>
        </p:spPr>
      </p:sp>
      <p:sp>
        <p:nvSpPr>
          <p:cNvPr id="79" name="Text 76"/>
          <p:cNvSpPr txBox="1"/>
          <p:nvPr/>
        </p:nvSpPr>
        <p:spPr>
          <a:xfrm>
            <a:off x="218281" y="3872508"/>
            <a:ext cx="310197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Validation, injection defences</a:t>
            </a:r>
            <a:endParaRPr lang="en-US" sz="1900" dirty="0"/>
          </a:p>
        </p:txBody>
      </p:sp>
      <p:sp>
        <p:nvSpPr>
          <p:cNvPr id="80" name="Shape 77"/>
          <p:cNvSpPr/>
          <p:nvPr/>
        </p:nvSpPr>
        <p:spPr>
          <a:xfrm>
            <a:off x="4343201" y="3802657"/>
            <a:ext cx="2740421" cy="433983"/>
          </a:xfrm>
          <a:prstGeom prst="rect">
            <a:avLst/>
          </a:prstGeom>
          <a:solidFill>
            <a:srgbClr val="D6D6EB"/>
          </a:solidFill>
          <a:ln w="12700">
            <a:solidFill>
              <a:srgbClr val="333399"/>
            </a:solidFill>
            <a:prstDash val="solid"/>
          </a:ln>
        </p:spPr>
      </p:sp>
      <p:sp>
        <p:nvSpPr>
          <p:cNvPr id="81" name="Text 78"/>
          <p:cNvSpPr txBox="1"/>
          <p:nvPr/>
        </p:nvSpPr>
        <p:spPr>
          <a:xfrm>
            <a:off x="4463852" y="3872508"/>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82" name="Shape 79"/>
          <p:cNvSpPr/>
          <p:nvPr/>
        </p:nvSpPr>
        <p:spPr>
          <a:xfrm>
            <a:off x="7083624" y="3802657"/>
            <a:ext cx="2403673" cy="433983"/>
          </a:xfrm>
          <a:prstGeom prst="rect">
            <a:avLst/>
          </a:prstGeom>
          <a:solidFill>
            <a:srgbClr val="D6D6EB"/>
          </a:solidFill>
          <a:ln w="12700">
            <a:solidFill>
              <a:srgbClr val="333399"/>
            </a:solidFill>
            <a:prstDash val="solid"/>
          </a:ln>
        </p:spPr>
      </p:sp>
      <p:sp>
        <p:nvSpPr>
          <p:cNvPr id="83" name="Text 80"/>
          <p:cNvSpPr txBox="1"/>
          <p:nvPr/>
        </p:nvSpPr>
        <p:spPr>
          <a:xfrm>
            <a:off x="7204273" y="3872508"/>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84" name="Shape 81"/>
          <p:cNvSpPr/>
          <p:nvPr/>
        </p:nvSpPr>
        <p:spPr>
          <a:xfrm>
            <a:off x="9487297" y="3802657"/>
            <a:ext cx="2403872" cy="433983"/>
          </a:xfrm>
          <a:prstGeom prst="rect">
            <a:avLst/>
          </a:prstGeom>
          <a:solidFill>
            <a:srgbClr val="D6D6EB"/>
          </a:solidFill>
          <a:ln w="12700">
            <a:solidFill>
              <a:srgbClr val="333399"/>
            </a:solidFill>
            <a:prstDash val="solid"/>
          </a:ln>
        </p:spPr>
      </p:sp>
      <p:sp>
        <p:nvSpPr>
          <p:cNvPr id="85" name="Text 82"/>
          <p:cNvSpPr txBox="1"/>
          <p:nvPr/>
        </p:nvSpPr>
        <p:spPr>
          <a:xfrm>
            <a:off x="9607947" y="3872508"/>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86" name="Shape 83"/>
          <p:cNvSpPr/>
          <p:nvPr/>
        </p:nvSpPr>
        <p:spPr>
          <a:xfrm>
            <a:off x="97631" y="4657924"/>
            <a:ext cx="11793537" cy="12700"/>
          </a:xfrm>
          <a:prstGeom prst="rect">
            <a:avLst/>
          </a:prstGeom>
          <a:solidFill>
            <a:srgbClr val="9CA3AF">
              <a:alpha val="20000"/>
            </a:srgbClr>
          </a:solidFill>
          <a:ln/>
        </p:spPr>
      </p:sp>
      <p:sp>
        <p:nvSpPr>
          <p:cNvPr id="87" name="Shape 84"/>
          <p:cNvSpPr/>
          <p:nvPr/>
        </p:nvSpPr>
        <p:spPr>
          <a:xfrm>
            <a:off x="97631" y="4236640"/>
            <a:ext cx="4245571" cy="433983"/>
          </a:xfrm>
          <a:prstGeom prst="rect">
            <a:avLst/>
          </a:prstGeom>
          <a:solidFill>
            <a:srgbClr val="FFFFFF"/>
          </a:solidFill>
          <a:ln w="12700">
            <a:solidFill>
              <a:srgbClr val="333399"/>
            </a:solidFill>
            <a:prstDash val="solid"/>
          </a:ln>
        </p:spPr>
      </p:sp>
      <p:sp>
        <p:nvSpPr>
          <p:cNvPr id="88" name="Text 85"/>
          <p:cNvSpPr txBox="1"/>
          <p:nvPr/>
        </p:nvSpPr>
        <p:spPr>
          <a:xfrm>
            <a:off x="218281" y="4306491"/>
            <a:ext cx="2710656"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Rate and cost limits (DoS)</a:t>
            </a:r>
            <a:endParaRPr lang="en-US" sz="1900" dirty="0"/>
          </a:p>
        </p:txBody>
      </p:sp>
      <p:sp>
        <p:nvSpPr>
          <p:cNvPr id="89" name="Shape 86"/>
          <p:cNvSpPr/>
          <p:nvPr/>
        </p:nvSpPr>
        <p:spPr>
          <a:xfrm>
            <a:off x="4343201" y="4236640"/>
            <a:ext cx="2740421" cy="433983"/>
          </a:xfrm>
          <a:prstGeom prst="rect">
            <a:avLst/>
          </a:prstGeom>
          <a:solidFill>
            <a:srgbClr val="FFFFFF"/>
          </a:solidFill>
          <a:ln w="12700">
            <a:solidFill>
              <a:srgbClr val="333399"/>
            </a:solidFill>
            <a:prstDash val="solid"/>
          </a:ln>
        </p:spPr>
      </p:sp>
      <p:sp>
        <p:nvSpPr>
          <p:cNvPr id="90" name="Text 87"/>
          <p:cNvSpPr txBox="1"/>
          <p:nvPr/>
        </p:nvSpPr>
        <p:spPr>
          <a:xfrm>
            <a:off x="4463852" y="4306491"/>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91" name="Shape 88"/>
          <p:cNvSpPr/>
          <p:nvPr/>
        </p:nvSpPr>
        <p:spPr>
          <a:xfrm>
            <a:off x="7083624" y="4236640"/>
            <a:ext cx="2403673" cy="433983"/>
          </a:xfrm>
          <a:prstGeom prst="rect">
            <a:avLst/>
          </a:prstGeom>
          <a:solidFill>
            <a:srgbClr val="FFFFFF"/>
          </a:solidFill>
          <a:ln w="12700">
            <a:solidFill>
              <a:srgbClr val="333399"/>
            </a:solidFill>
            <a:prstDash val="solid"/>
          </a:ln>
        </p:spPr>
      </p:sp>
      <p:sp>
        <p:nvSpPr>
          <p:cNvPr id="92" name="Text 89"/>
          <p:cNvSpPr txBox="1"/>
          <p:nvPr/>
        </p:nvSpPr>
        <p:spPr>
          <a:xfrm>
            <a:off x="7204273" y="4306491"/>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93" name="Shape 90"/>
          <p:cNvSpPr/>
          <p:nvPr/>
        </p:nvSpPr>
        <p:spPr>
          <a:xfrm>
            <a:off x="9487297" y="4236640"/>
            <a:ext cx="2403872" cy="433983"/>
          </a:xfrm>
          <a:prstGeom prst="rect">
            <a:avLst/>
          </a:prstGeom>
          <a:solidFill>
            <a:srgbClr val="FFFFFF"/>
          </a:solidFill>
          <a:ln w="12700">
            <a:solidFill>
              <a:srgbClr val="333399"/>
            </a:solidFill>
            <a:prstDash val="solid"/>
          </a:ln>
        </p:spPr>
      </p:sp>
      <p:sp>
        <p:nvSpPr>
          <p:cNvPr id="94" name="Text 91"/>
          <p:cNvSpPr txBox="1"/>
          <p:nvPr/>
        </p:nvSpPr>
        <p:spPr>
          <a:xfrm>
            <a:off x="9607947" y="4306491"/>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21</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61148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Worked example: a user-search API</a:t>
            </a:r>
            <a:endParaRPr lang="en-US" sz="2400" dirty="0"/>
          </a:p>
        </p:txBody>
      </p:sp>
      <p:sp>
        <p:nvSpPr>
          <p:cNvPr id="10" name="Shape 7"/>
          <p:cNvSpPr/>
          <p:nvPr/>
        </p:nvSpPr>
        <p:spPr>
          <a:xfrm>
            <a:off x="97631" y="2047676"/>
            <a:ext cx="11793537" cy="12700"/>
          </a:xfrm>
          <a:prstGeom prst="rect">
            <a:avLst/>
          </a:prstGeom>
          <a:solidFill>
            <a:srgbClr val="9CA3AF">
              <a:alpha val="20000"/>
            </a:srgbClr>
          </a:solidFill>
          <a:ln/>
        </p:spPr>
      </p:sp>
      <p:sp>
        <p:nvSpPr>
          <p:cNvPr id="11" name="Shape 8"/>
          <p:cNvSpPr/>
          <p:nvPr/>
        </p:nvSpPr>
        <p:spPr>
          <a:xfrm>
            <a:off x="97631" y="1367631"/>
            <a:ext cx="4245571" cy="692745"/>
          </a:xfrm>
          <a:prstGeom prst="rect">
            <a:avLst/>
          </a:prstGeom>
          <a:solidFill>
            <a:srgbClr val="FFFFFF"/>
          </a:solidFill>
          <a:ln/>
        </p:spPr>
      </p:sp>
      <p:sp>
        <p:nvSpPr>
          <p:cNvPr id="12" name="Shape 9"/>
          <p:cNvSpPr/>
          <p:nvPr/>
        </p:nvSpPr>
        <p:spPr>
          <a:xfrm>
            <a:off x="97631" y="1367631"/>
            <a:ext cx="4245571" cy="12700"/>
          </a:xfrm>
          <a:prstGeom prst="rect">
            <a:avLst/>
          </a:prstGeom>
          <a:solidFill>
            <a:srgbClr val="333399"/>
          </a:solidFill>
          <a:ln/>
        </p:spPr>
      </p:sp>
      <p:sp>
        <p:nvSpPr>
          <p:cNvPr id="13" name="Shape 10"/>
          <p:cNvSpPr/>
          <p:nvPr/>
        </p:nvSpPr>
        <p:spPr>
          <a:xfrm>
            <a:off x="4330501" y="1367631"/>
            <a:ext cx="12700" cy="692745"/>
          </a:xfrm>
          <a:prstGeom prst="rect">
            <a:avLst/>
          </a:prstGeom>
          <a:solidFill>
            <a:srgbClr val="333399"/>
          </a:solidFill>
          <a:ln/>
        </p:spPr>
      </p:sp>
      <p:sp>
        <p:nvSpPr>
          <p:cNvPr id="14" name="Shape 11"/>
          <p:cNvSpPr/>
          <p:nvPr/>
        </p:nvSpPr>
        <p:spPr>
          <a:xfrm>
            <a:off x="97631" y="2034976"/>
            <a:ext cx="4245571" cy="25400"/>
          </a:xfrm>
          <a:prstGeom prst="rect">
            <a:avLst/>
          </a:prstGeom>
          <a:solidFill>
            <a:srgbClr val="333399"/>
          </a:solidFill>
          <a:ln/>
        </p:spPr>
      </p:sp>
      <p:sp>
        <p:nvSpPr>
          <p:cNvPr id="15" name="Shape 12"/>
          <p:cNvSpPr/>
          <p:nvPr/>
        </p:nvSpPr>
        <p:spPr>
          <a:xfrm>
            <a:off x="97631" y="1367631"/>
            <a:ext cx="12700" cy="692745"/>
          </a:xfrm>
          <a:prstGeom prst="rect">
            <a:avLst/>
          </a:prstGeom>
          <a:solidFill>
            <a:srgbClr val="333399"/>
          </a:solidFill>
          <a:ln/>
        </p:spPr>
      </p:sp>
      <p:sp>
        <p:nvSpPr>
          <p:cNvPr id="16" name="Text 13"/>
          <p:cNvSpPr txBox="1"/>
          <p:nvPr/>
        </p:nvSpPr>
        <p:spPr>
          <a:xfrm>
            <a:off x="1731764" y="1563688"/>
            <a:ext cx="977107" cy="292100"/>
          </a:xfrm>
          <a:prstGeom prst="rect">
            <a:avLst/>
          </a:prstGeom>
          <a:noFill/>
          <a:ln/>
        </p:spPr>
        <p:txBody>
          <a:bodyPr wrap="none" lIns="0" tIns="0" rIns="0" bIns="0" rtlCol="0" anchor="t"/>
          <a:lstStyle/>
          <a:p>
            <a:pPr algn="ctr" indent="0" marL="0">
              <a:buNone/>
            </a:pPr>
            <a:r>
              <a:rPr lang="en-US" sz="1900" b="1" dirty="0">
                <a:solidFill>
                  <a:srgbClr val="000000"/>
                </a:solidFill>
                <a:latin typeface="Calibri" pitchFamily="34" charset="0"/>
                <a:ea typeface="Calibri" pitchFamily="34" charset="-122"/>
                <a:cs typeface="Calibri" pitchFamily="34" charset="-120"/>
              </a:rPr>
              <a:t>Concern</a:t>
            </a:r>
            <a:endParaRPr lang="en-US" sz="1900" dirty="0"/>
          </a:p>
        </p:txBody>
      </p:sp>
      <p:sp>
        <p:nvSpPr>
          <p:cNvPr id="17" name="Shape 14"/>
          <p:cNvSpPr/>
          <p:nvPr/>
        </p:nvSpPr>
        <p:spPr>
          <a:xfrm>
            <a:off x="4343201" y="1367631"/>
            <a:ext cx="2740421" cy="692745"/>
          </a:xfrm>
          <a:prstGeom prst="rect">
            <a:avLst/>
          </a:prstGeom>
          <a:solidFill>
            <a:srgbClr val="FFFFFF"/>
          </a:solidFill>
          <a:ln/>
        </p:spPr>
      </p:sp>
      <p:sp>
        <p:nvSpPr>
          <p:cNvPr id="18" name="Shape 15"/>
          <p:cNvSpPr/>
          <p:nvPr/>
        </p:nvSpPr>
        <p:spPr>
          <a:xfrm>
            <a:off x="4343201" y="1367631"/>
            <a:ext cx="2740421" cy="12700"/>
          </a:xfrm>
          <a:prstGeom prst="rect">
            <a:avLst/>
          </a:prstGeom>
          <a:solidFill>
            <a:srgbClr val="333399"/>
          </a:solidFill>
          <a:ln/>
        </p:spPr>
      </p:sp>
      <p:sp>
        <p:nvSpPr>
          <p:cNvPr id="19" name="Shape 16"/>
          <p:cNvSpPr/>
          <p:nvPr/>
        </p:nvSpPr>
        <p:spPr>
          <a:xfrm>
            <a:off x="7070924" y="1367631"/>
            <a:ext cx="12700" cy="692745"/>
          </a:xfrm>
          <a:prstGeom prst="rect">
            <a:avLst/>
          </a:prstGeom>
          <a:solidFill>
            <a:srgbClr val="333399"/>
          </a:solidFill>
          <a:ln/>
        </p:spPr>
      </p:sp>
      <p:sp>
        <p:nvSpPr>
          <p:cNvPr id="20" name="Shape 17"/>
          <p:cNvSpPr/>
          <p:nvPr/>
        </p:nvSpPr>
        <p:spPr>
          <a:xfrm>
            <a:off x="4343201" y="2034976"/>
            <a:ext cx="2740421" cy="25400"/>
          </a:xfrm>
          <a:prstGeom prst="rect">
            <a:avLst/>
          </a:prstGeom>
          <a:solidFill>
            <a:srgbClr val="333399"/>
          </a:solidFill>
          <a:ln/>
        </p:spPr>
      </p:sp>
      <p:sp>
        <p:nvSpPr>
          <p:cNvPr id="21" name="Shape 18"/>
          <p:cNvSpPr/>
          <p:nvPr/>
        </p:nvSpPr>
        <p:spPr>
          <a:xfrm>
            <a:off x="4343201" y="1367631"/>
            <a:ext cx="12700" cy="692745"/>
          </a:xfrm>
          <a:prstGeom prst="rect">
            <a:avLst/>
          </a:prstGeom>
          <a:solidFill>
            <a:srgbClr val="333399"/>
          </a:solidFill>
          <a:ln/>
        </p:spPr>
      </p:sp>
      <p:sp>
        <p:nvSpPr>
          <p:cNvPr id="22" name="Shape 19"/>
          <p:cNvSpPr/>
          <p:nvPr/>
        </p:nvSpPr>
        <p:spPr>
          <a:xfrm>
            <a:off x="5437188" y="1475581"/>
            <a:ext cx="552252" cy="266303"/>
          </a:xfrm>
          <a:prstGeom prst="roundRect">
            <a:avLst>
              <a:gd name="adj" fmla="val 14307"/>
            </a:avLst>
          </a:prstGeom>
          <a:solidFill>
            <a:srgbClr val="333399"/>
          </a:solidFill>
          <a:ln/>
        </p:spPr>
      </p:sp>
      <p:sp>
        <p:nvSpPr>
          <p:cNvPr id="23" name="Text 20"/>
          <p:cNvSpPr txBox="1"/>
          <p:nvPr/>
        </p:nvSpPr>
        <p:spPr>
          <a:xfrm>
            <a:off x="5437188" y="1475581"/>
            <a:ext cx="552252"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GET</a:t>
            </a:r>
            <a:endParaRPr lang="en-US" sz="1748" dirty="0"/>
          </a:p>
        </p:txBody>
      </p:sp>
      <p:sp>
        <p:nvSpPr>
          <p:cNvPr id="24" name="Text 21"/>
          <p:cNvSpPr txBox="1"/>
          <p:nvPr/>
        </p:nvSpPr>
        <p:spPr>
          <a:xfrm>
            <a:off x="4890293" y="1767284"/>
            <a:ext cx="164623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?email=alice@…</a:t>
            </a:r>
            <a:endParaRPr lang="en-US" sz="1400" dirty="0"/>
          </a:p>
        </p:txBody>
      </p:sp>
      <p:sp>
        <p:nvSpPr>
          <p:cNvPr id="25" name="Shape 22"/>
          <p:cNvSpPr/>
          <p:nvPr/>
        </p:nvSpPr>
        <p:spPr>
          <a:xfrm>
            <a:off x="7083624" y="1367631"/>
            <a:ext cx="2403673" cy="692745"/>
          </a:xfrm>
          <a:prstGeom prst="rect">
            <a:avLst/>
          </a:prstGeom>
          <a:solidFill>
            <a:srgbClr val="FFFFFF"/>
          </a:solidFill>
          <a:ln/>
        </p:spPr>
      </p:sp>
      <p:sp>
        <p:nvSpPr>
          <p:cNvPr id="26" name="Shape 23"/>
          <p:cNvSpPr/>
          <p:nvPr/>
        </p:nvSpPr>
        <p:spPr>
          <a:xfrm>
            <a:off x="7083624" y="1367631"/>
            <a:ext cx="2403673" cy="12700"/>
          </a:xfrm>
          <a:prstGeom prst="rect">
            <a:avLst/>
          </a:prstGeom>
          <a:solidFill>
            <a:srgbClr val="333399"/>
          </a:solidFill>
          <a:ln/>
        </p:spPr>
      </p:sp>
      <p:sp>
        <p:nvSpPr>
          <p:cNvPr id="27" name="Shape 24"/>
          <p:cNvSpPr/>
          <p:nvPr/>
        </p:nvSpPr>
        <p:spPr>
          <a:xfrm>
            <a:off x="9474597" y="1367631"/>
            <a:ext cx="12700" cy="692745"/>
          </a:xfrm>
          <a:prstGeom prst="rect">
            <a:avLst/>
          </a:prstGeom>
          <a:solidFill>
            <a:srgbClr val="333399"/>
          </a:solidFill>
          <a:ln/>
        </p:spPr>
      </p:sp>
      <p:sp>
        <p:nvSpPr>
          <p:cNvPr id="28" name="Shape 25"/>
          <p:cNvSpPr/>
          <p:nvPr/>
        </p:nvSpPr>
        <p:spPr>
          <a:xfrm>
            <a:off x="7083624" y="2034976"/>
            <a:ext cx="2403673" cy="25400"/>
          </a:xfrm>
          <a:prstGeom prst="rect">
            <a:avLst/>
          </a:prstGeom>
          <a:solidFill>
            <a:srgbClr val="333399"/>
          </a:solidFill>
          <a:ln/>
        </p:spPr>
      </p:sp>
      <p:sp>
        <p:nvSpPr>
          <p:cNvPr id="29" name="Shape 26"/>
          <p:cNvSpPr/>
          <p:nvPr/>
        </p:nvSpPr>
        <p:spPr>
          <a:xfrm>
            <a:off x="7083624" y="1367631"/>
            <a:ext cx="12700" cy="692745"/>
          </a:xfrm>
          <a:prstGeom prst="rect">
            <a:avLst/>
          </a:prstGeom>
          <a:solidFill>
            <a:srgbClr val="333399"/>
          </a:solidFill>
          <a:ln/>
        </p:spPr>
      </p:sp>
      <p:sp>
        <p:nvSpPr>
          <p:cNvPr id="30" name="Shape 27"/>
          <p:cNvSpPr/>
          <p:nvPr/>
        </p:nvSpPr>
        <p:spPr>
          <a:xfrm>
            <a:off x="7942660" y="1475581"/>
            <a:ext cx="685403" cy="266303"/>
          </a:xfrm>
          <a:prstGeom prst="roundRect">
            <a:avLst>
              <a:gd name="adj" fmla="val 14307"/>
            </a:avLst>
          </a:prstGeom>
          <a:solidFill>
            <a:srgbClr val="993300"/>
          </a:solidFill>
          <a:ln/>
        </p:spPr>
      </p:sp>
      <p:sp>
        <p:nvSpPr>
          <p:cNvPr id="31" name="Text 28"/>
          <p:cNvSpPr txBox="1"/>
          <p:nvPr/>
        </p:nvSpPr>
        <p:spPr>
          <a:xfrm>
            <a:off x="7942660" y="1475581"/>
            <a:ext cx="685403"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POST</a:t>
            </a:r>
            <a:endParaRPr lang="en-US" sz="1748" dirty="0"/>
          </a:p>
        </p:txBody>
      </p:sp>
      <p:sp>
        <p:nvSpPr>
          <p:cNvPr id="32" name="Text 29"/>
          <p:cNvSpPr txBox="1"/>
          <p:nvPr/>
        </p:nvSpPr>
        <p:spPr>
          <a:xfrm>
            <a:off x="7569001" y="1767284"/>
            <a:ext cx="143291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 …}</a:t>
            </a:r>
            <a:endParaRPr lang="en-US" sz="1400" dirty="0"/>
          </a:p>
        </p:txBody>
      </p:sp>
      <p:sp>
        <p:nvSpPr>
          <p:cNvPr id="33" name="Shape 30"/>
          <p:cNvSpPr/>
          <p:nvPr/>
        </p:nvSpPr>
        <p:spPr>
          <a:xfrm>
            <a:off x="9487297" y="1367631"/>
            <a:ext cx="2403872" cy="692745"/>
          </a:xfrm>
          <a:prstGeom prst="rect">
            <a:avLst/>
          </a:prstGeom>
          <a:solidFill>
            <a:srgbClr val="FFFFFF"/>
          </a:solidFill>
          <a:ln/>
        </p:spPr>
      </p:sp>
      <p:sp>
        <p:nvSpPr>
          <p:cNvPr id="34" name="Shape 31"/>
          <p:cNvSpPr/>
          <p:nvPr/>
        </p:nvSpPr>
        <p:spPr>
          <a:xfrm>
            <a:off x="9487297" y="1367631"/>
            <a:ext cx="2403872" cy="12700"/>
          </a:xfrm>
          <a:prstGeom prst="rect">
            <a:avLst/>
          </a:prstGeom>
          <a:solidFill>
            <a:srgbClr val="333399"/>
          </a:solidFill>
          <a:ln/>
        </p:spPr>
      </p:sp>
      <p:sp>
        <p:nvSpPr>
          <p:cNvPr id="35" name="Shape 32"/>
          <p:cNvSpPr/>
          <p:nvPr/>
        </p:nvSpPr>
        <p:spPr>
          <a:xfrm>
            <a:off x="11878469" y="1367631"/>
            <a:ext cx="12700" cy="692745"/>
          </a:xfrm>
          <a:prstGeom prst="rect">
            <a:avLst/>
          </a:prstGeom>
          <a:solidFill>
            <a:srgbClr val="333399"/>
          </a:solidFill>
          <a:ln/>
        </p:spPr>
      </p:sp>
      <p:sp>
        <p:nvSpPr>
          <p:cNvPr id="36" name="Shape 33"/>
          <p:cNvSpPr/>
          <p:nvPr/>
        </p:nvSpPr>
        <p:spPr>
          <a:xfrm>
            <a:off x="9487297" y="2034976"/>
            <a:ext cx="2403872" cy="25400"/>
          </a:xfrm>
          <a:prstGeom prst="rect">
            <a:avLst/>
          </a:prstGeom>
          <a:solidFill>
            <a:srgbClr val="333399"/>
          </a:solidFill>
          <a:ln/>
        </p:spPr>
      </p:sp>
      <p:sp>
        <p:nvSpPr>
          <p:cNvPr id="37" name="Shape 34"/>
          <p:cNvSpPr/>
          <p:nvPr/>
        </p:nvSpPr>
        <p:spPr>
          <a:xfrm>
            <a:off x="9487297" y="1367631"/>
            <a:ext cx="12700" cy="692745"/>
          </a:xfrm>
          <a:prstGeom prst="rect">
            <a:avLst/>
          </a:prstGeom>
          <a:solidFill>
            <a:srgbClr val="333399"/>
          </a:solidFill>
          <a:ln/>
        </p:spPr>
      </p:sp>
      <p:sp>
        <p:nvSpPr>
          <p:cNvPr id="38" name="Shape 35"/>
          <p:cNvSpPr/>
          <p:nvPr/>
        </p:nvSpPr>
        <p:spPr>
          <a:xfrm>
            <a:off x="10279856" y="1475581"/>
            <a:ext cx="818555" cy="266303"/>
          </a:xfrm>
          <a:prstGeom prst="roundRect">
            <a:avLst>
              <a:gd name="adj" fmla="val 14307"/>
            </a:avLst>
          </a:prstGeom>
          <a:solidFill>
            <a:srgbClr val="CC6600"/>
          </a:solidFill>
          <a:ln/>
        </p:spPr>
      </p:sp>
      <p:sp>
        <p:nvSpPr>
          <p:cNvPr id="39" name="Text 36"/>
          <p:cNvSpPr txBox="1"/>
          <p:nvPr/>
        </p:nvSpPr>
        <p:spPr>
          <a:xfrm>
            <a:off x="10279856" y="1475581"/>
            <a:ext cx="818555" cy="254000"/>
          </a:xfrm>
          <a:prstGeom prst="rect">
            <a:avLst/>
          </a:prstGeom>
          <a:noFill/>
          <a:ln/>
        </p:spPr>
        <p:txBody>
          <a:bodyPr wrap="none" lIns="0" tIns="0" rIns="0" bIns="0" rtlCol="0" anchor="t"/>
          <a:lstStyle/>
          <a:p>
            <a:pPr algn="ctr" indent="0" marL="0">
              <a:buNone/>
            </a:pPr>
            <a:r>
              <a:rPr lang="en-US" sz="1748" b="1" dirty="0">
                <a:solidFill>
                  <a:srgbClr val="FFFFFF"/>
                </a:solidFill>
                <a:latin typeface="Courier New" pitchFamily="34" charset="0"/>
                <a:ea typeface="Courier New" pitchFamily="34" charset="-122"/>
                <a:cs typeface="Courier New" pitchFamily="34" charset="-120"/>
              </a:rPr>
              <a:t>QUERY</a:t>
            </a:r>
            <a:endParaRPr lang="en-US" sz="1748" dirty="0"/>
          </a:p>
        </p:txBody>
      </p:sp>
      <p:sp>
        <p:nvSpPr>
          <p:cNvPr id="40" name="Text 37"/>
          <p:cNvSpPr txBox="1"/>
          <p:nvPr/>
        </p:nvSpPr>
        <p:spPr>
          <a:xfrm>
            <a:off x="9972675" y="1767284"/>
            <a:ext cx="1432917" cy="203200"/>
          </a:xfrm>
          <a:prstGeom prst="rect">
            <a:avLst/>
          </a:prstGeom>
          <a:noFill/>
          <a:ln/>
        </p:spPr>
        <p:txBody>
          <a:bodyPr wrap="none" lIns="0" tIns="0" rIns="0" bIns="0" rtlCol="0" anchor="t"/>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{"email": …}</a:t>
            </a:r>
            <a:endParaRPr lang="en-US" sz="1400" dirty="0"/>
          </a:p>
        </p:txBody>
      </p:sp>
      <p:sp>
        <p:nvSpPr>
          <p:cNvPr id="41" name="Shape 38"/>
          <p:cNvSpPr/>
          <p:nvPr/>
        </p:nvSpPr>
        <p:spPr>
          <a:xfrm>
            <a:off x="97631" y="2488009"/>
            <a:ext cx="11793537" cy="12700"/>
          </a:xfrm>
          <a:prstGeom prst="rect">
            <a:avLst/>
          </a:prstGeom>
          <a:solidFill>
            <a:srgbClr val="9CA3AF">
              <a:alpha val="20000"/>
            </a:srgbClr>
          </a:solidFill>
          <a:ln/>
        </p:spPr>
      </p:sp>
      <p:sp>
        <p:nvSpPr>
          <p:cNvPr id="42" name="Shape 39"/>
          <p:cNvSpPr/>
          <p:nvPr/>
        </p:nvSpPr>
        <p:spPr>
          <a:xfrm>
            <a:off x="97631" y="2060376"/>
            <a:ext cx="4245571" cy="440333"/>
          </a:xfrm>
          <a:prstGeom prst="rect">
            <a:avLst/>
          </a:prstGeom>
          <a:solidFill>
            <a:srgbClr val="D6D6EB"/>
          </a:solidFill>
          <a:ln w="12700">
            <a:solidFill>
              <a:srgbClr val="333399"/>
            </a:solidFill>
            <a:prstDash val="solid"/>
          </a:ln>
        </p:spPr>
      </p:sp>
      <p:sp>
        <p:nvSpPr>
          <p:cNvPr id="43" name="Text 40"/>
          <p:cNvSpPr txBox="1"/>
          <p:nvPr/>
        </p:nvSpPr>
        <p:spPr>
          <a:xfrm>
            <a:off x="218281" y="2136576"/>
            <a:ext cx="3164681"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Email in the URI (logs, history)</a:t>
            </a:r>
            <a:endParaRPr lang="en-US" sz="1900" dirty="0"/>
          </a:p>
        </p:txBody>
      </p:sp>
      <p:sp>
        <p:nvSpPr>
          <p:cNvPr id="44" name="Shape 41"/>
          <p:cNvSpPr/>
          <p:nvPr/>
        </p:nvSpPr>
        <p:spPr>
          <a:xfrm>
            <a:off x="4343201" y="2060376"/>
            <a:ext cx="2740421" cy="440333"/>
          </a:xfrm>
          <a:prstGeom prst="rect">
            <a:avLst/>
          </a:prstGeom>
          <a:solidFill>
            <a:srgbClr val="D6D6EB"/>
          </a:solidFill>
          <a:ln w="12700">
            <a:solidFill>
              <a:srgbClr val="333399"/>
            </a:solidFill>
            <a:prstDash val="solid"/>
          </a:ln>
        </p:spPr>
      </p:sp>
      <p:sp>
        <p:nvSpPr>
          <p:cNvPr id="45" name="Text 42"/>
          <p:cNvSpPr txBox="1"/>
          <p:nvPr/>
        </p:nvSpPr>
        <p:spPr>
          <a:xfrm>
            <a:off x="4463852" y="2136576"/>
            <a:ext cx="1162447"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Exposed</a:t>
            </a:r>
            <a:endParaRPr lang="en-US" sz="1900" dirty="0"/>
          </a:p>
        </p:txBody>
      </p:sp>
      <p:sp>
        <p:nvSpPr>
          <p:cNvPr id="46" name="Shape 43"/>
          <p:cNvSpPr/>
          <p:nvPr/>
        </p:nvSpPr>
        <p:spPr>
          <a:xfrm>
            <a:off x="7083624" y="2060376"/>
            <a:ext cx="2403673" cy="440333"/>
          </a:xfrm>
          <a:prstGeom prst="rect">
            <a:avLst/>
          </a:prstGeom>
          <a:solidFill>
            <a:srgbClr val="D6D6EB"/>
          </a:solidFill>
          <a:ln w="12700">
            <a:solidFill>
              <a:srgbClr val="333399"/>
            </a:solidFill>
            <a:prstDash val="solid"/>
          </a:ln>
        </p:spPr>
      </p:sp>
      <p:sp>
        <p:nvSpPr>
          <p:cNvPr id="47" name="Text 44"/>
          <p:cNvSpPr txBox="1"/>
          <p:nvPr/>
        </p:nvSpPr>
        <p:spPr>
          <a:xfrm>
            <a:off x="7204273" y="2136576"/>
            <a:ext cx="1189633"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Avoided</a:t>
            </a:r>
            <a:endParaRPr lang="en-US" sz="1900" dirty="0"/>
          </a:p>
        </p:txBody>
      </p:sp>
      <p:sp>
        <p:nvSpPr>
          <p:cNvPr id="48" name="Shape 45"/>
          <p:cNvSpPr/>
          <p:nvPr/>
        </p:nvSpPr>
        <p:spPr>
          <a:xfrm>
            <a:off x="9487297" y="2060376"/>
            <a:ext cx="2403872" cy="440333"/>
          </a:xfrm>
          <a:prstGeom prst="rect">
            <a:avLst/>
          </a:prstGeom>
          <a:solidFill>
            <a:srgbClr val="D6D6EB"/>
          </a:solidFill>
          <a:ln w="12700">
            <a:solidFill>
              <a:srgbClr val="333399"/>
            </a:solidFill>
            <a:prstDash val="solid"/>
          </a:ln>
        </p:spPr>
      </p:sp>
      <p:sp>
        <p:nvSpPr>
          <p:cNvPr id="49" name="Text 46"/>
          <p:cNvSpPr txBox="1"/>
          <p:nvPr/>
        </p:nvSpPr>
        <p:spPr>
          <a:xfrm>
            <a:off x="9607947" y="2136576"/>
            <a:ext cx="1189633"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Avoided</a:t>
            </a:r>
            <a:endParaRPr lang="en-US" sz="1900" dirty="0"/>
          </a:p>
        </p:txBody>
      </p:sp>
      <p:sp>
        <p:nvSpPr>
          <p:cNvPr id="50" name="Shape 47"/>
          <p:cNvSpPr/>
          <p:nvPr/>
        </p:nvSpPr>
        <p:spPr>
          <a:xfrm>
            <a:off x="97631" y="2921992"/>
            <a:ext cx="11793537" cy="12700"/>
          </a:xfrm>
          <a:prstGeom prst="rect">
            <a:avLst/>
          </a:prstGeom>
          <a:solidFill>
            <a:srgbClr val="9CA3AF">
              <a:alpha val="20000"/>
            </a:srgbClr>
          </a:solidFill>
          <a:ln/>
        </p:spPr>
      </p:sp>
      <p:sp>
        <p:nvSpPr>
          <p:cNvPr id="51" name="Shape 48"/>
          <p:cNvSpPr/>
          <p:nvPr/>
        </p:nvSpPr>
        <p:spPr>
          <a:xfrm>
            <a:off x="97631" y="2500709"/>
            <a:ext cx="4245571" cy="433983"/>
          </a:xfrm>
          <a:prstGeom prst="rect">
            <a:avLst/>
          </a:prstGeom>
          <a:solidFill>
            <a:srgbClr val="FFFFFF"/>
          </a:solidFill>
          <a:ln w="12700">
            <a:solidFill>
              <a:srgbClr val="333399"/>
            </a:solidFill>
            <a:prstDash val="solid"/>
          </a:ln>
        </p:spPr>
      </p:sp>
      <p:sp>
        <p:nvSpPr>
          <p:cNvPr id="52" name="Text 49"/>
          <p:cNvSpPr txBox="1"/>
          <p:nvPr/>
        </p:nvSpPr>
        <p:spPr>
          <a:xfrm>
            <a:off x="218281" y="2570560"/>
            <a:ext cx="2912864"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Safe intent visible to caches</a:t>
            </a:r>
            <a:endParaRPr lang="en-US" sz="1900" dirty="0"/>
          </a:p>
        </p:txBody>
      </p:sp>
      <p:sp>
        <p:nvSpPr>
          <p:cNvPr id="53" name="Shape 50"/>
          <p:cNvSpPr/>
          <p:nvPr/>
        </p:nvSpPr>
        <p:spPr>
          <a:xfrm>
            <a:off x="4343201" y="2500709"/>
            <a:ext cx="2740421" cy="433983"/>
          </a:xfrm>
          <a:prstGeom prst="rect">
            <a:avLst/>
          </a:prstGeom>
          <a:solidFill>
            <a:srgbClr val="FFFFFF"/>
          </a:solidFill>
          <a:ln w="12700">
            <a:solidFill>
              <a:srgbClr val="333399"/>
            </a:solidFill>
            <a:prstDash val="solid"/>
          </a:ln>
        </p:spPr>
      </p:sp>
      <p:sp>
        <p:nvSpPr>
          <p:cNvPr id="54" name="Text 51"/>
          <p:cNvSpPr txBox="1"/>
          <p:nvPr/>
        </p:nvSpPr>
        <p:spPr>
          <a:xfrm>
            <a:off x="4463852" y="2570560"/>
            <a:ext cx="706239"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55" name="Shape 52"/>
          <p:cNvSpPr/>
          <p:nvPr/>
        </p:nvSpPr>
        <p:spPr>
          <a:xfrm>
            <a:off x="7083624" y="2500709"/>
            <a:ext cx="2403673" cy="433983"/>
          </a:xfrm>
          <a:prstGeom prst="rect">
            <a:avLst/>
          </a:prstGeom>
          <a:solidFill>
            <a:srgbClr val="FFFFFF"/>
          </a:solidFill>
          <a:ln w="12700">
            <a:solidFill>
              <a:srgbClr val="333399"/>
            </a:solidFill>
            <a:prstDash val="solid"/>
          </a:ln>
        </p:spPr>
      </p:sp>
      <p:sp>
        <p:nvSpPr>
          <p:cNvPr id="56" name="Text 53"/>
          <p:cNvSpPr txBox="1"/>
          <p:nvPr/>
        </p:nvSpPr>
        <p:spPr>
          <a:xfrm>
            <a:off x="7204273" y="2570560"/>
            <a:ext cx="1120775"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Opaque</a:t>
            </a:r>
            <a:endParaRPr lang="en-US" sz="1900" dirty="0"/>
          </a:p>
        </p:txBody>
      </p:sp>
      <p:sp>
        <p:nvSpPr>
          <p:cNvPr id="57" name="Shape 54"/>
          <p:cNvSpPr/>
          <p:nvPr/>
        </p:nvSpPr>
        <p:spPr>
          <a:xfrm>
            <a:off x="9487297" y="2500709"/>
            <a:ext cx="2403872" cy="433983"/>
          </a:xfrm>
          <a:prstGeom prst="rect">
            <a:avLst/>
          </a:prstGeom>
          <a:solidFill>
            <a:srgbClr val="FFFFFF"/>
          </a:solidFill>
          <a:ln w="12700">
            <a:solidFill>
              <a:srgbClr val="333399"/>
            </a:solidFill>
            <a:prstDash val="solid"/>
          </a:ln>
        </p:spPr>
      </p:sp>
      <p:sp>
        <p:nvSpPr>
          <p:cNvPr id="58" name="Text 55"/>
          <p:cNvSpPr txBox="1"/>
          <p:nvPr/>
        </p:nvSpPr>
        <p:spPr>
          <a:xfrm>
            <a:off x="9607947" y="2570560"/>
            <a:ext cx="706239" cy="292100"/>
          </a:xfrm>
          <a:prstGeom prst="rect">
            <a:avLst/>
          </a:prstGeom>
          <a:noFill/>
          <a:ln/>
        </p:spPr>
        <p:txBody>
          <a:bodyPr wrap="none" lIns="0" tIns="0" rIns="0" bIns="0" rtlCol="0" anchor="t"/>
          <a:lstStyle/>
          <a:p>
            <a:pPr algn="l" indent="0" marL="0">
              <a:buNone/>
            </a:pPr>
            <a:r>
              <a:rPr lang="en-US" sz="1900" b="1" dirty="0">
                <a:solidFill>
                  <a:srgbClr val="009999"/>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59" name="Shape 56"/>
          <p:cNvSpPr/>
          <p:nvPr/>
        </p:nvSpPr>
        <p:spPr>
          <a:xfrm>
            <a:off x="97631" y="3355975"/>
            <a:ext cx="11793537" cy="12700"/>
          </a:xfrm>
          <a:prstGeom prst="rect">
            <a:avLst/>
          </a:prstGeom>
          <a:solidFill>
            <a:srgbClr val="9CA3AF">
              <a:alpha val="20000"/>
            </a:srgbClr>
          </a:solidFill>
          <a:ln/>
        </p:spPr>
      </p:sp>
      <p:sp>
        <p:nvSpPr>
          <p:cNvPr id="60" name="Shape 57"/>
          <p:cNvSpPr/>
          <p:nvPr/>
        </p:nvSpPr>
        <p:spPr>
          <a:xfrm>
            <a:off x="97631" y="2934692"/>
            <a:ext cx="4245571" cy="433983"/>
          </a:xfrm>
          <a:prstGeom prst="rect">
            <a:avLst/>
          </a:prstGeom>
          <a:solidFill>
            <a:srgbClr val="D6D6EB"/>
          </a:solidFill>
          <a:ln w="12700">
            <a:solidFill>
              <a:srgbClr val="333399"/>
            </a:solidFill>
            <a:prstDash val="solid"/>
          </a:ln>
        </p:spPr>
      </p:sp>
      <p:sp>
        <p:nvSpPr>
          <p:cNvPr id="61" name="Text 58"/>
          <p:cNvSpPr txBox="1"/>
          <p:nvPr/>
        </p:nvSpPr>
        <p:spPr>
          <a:xfrm>
            <a:off x="218281" y="3004543"/>
            <a:ext cx="3462536"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Body may be logged or inspected</a:t>
            </a:r>
            <a:endParaRPr lang="en-US" sz="1900" dirty="0"/>
          </a:p>
        </p:txBody>
      </p:sp>
      <p:sp>
        <p:nvSpPr>
          <p:cNvPr id="62" name="Shape 59"/>
          <p:cNvSpPr/>
          <p:nvPr/>
        </p:nvSpPr>
        <p:spPr>
          <a:xfrm>
            <a:off x="4343201" y="2934692"/>
            <a:ext cx="2740421" cy="433983"/>
          </a:xfrm>
          <a:prstGeom prst="rect">
            <a:avLst/>
          </a:prstGeom>
          <a:solidFill>
            <a:srgbClr val="D6D6EB"/>
          </a:solidFill>
          <a:ln w="12700">
            <a:solidFill>
              <a:srgbClr val="333399"/>
            </a:solidFill>
            <a:prstDash val="solid"/>
          </a:ln>
        </p:spPr>
      </p:sp>
      <p:sp>
        <p:nvSpPr>
          <p:cNvPr id="63" name="Text 60"/>
          <p:cNvSpPr txBox="1"/>
          <p:nvPr/>
        </p:nvSpPr>
        <p:spPr>
          <a:xfrm>
            <a:off x="4463852" y="3004543"/>
            <a:ext cx="483791"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n/a</a:t>
            </a:r>
            <a:endParaRPr lang="en-US" sz="1900" dirty="0"/>
          </a:p>
        </p:txBody>
      </p:sp>
      <p:sp>
        <p:nvSpPr>
          <p:cNvPr id="64" name="Shape 61"/>
          <p:cNvSpPr/>
          <p:nvPr/>
        </p:nvSpPr>
        <p:spPr>
          <a:xfrm>
            <a:off x="7083624" y="2934692"/>
            <a:ext cx="2403673" cy="433983"/>
          </a:xfrm>
          <a:prstGeom prst="rect">
            <a:avLst/>
          </a:prstGeom>
          <a:solidFill>
            <a:srgbClr val="D6D6EB"/>
          </a:solidFill>
          <a:ln w="12700">
            <a:solidFill>
              <a:srgbClr val="333399"/>
            </a:solidFill>
            <a:prstDash val="solid"/>
          </a:ln>
        </p:spPr>
      </p:sp>
      <p:sp>
        <p:nvSpPr>
          <p:cNvPr id="65" name="Text 62"/>
          <p:cNvSpPr txBox="1"/>
          <p:nvPr/>
        </p:nvSpPr>
        <p:spPr>
          <a:xfrm>
            <a:off x="7204273" y="3004543"/>
            <a:ext cx="600472"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66" name="Shape 63"/>
          <p:cNvSpPr/>
          <p:nvPr/>
        </p:nvSpPr>
        <p:spPr>
          <a:xfrm>
            <a:off x="9487297" y="2934692"/>
            <a:ext cx="2403872" cy="433983"/>
          </a:xfrm>
          <a:prstGeom prst="rect">
            <a:avLst/>
          </a:prstGeom>
          <a:solidFill>
            <a:srgbClr val="D6D6EB"/>
          </a:solidFill>
          <a:ln w="12700">
            <a:solidFill>
              <a:srgbClr val="333399"/>
            </a:solidFill>
            <a:prstDash val="solid"/>
          </a:ln>
        </p:spPr>
      </p:sp>
      <p:sp>
        <p:nvSpPr>
          <p:cNvPr id="67" name="Text 64"/>
          <p:cNvSpPr txBox="1"/>
          <p:nvPr/>
        </p:nvSpPr>
        <p:spPr>
          <a:xfrm>
            <a:off x="9607947" y="3004543"/>
            <a:ext cx="600472" cy="292100"/>
          </a:xfrm>
          <a:prstGeom prst="rect">
            <a:avLst/>
          </a:prstGeom>
          <a:noFill/>
          <a:ln/>
        </p:spPr>
        <p:txBody>
          <a:bodyPr wrap="none" lIns="0" tIns="0" rIns="0" bIns="0" rtlCol="0" anchor="t"/>
          <a:lstStyle/>
          <a:p>
            <a:pPr algn="l" indent="0" marL="0">
              <a:buNone/>
            </a:pPr>
            <a:r>
              <a:rPr lang="en-US" sz="1900" b="1" dirty="0">
                <a:solidFill>
                  <a:srgbClr val="993300"/>
                </a:solidFill>
                <a:latin typeface="Calibri" pitchFamily="34" charset="0"/>
                <a:ea typeface="Calibri" pitchFamily="34" charset="-122"/>
                <a:cs typeface="Calibri" pitchFamily="34" charset="-120"/>
              </a:rPr>
              <a:t>!</a:t>
            </a:r>
            <a:pPr algn="l" indent="0" marL="0">
              <a:buNone/>
            </a:pPr>
            <a:r>
              <a:rPr lang="en-US" sz="1900" dirty="0">
                <a:solidFill>
                  <a:srgbClr val="000000"/>
                </a:solidFill>
                <a:latin typeface="Calibri" pitchFamily="34" charset="0"/>
                <a:ea typeface="Calibri" pitchFamily="34" charset="-122"/>
                <a:cs typeface="Calibri" pitchFamily="34" charset="-120"/>
              </a:rPr>
              <a:t> Yes</a:t>
            </a:r>
            <a:endParaRPr lang="en-US" sz="1900" dirty="0"/>
          </a:p>
        </p:txBody>
      </p:sp>
      <p:sp>
        <p:nvSpPr>
          <p:cNvPr id="68" name="Shape 65"/>
          <p:cNvSpPr/>
          <p:nvPr/>
        </p:nvSpPr>
        <p:spPr>
          <a:xfrm>
            <a:off x="97631" y="3789957"/>
            <a:ext cx="11793537" cy="12700"/>
          </a:xfrm>
          <a:prstGeom prst="rect">
            <a:avLst/>
          </a:prstGeom>
          <a:solidFill>
            <a:srgbClr val="9CA3AF">
              <a:alpha val="20000"/>
            </a:srgbClr>
          </a:solidFill>
          <a:ln/>
        </p:spPr>
      </p:sp>
      <p:sp>
        <p:nvSpPr>
          <p:cNvPr id="69" name="Shape 66"/>
          <p:cNvSpPr/>
          <p:nvPr/>
        </p:nvSpPr>
        <p:spPr>
          <a:xfrm>
            <a:off x="97631" y="3368675"/>
            <a:ext cx="4245571" cy="433983"/>
          </a:xfrm>
          <a:prstGeom prst="rect">
            <a:avLst/>
          </a:prstGeom>
          <a:solidFill>
            <a:srgbClr val="FFFFFF"/>
          </a:solidFill>
          <a:ln w="12700">
            <a:solidFill>
              <a:srgbClr val="333399"/>
            </a:solidFill>
            <a:prstDash val="solid"/>
          </a:ln>
        </p:spPr>
      </p:sp>
      <p:sp>
        <p:nvSpPr>
          <p:cNvPr id="70" name="Text 67"/>
          <p:cNvSpPr txBox="1"/>
          <p:nvPr/>
        </p:nvSpPr>
        <p:spPr>
          <a:xfrm>
            <a:off x="218281" y="3438525"/>
            <a:ext cx="3397448"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Authorization for admin lookups</a:t>
            </a:r>
            <a:endParaRPr lang="en-US" sz="1900" dirty="0"/>
          </a:p>
        </p:txBody>
      </p:sp>
      <p:sp>
        <p:nvSpPr>
          <p:cNvPr id="71" name="Shape 68"/>
          <p:cNvSpPr/>
          <p:nvPr/>
        </p:nvSpPr>
        <p:spPr>
          <a:xfrm>
            <a:off x="4343201" y="3368675"/>
            <a:ext cx="2740421" cy="433983"/>
          </a:xfrm>
          <a:prstGeom prst="rect">
            <a:avLst/>
          </a:prstGeom>
          <a:solidFill>
            <a:srgbClr val="FFFFFF"/>
          </a:solidFill>
          <a:ln w="12700">
            <a:solidFill>
              <a:srgbClr val="333399"/>
            </a:solidFill>
            <a:prstDash val="solid"/>
          </a:ln>
        </p:spPr>
      </p:sp>
      <p:sp>
        <p:nvSpPr>
          <p:cNvPr id="72" name="Text 69"/>
          <p:cNvSpPr txBox="1"/>
          <p:nvPr/>
        </p:nvSpPr>
        <p:spPr>
          <a:xfrm>
            <a:off x="4463852" y="3438525"/>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73" name="Shape 70"/>
          <p:cNvSpPr/>
          <p:nvPr/>
        </p:nvSpPr>
        <p:spPr>
          <a:xfrm>
            <a:off x="7083624" y="3368675"/>
            <a:ext cx="2403673" cy="433983"/>
          </a:xfrm>
          <a:prstGeom prst="rect">
            <a:avLst/>
          </a:prstGeom>
          <a:solidFill>
            <a:srgbClr val="FFFFFF"/>
          </a:solidFill>
          <a:ln w="12700">
            <a:solidFill>
              <a:srgbClr val="333399"/>
            </a:solidFill>
            <a:prstDash val="solid"/>
          </a:ln>
        </p:spPr>
      </p:sp>
      <p:sp>
        <p:nvSpPr>
          <p:cNvPr id="74" name="Text 71"/>
          <p:cNvSpPr txBox="1"/>
          <p:nvPr/>
        </p:nvSpPr>
        <p:spPr>
          <a:xfrm>
            <a:off x="7204273" y="3438525"/>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75" name="Shape 72"/>
          <p:cNvSpPr/>
          <p:nvPr/>
        </p:nvSpPr>
        <p:spPr>
          <a:xfrm>
            <a:off x="9487297" y="3368675"/>
            <a:ext cx="2403872" cy="433983"/>
          </a:xfrm>
          <a:prstGeom prst="rect">
            <a:avLst/>
          </a:prstGeom>
          <a:solidFill>
            <a:srgbClr val="FFFFFF"/>
          </a:solidFill>
          <a:ln w="12700">
            <a:solidFill>
              <a:srgbClr val="333399"/>
            </a:solidFill>
            <a:prstDash val="solid"/>
          </a:ln>
        </p:spPr>
      </p:sp>
      <p:sp>
        <p:nvSpPr>
          <p:cNvPr id="76" name="Text 73"/>
          <p:cNvSpPr txBox="1"/>
          <p:nvPr/>
        </p:nvSpPr>
        <p:spPr>
          <a:xfrm>
            <a:off x="9607947" y="3438525"/>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77" name="Shape 74"/>
          <p:cNvSpPr/>
          <p:nvPr/>
        </p:nvSpPr>
        <p:spPr>
          <a:xfrm>
            <a:off x="97631" y="4223940"/>
            <a:ext cx="11793537" cy="12700"/>
          </a:xfrm>
          <a:prstGeom prst="rect">
            <a:avLst/>
          </a:prstGeom>
          <a:solidFill>
            <a:srgbClr val="9CA3AF">
              <a:alpha val="20000"/>
            </a:srgbClr>
          </a:solidFill>
          <a:ln/>
        </p:spPr>
      </p:sp>
      <p:sp>
        <p:nvSpPr>
          <p:cNvPr id="78" name="Shape 75"/>
          <p:cNvSpPr/>
          <p:nvPr/>
        </p:nvSpPr>
        <p:spPr>
          <a:xfrm>
            <a:off x="97631" y="3802657"/>
            <a:ext cx="4245571" cy="433983"/>
          </a:xfrm>
          <a:prstGeom prst="rect">
            <a:avLst/>
          </a:prstGeom>
          <a:solidFill>
            <a:srgbClr val="D6D6EB"/>
          </a:solidFill>
          <a:ln w="12700">
            <a:solidFill>
              <a:srgbClr val="333399"/>
            </a:solidFill>
            <a:prstDash val="solid"/>
          </a:ln>
        </p:spPr>
      </p:sp>
      <p:sp>
        <p:nvSpPr>
          <p:cNvPr id="79" name="Text 76"/>
          <p:cNvSpPr txBox="1"/>
          <p:nvPr/>
        </p:nvSpPr>
        <p:spPr>
          <a:xfrm>
            <a:off x="218281" y="3872508"/>
            <a:ext cx="310197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Validation, injection defences</a:t>
            </a:r>
            <a:endParaRPr lang="en-US" sz="1900" dirty="0"/>
          </a:p>
        </p:txBody>
      </p:sp>
      <p:sp>
        <p:nvSpPr>
          <p:cNvPr id="80" name="Shape 77"/>
          <p:cNvSpPr/>
          <p:nvPr/>
        </p:nvSpPr>
        <p:spPr>
          <a:xfrm>
            <a:off x="4343201" y="3802657"/>
            <a:ext cx="2740421" cy="433983"/>
          </a:xfrm>
          <a:prstGeom prst="rect">
            <a:avLst/>
          </a:prstGeom>
          <a:solidFill>
            <a:srgbClr val="D6D6EB"/>
          </a:solidFill>
          <a:ln w="12700">
            <a:solidFill>
              <a:srgbClr val="333399"/>
            </a:solidFill>
            <a:prstDash val="solid"/>
          </a:ln>
        </p:spPr>
      </p:sp>
      <p:sp>
        <p:nvSpPr>
          <p:cNvPr id="81" name="Text 78"/>
          <p:cNvSpPr txBox="1"/>
          <p:nvPr/>
        </p:nvSpPr>
        <p:spPr>
          <a:xfrm>
            <a:off x="4463852" y="3872508"/>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82" name="Shape 79"/>
          <p:cNvSpPr/>
          <p:nvPr/>
        </p:nvSpPr>
        <p:spPr>
          <a:xfrm>
            <a:off x="7083624" y="3802657"/>
            <a:ext cx="2403673" cy="433983"/>
          </a:xfrm>
          <a:prstGeom prst="rect">
            <a:avLst/>
          </a:prstGeom>
          <a:solidFill>
            <a:srgbClr val="D6D6EB"/>
          </a:solidFill>
          <a:ln w="12700">
            <a:solidFill>
              <a:srgbClr val="333399"/>
            </a:solidFill>
            <a:prstDash val="solid"/>
          </a:ln>
        </p:spPr>
      </p:sp>
      <p:sp>
        <p:nvSpPr>
          <p:cNvPr id="83" name="Text 80"/>
          <p:cNvSpPr txBox="1"/>
          <p:nvPr/>
        </p:nvSpPr>
        <p:spPr>
          <a:xfrm>
            <a:off x="7204273" y="3872508"/>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84" name="Shape 81"/>
          <p:cNvSpPr/>
          <p:nvPr/>
        </p:nvSpPr>
        <p:spPr>
          <a:xfrm>
            <a:off x="9487297" y="3802657"/>
            <a:ext cx="2403872" cy="433983"/>
          </a:xfrm>
          <a:prstGeom prst="rect">
            <a:avLst/>
          </a:prstGeom>
          <a:solidFill>
            <a:srgbClr val="D6D6EB"/>
          </a:solidFill>
          <a:ln w="12700">
            <a:solidFill>
              <a:srgbClr val="333399"/>
            </a:solidFill>
            <a:prstDash val="solid"/>
          </a:ln>
        </p:spPr>
      </p:sp>
      <p:sp>
        <p:nvSpPr>
          <p:cNvPr id="85" name="Text 82"/>
          <p:cNvSpPr txBox="1"/>
          <p:nvPr/>
        </p:nvSpPr>
        <p:spPr>
          <a:xfrm>
            <a:off x="9607947" y="3872508"/>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86" name="Shape 83"/>
          <p:cNvSpPr/>
          <p:nvPr/>
        </p:nvSpPr>
        <p:spPr>
          <a:xfrm>
            <a:off x="97631" y="4657924"/>
            <a:ext cx="11793537" cy="12700"/>
          </a:xfrm>
          <a:prstGeom prst="rect">
            <a:avLst/>
          </a:prstGeom>
          <a:solidFill>
            <a:srgbClr val="9CA3AF">
              <a:alpha val="20000"/>
            </a:srgbClr>
          </a:solidFill>
          <a:ln/>
        </p:spPr>
      </p:sp>
      <p:sp>
        <p:nvSpPr>
          <p:cNvPr id="87" name="Shape 84"/>
          <p:cNvSpPr/>
          <p:nvPr/>
        </p:nvSpPr>
        <p:spPr>
          <a:xfrm>
            <a:off x="97631" y="4236640"/>
            <a:ext cx="4245571" cy="433983"/>
          </a:xfrm>
          <a:prstGeom prst="rect">
            <a:avLst/>
          </a:prstGeom>
          <a:solidFill>
            <a:srgbClr val="FFFFFF"/>
          </a:solidFill>
          <a:ln w="12700">
            <a:solidFill>
              <a:srgbClr val="333399"/>
            </a:solidFill>
            <a:prstDash val="solid"/>
          </a:ln>
        </p:spPr>
      </p:sp>
      <p:sp>
        <p:nvSpPr>
          <p:cNvPr id="88" name="Text 85"/>
          <p:cNvSpPr txBox="1"/>
          <p:nvPr/>
        </p:nvSpPr>
        <p:spPr>
          <a:xfrm>
            <a:off x="218281" y="4306491"/>
            <a:ext cx="2710656"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Rate and cost limits (DoS)</a:t>
            </a:r>
            <a:endParaRPr lang="en-US" sz="1900" dirty="0"/>
          </a:p>
        </p:txBody>
      </p:sp>
      <p:sp>
        <p:nvSpPr>
          <p:cNvPr id="89" name="Shape 86"/>
          <p:cNvSpPr/>
          <p:nvPr/>
        </p:nvSpPr>
        <p:spPr>
          <a:xfrm>
            <a:off x="4343201" y="4236640"/>
            <a:ext cx="2740421" cy="433983"/>
          </a:xfrm>
          <a:prstGeom prst="rect">
            <a:avLst/>
          </a:prstGeom>
          <a:solidFill>
            <a:srgbClr val="FFFFFF"/>
          </a:solidFill>
          <a:ln w="12700">
            <a:solidFill>
              <a:srgbClr val="333399"/>
            </a:solidFill>
            <a:prstDash val="solid"/>
          </a:ln>
        </p:spPr>
      </p:sp>
      <p:sp>
        <p:nvSpPr>
          <p:cNvPr id="90" name="Text 87"/>
          <p:cNvSpPr txBox="1"/>
          <p:nvPr/>
        </p:nvSpPr>
        <p:spPr>
          <a:xfrm>
            <a:off x="4463852" y="4306491"/>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91" name="Shape 88"/>
          <p:cNvSpPr/>
          <p:nvPr/>
        </p:nvSpPr>
        <p:spPr>
          <a:xfrm>
            <a:off x="7083624" y="4236640"/>
            <a:ext cx="2403673" cy="433983"/>
          </a:xfrm>
          <a:prstGeom prst="rect">
            <a:avLst/>
          </a:prstGeom>
          <a:solidFill>
            <a:srgbClr val="FFFFFF"/>
          </a:solidFill>
          <a:ln w="12700">
            <a:solidFill>
              <a:srgbClr val="333399"/>
            </a:solidFill>
            <a:prstDash val="solid"/>
          </a:ln>
        </p:spPr>
      </p:sp>
      <p:sp>
        <p:nvSpPr>
          <p:cNvPr id="92" name="Text 89"/>
          <p:cNvSpPr txBox="1"/>
          <p:nvPr/>
        </p:nvSpPr>
        <p:spPr>
          <a:xfrm>
            <a:off x="7204273" y="4306491"/>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93" name="Shape 90"/>
          <p:cNvSpPr/>
          <p:nvPr/>
        </p:nvSpPr>
        <p:spPr>
          <a:xfrm>
            <a:off x="9487297" y="4236640"/>
            <a:ext cx="2403872" cy="433983"/>
          </a:xfrm>
          <a:prstGeom prst="rect">
            <a:avLst/>
          </a:prstGeom>
          <a:solidFill>
            <a:srgbClr val="FFFFFF"/>
          </a:solidFill>
          <a:ln w="12700">
            <a:solidFill>
              <a:srgbClr val="333399"/>
            </a:solidFill>
            <a:prstDash val="solid"/>
          </a:ln>
        </p:spPr>
      </p:sp>
      <p:sp>
        <p:nvSpPr>
          <p:cNvPr id="94" name="Text 91"/>
          <p:cNvSpPr txBox="1"/>
          <p:nvPr/>
        </p:nvSpPr>
        <p:spPr>
          <a:xfrm>
            <a:off x="9607947" y="4306491"/>
            <a:ext cx="1058465" cy="292100"/>
          </a:xfrm>
          <a:prstGeom prst="rect">
            <a:avLst/>
          </a:prstGeom>
          <a:noFill/>
          <a:ln/>
        </p:spPr>
        <p:txBody>
          <a:bodyPr wrap="non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Required</a:t>
            </a:r>
            <a:endParaRPr lang="en-US" sz="1900" dirty="0"/>
          </a:p>
        </p:txBody>
      </p:sp>
      <p:sp>
        <p:nvSpPr>
          <p:cNvPr id="95" name="Shape 92"/>
          <p:cNvSpPr/>
          <p:nvPr/>
        </p:nvSpPr>
        <p:spPr>
          <a:xfrm>
            <a:off x="91281" y="4829373"/>
            <a:ext cx="11806237" cy="920749"/>
          </a:xfrm>
          <a:prstGeom prst="rect">
            <a:avLst/>
          </a:prstGeom>
          <a:solidFill>
            <a:srgbClr val="FFFFFF"/>
          </a:solidFill>
          <a:ln w="25400">
            <a:solidFill>
              <a:srgbClr val="CC6600"/>
            </a:solidFill>
            <a:prstDash val="solid"/>
          </a:ln>
        </p:spPr>
      </p:sp>
      <p:sp>
        <p:nvSpPr>
          <p:cNvPr id="96" name="Text 93"/>
          <p:cNvSpPr txBox="1"/>
          <p:nvPr/>
        </p:nvSpPr>
        <p:spPr>
          <a:xfrm>
            <a:off x="243681" y="4956373"/>
            <a:ext cx="11699788" cy="663575"/>
          </a:xfrm>
          <a:prstGeom prst="rect">
            <a:avLst/>
          </a:prstGeom>
          <a:noFill/>
          <a:ln/>
        </p:spPr>
        <p:txBody>
          <a:bodyPr wrap="square" lIns="0" tIns="0" rIns="0" bIns="0" rtlCol="0" anchor="t"/>
          <a:lstStyle/>
          <a:p>
            <a:pPr algn="l" indent="0" marL="0">
              <a:lnSpc>
                <a:spcPts val="2625"/>
              </a:lnSpc>
              <a:buNone/>
            </a:pPr>
            <a:r>
              <a:rPr lang="en-US" sz="2100" dirty="0">
                <a:solidFill>
                  <a:srgbClr val="000000"/>
                </a:solidFill>
                <a:latin typeface="Calibri" pitchFamily="34" charset="0"/>
                <a:ea typeface="Calibri" pitchFamily="34" charset="-122"/>
                <a:cs typeface="Calibri" pitchFamily="34" charset="-120"/>
              </a:rPr>
              <a:t>QUERY changes the </a:t>
            </a:r>
            <a:pPr algn="l" indent="0" marL="0">
              <a:lnSpc>
                <a:spcPts val="2625"/>
              </a:lnSpc>
              <a:buNone/>
            </a:pPr>
            <a:r>
              <a:rPr lang="en-US" sz="2100" b="1" dirty="0">
                <a:solidFill>
                  <a:srgbClr val="000000"/>
                </a:solidFill>
                <a:latin typeface="Calibri" pitchFamily="34" charset="0"/>
                <a:ea typeface="Calibri" pitchFamily="34" charset="-122"/>
                <a:cs typeface="Calibri" pitchFamily="34" charset="-120"/>
              </a:rPr>
              <a:t>semantics</a:t>
            </a:r>
            <a:pPr algn="l" indent="0" marL="0">
              <a:lnSpc>
                <a:spcPts val="2625"/>
              </a:lnSpc>
              <a:buNone/>
            </a:pPr>
            <a:r>
              <a:rPr lang="en-US" sz="2100" dirty="0">
                <a:solidFill>
                  <a:srgbClr val="000000"/>
                </a:solidFill>
                <a:latin typeface="Calibri" pitchFamily="34" charset="0"/>
                <a:ea typeface="Calibri" pitchFamily="34" charset="-122"/>
                <a:cs typeface="Calibri" pitchFamily="34" charset="-120"/>
              </a:rPr>
              <a:t> and </a:t>
            </a:r>
            <a:pPr algn="l" indent="0" marL="0">
              <a:lnSpc>
                <a:spcPts val="2625"/>
              </a:lnSpc>
              <a:buNone/>
            </a:pPr>
            <a:r>
              <a:rPr lang="en-US" sz="2100" b="1" dirty="0">
                <a:solidFill>
                  <a:srgbClr val="000000"/>
                </a:solidFill>
                <a:latin typeface="Calibri" pitchFamily="34" charset="0"/>
                <a:ea typeface="Calibri" pitchFamily="34" charset="-122"/>
                <a:cs typeface="Calibri" pitchFamily="34" charset="-120"/>
              </a:rPr>
              <a:t>where the data travels</a:t>
            </a:r>
            <a:pPr algn="l" indent="0" marL="0">
              <a:lnSpc>
                <a:spcPts val="2625"/>
              </a:lnSpc>
              <a:buNone/>
            </a:pPr>
            <a:r>
              <a:rPr lang="en-US" sz="2100" dirty="0">
                <a:solidFill>
                  <a:srgbClr val="000000"/>
                </a:solidFill>
                <a:latin typeface="Calibri" pitchFamily="34" charset="0"/>
                <a:ea typeface="Calibri" pitchFamily="34" charset="-122"/>
                <a:cs typeface="Calibri" pitchFamily="34" charset="-120"/>
              </a:rPr>
              <a:t>. It does not remove the need for authorization, validation, logging hygiene or limits.</a:t>
            </a:r>
            <a:endParaRPr lang="en-US" sz="2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22</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39551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Standardised is not the same as deployed</a:t>
            </a:r>
            <a:endParaRPr lang="en-US" sz="2400" dirty="0"/>
          </a:p>
        </p:txBody>
      </p:sp>
      <p:sp>
        <p:nvSpPr>
          <p:cNvPr id="10" name="Shape 7"/>
          <p:cNvSpPr/>
          <p:nvPr/>
        </p:nvSpPr>
        <p:spPr>
          <a:xfrm>
            <a:off x="91281" y="1361281"/>
            <a:ext cx="4641056" cy="2726531"/>
          </a:xfrm>
          <a:prstGeom prst="rect">
            <a:avLst/>
          </a:prstGeom>
          <a:solidFill>
            <a:srgbClr val="D6D6EB"/>
          </a:solidFill>
          <a:ln w="12700">
            <a:solidFill>
              <a:srgbClr val="333399"/>
            </a:solidFill>
            <a:prstDash val="solid"/>
          </a:ln>
        </p:spPr>
      </p:sp>
      <p:sp>
        <p:nvSpPr>
          <p:cNvPr id="11" name="Text 8"/>
          <p:cNvSpPr txBox="1"/>
          <p:nvPr/>
        </p:nvSpPr>
        <p:spPr>
          <a:xfrm>
            <a:off x="256381" y="1500981"/>
            <a:ext cx="3665736"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Protocol level: set by RFC 10008</a:t>
            </a:r>
            <a:endParaRPr lang="en-US" sz="2100" dirty="0"/>
          </a:p>
        </p:txBody>
      </p:sp>
      <p:sp>
        <p:nvSpPr>
          <p:cNvPr id="12" name="Text 9"/>
          <p:cNvSpPr txBox="1"/>
          <p:nvPr/>
        </p:nvSpPr>
        <p:spPr>
          <a:xfrm>
            <a:off x="521692" y="193913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3" name="Text 10"/>
          <p:cNvSpPr txBox="1"/>
          <p:nvPr/>
        </p:nvSpPr>
        <p:spPr>
          <a:xfrm>
            <a:off x="864592" y="1926431"/>
            <a:ext cx="296346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safe + idempotent semantics</a:t>
            </a:r>
            <a:endParaRPr lang="en-US" sz="1900" dirty="0"/>
          </a:p>
        </p:txBody>
      </p:sp>
      <p:sp>
        <p:nvSpPr>
          <p:cNvPr id="14" name="Text 11"/>
          <p:cNvSpPr txBox="1"/>
          <p:nvPr/>
        </p:nvSpPr>
        <p:spPr>
          <a:xfrm>
            <a:off x="521692" y="22921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5" name="Text 12"/>
          <p:cNvSpPr txBox="1"/>
          <p:nvPr/>
        </p:nvSpPr>
        <p:spPr>
          <a:xfrm>
            <a:off x="864592" y="2279452"/>
            <a:ext cx="3343672"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Content-Type required; 4xx rules</a:t>
            </a:r>
            <a:endParaRPr lang="en-US" sz="1900" dirty="0"/>
          </a:p>
        </p:txBody>
      </p:sp>
      <p:sp>
        <p:nvSpPr>
          <p:cNvPr id="16" name="Text 13"/>
          <p:cNvSpPr txBox="1"/>
          <p:nvPr/>
        </p:nvSpPr>
        <p:spPr>
          <a:xfrm>
            <a:off x="521692" y="26451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7" name="Text 14"/>
          <p:cNvSpPr txBox="1"/>
          <p:nvPr/>
        </p:nvSpPr>
        <p:spPr>
          <a:xfrm>
            <a:off x="864592" y="2632472"/>
            <a:ext cx="363160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cacheable; content in the cache key</a:t>
            </a:r>
            <a:endParaRPr lang="en-US" sz="1900" dirty="0"/>
          </a:p>
        </p:txBody>
      </p:sp>
      <p:sp>
        <p:nvSpPr>
          <p:cNvPr id="18" name="Text 15"/>
          <p:cNvSpPr txBox="1"/>
          <p:nvPr/>
        </p:nvSpPr>
        <p:spPr>
          <a:xfrm>
            <a:off x="521692" y="29981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9" name="Text 16"/>
          <p:cNvSpPr txBox="1"/>
          <p:nvPr/>
        </p:nvSpPr>
        <p:spPr>
          <a:xfrm>
            <a:off x="864592" y="2985492"/>
            <a:ext cx="372804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Accept-Query, Location, Content-Location</a:t>
            </a:r>
            <a:endParaRPr lang="en-US" sz="1900" dirty="0"/>
          </a:p>
        </p:txBody>
      </p:sp>
      <p:sp>
        <p:nvSpPr>
          <p:cNvPr id="20" name="Text 17"/>
          <p:cNvSpPr txBox="1"/>
          <p:nvPr/>
        </p:nvSpPr>
        <p:spPr>
          <a:xfrm>
            <a:off x="521692" y="364073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1" name="Text 18"/>
          <p:cNvSpPr txBox="1"/>
          <p:nvPr/>
        </p:nvSpPr>
        <p:spPr>
          <a:xfrm>
            <a:off x="864592" y="3628033"/>
            <a:ext cx="298112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redirect rules; CORS preflight</a:t>
            </a:r>
            <a:endParaRPr lang="en-US" sz="1900" dirty="0"/>
          </a:p>
        </p:txBody>
      </p:sp>
      <p:sp>
        <p:nvSpPr>
          <p:cNvPr id="22" name="Shape 19"/>
          <p:cNvSpPr/>
          <p:nvPr/>
        </p:nvSpPr>
        <p:spPr>
          <a:xfrm>
            <a:off x="4935537" y="1361281"/>
            <a:ext cx="6961981" cy="2726531"/>
          </a:xfrm>
          <a:prstGeom prst="rect">
            <a:avLst/>
          </a:prstGeom>
          <a:solidFill>
            <a:srgbClr val="FFFFFF"/>
          </a:solidFill>
          <a:ln w="25400">
            <a:solidFill>
              <a:srgbClr val="993300"/>
            </a:solidFill>
            <a:prstDash val="solid"/>
          </a:ln>
        </p:spPr>
      </p:sp>
      <p:sp>
        <p:nvSpPr>
          <p:cNvPr id="23" name="Text 20"/>
          <p:cNvSpPr txBox="1"/>
          <p:nvPr/>
        </p:nvSpPr>
        <p:spPr>
          <a:xfrm>
            <a:off x="5113337" y="1513681"/>
            <a:ext cx="4552355"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Deployment level: decided at every hop</a:t>
            </a:r>
            <a:endParaRPr lang="en-US" sz="2100" dirty="0"/>
          </a:p>
        </p:txBody>
      </p:sp>
      <p:sp>
        <p:nvSpPr>
          <p:cNvPr id="24" name="Text 21"/>
          <p:cNvSpPr txBox="1"/>
          <p:nvPr/>
        </p:nvSpPr>
        <p:spPr>
          <a:xfrm>
            <a:off x="5378648" y="195183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5" name="Text 22"/>
          <p:cNvSpPr txBox="1"/>
          <p:nvPr/>
        </p:nvSpPr>
        <p:spPr>
          <a:xfrm>
            <a:off x="5721548" y="1939131"/>
            <a:ext cx="59463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method allowlists (LB, WAF, gateway): 405 / 501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§9.1]</a:t>
            </a:r>
            <a:endParaRPr lang="en-US" sz="1900" dirty="0"/>
          </a:p>
        </p:txBody>
      </p:sp>
      <p:sp>
        <p:nvSpPr>
          <p:cNvPr id="26" name="Text 23"/>
          <p:cNvSpPr txBox="1"/>
          <p:nvPr/>
        </p:nvSpPr>
        <p:spPr>
          <a:xfrm>
            <a:off x="5378648" y="23048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7" name="Text 24"/>
          <p:cNvSpPr txBox="1"/>
          <p:nvPr/>
        </p:nvSpPr>
        <p:spPr>
          <a:xfrm>
            <a:off x="5721548" y="2292152"/>
            <a:ext cx="4663876"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proxy / CDN forwarding and caching of QUERY</a:t>
            </a:r>
            <a:endParaRPr lang="en-US" sz="1900" dirty="0"/>
          </a:p>
        </p:txBody>
      </p:sp>
      <p:sp>
        <p:nvSpPr>
          <p:cNvPr id="28" name="Text 25"/>
          <p:cNvSpPr txBox="1"/>
          <p:nvPr/>
        </p:nvSpPr>
        <p:spPr>
          <a:xfrm>
            <a:off x="5378648" y="26578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9" name="Text 26"/>
          <p:cNvSpPr txBox="1"/>
          <p:nvPr/>
        </p:nvSpPr>
        <p:spPr>
          <a:xfrm>
            <a:off x="5721548" y="2645172"/>
            <a:ext cx="3722688"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framework routing and body parsing</a:t>
            </a:r>
            <a:endParaRPr lang="en-US" sz="1900" dirty="0"/>
          </a:p>
        </p:txBody>
      </p:sp>
      <p:sp>
        <p:nvSpPr>
          <p:cNvPr id="30" name="Text 27"/>
          <p:cNvSpPr txBox="1"/>
          <p:nvPr/>
        </p:nvSpPr>
        <p:spPr>
          <a:xfrm>
            <a:off x="5378648" y="30108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1" name="Shape 28"/>
          <p:cNvSpPr/>
          <p:nvPr/>
        </p:nvSpPr>
        <p:spPr>
          <a:xfrm>
            <a:off x="8524676" y="3036292"/>
            <a:ext cx="1039416" cy="266700"/>
          </a:xfrm>
          <a:prstGeom prst="rect">
            <a:avLst/>
          </a:prstGeom>
          <a:solidFill>
            <a:srgbClr val="FFFFFF"/>
          </a:solidFill>
          <a:ln w="12700">
            <a:solidFill>
              <a:srgbClr val="333399"/>
            </a:solidFill>
            <a:prstDash val="solid"/>
          </a:ln>
        </p:spPr>
      </p:sp>
      <p:sp>
        <p:nvSpPr>
          <p:cNvPr id="32" name="Shape 29"/>
          <p:cNvSpPr/>
          <p:nvPr/>
        </p:nvSpPr>
        <p:spPr>
          <a:xfrm>
            <a:off x="9805789" y="3036292"/>
            <a:ext cx="1039416" cy="266700"/>
          </a:xfrm>
          <a:prstGeom prst="rect">
            <a:avLst/>
          </a:prstGeom>
          <a:solidFill>
            <a:srgbClr val="FFFFFF"/>
          </a:solidFill>
          <a:ln w="12700">
            <a:solidFill>
              <a:srgbClr val="333399"/>
            </a:solidFill>
            <a:prstDash val="solid"/>
          </a:ln>
        </p:spPr>
      </p:sp>
      <p:sp>
        <p:nvSpPr>
          <p:cNvPr id="33" name="Text 30"/>
          <p:cNvSpPr txBox="1"/>
          <p:nvPr/>
        </p:nvSpPr>
        <p:spPr>
          <a:xfrm>
            <a:off x="5721548" y="2998192"/>
            <a:ext cx="5212556"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configuration · clients: </a:t>
            </a:r>
            <a:pPr algn="l" indent="0" marL="0">
              <a:buNone/>
            </a:pPr>
            <a:r>
              <a:rPr lang="en-US" sz="1711" b="1" dirty="0">
                <a:solidFill>
                  <a:srgbClr val="000000"/>
                </a:solidFill>
                <a:latin typeface="Courier New" pitchFamily="34" charset="0"/>
                <a:ea typeface="Courier New" pitchFamily="34" charset="-122"/>
                <a:cs typeface="Courier New" pitchFamily="34" charset="-120"/>
              </a:rPr>
              <a:t>"query"</a:t>
            </a:r>
            <a:pPr algn="l" indent="0" marL="0">
              <a:buNone/>
            </a:pPr>
            <a:r>
              <a:rPr lang="en-US" sz="1900" dirty="0">
                <a:solidFill>
                  <a:srgbClr val="000000"/>
                </a:solidFill>
                <a:latin typeface="Calibri" pitchFamily="34" charset="0"/>
                <a:ea typeface="Calibri" pitchFamily="34" charset="-122"/>
                <a:cs typeface="Calibri" pitchFamily="34" charset="-120"/>
              </a:rPr>
              <a:t> ≠ </a:t>
            </a:r>
            <a:pPr algn="l" indent="0" marL="0">
              <a:buNone/>
            </a:pPr>
            <a:r>
              <a:rPr lang="en-US" sz="1711" b="1" dirty="0">
                <a:solidFill>
                  <a:srgbClr val="000000"/>
                </a:solidFill>
                <a:latin typeface="Courier New" pitchFamily="34" charset="0"/>
                <a:ea typeface="Courier New" pitchFamily="34" charset="-122"/>
                <a:cs typeface="Courier New" pitchFamily="34" charset="-120"/>
              </a:rPr>
              <a:t>"QUERY"</a:t>
            </a:r>
            <a:endParaRPr lang="en-US" sz="1900" dirty="0"/>
          </a:p>
        </p:txBody>
      </p:sp>
      <p:sp>
        <p:nvSpPr>
          <p:cNvPr id="34" name="Text 31"/>
          <p:cNvSpPr txBox="1"/>
          <p:nvPr/>
        </p:nvSpPr>
        <p:spPr>
          <a:xfrm>
            <a:off x="5378648" y="337284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5" name="Shape 32"/>
          <p:cNvSpPr/>
          <p:nvPr/>
        </p:nvSpPr>
        <p:spPr>
          <a:xfrm>
            <a:off x="10272117" y="3398243"/>
            <a:ext cx="778669" cy="266700"/>
          </a:xfrm>
          <a:prstGeom prst="rect">
            <a:avLst/>
          </a:prstGeom>
          <a:solidFill>
            <a:srgbClr val="FFFFFF"/>
          </a:solidFill>
          <a:ln w="12700">
            <a:solidFill>
              <a:srgbClr val="333399"/>
            </a:solidFill>
            <a:prstDash val="solid"/>
          </a:ln>
        </p:spPr>
      </p:sp>
      <p:sp>
        <p:nvSpPr>
          <p:cNvPr id="36" name="Text 33"/>
          <p:cNvSpPr txBox="1"/>
          <p:nvPr/>
        </p:nvSpPr>
        <p:spPr>
          <a:xfrm>
            <a:off x="5721548" y="3360143"/>
            <a:ext cx="6023571" cy="565149"/>
          </a:xfrm>
          <a:prstGeom prst="rect">
            <a:avLst/>
          </a:prstGeom>
          <a:noFill/>
          <a:ln/>
        </p:spPr>
        <p:txBody>
          <a:bodyPr wrap="square" lIns="0" tIns="0" rIns="0" bIns="0" rtlCol="0" anchor="t"/>
          <a:lstStyle/>
          <a:p>
            <a:pPr algn="l" indent="0" marL="0">
              <a:lnSpc>
                <a:spcPts val="2951"/>
              </a:lnSpc>
              <a:buNone/>
            </a:pPr>
            <a:r>
              <a:rPr lang="en-US" sz="1900" dirty="0">
                <a:solidFill>
                  <a:srgbClr val="000000"/>
                </a:solidFill>
                <a:latin typeface="Calibri" pitchFamily="34" charset="0"/>
                <a:ea typeface="Calibri" pitchFamily="34" charset="-122"/>
                <a:cs typeface="Calibri" pitchFamily="34" charset="-120"/>
              </a:rPr>
              <a:t>logs, SIEM parsers · API docs: OpenAPI 3.2 has </a:t>
            </a:r>
            <a:pPr algn="l" indent="0" marL="0">
              <a:lnSpc>
                <a:spcPts val="2951"/>
              </a:lnSpc>
              <a:buNone/>
            </a:pPr>
            <a:r>
              <a:rPr lang="en-US" sz="1711" b="1" dirty="0">
                <a:solidFill>
                  <a:srgbClr val="000000"/>
                </a:solidFill>
                <a:latin typeface="Courier New" pitchFamily="34" charset="0"/>
                <a:ea typeface="Courier New" pitchFamily="34" charset="-122"/>
                <a:cs typeface="Courier New" pitchFamily="34" charset="-120"/>
              </a:rPr>
              <a:t>query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[OAS 3.2]</a:t>
            </a:r>
            <a:endParaRPr lang="en-US" sz="1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22</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395516"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Standardised is not the same as deployed</a:t>
            </a:r>
            <a:endParaRPr lang="en-US" sz="2400" dirty="0"/>
          </a:p>
        </p:txBody>
      </p:sp>
      <p:sp>
        <p:nvSpPr>
          <p:cNvPr id="10" name="Shape 7"/>
          <p:cNvSpPr/>
          <p:nvPr/>
        </p:nvSpPr>
        <p:spPr>
          <a:xfrm>
            <a:off x="91281" y="1361281"/>
            <a:ext cx="4641056" cy="2726531"/>
          </a:xfrm>
          <a:prstGeom prst="rect">
            <a:avLst/>
          </a:prstGeom>
          <a:solidFill>
            <a:srgbClr val="D6D6EB"/>
          </a:solidFill>
          <a:ln w="12700">
            <a:solidFill>
              <a:srgbClr val="333399"/>
            </a:solidFill>
            <a:prstDash val="solid"/>
          </a:ln>
        </p:spPr>
      </p:sp>
      <p:sp>
        <p:nvSpPr>
          <p:cNvPr id="11" name="Text 8"/>
          <p:cNvSpPr txBox="1"/>
          <p:nvPr/>
        </p:nvSpPr>
        <p:spPr>
          <a:xfrm>
            <a:off x="256381" y="1500981"/>
            <a:ext cx="3665736"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Protocol level: set by RFC 10008</a:t>
            </a:r>
            <a:endParaRPr lang="en-US" sz="2100" dirty="0"/>
          </a:p>
        </p:txBody>
      </p:sp>
      <p:sp>
        <p:nvSpPr>
          <p:cNvPr id="12" name="Text 9"/>
          <p:cNvSpPr txBox="1"/>
          <p:nvPr/>
        </p:nvSpPr>
        <p:spPr>
          <a:xfrm>
            <a:off x="521692" y="193913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3" name="Text 10"/>
          <p:cNvSpPr txBox="1"/>
          <p:nvPr/>
        </p:nvSpPr>
        <p:spPr>
          <a:xfrm>
            <a:off x="864592" y="1926431"/>
            <a:ext cx="296346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safe + idempotent semantics</a:t>
            </a:r>
            <a:endParaRPr lang="en-US" sz="1900" dirty="0"/>
          </a:p>
        </p:txBody>
      </p:sp>
      <p:sp>
        <p:nvSpPr>
          <p:cNvPr id="14" name="Text 11"/>
          <p:cNvSpPr txBox="1"/>
          <p:nvPr/>
        </p:nvSpPr>
        <p:spPr>
          <a:xfrm>
            <a:off x="521692" y="22921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5" name="Text 12"/>
          <p:cNvSpPr txBox="1"/>
          <p:nvPr/>
        </p:nvSpPr>
        <p:spPr>
          <a:xfrm>
            <a:off x="864592" y="2279452"/>
            <a:ext cx="3343672"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Content-Type required; 4xx rules</a:t>
            </a:r>
            <a:endParaRPr lang="en-US" sz="1900" dirty="0"/>
          </a:p>
        </p:txBody>
      </p:sp>
      <p:sp>
        <p:nvSpPr>
          <p:cNvPr id="16" name="Text 13"/>
          <p:cNvSpPr txBox="1"/>
          <p:nvPr/>
        </p:nvSpPr>
        <p:spPr>
          <a:xfrm>
            <a:off x="521692" y="26451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7" name="Text 14"/>
          <p:cNvSpPr txBox="1"/>
          <p:nvPr/>
        </p:nvSpPr>
        <p:spPr>
          <a:xfrm>
            <a:off x="864592" y="2632472"/>
            <a:ext cx="363160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cacheable; content in the cache key</a:t>
            </a:r>
            <a:endParaRPr lang="en-US" sz="1900" dirty="0"/>
          </a:p>
        </p:txBody>
      </p:sp>
      <p:sp>
        <p:nvSpPr>
          <p:cNvPr id="18" name="Text 15"/>
          <p:cNvSpPr txBox="1"/>
          <p:nvPr/>
        </p:nvSpPr>
        <p:spPr>
          <a:xfrm>
            <a:off x="521692" y="29981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9" name="Text 16"/>
          <p:cNvSpPr txBox="1"/>
          <p:nvPr/>
        </p:nvSpPr>
        <p:spPr>
          <a:xfrm>
            <a:off x="864592" y="2985492"/>
            <a:ext cx="372804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Accept-Query, Location, Content-Location</a:t>
            </a:r>
            <a:endParaRPr lang="en-US" sz="1900" dirty="0"/>
          </a:p>
        </p:txBody>
      </p:sp>
      <p:sp>
        <p:nvSpPr>
          <p:cNvPr id="20" name="Text 17"/>
          <p:cNvSpPr txBox="1"/>
          <p:nvPr/>
        </p:nvSpPr>
        <p:spPr>
          <a:xfrm>
            <a:off x="521692" y="364073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1" name="Text 18"/>
          <p:cNvSpPr txBox="1"/>
          <p:nvPr/>
        </p:nvSpPr>
        <p:spPr>
          <a:xfrm>
            <a:off x="864592" y="3628033"/>
            <a:ext cx="298112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redirect rules; CORS preflight</a:t>
            </a:r>
            <a:endParaRPr lang="en-US" sz="1900" dirty="0"/>
          </a:p>
        </p:txBody>
      </p:sp>
      <p:sp>
        <p:nvSpPr>
          <p:cNvPr id="22" name="Shape 19"/>
          <p:cNvSpPr/>
          <p:nvPr/>
        </p:nvSpPr>
        <p:spPr>
          <a:xfrm>
            <a:off x="4935537" y="1361281"/>
            <a:ext cx="6961981" cy="2726531"/>
          </a:xfrm>
          <a:prstGeom prst="rect">
            <a:avLst/>
          </a:prstGeom>
          <a:solidFill>
            <a:srgbClr val="FFFFFF"/>
          </a:solidFill>
          <a:ln w="25400">
            <a:solidFill>
              <a:srgbClr val="993300"/>
            </a:solidFill>
            <a:prstDash val="solid"/>
          </a:ln>
        </p:spPr>
      </p:sp>
      <p:sp>
        <p:nvSpPr>
          <p:cNvPr id="23" name="Text 20"/>
          <p:cNvSpPr txBox="1"/>
          <p:nvPr/>
        </p:nvSpPr>
        <p:spPr>
          <a:xfrm>
            <a:off x="5113337" y="1513681"/>
            <a:ext cx="4552355"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Deployment level: decided at every hop</a:t>
            </a:r>
            <a:endParaRPr lang="en-US" sz="2100" dirty="0"/>
          </a:p>
        </p:txBody>
      </p:sp>
      <p:sp>
        <p:nvSpPr>
          <p:cNvPr id="24" name="Text 21"/>
          <p:cNvSpPr txBox="1"/>
          <p:nvPr/>
        </p:nvSpPr>
        <p:spPr>
          <a:xfrm>
            <a:off x="5378648" y="195183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5" name="Text 22"/>
          <p:cNvSpPr txBox="1"/>
          <p:nvPr/>
        </p:nvSpPr>
        <p:spPr>
          <a:xfrm>
            <a:off x="5721548" y="1939131"/>
            <a:ext cx="59463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method allowlists (LB, WAF, gateway): 405 / 501 </a:t>
            </a:r>
            <a:pPr algn="l" indent="0" marL="0">
              <a:buNone/>
            </a:pPr>
            <a:r>
              <a:rPr lang="en-US" sz="13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§9.1]</a:t>
            </a:r>
            <a:endParaRPr lang="en-US" sz="1900" dirty="0"/>
          </a:p>
        </p:txBody>
      </p:sp>
      <p:sp>
        <p:nvSpPr>
          <p:cNvPr id="26" name="Text 23"/>
          <p:cNvSpPr txBox="1"/>
          <p:nvPr/>
        </p:nvSpPr>
        <p:spPr>
          <a:xfrm>
            <a:off x="5378648" y="230485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7" name="Text 24"/>
          <p:cNvSpPr txBox="1"/>
          <p:nvPr/>
        </p:nvSpPr>
        <p:spPr>
          <a:xfrm>
            <a:off x="5721548" y="2292152"/>
            <a:ext cx="4663876"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proxy / CDN forwarding and caching of QUERY</a:t>
            </a:r>
            <a:endParaRPr lang="en-US" sz="1900" dirty="0"/>
          </a:p>
        </p:txBody>
      </p:sp>
      <p:sp>
        <p:nvSpPr>
          <p:cNvPr id="28" name="Text 25"/>
          <p:cNvSpPr txBox="1"/>
          <p:nvPr/>
        </p:nvSpPr>
        <p:spPr>
          <a:xfrm>
            <a:off x="5378648" y="265787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9" name="Text 26"/>
          <p:cNvSpPr txBox="1"/>
          <p:nvPr/>
        </p:nvSpPr>
        <p:spPr>
          <a:xfrm>
            <a:off x="5721548" y="2645172"/>
            <a:ext cx="3722688"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framework routing and body parsing</a:t>
            </a:r>
            <a:endParaRPr lang="en-US" sz="1900" dirty="0"/>
          </a:p>
        </p:txBody>
      </p:sp>
      <p:sp>
        <p:nvSpPr>
          <p:cNvPr id="30" name="Text 27"/>
          <p:cNvSpPr txBox="1"/>
          <p:nvPr/>
        </p:nvSpPr>
        <p:spPr>
          <a:xfrm>
            <a:off x="5378648" y="3010892"/>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1" name="Shape 28"/>
          <p:cNvSpPr/>
          <p:nvPr/>
        </p:nvSpPr>
        <p:spPr>
          <a:xfrm>
            <a:off x="8524676" y="3036292"/>
            <a:ext cx="1039416" cy="266700"/>
          </a:xfrm>
          <a:prstGeom prst="rect">
            <a:avLst/>
          </a:prstGeom>
          <a:solidFill>
            <a:srgbClr val="FFFFFF"/>
          </a:solidFill>
          <a:ln w="12700">
            <a:solidFill>
              <a:srgbClr val="333399"/>
            </a:solidFill>
            <a:prstDash val="solid"/>
          </a:ln>
        </p:spPr>
      </p:sp>
      <p:sp>
        <p:nvSpPr>
          <p:cNvPr id="32" name="Shape 29"/>
          <p:cNvSpPr/>
          <p:nvPr/>
        </p:nvSpPr>
        <p:spPr>
          <a:xfrm>
            <a:off x="9805789" y="3036292"/>
            <a:ext cx="1039416" cy="266700"/>
          </a:xfrm>
          <a:prstGeom prst="rect">
            <a:avLst/>
          </a:prstGeom>
          <a:solidFill>
            <a:srgbClr val="FFFFFF"/>
          </a:solidFill>
          <a:ln w="12700">
            <a:solidFill>
              <a:srgbClr val="333399"/>
            </a:solidFill>
            <a:prstDash val="solid"/>
          </a:ln>
        </p:spPr>
      </p:sp>
      <p:sp>
        <p:nvSpPr>
          <p:cNvPr id="33" name="Text 30"/>
          <p:cNvSpPr txBox="1"/>
          <p:nvPr/>
        </p:nvSpPr>
        <p:spPr>
          <a:xfrm>
            <a:off x="5721548" y="2998192"/>
            <a:ext cx="5212556"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CORS configuration · clients: </a:t>
            </a:r>
            <a:pPr algn="l" indent="0" marL="0">
              <a:buNone/>
            </a:pPr>
            <a:r>
              <a:rPr lang="en-US" sz="1711" b="1" dirty="0">
                <a:solidFill>
                  <a:srgbClr val="000000"/>
                </a:solidFill>
                <a:latin typeface="Courier New" pitchFamily="34" charset="0"/>
                <a:ea typeface="Courier New" pitchFamily="34" charset="-122"/>
                <a:cs typeface="Courier New" pitchFamily="34" charset="-120"/>
              </a:rPr>
              <a:t>"query"</a:t>
            </a:r>
            <a:pPr algn="l" indent="0" marL="0">
              <a:buNone/>
            </a:pPr>
            <a:r>
              <a:rPr lang="en-US" sz="1900" dirty="0">
                <a:solidFill>
                  <a:srgbClr val="000000"/>
                </a:solidFill>
                <a:latin typeface="Calibri" pitchFamily="34" charset="0"/>
                <a:ea typeface="Calibri" pitchFamily="34" charset="-122"/>
                <a:cs typeface="Calibri" pitchFamily="34" charset="-120"/>
              </a:rPr>
              <a:t> ≠ </a:t>
            </a:r>
            <a:pPr algn="l" indent="0" marL="0">
              <a:buNone/>
            </a:pPr>
            <a:r>
              <a:rPr lang="en-US" sz="1711" b="1" dirty="0">
                <a:solidFill>
                  <a:srgbClr val="000000"/>
                </a:solidFill>
                <a:latin typeface="Courier New" pitchFamily="34" charset="0"/>
                <a:ea typeface="Courier New" pitchFamily="34" charset="-122"/>
                <a:cs typeface="Courier New" pitchFamily="34" charset="-120"/>
              </a:rPr>
              <a:t>"QUERY"</a:t>
            </a:r>
            <a:endParaRPr lang="en-US" sz="1900" dirty="0"/>
          </a:p>
        </p:txBody>
      </p:sp>
      <p:sp>
        <p:nvSpPr>
          <p:cNvPr id="34" name="Text 31"/>
          <p:cNvSpPr txBox="1"/>
          <p:nvPr/>
        </p:nvSpPr>
        <p:spPr>
          <a:xfrm>
            <a:off x="5378648" y="337284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5" name="Shape 32"/>
          <p:cNvSpPr/>
          <p:nvPr/>
        </p:nvSpPr>
        <p:spPr>
          <a:xfrm>
            <a:off x="10272117" y="3398243"/>
            <a:ext cx="778669" cy="266700"/>
          </a:xfrm>
          <a:prstGeom prst="rect">
            <a:avLst/>
          </a:prstGeom>
          <a:solidFill>
            <a:srgbClr val="FFFFFF"/>
          </a:solidFill>
          <a:ln w="12700">
            <a:solidFill>
              <a:srgbClr val="333399"/>
            </a:solidFill>
            <a:prstDash val="solid"/>
          </a:ln>
        </p:spPr>
      </p:sp>
      <p:sp>
        <p:nvSpPr>
          <p:cNvPr id="36" name="Text 33"/>
          <p:cNvSpPr txBox="1"/>
          <p:nvPr/>
        </p:nvSpPr>
        <p:spPr>
          <a:xfrm>
            <a:off x="5721548" y="3360143"/>
            <a:ext cx="6023571" cy="565149"/>
          </a:xfrm>
          <a:prstGeom prst="rect">
            <a:avLst/>
          </a:prstGeom>
          <a:noFill/>
          <a:ln/>
        </p:spPr>
        <p:txBody>
          <a:bodyPr wrap="square" lIns="0" tIns="0" rIns="0" bIns="0" rtlCol="0" anchor="t"/>
          <a:lstStyle/>
          <a:p>
            <a:pPr algn="l" indent="0" marL="0">
              <a:lnSpc>
                <a:spcPts val="2951"/>
              </a:lnSpc>
              <a:buNone/>
            </a:pPr>
            <a:r>
              <a:rPr lang="en-US" sz="1900" dirty="0">
                <a:solidFill>
                  <a:srgbClr val="000000"/>
                </a:solidFill>
                <a:latin typeface="Calibri" pitchFamily="34" charset="0"/>
                <a:ea typeface="Calibri" pitchFamily="34" charset="-122"/>
                <a:cs typeface="Calibri" pitchFamily="34" charset="-120"/>
              </a:rPr>
              <a:t>logs, SIEM parsers · API docs: OpenAPI 3.2 has </a:t>
            </a:r>
            <a:pPr algn="l" indent="0" marL="0">
              <a:lnSpc>
                <a:spcPts val="2951"/>
              </a:lnSpc>
              <a:buNone/>
            </a:pPr>
            <a:r>
              <a:rPr lang="en-US" sz="1711" b="1" dirty="0">
                <a:solidFill>
                  <a:srgbClr val="000000"/>
                </a:solidFill>
                <a:latin typeface="Courier New" pitchFamily="34" charset="0"/>
                <a:ea typeface="Courier New" pitchFamily="34" charset="-122"/>
                <a:cs typeface="Courier New" pitchFamily="34" charset="-120"/>
              </a:rPr>
              <a:t>query </a:t>
            </a:r>
            <a:pPr algn="l" indent="0" marL="0">
              <a:lnSpc>
                <a:spcPts val="2951"/>
              </a:lnSpc>
              <a:buNone/>
            </a:pPr>
            <a:r>
              <a:rPr lang="en-US" sz="13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[OAS 3.2]</a:t>
            </a:r>
            <a:endParaRPr lang="en-US" sz="1900" dirty="0"/>
          </a:p>
        </p:txBody>
      </p:sp>
      <p:sp>
        <p:nvSpPr>
          <p:cNvPr id="37" name="Shape 34"/>
          <p:cNvSpPr/>
          <p:nvPr/>
        </p:nvSpPr>
        <p:spPr>
          <a:xfrm>
            <a:off x="91281" y="4291012"/>
            <a:ext cx="1065015" cy="444500"/>
          </a:xfrm>
          <a:prstGeom prst="rect">
            <a:avLst/>
          </a:prstGeom>
          <a:solidFill>
            <a:srgbClr val="D6D6EB"/>
          </a:solidFill>
          <a:ln w="12700">
            <a:solidFill>
              <a:srgbClr val="333399"/>
            </a:solidFill>
            <a:prstDash val="solid"/>
          </a:ln>
        </p:spPr>
      </p:sp>
      <p:sp>
        <p:nvSpPr>
          <p:cNvPr id="38" name="Text 35"/>
          <p:cNvSpPr txBox="1"/>
          <p:nvPr/>
        </p:nvSpPr>
        <p:spPr>
          <a:xfrm>
            <a:off x="230981" y="4367212"/>
            <a:ext cx="93801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Browser</a:t>
            </a:r>
            <a:endParaRPr lang="en-US" sz="1800" dirty="0"/>
          </a:p>
        </p:txBody>
      </p:sp>
      <p:sp>
        <p:nvSpPr>
          <p:cNvPr id="39" name="Text 36"/>
          <p:cNvSpPr txBox="1"/>
          <p:nvPr/>
        </p:nvSpPr>
        <p:spPr>
          <a:xfrm>
            <a:off x="1245195" y="4367212"/>
            <a:ext cx="381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p>
        </p:txBody>
      </p:sp>
      <p:sp>
        <p:nvSpPr>
          <p:cNvPr id="40" name="Shape 37"/>
          <p:cNvSpPr/>
          <p:nvPr/>
        </p:nvSpPr>
        <p:spPr>
          <a:xfrm>
            <a:off x="1562695" y="4291012"/>
            <a:ext cx="695127" cy="444500"/>
          </a:xfrm>
          <a:prstGeom prst="rect">
            <a:avLst/>
          </a:prstGeom>
          <a:solidFill>
            <a:srgbClr val="D6D6EB"/>
          </a:solidFill>
          <a:ln w="12700">
            <a:solidFill>
              <a:srgbClr val="333399"/>
            </a:solidFill>
            <a:prstDash val="solid"/>
          </a:ln>
        </p:spPr>
      </p:sp>
      <p:sp>
        <p:nvSpPr>
          <p:cNvPr id="41" name="Text 38"/>
          <p:cNvSpPr txBox="1"/>
          <p:nvPr/>
        </p:nvSpPr>
        <p:spPr>
          <a:xfrm>
            <a:off x="1702395" y="4367212"/>
            <a:ext cx="568127"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CDN</a:t>
            </a:r>
            <a:endParaRPr lang="en-US" sz="1800" dirty="0"/>
          </a:p>
        </p:txBody>
      </p:sp>
      <p:sp>
        <p:nvSpPr>
          <p:cNvPr id="42" name="Text 39"/>
          <p:cNvSpPr txBox="1"/>
          <p:nvPr/>
        </p:nvSpPr>
        <p:spPr>
          <a:xfrm>
            <a:off x="2346721" y="4367212"/>
            <a:ext cx="381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p>
        </p:txBody>
      </p:sp>
      <p:sp>
        <p:nvSpPr>
          <p:cNvPr id="43" name="Shape 40"/>
          <p:cNvSpPr/>
          <p:nvPr/>
        </p:nvSpPr>
        <p:spPr>
          <a:xfrm>
            <a:off x="2664221" y="4291012"/>
            <a:ext cx="1601788" cy="444500"/>
          </a:xfrm>
          <a:prstGeom prst="rect">
            <a:avLst/>
          </a:prstGeom>
          <a:solidFill>
            <a:srgbClr val="D6D6EB"/>
          </a:solidFill>
          <a:ln w="12700">
            <a:solidFill>
              <a:srgbClr val="333399"/>
            </a:solidFill>
            <a:prstDash val="solid"/>
          </a:ln>
        </p:spPr>
      </p:sp>
      <p:sp>
        <p:nvSpPr>
          <p:cNvPr id="44" name="Text 41"/>
          <p:cNvSpPr txBox="1"/>
          <p:nvPr/>
        </p:nvSpPr>
        <p:spPr>
          <a:xfrm>
            <a:off x="2803921" y="4367212"/>
            <a:ext cx="1474788"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Load balancer</a:t>
            </a:r>
            <a:endParaRPr lang="en-US" sz="1800" dirty="0"/>
          </a:p>
        </p:txBody>
      </p:sp>
      <p:sp>
        <p:nvSpPr>
          <p:cNvPr id="45" name="Text 42"/>
          <p:cNvSpPr txBox="1"/>
          <p:nvPr/>
        </p:nvSpPr>
        <p:spPr>
          <a:xfrm>
            <a:off x="4354909" y="4367212"/>
            <a:ext cx="381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p>
        </p:txBody>
      </p:sp>
      <p:sp>
        <p:nvSpPr>
          <p:cNvPr id="46" name="Shape 43"/>
          <p:cNvSpPr/>
          <p:nvPr/>
        </p:nvSpPr>
        <p:spPr>
          <a:xfrm>
            <a:off x="4672409" y="4291012"/>
            <a:ext cx="719336" cy="444500"/>
          </a:xfrm>
          <a:prstGeom prst="rect">
            <a:avLst/>
          </a:prstGeom>
          <a:solidFill>
            <a:srgbClr val="D6D6EB"/>
          </a:solidFill>
          <a:ln w="12700">
            <a:solidFill>
              <a:srgbClr val="333399"/>
            </a:solidFill>
            <a:prstDash val="solid"/>
          </a:ln>
        </p:spPr>
      </p:sp>
      <p:sp>
        <p:nvSpPr>
          <p:cNvPr id="47" name="Text 44"/>
          <p:cNvSpPr txBox="1"/>
          <p:nvPr/>
        </p:nvSpPr>
        <p:spPr>
          <a:xfrm>
            <a:off x="4812109" y="4367212"/>
            <a:ext cx="592336"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WAF</a:t>
            </a:r>
            <a:endParaRPr lang="en-US" sz="1800" dirty="0"/>
          </a:p>
        </p:txBody>
      </p:sp>
      <p:sp>
        <p:nvSpPr>
          <p:cNvPr id="48" name="Text 45"/>
          <p:cNvSpPr txBox="1"/>
          <p:nvPr/>
        </p:nvSpPr>
        <p:spPr>
          <a:xfrm>
            <a:off x="5480645" y="4367212"/>
            <a:ext cx="381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p>
        </p:txBody>
      </p:sp>
      <p:sp>
        <p:nvSpPr>
          <p:cNvPr id="49" name="Shape 46"/>
          <p:cNvSpPr/>
          <p:nvPr/>
        </p:nvSpPr>
        <p:spPr>
          <a:xfrm>
            <a:off x="5798145" y="4291012"/>
            <a:ext cx="1609129" cy="444500"/>
          </a:xfrm>
          <a:prstGeom prst="rect">
            <a:avLst/>
          </a:prstGeom>
          <a:solidFill>
            <a:srgbClr val="D6D6EB"/>
          </a:solidFill>
          <a:ln w="12700">
            <a:solidFill>
              <a:srgbClr val="333399"/>
            </a:solidFill>
            <a:prstDash val="solid"/>
          </a:ln>
        </p:spPr>
      </p:sp>
      <p:sp>
        <p:nvSpPr>
          <p:cNvPr id="50" name="Text 47"/>
          <p:cNvSpPr txBox="1"/>
          <p:nvPr/>
        </p:nvSpPr>
        <p:spPr>
          <a:xfrm>
            <a:off x="5937845" y="4367212"/>
            <a:ext cx="1482129"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Reverse proxy</a:t>
            </a:r>
            <a:endParaRPr lang="en-US" sz="1800" dirty="0"/>
          </a:p>
        </p:txBody>
      </p:sp>
      <p:sp>
        <p:nvSpPr>
          <p:cNvPr id="51" name="Text 48"/>
          <p:cNvSpPr txBox="1"/>
          <p:nvPr/>
        </p:nvSpPr>
        <p:spPr>
          <a:xfrm>
            <a:off x="7496175" y="4367212"/>
            <a:ext cx="381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p>
        </p:txBody>
      </p:sp>
      <p:sp>
        <p:nvSpPr>
          <p:cNvPr id="52" name="Shape 49"/>
          <p:cNvSpPr/>
          <p:nvPr/>
        </p:nvSpPr>
        <p:spPr>
          <a:xfrm>
            <a:off x="7813675" y="4291012"/>
            <a:ext cx="1355725" cy="444500"/>
          </a:xfrm>
          <a:prstGeom prst="rect">
            <a:avLst/>
          </a:prstGeom>
          <a:solidFill>
            <a:srgbClr val="D6D6EB"/>
          </a:solidFill>
          <a:ln w="12700">
            <a:solidFill>
              <a:srgbClr val="333399"/>
            </a:solidFill>
            <a:prstDash val="solid"/>
          </a:ln>
        </p:spPr>
      </p:sp>
      <p:sp>
        <p:nvSpPr>
          <p:cNvPr id="53" name="Text 50"/>
          <p:cNvSpPr txBox="1"/>
          <p:nvPr/>
        </p:nvSpPr>
        <p:spPr>
          <a:xfrm>
            <a:off x="7953375" y="4367212"/>
            <a:ext cx="1228725"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Framework</a:t>
            </a:r>
            <a:endParaRPr lang="en-US" sz="1800" dirty="0"/>
          </a:p>
        </p:txBody>
      </p:sp>
      <p:sp>
        <p:nvSpPr>
          <p:cNvPr id="54" name="Text 51"/>
          <p:cNvSpPr txBox="1"/>
          <p:nvPr/>
        </p:nvSpPr>
        <p:spPr>
          <a:xfrm>
            <a:off x="9258300" y="4367212"/>
            <a:ext cx="381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p>
        </p:txBody>
      </p:sp>
      <p:sp>
        <p:nvSpPr>
          <p:cNvPr id="55" name="Shape 52"/>
          <p:cNvSpPr/>
          <p:nvPr/>
        </p:nvSpPr>
        <p:spPr>
          <a:xfrm>
            <a:off x="9575800" y="4291012"/>
            <a:ext cx="1360091" cy="444500"/>
          </a:xfrm>
          <a:prstGeom prst="rect">
            <a:avLst/>
          </a:prstGeom>
          <a:solidFill>
            <a:srgbClr val="D6D6EB"/>
          </a:solidFill>
          <a:ln w="12700">
            <a:solidFill>
              <a:srgbClr val="333399"/>
            </a:solidFill>
            <a:prstDash val="solid"/>
          </a:ln>
        </p:spPr>
      </p:sp>
      <p:sp>
        <p:nvSpPr>
          <p:cNvPr id="56" name="Text 53"/>
          <p:cNvSpPr txBox="1"/>
          <p:nvPr/>
        </p:nvSpPr>
        <p:spPr>
          <a:xfrm>
            <a:off x="9715500" y="4367212"/>
            <a:ext cx="1233091"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Application</a:t>
            </a:r>
            <a:endParaRPr lang="en-US" sz="1800" dirty="0"/>
          </a:p>
        </p:txBody>
      </p:sp>
      <p:sp>
        <p:nvSpPr>
          <p:cNvPr id="57" name="Text 54"/>
          <p:cNvSpPr txBox="1"/>
          <p:nvPr/>
        </p:nvSpPr>
        <p:spPr>
          <a:xfrm>
            <a:off x="91281" y="4951412"/>
            <a:ext cx="7540228"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One unsupported hop can break QUERY, or let it slip past a control.</a:t>
            </a:r>
            <a:endParaRPr lang="en-US" sz="2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23</a:t>
            </a:r>
            <a:endParaRPr lang="en-US" sz="1400" dirty="0"/>
          </a:p>
        </p:txBody>
      </p:sp>
      <p:sp>
        <p:nvSpPr>
          <p:cNvPr id="8" name="Text 5"/>
          <p:cNvSpPr txBox="1"/>
          <p:nvPr/>
        </p:nvSpPr>
        <p:spPr>
          <a:xfrm>
            <a:off x="10492184" y="191492"/>
            <a:ext cx="176093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Conclusion</a:t>
            </a:r>
            <a:endParaRPr lang="en-US" sz="2800" dirty="0"/>
          </a:p>
        </p:txBody>
      </p:sp>
      <p:sp>
        <p:nvSpPr>
          <p:cNvPr id="9" name="Shape 6"/>
          <p:cNvSpPr/>
          <p:nvPr/>
        </p:nvSpPr>
        <p:spPr>
          <a:xfrm>
            <a:off x="700881" y="1036240"/>
            <a:ext cx="3054747" cy="2918024"/>
          </a:xfrm>
          <a:prstGeom prst="rect">
            <a:avLst/>
          </a:prstGeom>
          <a:solidFill>
            <a:srgbClr val="D6D6EB"/>
          </a:solidFill>
          <a:ln w="12700">
            <a:solidFill>
              <a:srgbClr val="333399"/>
            </a:solidFill>
            <a:prstDash val="solid"/>
          </a:ln>
        </p:spPr>
      </p:sp>
      <p:sp>
        <p:nvSpPr>
          <p:cNvPr id="10" name="Shape 7"/>
          <p:cNvSpPr/>
          <p:nvPr/>
        </p:nvSpPr>
        <p:spPr>
          <a:xfrm>
            <a:off x="865981" y="1201340"/>
            <a:ext cx="632619" cy="319881"/>
          </a:xfrm>
          <a:prstGeom prst="roundRect">
            <a:avLst>
              <a:gd name="adj" fmla="val 11911"/>
            </a:avLst>
          </a:prstGeom>
          <a:solidFill>
            <a:srgbClr val="333399"/>
          </a:solidFill>
          <a:ln/>
        </p:spPr>
      </p:sp>
      <p:sp>
        <p:nvSpPr>
          <p:cNvPr id="11" name="Text 8"/>
          <p:cNvSpPr txBox="1"/>
          <p:nvPr/>
        </p:nvSpPr>
        <p:spPr>
          <a:xfrm>
            <a:off x="789781" y="1201340"/>
            <a:ext cx="785019"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GET</a:t>
            </a:r>
            <a:endParaRPr lang="en-US" sz="2100" dirty="0"/>
          </a:p>
        </p:txBody>
      </p:sp>
      <p:sp>
        <p:nvSpPr>
          <p:cNvPr id="12" name="Text 9"/>
          <p:cNvSpPr txBox="1"/>
          <p:nvPr/>
        </p:nvSpPr>
        <p:spPr>
          <a:xfrm>
            <a:off x="865981" y="1601391"/>
            <a:ext cx="2564408"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URI-oriented retrieval</a:t>
            </a:r>
            <a:endParaRPr lang="en-US" sz="2100" dirty="0"/>
          </a:p>
        </p:txBody>
      </p:sp>
      <p:sp>
        <p:nvSpPr>
          <p:cNvPr id="13" name="Text 10"/>
          <p:cNvSpPr txBox="1"/>
          <p:nvPr/>
        </p:nvSpPr>
        <p:spPr>
          <a:xfrm>
            <a:off x="1131292" y="1958776"/>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4" name="Text 11"/>
          <p:cNvSpPr txBox="1"/>
          <p:nvPr/>
        </p:nvSpPr>
        <p:spPr>
          <a:xfrm>
            <a:off x="1385292" y="1946076"/>
            <a:ext cx="20982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query fits in the URI</a:t>
            </a:r>
            <a:endParaRPr lang="en-US" sz="1900" dirty="0"/>
          </a:p>
        </p:txBody>
      </p:sp>
      <p:sp>
        <p:nvSpPr>
          <p:cNvPr id="15" name="Text 12"/>
          <p:cNvSpPr txBox="1"/>
          <p:nvPr/>
        </p:nvSpPr>
        <p:spPr>
          <a:xfrm>
            <a:off x="1131292" y="2286397"/>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6" name="Text 13"/>
          <p:cNvSpPr txBox="1"/>
          <p:nvPr/>
        </p:nvSpPr>
        <p:spPr>
          <a:xfrm>
            <a:off x="1385292" y="2273697"/>
            <a:ext cx="2230636"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links and caching matter</a:t>
            </a:r>
            <a:endParaRPr lang="en-US" sz="1900" dirty="0"/>
          </a:p>
        </p:txBody>
      </p:sp>
      <p:sp>
        <p:nvSpPr>
          <p:cNvPr id="17" name="Text 14"/>
          <p:cNvSpPr txBox="1"/>
          <p:nvPr/>
        </p:nvSpPr>
        <p:spPr>
          <a:xfrm>
            <a:off x="3781821" y="2129631"/>
            <a:ext cx="912615"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semantic</a:t>
            </a:r>
            <a:endParaRPr lang="en-US" sz="1600" dirty="0"/>
          </a:p>
        </p:txBody>
      </p:sp>
      <p:sp>
        <p:nvSpPr>
          <p:cNvPr id="18" name="Text 15"/>
          <p:cNvSpPr txBox="1"/>
          <p:nvPr/>
        </p:nvSpPr>
        <p:spPr>
          <a:xfrm>
            <a:off x="4010819" y="2373312"/>
            <a:ext cx="4546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gap</a:t>
            </a:r>
            <a:endParaRPr lang="en-US" sz="1600" dirty="0"/>
          </a:p>
        </p:txBody>
      </p:sp>
      <p:sp>
        <p:nvSpPr>
          <p:cNvPr id="19" name="Text 16"/>
          <p:cNvSpPr txBox="1"/>
          <p:nvPr/>
        </p:nvSpPr>
        <p:spPr>
          <a:xfrm>
            <a:off x="4060229" y="2616993"/>
            <a:ext cx="35560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4720828" y="1036240"/>
            <a:ext cx="3054945" cy="2918024"/>
          </a:xfrm>
          <a:prstGeom prst="rect">
            <a:avLst/>
          </a:prstGeom>
          <a:solidFill>
            <a:srgbClr val="FFFFFF"/>
          </a:solidFill>
          <a:ln w="25400">
            <a:solidFill>
              <a:srgbClr val="CC6600"/>
            </a:solidFill>
            <a:prstDash val="solid"/>
          </a:ln>
        </p:spPr>
      </p:sp>
      <p:sp>
        <p:nvSpPr>
          <p:cNvPr id="21" name="Shape 18"/>
          <p:cNvSpPr/>
          <p:nvPr/>
        </p:nvSpPr>
        <p:spPr>
          <a:xfrm>
            <a:off x="4898628" y="1214040"/>
            <a:ext cx="952699" cy="319881"/>
          </a:xfrm>
          <a:prstGeom prst="roundRect">
            <a:avLst>
              <a:gd name="adj" fmla="val 11911"/>
            </a:avLst>
          </a:prstGeom>
          <a:solidFill>
            <a:srgbClr val="CC6600"/>
          </a:solidFill>
          <a:ln/>
        </p:spPr>
      </p:sp>
      <p:sp>
        <p:nvSpPr>
          <p:cNvPr id="22" name="Text 19"/>
          <p:cNvSpPr txBox="1"/>
          <p:nvPr/>
        </p:nvSpPr>
        <p:spPr>
          <a:xfrm>
            <a:off x="4822428" y="1214040"/>
            <a:ext cx="1105099"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QUERY</a:t>
            </a:r>
            <a:endParaRPr lang="en-US" sz="2100" dirty="0"/>
          </a:p>
        </p:txBody>
      </p:sp>
      <p:sp>
        <p:nvSpPr>
          <p:cNvPr id="23" name="Text 20"/>
          <p:cNvSpPr txBox="1"/>
          <p:nvPr/>
        </p:nvSpPr>
        <p:spPr>
          <a:xfrm>
            <a:off x="4898628" y="1614091"/>
            <a:ext cx="2724745" cy="636785"/>
          </a:xfrm>
          <a:prstGeom prst="rect">
            <a:avLst/>
          </a:prstGeom>
          <a:noFill/>
          <a:ln/>
        </p:spPr>
        <p:txBody>
          <a:bodyPr wrap="square" lIns="0" tIns="0" rIns="0" bIns="0" rtlCol="0" anchor="t"/>
          <a:lstStyle/>
          <a:p>
            <a:pPr algn="l" indent="0" marL="0">
              <a:lnSpc>
                <a:spcPts val="2415"/>
              </a:lnSpc>
              <a:buNone/>
            </a:pPr>
            <a:r>
              <a:rPr lang="en-US" sz="2100" b="1" dirty="0">
                <a:solidFill>
                  <a:srgbClr val="993300"/>
                </a:solidFill>
                <a:latin typeface="Calibri" pitchFamily="34" charset="0"/>
                <a:ea typeface="Calibri" pitchFamily="34" charset="-122"/>
                <a:cs typeface="Calibri" pitchFamily="34" charset="-120"/>
              </a:rPr>
              <a:t>Safe, body-oriented query</a:t>
            </a:r>
            <a:endParaRPr lang="en-US" sz="2100" dirty="0"/>
          </a:p>
        </p:txBody>
      </p:sp>
      <p:sp>
        <p:nvSpPr>
          <p:cNvPr id="24" name="Text 21"/>
          <p:cNvSpPr txBox="1"/>
          <p:nvPr/>
        </p:nvSpPr>
        <p:spPr>
          <a:xfrm>
            <a:off x="5163939" y="227806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5" name="Text 22"/>
          <p:cNvSpPr txBox="1"/>
          <p:nvPr/>
        </p:nvSpPr>
        <p:spPr>
          <a:xfrm>
            <a:off x="5417939" y="2265363"/>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the operation </a:t>
            </a:r>
            <a:pPr algn="l" indent="0" marL="0">
              <a:lnSpc>
                <a:spcPts val="2280"/>
              </a:lnSpc>
              <a:buNone/>
            </a:pPr>
            <a:r>
              <a:rPr lang="en-US" sz="1900" i="1" dirty="0">
                <a:solidFill>
                  <a:srgbClr val="000000"/>
                </a:solidFill>
                <a:latin typeface="Calibri" pitchFamily="34" charset="0"/>
                <a:ea typeface="Calibri" pitchFamily="34" charset="-122"/>
                <a:cs typeface="Calibri" pitchFamily="34" charset="-120"/>
              </a:rPr>
              <a:t>is</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a query</a:t>
            </a:r>
            <a:endParaRPr lang="en-US" sz="1900" dirty="0"/>
          </a:p>
        </p:txBody>
      </p:sp>
      <p:sp>
        <p:nvSpPr>
          <p:cNvPr id="26" name="Text 23"/>
          <p:cNvSpPr txBox="1"/>
          <p:nvPr/>
        </p:nvSpPr>
        <p:spPr>
          <a:xfrm>
            <a:off x="5163939" y="289520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7" name="Text 24"/>
          <p:cNvSpPr txBox="1"/>
          <p:nvPr/>
        </p:nvSpPr>
        <p:spPr>
          <a:xfrm>
            <a:off x="5417939" y="2882503"/>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large or structured input</a:t>
            </a:r>
            <a:endParaRPr lang="en-US" sz="1900" dirty="0"/>
          </a:p>
        </p:txBody>
      </p:sp>
      <p:sp>
        <p:nvSpPr>
          <p:cNvPr id="28" name="Text 25"/>
          <p:cNvSpPr txBox="1"/>
          <p:nvPr/>
        </p:nvSpPr>
        <p:spPr>
          <a:xfrm>
            <a:off x="5163939" y="3512344"/>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9" name="Text 26"/>
          <p:cNvSpPr txBox="1"/>
          <p:nvPr/>
        </p:nvSpPr>
        <p:spPr>
          <a:xfrm>
            <a:off x="5417939" y="3499644"/>
            <a:ext cx="223460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every hop supports it</a:t>
            </a:r>
            <a:endParaRPr lang="en-US" sz="1900" dirty="0"/>
          </a:p>
        </p:txBody>
      </p:sp>
      <p:sp>
        <p:nvSpPr>
          <p:cNvPr id="30" name="Text 27"/>
          <p:cNvSpPr txBox="1"/>
          <p:nvPr/>
        </p:nvSpPr>
        <p:spPr>
          <a:xfrm>
            <a:off x="7846020" y="2129631"/>
            <a:ext cx="82430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broader</a:t>
            </a:r>
            <a:endParaRPr lang="en-US" sz="1600" dirty="0"/>
          </a:p>
        </p:txBody>
      </p:sp>
      <p:sp>
        <p:nvSpPr>
          <p:cNvPr id="31" name="Text 28"/>
          <p:cNvSpPr txBox="1"/>
          <p:nvPr/>
        </p:nvSpPr>
        <p:spPr>
          <a:xfrm>
            <a:off x="7729537" y="2373312"/>
            <a:ext cx="1057473"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operations</a:t>
            </a:r>
            <a:endParaRPr lang="en-US" sz="1600" dirty="0"/>
          </a:p>
        </p:txBody>
      </p:sp>
      <p:sp>
        <p:nvSpPr>
          <p:cNvPr id="32" name="Text 29"/>
          <p:cNvSpPr txBox="1"/>
          <p:nvPr/>
        </p:nvSpPr>
        <p:spPr>
          <a:xfrm>
            <a:off x="8080375" y="2616993"/>
            <a:ext cx="35560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33" name="Shape 30"/>
          <p:cNvSpPr/>
          <p:nvPr/>
        </p:nvSpPr>
        <p:spPr>
          <a:xfrm>
            <a:off x="8740973" y="1036240"/>
            <a:ext cx="3054945" cy="2918024"/>
          </a:xfrm>
          <a:prstGeom prst="rect">
            <a:avLst/>
          </a:prstGeom>
          <a:solidFill>
            <a:srgbClr val="FFFFFF"/>
          </a:solidFill>
          <a:ln w="25400">
            <a:solidFill>
              <a:srgbClr val="993300"/>
            </a:solidFill>
            <a:prstDash val="solid"/>
          </a:ln>
        </p:spPr>
      </p:sp>
      <p:sp>
        <p:nvSpPr>
          <p:cNvPr id="34" name="Shape 31"/>
          <p:cNvSpPr/>
          <p:nvPr/>
        </p:nvSpPr>
        <p:spPr>
          <a:xfrm>
            <a:off x="8918773" y="1214040"/>
            <a:ext cx="792757" cy="319881"/>
          </a:xfrm>
          <a:prstGeom prst="roundRect">
            <a:avLst>
              <a:gd name="adj" fmla="val 11911"/>
            </a:avLst>
          </a:prstGeom>
          <a:solidFill>
            <a:srgbClr val="993300"/>
          </a:solidFill>
          <a:ln/>
        </p:spPr>
      </p:sp>
      <p:sp>
        <p:nvSpPr>
          <p:cNvPr id="35" name="Text 32"/>
          <p:cNvSpPr txBox="1"/>
          <p:nvPr/>
        </p:nvSpPr>
        <p:spPr>
          <a:xfrm>
            <a:off x="8842573" y="1214040"/>
            <a:ext cx="945157"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POST</a:t>
            </a:r>
            <a:endParaRPr lang="en-US" sz="2100" dirty="0"/>
          </a:p>
        </p:txBody>
      </p:sp>
      <p:sp>
        <p:nvSpPr>
          <p:cNvPr id="36" name="Text 33"/>
          <p:cNvSpPr txBox="1"/>
          <p:nvPr/>
        </p:nvSpPr>
        <p:spPr>
          <a:xfrm>
            <a:off x="8918773" y="1614091"/>
            <a:ext cx="2252265"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General processing</a:t>
            </a:r>
            <a:endParaRPr lang="en-US" sz="2100" dirty="0"/>
          </a:p>
        </p:txBody>
      </p:sp>
      <p:sp>
        <p:nvSpPr>
          <p:cNvPr id="37" name="Text 34"/>
          <p:cNvSpPr txBox="1"/>
          <p:nvPr/>
        </p:nvSpPr>
        <p:spPr>
          <a:xfrm>
            <a:off x="9184084" y="1971476"/>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8" name="Text 35"/>
          <p:cNvSpPr txBox="1"/>
          <p:nvPr/>
        </p:nvSpPr>
        <p:spPr>
          <a:xfrm>
            <a:off x="9438084" y="1958776"/>
            <a:ext cx="215205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operation is not safe</a:t>
            </a:r>
            <a:endParaRPr lang="en-US" sz="1900" dirty="0"/>
          </a:p>
        </p:txBody>
      </p:sp>
      <p:sp>
        <p:nvSpPr>
          <p:cNvPr id="39" name="Text 36"/>
          <p:cNvSpPr txBox="1"/>
          <p:nvPr/>
        </p:nvSpPr>
        <p:spPr>
          <a:xfrm>
            <a:off x="9184084" y="2299097"/>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40" name="Text 37"/>
          <p:cNvSpPr txBox="1"/>
          <p:nvPr/>
        </p:nvSpPr>
        <p:spPr>
          <a:xfrm>
            <a:off x="9438084" y="2286397"/>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changes state, submits</a:t>
            </a:r>
            <a:endParaRPr lang="en-US" sz="1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23</a:t>
            </a:r>
            <a:endParaRPr lang="en-US" sz="1400" dirty="0"/>
          </a:p>
        </p:txBody>
      </p:sp>
      <p:sp>
        <p:nvSpPr>
          <p:cNvPr id="8" name="Text 5"/>
          <p:cNvSpPr txBox="1"/>
          <p:nvPr/>
        </p:nvSpPr>
        <p:spPr>
          <a:xfrm>
            <a:off x="10492184" y="191492"/>
            <a:ext cx="176093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Conclusion</a:t>
            </a:r>
            <a:endParaRPr lang="en-US" sz="2800" dirty="0"/>
          </a:p>
        </p:txBody>
      </p:sp>
      <p:sp>
        <p:nvSpPr>
          <p:cNvPr id="9" name="Shape 6"/>
          <p:cNvSpPr/>
          <p:nvPr/>
        </p:nvSpPr>
        <p:spPr>
          <a:xfrm>
            <a:off x="700881" y="1036240"/>
            <a:ext cx="3054747" cy="2918024"/>
          </a:xfrm>
          <a:prstGeom prst="rect">
            <a:avLst/>
          </a:prstGeom>
          <a:solidFill>
            <a:srgbClr val="D6D6EB"/>
          </a:solidFill>
          <a:ln w="12700">
            <a:solidFill>
              <a:srgbClr val="333399"/>
            </a:solidFill>
            <a:prstDash val="solid"/>
          </a:ln>
        </p:spPr>
      </p:sp>
      <p:sp>
        <p:nvSpPr>
          <p:cNvPr id="10" name="Shape 7"/>
          <p:cNvSpPr/>
          <p:nvPr/>
        </p:nvSpPr>
        <p:spPr>
          <a:xfrm>
            <a:off x="865981" y="1201340"/>
            <a:ext cx="632619" cy="319881"/>
          </a:xfrm>
          <a:prstGeom prst="roundRect">
            <a:avLst>
              <a:gd name="adj" fmla="val 11911"/>
            </a:avLst>
          </a:prstGeom>
          <a:solidFill>
            <a:srgbClr val="333399"/>
          </a:solidFill>
          <a:ln/>
        </p:spPr>
      </p:sp>
      <p:sp>
        <p:nvSpPr>
          <p:cNvPr id="11" name="Text 8"/>
          <p:cNvSpPr txBox="1"/>
          <p:nvPr/>
        </p:nvSpPr>
        <p:spPr>
          <a:xfrm>
            <a:off x="789781" y="1201340"/>
            <a:ext cx="785019"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GET</a:t>
            </a:r>
            <a:endParaRPr lang="en-US" sz="2100" dirty="0"/>
          </a:p>
        </p:txBody>
      </p:sp>
      <p:sp>
        <p:nvSpPr>
          <p:cNvPr id="12" name="Text 9"/>
          <p:cNvSpPr txBox="1"/>
          <p:nvPr/>
        </p:nvSpPr>
        <p:spPr>
          <a:xfrm>
            <a:off x="865981" y="1601391"/>
            <a:ext cx="2564408"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URI-oriented retrieval</a:t>
            </a:r>
            <a:endParaRPr lang="en-US" sz="2100" dirty="0"/>
          </a:p>
        </p:txBody>
      </p:sp>
      <p:sp>
        <p:nvSpPr>
          <p:cNvPr id="13" name="Text 10"/>
          <p:cNvSpPr txBox="1"/>
          <p:nvPr/>
        </p:nvSpPr>
        <p:spPr>
          <a:xfrm>
            <a:off x="1131292" y="1958776"/>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4" name="Text 11"/>
          <p:cNvSpPr txBox="1"/>
          <p:nvPr/>
        </p:nvSpPr>
        <p:spPr>
          <a:xfrm>
            <a:off x="1385292" y="1946076"/>
            <a:ext cx="20982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query fits in the URI</a:t>
            </a:r>
            <a:endParaRPr lang="en-US" sz="1900" dirty="0"/>
          </a:p>
        </p:txBody>
      </p:sp>
      <p:sp>
        <p:nvSpPr>
          <p:cNvPr id="15" name="Text 12"/>
          <p:cNvSpPr txBox="1"/>
          <p:nvPr/>
        </p:nvSpPr>
        <p:spPr>
          <a:xfrm>
            <a:off x="1131292" y="2286397"/>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6" name="Text 13"/>
          <p:cNvSpPr txBox="1"/>
          <p:nvPr/>
        </p:nvSpPr>
        <p:spPr>
          <a:xfrm>
            <a:off x="1385292" y="2273697"/>
            <a:ext cx="2230636"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links and caching matter</a:t>
            </a:r>
            <a:endParaRPr lang="en-US" sz="1900" dirty="0"/>
          </a:p>
        </p:txBody>
      </p:sp>
      <p:sp>
        <p:nvSpPr>
          <p:cNvPr id="17" name="Text 14"/>
          <p:cNvSpPr txBox="1"/>
          <p:nvPr/>
        </p:nvSpPr>
        <p:spPr>
          <a:xfrm>
            <a:off x="3781821" y="2129631"/>
            <a:ext cx="912615"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semantic</a:t>
            </a:r>
            <a:endParaRPr lang="en-US" sz="1600" dirty="0"/>
          </a:p>
        </p:txBody>
      </p:sp>
      <p:sp>
        <p:nvSpPr>
          <p:cNvPr id="18" name="Text 15"/>
          <p:cNvSpPr txBox="1"/>
          <p:nvPr/>
        </p:nvSpPr>
        <p:spPr>
          <a:xfrm>
            <a:off x="4010819" y="2373312"/>
            <a:ext cx="4546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gap</a:t>
            </a:r>
            <a:endParaRPr lang="en-US" sz="1600" dirty="0"/>
          </a:p>
        </p:txBody>
      </p:sp>
      <p:sp>
        <p:nvSpPr>
          <p:cNvPr id="19" name="Text 16"/>
          <p:cNvSpPr txBox="1"/>
          <p:nvPr/>
        </p:nvSpPr>
        <p:spPr>
          <a:xfrm>
            <a:off x="4060229" y="2616993"/>
            <a:ext cx="35560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4720828" y="1036240"/>
            <a:ext cx="3054945" cy="2918024"/>
          </a:xfrm>
          <a:prstGeom prst="rect">
            <a:avLst/>
          </a:prstGeom>
          <a:solidFill>
            <a:srgbClr val="FFFFFF"/>
          </a:solidFill>
          <a:ln w="25400">
            <a:solidFill>
              <a:srgbClr val="CC6600"/>
            </a:solidFill>
            <a:prstDash val="solid"/>
          </a:ln>
        </p:spPr>
      </p:sp>
      <p:sp>
        <p:nvSpPr>
          <p:cNvPr id="21" name="Shape 18"/>
          <p:cNvSpPr/>
          <p:nvPr/>
        </p:nvSpPr>
        <p:spPr>
          <a:xfrm>
            <a:off x="4898628" y="1214040"/>
            <a:ext cx="952699" cy="319881"/>
          </a:xfrm>
          <a:prstGeom prst="roundRect">
            <a:avLst>
              <a:gd name="adj" fmla="val 11911"/>
            </a:avLst>
          </a:prstGeom>
          <a:solidFill>
            <a:srgbClr val="CC6600"/>
          </a:solidFill>
          <a:ln/>
        </p:spPr>
      </p:sp>
      <p:sp>
        <p:nvSpPr>
          <p:cNvPr id="22" name="Text 19"/>
          <p:cNvSpPr txBox="1"/>
          <p:nvPr/>
        </p:nvSpPr>
        <p:spPr>
          <a:xfrm>
            <a:off x="4822428" y="1214040"/>
            <a:ext cx="1105099"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QUERY</a:t>
            </a:r>
            <a:endParaRPr lang="en-US" sz="2100" dirty="0"/>
          </a:p>
        </p:txBody>
      </p:sp>
      <p:sp>
        <p:nvSpPr>
          <p:cNvPr id="23" name="Text 20"/>
          <p:cNvSpPr txBox="1"/>
          <p:nvPr/>
        </p:nvSpPr>
        <p:spPr>
          <a:xfrm>
            <a:off x="4898628" y="1614091"/>
            <a:ext cx="2724745" cy="636785"/>
          </a:xfrm>
          <a:prstGeom prst="rect">
            <a:avLst/>
          </a:prstGeom>
          <a:noFill/>
          <a:ln/>
        </p:spPr>
        <p:txBody>
          <a:bodyPr wrap="square" lIns="0" tIns="0" rIns="0" bIns="0" rtlCol="0" anchor="t"/>
          <a:lstStyle/>
          <a:p>
            <a:pPr algn="l" indent="0" marL="0">
              <a:lnSpc>
                <a:spcPts val="2415"/>
              </a:lnSpc>
              <a:buNone/>
            </a:pPr>
            <a:r>
              <a:rPr lang="en-US" sz="2100" b="1" dirty="0">
                <a:solidFill>
                  <a:srgbClr val="993300"/>
                </a:solidFill>
                <a:latin typeface="Calibri" pitchFamily="34" charset="0"/>
                <a:ea typeface="Calibri" pitchFamily="34" charset="-122"/>
                <a:cs typeface="Calibri" pitchFamily="34" charset="-120"/>
              </a:rPr>
              <a:t>Safe, body-oriented query</a:t>
            </a:r>
            <a:endParaRPr lang="en-US" sz="2100" dirty="0"/>
          </a:p>
        </p:txBody>
      </p:sp>
      <p:sp>
        <p:nvSpPr>
          <p:cNvPr id="24" name="Text 21"/>
          <p:cNvSpPr txBox="1"/>
          <p:nvPr/>
        </p:nvSpPr>
        <p:spPr>
          <a:xfrm>
            <a:off x="5163939" y="227806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5" name="Text 22"/>
          <p:cNvSpPr txBox="1"/>
          <p:nvPr/>
        </p:nvSpPr>
        <p:spPr>
          <a:xfrm>
            <a:off x="5417939" y="2265363"/>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the operation </a:t>
            </a:r>
            <a:pPr algn="l" indent="0" marL="0">
              <a:lnSpc>
                <a:spcPts val="2280"/>
              </a:lnSpc>
              <a:buNone/>
            </a:pPr>
            <a:r>
              <a:rPr lang="en-US" sz="1900" i="1" dirty="0">
                <a:solidFill>
                  <a:srgbClr val="000000"/>
                </a:solidFill>
                <a:latin typeface="Calibri" pitchFamily="34" charset="0"/>
                <a:ea typeface="Calibri" pitchFamily="34" charset="-122"/>
                <a:cs typeface="Calibri" pitchFamily="34" charset="-120"/>
              </a:rPr>
              <a:t>is</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a query</a:t>
            </a:r>
            <a:endParaRPr lang="en-US" sz="1900" dirty="0"/>
          </a:p>
        </p:txBody>
      </p:sp>
      <p:sp>
        <p:nvSpPr>
          <p:cNvPr id="26" name="Text 23"/>
          <p:cNvSpPr txBox="1"/>
          <p:nvPr/>
        </p:nvSpPr>
        <p:spPr>
          <a:xfrm>
            <a:off x="5163939" y="289520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7" name="Text 24"/>
          <p:cNvSpPr txBox="1"/>
          <p:nvPr/>
        </p:nvSpPr>
        <p:spPr>
          <a:xfrm>
            <a:off x="5417939" y="2882503"/>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large or structured input</a:t>
            </a:r>
            <a:endParaRPr lang="en-US" sz="1900" dirty="0"/>
          </a:p>
        </p:txBody>
      </p:sp>
      <p:sp>
        <p:nvSpPr>
          <p:cNvPr id="28" name="Text 25"/>
          <p:cNvSpPr txBox="1"/>
          <p:nvPr/>
        </p:nvSpPr>
        <p:spPr>
          <a:xfrm>
            <a:off x="5163939" y="3512344"/>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9" name="Text 26"/>
          <p:cNvSpPr txBox="1"/>
          <p:nvPr/>
        </p:nvSpPr>
        <p:spPr>
          <a:xfrm>
            <a:off x="5417939" y="3499644"/>
            <a:ext cx="223460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every hop supports it</a:t>
            </a:r>
            <a:endParaRPr lang="en-US" sz="1900" dirty="0"/>
          </a:p>
        </p:txBody>
      </p:sp>
      <p:sp>
        <p:nvSpPr>
          <p:cNvPr id="30" name="Text 27"/>
          <p:cNvSpPr txBox="1"/>
          <p:nvPr/>
        </p:nvSpPr>
        <p:spPr>
          <a:xfrm>
            <a:off x="7846020" y="2129631"/>
            <a:ext cx="82430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broader</a:t>
            </a:r>
            <a:endParaRPr lang="en-US" sz="1600" dirty="0"/>
          </a:p>
        </p:txBody>
      </p:sp>
      <p:sp>
        <p:nvSpPr>
          <p:cNvPr id="31" name="Text 28"/>
          <p:cNvSpPr txBox="1"/>
          <p:nvPr/>
        </p:nvSpPr>
        <p:spPr>
          <a:xfrm>
            <a:off x="7729537" y="2373312"/>
            <a:ext cx="1057473"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operations</a:t>
            </a:r>
            <a:endParaRPr lang="en-US" sz="1600" dirty="0"/>
          </a:p>
        </p:txBody>
      </p:sp>
      <p:sp>
        <p:nvSpPr>
          <p:cNvPr id="32" name="Text 29"/>
          <p:cNvSpPr txBox="1"/>
          <p:nvPr/>
        </p:nvSpPr>
        <p:spPr>
          <a:xfrm>
            <a:off x="8080375" y="2616993"/>
            <a:ext cx="35560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33" name="Shape 30"/>
          <p:cNvSpPr/>
          <p:nvPr/>
        </p:nvSpPr>
        <p:spPr>
          <a:xfrm>
            <a:off x="8740973" y="1036240"/>
            <a:ext cx="3054945" cy="2918024"/>
          </a:xfrm>
          <a:prstGeom prst="rect">
            <a:avLst/>
          </a:prstGeom>
          <a:solidFill>
            <a:srgbClr val="FFFFFF"/>
          </a:solidFill>
          <a:ln w="25400">
            <a:solidFill>
              <a:srgbClr val="993300"/>
            </a:solidFill>
            <a:prstDash val="solid"/>
          </a:ln>
        </p:spPr>
      </p:sp>
      <p:sp>
        <p:nvSpPr>
          <p:cNvPr id="34" name="Shape 31"/>
          <p:cNvSpPr/>
          <p:nvPr/>
        </p:nvSpPr>
        <p:spPr>
          <a:xfrm>
            <a:off x="8918773" y="1214040"/>
            <a:ext cx="792757" cy="319881"/>
          </a:xfrm>
          <a:prstGeom prst="roundRect">
            <a:avLst>
              <a:gd name="adj" fmla="val 11911"/>
            </a:avLst>
          </a:prstGeom>
          <a:solidFill>
            <a:srgbClr val="993300"/>
          </a:solidFill>
          <a:ln/>
        </p:spPr>
      </p:sp>
      <p:sp>
        <p:nvSpPr>
          <p:cNvPr id="35" name="Text 32"/>
          <p:cNvSpPr txBox="1"/>
          <p:nvPr/>
        </p:nvSpPr>
        <p:spPr>
          <a:xfrm>
            <a:off x="8842573" y="1214040"/>
            <a:ext cx="945157"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POST</a:t>
            </a:r>
            <a:endParaRPr lang="en-US" sz="2100" dirty="0"/>
          </a:p>
        </p:txBody>
      </p:sp>
      <p:sp>
        <p:nvSpPr>
          <p:cNvPr id="36" name="Text 33"/>
          <p:cNvSpPr txBox="1"/>
          <p:nvPr/>
        </p:nvSpPr>
        <p:spPr>
          <a:xfrm>
            <a:off x="8918773" y="1614091"/>
            <a:ext cx="2252265"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General processing</a:t>
            </a:r>
            <a:endParaRPr lang="en-US" sz="2100" dirty="0"/>
          </a:p>
        </p:txBody>
      </p:sp>
      <p:sp>
        <p:nvSpPr>
          <p:cNvPr id="37" name="Text 34"/>
          <p:cNvSpPr txBox="1"/>
          <p:nvPr/>
        </p:nvSpPr>
        <p:spPr>
          <a:xfrm>
            <a:off x="9184084" y="1971476"/>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8" name="Text 35"/>
          <p:cNvSpPr txBox="1"/>
          <p:nvPr/>
        </p:nvSpPr>
        <p:spPr>
          <a:xfrm>
            <a:off x="9438084" y="1958776"/>
            <a:ext cx="215205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operation is not safe</a:t>
            </a:r>
            <a:endParaRPr lang="en-US" sz="1900" dirty="0"/>
          </a:p>
        </p:txBody>
      </p:sp>
      <p:sp>
        <p:nvSpPr>
          <p:cNvPr id="39" name="Text 36"/>
          <p:cNvSpPr txBox="1"/>
          <p:nvPr/>
        </p:nvSpPr>
        <p:spPr>
          <a:xfrm>
            <a:off x="9184084" y="2299097"/>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40" name="Text 37"/>
          <p:cNvSpPr txBox="1"/>
          <p:nvPr/>
        </p:nvSpPr>
        <p:spPr>
          <a:xfrm>
            <a:off x="9438084" y="2286397"/>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changes state, submits</a:t>
            </a:r>
            <a:endParaRPr lang="en-US" sz="1900" dirty="0"/>
          </a:p>
        </p:txBody>
      </p:sp>
      <p:sp>
        <p:nvSpPr>
          <p:cNvPr id="41" name="Text 38"/>
          <p:cNvSpPr txBox="1"/>
          <p:nvPr/>
        </p:nvSpPr>
        <p:spPr>
          <a:xfrm>
            <a:off x="1008063" y="4309864"/>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2" name="Text 39"/>
          <p:cNvSpPr txBox="1"/>
          <p:nvPr/>
        </p:nvSpPr>
        <p:spPr>
          <a:xfrm>
            <a:off x="1350963" y="4297164"/>
            <a:ext cx="10470356" cy="678061"/>
          </a:xfrm>
          <a:prstGeom prst="rect">
            <a:avLst/>
          </a:prstGeom>
          <a:noFill/>
          <a:ln/>
        </p:spPr>
        <p:txBody>
          <a:bodyPr wrap="square" lIns="0" tIns="0" rIns="0" bIns="0" rtlCol="0" anchor="t"/>
          <a:lstStyle/>
          <a:p>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QUERY is not a replacement for GET or POST.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fills a semantic gap: safe, idempotent queries with structured request content.</a:t>
            </a:r>
            <a:endParaRPr lang="en-US" sz="2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23</a:t>
            </a:r>
            <a:endParaRPr lang="en-US" sz="1400" dirty="0"/>
          </a:p>
        </p:txBody>
      </p:sp>
      <p:sp>
        <p:nvSpPr>
          <p:cNvPr id="8" name="Text 5"/>
          <p:cNvSpPr txBox="1"/>
          <p:nvPr/>
        </p:nvSpPr>
        <p:spPr>
          <a:xfrm>
            <a:off x="10492184" y="191492"/>
            <a:ext cx="176093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Conclusion</a:t>
            </a:r>
            <a:endParaRPr lang="en-US" sz="2800" dirty="0"/>
          </a:p>
        </p:txBody>
      </p:sp>
      <p:sp>
        <p:nvSpPr>
          <p:cNvPr id="9" name="Shape 6"/>
          <p:cNvSpPr/>
          <p:nvPr/>
        </p:nvSpPr>
        <p:spPr>
          <a:xfrm>
            <a:off x="700881" y="1036240"/>
            <a:ext cx="3054747" cy="2918024"/>
          </a:xfrm>
          <a:prstGeom prst="rect">
            <a:avLst/>
          </a:prstGeom>
          <a:solidFill>
            <a:srgbClr val="D6D6EB"/>
          </a:solidFill>
          <a:ln w="12700">
            <a:solidFill>
              <a:srgbClr val="333399"/>
            </a:solidFill>
            <a:prstDash val="solid"/>
          </a:ln>
        </p:spPr>
      </p:sp>
      <p:sp>
        <p:nvSpPr>
          <p:cNvPr id="10" name="Shape 7"/>
          <p:cNvSpPr/>
          <p:nvPr/>
        </p:nvSpPr>
        <p:spPr>
          <a:xfrm>
            <a:off x="865981" y="1201340"/>
            <a:ext cx="632619" cy="319881"/>
          </a:xfrm>
          <a:prstGeom prst="roundRect">
            <a:avLst>
              <a:gd name="adj" fmla="val 11911"/>
            </a:avLst>
          </a:prstGeom>
          <a:solidFill>
            <a:srgbClr val="333399"/>
          </a:solidFill>
          <a:ln/>
        </p:spPr>
      </p:sp>
      <p:sp>
        <p:nvSpPr>
          <p:cNvPr id="11" name="Text 8"/>
          <p:cNvSpPr txBox="1"/>
          <p:nvPr/>
        </p:nvSpPr>
        <p:spPr>
          <a:xfrm>
            <a:off x="789781" y="1201340"/>
            <a:ext cx="785019"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GET</a:t>
            </a:r>
            <a:endParaRPr lang="en-US" sz="2100" dirty="0"/>
          </a:p>
        </p:txBody>
      </p:sp>
      <p:sp>
        <p:nvSpPr>
          <p:cNvPr id="12" name="Text 9"/>
          <p:cNvSpPr txBox="1"/>
          <p:nvPr/>
        </p:nvSpPr>
        <p:spPr>
          <a:xfrm>
            <a:off x="865981" y="1601391"/>
            <a:ext cx="2564408"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URI-oriented retrieval</a:t>
            </a:r>
            <a:endParaRPr lang="en-US" sz="2100" dirty="0"/>
          </a:p>
        </p:txBody>
      </p:sp>
      <p:sp>
        <p:nvSpPr>
          <p:cNvPr id="13" name="Text 10"/>
          <p:cNvSpPr txBox="1"/>
          <p:nvPr/>
        </p:nvSpPr>
        <p:spPr>
          <a:xfrm>
            <a:off x="1131292" y="1958776"/>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4" name="Text 11"/>
          <p:cNvSpPr txBox="1"/>
          <p:nvPr/>
        </p:nvSpPr>
        <p:spPr>
          <a:xfrm>
            <a:off x="1385292" y="1946076"/>
            <a:ext cx="20982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query fits in the URI</a:t>
            </a:r>
            <a:endParaRPr lang="en-US" sz="1900" dirty="0"/>
          </a:p>
        </p:txBody>
      </p:sp>
      <p:sp>
        <p:nvSpPr>
          <p:cNvPr id="15" name="Text 12"/>
          <p:cNvSpPr txBox="1"/>
          <p:nvPr/>
        </p:nvSpPr>
        <p:spPr>
          <a:xfrm>
            <a:off x="1131292" y="2286397"/>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6" name="Text 13"/>
          <p:cNvSpPr txBox="1"/>
          <p:nvPr/>
        </p:nvSpPr>
        <p:spPr>
          <a:xfrm>
            <a:off x="1385292" y="2273697"/>
            <a:ext cx="2230636"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links and caching matter</a:t>
            </a:r>
            <a:endParaRPr lang="en-US" sz="1900" dirty="0"/>
          </a:p>
        </p:txBody>
      </p:sp>
      <p:sp>
        <p:nvSpPr>
          <p:cNvPr id="17" name="Text 14"/>
          <p:cNvSpPr txBox="1"/>
          <p:nvPr/>
        </p:nvSpPr>
        <p:spPr>
          <a:xfrm>
            <a:off x="3781821" y="2129631"/>
            <a:ext cx="912615"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semantic</a:t>
            </a:r>
            <a:endParaRPr lang="en-US" sz="1600" dirty="0"/>
          </a:p>
        </p:txBody>
      </p:sp>
      <p:sp>
        <p:nvSpPr>
          <p:cNvPr id="18" name="Text 15"/>
          <p:cNvSpPr txBox="1"/>
          <p:nvPr/>
        </p:nvSpPr>
        <p:spPr>
          <a:xfrm>
            <a:off x="4010819" y="2373312"/>
            <a:ext cx="45462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gap</a:t>
            </a:r>
            <a:endParaRPr lang="en-US" sz="1600" dirty="0"/>
          </a:p>
        </p:txBody>
      </p:sp>
      <p:sp>
        <p:nvSpPr>
          <p:cNvPr id="19" name="Text 16"/>
          <p:cNvSpPr txBox="1"/>
          <p:nvPr/>
        </p:nvSpPr>
        <p:spPr>
          <a:xfrm>
            <a:off x="4060229" y="2616993"/>
            <a:ext cx="35560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4720828" y="1036240"/>
            <a:ext cx="3054945" cy="2918024"/>
          </a:xfrm>
          <a:prstGeom prst="rect">
            <a:avLst/>
          </a:prstGeom>
          <a:solidFill>
            <a:srgbClr val="FFFFFF"/>
          </a:solidFill>
          <a:ln w="25400">
            <a:solidFill>
              <a:srgbClr val="CC6600"/>
            </a:solidFill>
            <a:prstDash val="solid"/>
          </a:ln>
        </p:spPr>
      </p:sp>
      <p:sp>
        <p:nvSpPr>
          <p:cNvPr id="21" name="Shape 18"/>
          <p:cNvSpPr/>
          <p:nvPr/>
        </p:nvSpPr>
        <p:spPr>
          <a:xfrm>
            <a:off x="4898628" y="1214040"/>
            <a:ext cx="952699" cy="319881"/>
          </a:xfrm>
          <a:prstGeom prst="roundRect">
            <a:avLst>
              <a:gd name="adj" fmla="val 11911"/>
            </a:avLst>
          </a:prstGeom>
          <a:solidFill>
            <a:srgbClr val="CC6600"/>
          </a:solidFill>
          <a:ln/>
        </p:spPr>
      </p:sp>
      <p:sp>
        <p:nvSpPr>
          <p:cNvPr id="22" name="Text 19"/>
          <p:cNvSpPr txBox="1"/>
          <p:nvPr/>
        </p:nvSpPr>
        <p:spPr>
          <a:xfrm>
            <a:off x="4822428" y="1214040"/>
            <a:ext cx="1105099"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QUERY</a:t>
            </a:r>
            <a:endParaRPr lang="en-US" sz="2100" dirty="0"/>
          </a:p>
        </p:txBody>
      </p:sp>
      <p:sp>
        <p:nvSpPr>
          <p:cNvPr id="23" name="Text 20"/>
          <p:cNvSpPr txBox="1"/>
          <p:nvPr/>
        </p:nvSpPr>
        <p:spPr>
          <a:xfrm>
            <a:off x="4898628" y="1614091"/>
            <a:ext cx="2724745" cy="636785"/>
          </a:xfrm>
          <a:prstGeom prst="rect">
            <a:avLst/>
          </a:prstGeom>
          <a:noFill/>
          <a:ln/>
        </p:spPr>
        <p:txBody>
          <a:bodyPr wrap="square" lIns="0" tIns="0" rIns="0" bIns="0" rtlCol="0" anchor="t"/>
          <a:lstStyle/>
          <a:p>
            <a:pPr algn="l" indent="0" marL="0">
              <a:lnSpc>
                <a:spcPts val="2415"/>
              </a:lnSpc>
              <a:buNone/>
            </a:pPr>
            <a:r>
              <a:rPr lang="en-US" sz="2100" b="1" dirty="0">
                <a:solidFill>
                  <a:srgbClr val="993300"/>
                </a:solidFill>
                <a:latin typeface="Calibri" pitchFamily="34" charset="0"/>
                <a:ea typeface="Calibri" pitchFamily="34" charset="-122"/>
                <a:cs typeface="Calibri" pitchFamily="34" charset="-120"/>
              </a:rPr>
              <a:t>Safe, body-oriented query</a:t>
            </a:r>
            <a:endParaRPr lang="en-US" sz="2100" dirty="0"/>
          </a:p>
        </p:txBody>
      </p:sp>
      <p:sp>
        <p:nvSpPr>
          <p:cNvPr id="24" name="Text 21"/>
          <p:cNvSpPr txBox="1"/>
          <p:nvPr/>
        </p:nvSpPr>
        <p:spPr>
          <a:xfrm>
            <a:off x="5163939" y="227806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5" name="Text 22"/>
          <p:cNvSpPr txBox="1"/>
          <p:nvPr/>
        </p:nvSpPr>
        <p:spPr>
          <a:xfrm>
            <a:off x="5417939" y="2265363"/>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the operation </a:t>
            </a:r>
            <a:pPr algn="l" indent="0" marL="0">
              <a:lnSpc>
                <a:spcPts val="2280"/>
              </a:lnSpc>
              <a:buNone/>
            </a:pPr>
            <a:r>
              <a:rPr lang="en-US" sz="1900" i="1" dirty="0">
                <a:solidFill>
                  <a:srgbClr val="000000"/>
                </a:solidFill>
                <a:latin typeface="Calibri" pitchFamily="34" charset="0"/>
                <a:ea typeface="Calibri" pitchFamily="34" charset="-122"/>
                <a:cs typeface="Calibri" pitchFamily="34" charset="-120"/>
              </a:rPr>
              <a:t>is</a:t>
            </a:r>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 a query</a:t>
            </a:r>
            <a:endParaRPr lang="en-US" sz="1900" dirty="0"/>
          </a:p>
        </p:txBody>
      </p:sp>
      <p:sp>
        <p:nvSpPr>
          <p:cNvPr id="26" name="Text 23"/>
          <p:cNvSpPr txBox="1"/>
          <p:nvPr/>
        </p:nvSpPr>
        <p:spPr>
          <a:xfrm>
            <a:off x="5163939" y="2895203"/>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7" name="Text 24"/>
          <p:cNvSpPr txBox="1"/>
          <p:nvPr/>
        </p:nvSpPr>
        <p:spPr>
          <a:xfrm>
            <a:off x="5417939" y="2882503"/>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large or structured input</a:t>
            </a:r>
            <a:endParaRPr lang="en-US" sz="1900" dirty="0"/>
          </a:p>
        </p:txBody>
      </p:sp>
      <p:sp>
        <p:nvSpPr>
          <p:cNvPr id="28" name="Text 25"/>
          <p:cNvSpPr txBox="1"/>
          <p:nvPr/>
        </p:nvSpPr>
        <p:spPr>
          <a:xfrm>
            <a:off x="5163939" y="3512344"/>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9" name="Text 26"/>
          <p:cNvSpPr txBox="1"/>
          <p:nvPr/>
        </p:nvSpPr>
        <p:spPr>
          <a:xfrm>
            <a:off x="5417939" y="3499644"/>
            <a:ext cx="223460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every hop supports it</a:t>
            </a:r>
            <a:endParaRPr lang="en-US" sz="1900" dirty="0"/>
          </a:p>
        </p:txBody>
      </p:sp>
      <p:sp>
        <p:nvSpPr>
          <p:cNvPr id="30" name="Text 27"/>
          <p:cNvSpPr txBox="1"/>
          <p:nvPr/>
        </p:nvSpPr>
        <p:spPr>
          <a:xfrm>
            <a:off x="7846020" y="2129631"/>
            <a:ext cx="824309"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broader</a:t>
            </a:r>
            <a:endParaRPr lang="en-US" sz="1600" dirty="0"/>
          </a:p>
        </p:txBody>
      </p:sp>
      <p:sp>
        <p:nvSpPr>
          <p:cNvPr id="31" name="Text 28"/>
          <p:cNvSpPr txBox="1"/>
          <p:nvPr/>
        </p:nvSpPr>
        <p:spPr>
          <a:xfrm>
            <a:off x="7729537" y="2373312"/>
            <a:ext cx="1057473"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operations</a:t>
            </a:r>
            <a:endParaRPr lang="en-US" sz="1600" dirty="0"/>
          </a:p>
        </p:txBody>
      </p:sp>
      <p:sp>
        <p:nvSpPr>
          <p:cNvPr id="32" name="Text 29"/>
          <p:cNvSpPr txBox="1"/>
          <p:nvPr/>
        </p:nvSpPr>
        <p:spPr>
          <a:xfrm>
            <a:off x="8080375" y="2616993"/>
            <a:ext cx="355600" cy="241300"/>
          </a:xfrm>
          <a:prstGeom prst="rect">
            <a:avLst/>
          </a:prstGeom>
          <a:noFill/>
          <a:ln/>
        </p:spPr>
        <p:txBody>
          <a:bodyPr wrap="none" lIns="0" tIns="0" rIns="0" bIns="0" rtlCol="0" anchor="t"/>
          <a:lstStyle/>
          <a:p>
            <a:pPr algn="ctr" indent="0" marL="0">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33" name="Shape 30"/>
          <p:cNvSpPr/>
          <p:nvPr/>
        </p:nvSpPr>
        <p:spPr>
          <a:xfrm>
            <a:off x="8740973" y="1036240"/>
            <a:ext cx="3054945" cy="2918024"/>
          </a:xfrm>
          <a:prstGeom prst="rect">
            <a:avLst/>
          </a:prstGeom>
          <a:solidFill>
            <a:srgbClr val="FFFFFF"/>
          </a:solidFill>
          <a:ln w="25400">
            <a:solidFill>
              <a:srgbClr val="993300"/>
            </a:solidFill>
            <a:prstDash val="solid"/>
          </a:ln>
        </p:spPr>
      </p:sp>
      <p:sp>
        <p:nvSpPr>
          <p:cNvPr id="34" name="Shape 31"/>
          <p:cNvSpPr/>
          <p:nvPr/>
        </p:nvSpPr>
        <p:spPr>
          <a:xfrm>
            <a:off x="8918773" y="1214040"/>
            <a:ext cx="792757" cy="319881"/>
          </a:xfrm>
          <a:prstGeom prst="roundRect">
            <a:avLst>
              <a:gd name="adj" fmla="val 11911"/>
            </a:avLst>
          </a:prstGeom>
          <a:solidFill>
            <a:srgbClr val="993300"/>
          </a:solidFill>
          <a:ln/>
        </p:spPr>
      </p:sp>
      <p:sp>
        <p:nvSpPr>
          <p:cNvPr id="35" name="Text 32"/>
          <p:cNvSpPr txBox="1"/>
          <p:nvPr/>
        </p:nvSpPr>
        <p:spPr>
          <a:xfrm>
            <a:off x="8842573" y="1214040"/>
            <a:ext cx="945157" cy="319881"/>
          </a:xfrm>
          <a:prstGeom prst="rect">
            <a:avLst/>
          </a:prstGeom>
          <a:noFill/>
          <a:ln/>
        </p:spPr>
        <p:txBody>
          <a:bodyPr wrap="non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POST</a:t>
            </a:r>
            <a:endParaRPr lang="en-US" sz="2100" dirty="0"/>
          </a:p>
        </p:txBody>
      </p:sp>
      <p:sp>
        <p:nvSpPr>
          <p:cNvPr id="36" name="Text 33"/>
          <p:cNvSpPr txBox="1"/>
          <p:nvPr/>
        </p:nvSpPr>
        <p:spPr>
          <a:xfrm>
            <a:off x="8918773" y="1614091"/>
            <a:ext cx="2252265" cy="330200"/>
          </a:xfrm>
          <a:prstGeom prst="rect">
            <a:avLst/>
          </a:prstGeom>
          <a:noFill/>
          <a:ln/>
        </p:spPr>
        <p:txBody>
          <a:bodyPr wrap="none" lIns="0" tIns="0" rIns="0" bIns="0" rtlCol="0" anchor="t"/>
          <a:lstStyle/>
          <a:p>
            <a:pPr algn="l" indent="0" marL="0">
              <a:buNone/>
            </a:pPr>
            <a:r>
              <a:rPr lang="en-US" sz="2100" b="1" dirty="0">
                <a:solidFill>
                  <a:srgbClr val="993300"/>
                </a:solidFill>
                <a:latin typeface="Calibri" pitchFamily="34" charset="0"/>
                <a:ea typeface="Calibri" pitchFamily="34" charset="-122"/>
                <a:cs typeface="Calibri" pitchFamily="34" charset="-120"/>
              </a:rPr>
              <a:t>General processing</a:t>
            </a:r>
            <a:endParaRPr lang="en-US" sz="2100" dirty="0"/>
          </a:p>
        </p:txBody>
      </p:sp>
      <p:sp>
        <p:nvSpPr>
          <p:cNvPr id="37" name="Text 34"/>
          <p:cNvSpPr txBox="1"/>
          <p:nvPr/>
        </p:nvSpPr>
        <p:spPr>
          <a:xfrm>
            <a:off x="9184084" y="1971476"/>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8" name="Text 35"/>
          <p:cNvSpPr txBox="1"/>
          <p:nvPr/>
        </p:nvSpPr>
        <p:spPr>
          <a:xfrm>
            <a:off x="9438084" y="1958776"/>
            <a:ext cx="215205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operation is not safe</a:t>
            </a:r>
            <a:endParaRPr lang="en-US" sz="1900" dirty="0"/>
          </a:p>
        </p:txBody>
      </p:sp>
      <p:sp>
        <p:nvSpPr>
          <p:cNvPr id="39" name="Text 36"/>
          <p:cNvSpPr txBox="1"/>
          <p:nvPr/>
        </p:nvSpPr>
        <p:spPr>
          <a:xfrm>
            <a:off x="9184084" y="2299097"/>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40" name="Text 37"/>
          <p:cNvSpPr txBox="1"/>
          <p:nvPr/>
        </p:nvSpPr>
        <p:spPr>
          <a:xfrm>
            <a:off x="9438084" y="2286397"/>
            <a:ext cx="2205435"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changes state, submits</a:t>
            </a:r>
            <a:endParaRPr lang="en-US" sz="1900" dirty="0"/>
          </a:p>
        </p:txBody>
      </p:sp>
      <p:sp>
        <p:nvSpPr>
          <p:cNvPr id="41" name="Text 38"/>
          <p:cNvSpPr txBox="1"/>
          <p:nvPr/>
        </p:nvSpPr>
        <p:spPr>
          <a:xfrm>
            <a:off x="1008063" y="4309864"/>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2" name="Text 39"/>
          <p:cNvSpPr txBox="1"/>
          <p:nvPr/>
        </p:nvSpPr>
        <p:spPr>
          <a:xfrm>
            <a:off x="1350963" y="4297164"/>
            <a:ext cx="10470356" cy="678061"/>
          </a:xfrm>
          <a:prstGeom prst="rect">
            <a:avLst/>
          </a:prstGeom>
          <a:noFill/>
          <a:ln/>
        </p:spPr>
        <p:txBody>
          <a:bodyPr wrap="square" lIns="0" tIns="0" rIns="0" bIns="0" rtlCol="0" anchor="t"/>
          <a:lstStyle/>
          <a:p>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QUERY is not a replacement for GET or POST.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fills a semantic gap: safe, idempotent queries with structured request content.</a:t>
            </a:r>
            <a:endParaRPr lang="en-US" sz="2200" dirty="0"/>
          </a:p>
        </p:txBody>
      </p:sp>
      <p:sp>
        <p:nvSpPr>
          <p:cNvPr id="43" name="Text 40"/>
          <p:cNvSpPr txBox="1"/>
          <p:nvPr/>
        </p:nvSpPr>
        <p:spPr>
          <a:xfrm>
            <a:off x="1008063" y="5107185"/>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4" name="Text 41"/>
          <p:cNvSpPr txBox="1"/>
          <p:nvPr/>
        </p:nvSpPr>
        <p:spPr>
          <a:xfrm>
            <a:off x="1350963" y="5094485"/>
            <a:ext cx="10470356" cy="678061"/>
          </a:xfrm>
          <a:prstGeom prst="rect">
            <a:avLst/>
          </a:prstGeom>
          <a:noFill/>
          <a:ln/>
        </p:spPr>
        <p:txBody>
          <a:bodyPr wrap="square" lIns="0" tIns="0" rIns="0" bIns="0" rtlCol="0" anchor="t"/>
          <a:lstStyle/>
          <a:p>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Its cybersecurity value depends on how clients, intermediaries, caches, gateways, applications and logs </a:t>
            </a:r>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implement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not on the method alone.</a:t>
            </a:r>
            <a:endParaRPr lang="en-US" sz="2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24</a:t>
            </a:r>
            <a:endParaRPr lang="en-US" sz="1400" dirty="0"/>
          </a:p>
        </p:txBody>
      </p:sp>
      <p:sp>
        <p:nvSpPr>
          <p:cNvPr id="8" name="Text 5"/>
          <p:cNvSpPr txBox="1"/>
          <p:nvPr/>
        </p:nvSpPr>
        <p:spPr>
          <a:xfrm>
            <a:off x="10482064" y="191492"/>
            <a:ext cx="177105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References</a:t>
            </a:r>
            <a:endParaRPr lang="en-US" sz="2800" dirty="0"/>
          </a:p>
        </p:txBody>
      </p:sp>
      <p:sp>
        <p:nvSpPr>
          <p:cNvPr id="9" name="Text 6"/>
          <p:cNvSpPr txBox="1"/>
          <p:nvPr/>
        </p:nvSpPr>
        <p:spPr>
          <a:xfrm>
            <a:off x="91281" y="794940"/>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005681" y="794940"/>
            <a:ext cx="8781057"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J. Reschke, J. M. Snell, and M. Bishop, “</a:t>
            </a:r>
            <a:pPr algn="l" indent="0" marL="0">
              <a:buNone/>
            </a:pPr>
            <a:r>
              <a:rPr lang="en-US" sz="1400" u="none"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HTTP QUERY Method</a:t>
            </a:r>
            <a:pPr algn="l" indent="0" marL="0">
              <a:buNone/>
            </a:pPr>
            <a:r>
              <a:rPr lang="en-US" sz="1400" dirty="0">
                <a:solidFill>
                  <a:srgbClr val="000000"/>
                </a:solidFill>
                <a:latin typeface="Calibri" pitchFamily="34" charset="0"/>
                <a:ea typeface="Calibri" pitchFamily="34" charset="-122"/>
                <a:cs typeface="Calibri" pitchFamily="34" charset="-120"/>
              </a:rPr>
              <a:t>,” RFC 10008, IETF, Jun. 2026, doi: 10.17487/RFC10008.</a:t>
            </a:r>
            <a:endParaRPr lang="en-US" sz="1400" dirty="0"/>
          </a:p>
        </p:txBody>
      </p:sp>
      <p:sp>
        <p:nvSpPr>
          <p:cNvPr id="11" name="Text 8"/>
          <p:cNvSpPr txBox="1"/>
          <p:nvPr/>
        </p:nvSpPr>
        <p:spPr>
          <a:xfrm>
            <a:off x="91281" y="109716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005681" y="1097161"/>
            <a:ext cx="7106840"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 Semantics</a:t>
            </a:r>
            <a:pPr algn="l" indent="0" marL="0">
              <a:buNone/>
            </a:pPr>
            <a:r>
              <a:rPr lang="en-US" sz="1400" dirty="0">
                <a:solidFill>
                  <a:srgbClr val="000000"/>
                </a:solidFill>
                <a:latin typeface="Calibri" pitchFamily="34" charset="0"/>
                <a:ea typeface="Calibri" pitchFamily="34" charset="-122"/>
                <a:cs typeface="Calibri" pitchFamily="34" charset="-120"/>
              </a:rPr>
              <a:t>,” STD 97, RFC 9110, Jun. 2022.</a:t>
            </a:r>
            <a:endParaRPr lang="en-US" sz="1400" dirty="0"/>
          </a:p>
        </p:txBody>
      </p:sp>
      <p:sp>
        <p:nvSpPr>
          <p:cNvPr id="13" name="Text 10"/>
          <p:cNvSpPr txBox="1"/>
          <p:nvPr/>
        </p:nvSpPr>
        <p:spPr>
          <a:xfrm>
            <a:off x="91281" y="139938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1005681" y="1399381"/>
            <a:ext cx="694233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 Caching</a:t>
            </a:r>
            <a:pPr algn="l" indent="0" marL="0">
              <a:buNone/>
            </a:pPr>
            <a:r>
              <a:rPr lang="en-US" sz="1400" dirty="0">
                <a:solidFill>
                  <a:srgbClr val="000000"/>
                </a:solidFill>
                <a:latin typeface="Calibri" pitchFamily="34" charset="0"/>
                <a:ea typeface="Calibri" pitchFamily="34" charset="-122"/>
                <a:cs typeface="Calibri" pitchFamily="34" charset="-120"/>
              </a:rPr>
              <a:t>,” STD 98, RFC 9111, Jun. 2022.</a:t>
            </a:r>
            <a:endParaRPr lang="en-US" sz="1400" dirty="0"/>
          </a:p>
        </p:txBody>
      </p:sp>
      <p:sp>
        <p:nvSpPr>
          <p:cNvPr id="15" name="Text 12"/>
          <p:cNvSpPr txBox="1"/>
          <p:nvPr/>
        </p:nvSpPr>
        <p:spPr>
          <a:xfrm>
            <a:off x="91281" y="170160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[4]</a:t>
            </a:r>
            <a:endParaRPr lang="en-US" sz="1400" dirty="0"/>
          </a:p>
        </p:txBody>
      </p:sp>
      <p:sp>
        <p:nvSpPr>
          <p:cNvPr id="16" name="Text 13"/>
          <p:cNvSpPr txBox="1"/>
          <p:nvPr/>
        </p:nvSpPr>
        <p:spPr>
          <a:xfrm>
            <a:off x="1005681" y="1701601"/>
            <a:ext cx="661808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HTTP/1.1</a:t>
            </a:r>
            <a:pPr algn="l" indent="0" marL="0">
              <a:buNone/>
            </a:pPr>
            <a:r>
              <a:rPr lang="en-US" sz="1400" dirty="0">
                <a:solidFill>
                  <a:srgbClr val="000000"/>
                </a:solidFill>
                <a:latin typeface="Calibri" pitchFamily="34" charset="0"/>
                <a:ea typeface="Calibri" pitchFamily="34" charset="-122"/>
                <a:cs typeface="Calibri" pitchFamily="34" charset="-120"/>
              </a:rPr>
              <a:t>,” STD 99, RFC 9112, Jun. 2022.</a:t>
            </a:r>
            <a:endParaRPr lang="en-US" sz="1400" dirty="0"/>
          </a:p>
        </p:txBody>
      </p:sp>
      <p:sp>
        <p:nvSpPr>
          <p:cNvPr id="17" name="Text 14"/>
          <p:cNvSpPr txBox="1"/>
          <p:nvPr/>
        </p:nvSpPr>
        <p:spPr>
          <a:xfrm>
            <a:off x="91281" y="200382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[5]</a:t>
            </a:r>
            <a:endParaRPr lang="en-US" sz="1400" dirty="0"/>
          </a:p>
        </p:txBody>
      </p:sp>
      <p:sp>
        <p:nvSpPr>
          <p:cNvPr id="18" name="Text 15"/>
          <p:cNvSpPr txBox="1"/>
          <p:nvPr/>
        </p:nvSpPr>
        <p:spPr>
          <a:xfrm>
            <a:off x="1005681" y="2003821"/>
            <a:ext cx="9123164"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T. Berners-Lee, R. Fielding, and L. Masinter, “</a:t>
            </a:r>
            <a:pPr algn="l" indent="0" marL="0">
              <a:buNone/>
            </a:pPr>
            <a:r>
              <a:rPr lang="en-US" sz="1400" u="none"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Uniform Resource Identifier (URI): Generic Syntax</a:t>
            </a:r>
            <a:pPr algn="l" indent="0" marL="0">
              <a:buNone/>
            </a:pPr>
            <a:r>
              <a:rPr lang="en-US" sz="1400" dirty="0">
                <a:solidFill>
                  <a:srgbClr val="000000"/>
                </a:solidFill>
                <a:latin typeface="Calibri" pitchFamily="34" charset="0"/>
                <a:ea typeface="Calibri" pitchFamily="34" charset="-122"/>
                <a:cs typeface="Calibri" pitchFamily="34" charset="-120"/>
              </a:rPr>
              <a:t>,” STD 66, RFC 3986, Jan. 2005.</a:t>
            </a:r>
            <a:endParaRPr lang="en-US" sz="1400" dirty="0"/>
          </a:p>
        </p:txBody>
      </p:sp>
      <p:sp>
        <p:nvSpPr>
          <p:cNvPr id="19" name="Text 16"/>
          <p:cNvSpPr txBox="1"/>
          <p:nvPr/>
        </p:nvSpPr>
        <p:spPr>
          <a:xfrm>
            <a:off x="91281" y="230604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[6]</a:t>
            </a:r>
            <a:endParaRPr lang="en-US" sz="1400" dirty="0"/>
          </a:p>
        </p:txBody>
      </p:sp>
      <p:sp>
        <p:nvSpPr>
          <p:cNvPr id="20" name="Text 17"/>
          <p:cNvSpPr txBox="1"/>
          <p:nvPr/>
        </p:nvSpPr>
        <p:spPr>
          <a:xfrm>
            <a:off x="1005681" y="2306043"/>
            <a:ext cx="568781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M. Nottingham, “</a:t>
            </a:r>
            <a:pPr algn="l" indent="0" marL="0">
              <a:buNone/>
            </a:pPr>
            <a:r>
              <a:rPr lang="en-US" sz="1400" u="none"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Building Protocols with HTTP</a:t>
            </a:r>
            <a:pPr algn="l" indent="0" marL="0">
              <a:buNone/>
            </a:pPr>
            <a:r>
              <a:rPr lang="en-US" sz="1400" dirty="0">
                <a:solidFill>
                  <a:srgbClr val="000000"/>
                </a:solidFill>
                <a:latin typeface="Calibri" pitchFamily="34" charset="0"/>
                <a:ea typeface="Calibri" pitchFamily="34" charset="-122"/>
                <a:cs typeface="Calibri" pitchFamily="34" charset="-120"/>
              </a:rPr>
              <a:t>,” BCP 56, RFC 9205, Jun. 2022.</a:t>
            </a:r>
            <a:endParaRPr lang="en-US" sz="1400" dirty="0"/>
          </a:p>
        </p:txBody>
      </p:sp>
      <p:sp>
        <p:nvSpPr>
          <p:cNvPr id="21" name="Text 18"/>
          <p:cNvSpPr txBox="1"/>
          <p:nvPr/>
        </p:nvSpPr>
        <p:spPr>
          <a:xfrm>
            <a:off x="91281" y="260826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[7]</a:t>
            </a:r>
            <a:endParaRPr lang="en-US" sz="1400" dirty="0"/>
          </a:p>
        </p:txBody>
      </p:sp>
      <p:sp>
        <p:nvSpPr>
          <p:cNvPr id="22" name="Text 19"/>
          <p:cNvSpPr txBox="1"/>
          <p:nvPr/>
        </p:nvSpPr>
        <p:spPr>
          <a:xfrm>
            <a:off x="1005681" y="2608263"/>
            <a:ext cx="6827044"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A. Backman, J. Richer, and M. Sporny,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 Message Signatures</a:t>
            </a:r>
            <a:pPr algn="l" indent="0" marL="0">
              <a:buNone/>
            </a:pPr>
            <a:r>
              <a:rPr lang="en-US" sz="1400" dirty="0">
                <a:solidFill>
                  <a:srgbClr val="000000"/>
                </a:solidFill>
                <a:latin typeface="Calibri" pitchFamily="34" charset="0"/>
                <a:ea typeface="Calibri" pitchFamily="34" charset="-122"/>
                <a:cs typeface="Calibri" pitchFamily="34" charset="-120"/>
              </a:rPr>
              <a:t>,” RFC 9421, Feb. 2024.</a:t>
            </a:r>
            <a:endParaRPr lang="en-US" sz="1400" dirty="0"/>
          </a:p>
        </p:txBody>
      </p:sp>
      <p:sp>
        <p:nvSpPr>
          <p:cNvPr id="23" name="Text 20"/>
          <p:cNvSpPr txBox="1"/>
          <p:nvPr/>
        </p:nvSpPr>
        <p:spPr>
          <a:xfrm>
            <a:off x="91281" y="291048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[8]</a:t>
            </a:r>
            <a:endParaRPr lang="en-US" sz="1400" dirty="0"/>
          </a:p>
        </p:txBody>
      </p:sp>
      <p:sp>
        <p:nvSpPr>
          <p:cNvPr id="24" name="Text 21"/>
          <p:cNvSpPr txBox="1"/>
          <p:nvPr/>
        </p:nvSpPr>
        <p:spPr>
          <a:xfrm>
            <a:off x="1005681" y="2910483"/>
            <a:ext cx="437653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Polli and L. Pardue, “</a:t>
            </a:r>
            <a:pPr algn="l" indent="0" marL="0">
              <a:buNone/>
            </a:pPr>
            <a:r>
              <a:rPr lang="en-US" sz="1400" u="none" dirty="0">
                <a:solidFill>
                  <a:srgbClr val="00000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Digest Fields</a:t>
            </a:r>
            <a:pPr algn="l" indent="0" marL="0">
              <a:buNone/>
            </a:pPr>
            <a:r>
              <a:rPr lang="en-US" sz="1400" dirty="0">
                <a:solidFill>
                  <a:srgbClr val="000000"/>
                </a:solidFill>
                <a:latin typeface="Calibri" pitchFamily="34" charset="0"/>
                <a:ea typeface="Calibri" pitchFamily="34" charset="-122"/>
                <a:cs typeface="Calibri" pitchFamily="34" charset="-120"/>
              </a:rPr>
              <a:t>,” RFC 9530, Feb. 2024.</a:t>
            </a:r>
            <a:endParaRPr lang="en-US" sz="1400" dirty="0"/>
          </a:p>
        </p:txBody>
      </p:sp>
      <p:sp>
        <p:nvSpPr>
          <p:cNvPr id="25" name="Text 22"/>
          <p:cNvSpPr txBox="1"/>
          <p:nvPr/>
        </p:nvSpPr>
        <p:spPr>
          <a:xfrm>
            <a:off x="91281" y="321270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[9]</a:t>
            </a:r>
            <a:endParaRPr lang="en-US" sz="1400" dirty="0"/>
          </a:p>
        </p:txBody>
      </p:sp>
      <p:sp>
        <p:nvSpPr>
          <p:cNvPr id="26" name="Text 23"/>
          <p:cNvSpPr txBox="1"/>
          <p:nvPr/>
        </p:nvSpPr>
        <p:spPr>
          <a:xfrm>
            <a:off x="1005681" y="3212703"/>
            <a:ext cx="5085953"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WHATWG, “</a:t>
            </a:r>
            <a:pPr algn="l" indent="0" marL="0">
              <a:buNone/>
            </a:pPr>
            <a:r>
              <a:rPr lang="en-US" sz="1400" u="none" dirty="0">
                <a:solidFill>
                  <a:srgbClr val="000000"/>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Fetch Standard</a:t>
            </a:r>
            <a:pPr algn="l" indent="0" marL="0">
              <a:buNone/>
            </a:pPr>
            <a:r>
              <a:rPr lang="en-US" sz="1400" dirty="0">
                <a:solidFill>
                  <a:srgbClr val="000000"/>
                </a:solidFill>
                <a:latin typeface="Calibri" pitchFamily="34" charset="0"/>
                <a:ea typeface="Calibri" pitchFamily="34" charset="-122"/>
                <a:cs typeface="Calibri" pitchFamily="34" charset="-120"/>
              </a:rPr>
              <a:t>” and “</a:t>
            </a:r>
            <a:pPr algn="l" indent="0" marL="0">
              <a:buNone/>
            </a:pPr>
            <a:r>
              <a:rPr lang="en-US" sz="1400" u="none" dirty="0">
                <a:solidFill>
                  <a:srgbClr val="000000"/>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HTML Standard</a:t>
            </a:r>
            <a:pPr algn="l" indent="0" marL="0">
              <a:buNone/>
            </a:pPr>
            <a:r>
              <a:rPr lang="en-US" sz="1400" dirty="0">
                <a:solidFill>
                  <a:srgbClr val="000000"/>
                </a:solidFill>
                <a:latin typeface="Calibri" pitchFamily="34" charset="0"/>
                <a:ea typeface="Calibri" pitchFamily="34" charset="-122"/>
                <a:cs typeface="Calibri" pitchFamily="34" charset="-120"/>
              </a:rPr>
              <a:t>,” Living Standards.</a:t>
            </a:r>
            <a:endParaRPr lang="en-US" sz="1400" dirty="0"/>
          </a:p>
        </p:txBody>
      </p:sp>
      <p:sp>
        <p:nvSpPr>
          <p:cNvPr id="27" name="Text 24"/>
          <p:cNvSpPr txBox="1"/>
          <p:nvPr/>
        </p:nvSpPr>
        <p:spPr>
          <a:xfrm>
            <a:off x="91281" y="351492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[10]</a:t>
            </a:r>
            <a:endParaRPr lang="en-US" sz="1400" dirty="0"/>
          </a:p>
        </p:txBody>
      </p:sp>
      <p:sp>
        <p:nvSpPr>
          <p:cNvPr id="28" name="Text 25"/>
          <p:cNvSpPr txBox="1"/>
          <p:nvPr/>
        </p:nvSpPr>
        <p:spPr>
          <a:xfrm>
            <a:off x="1005681" y="3514924"/>
            <a:ext cx="179883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W3C, “</a:t>
            </a:r>
            <a:pPr algn="l" indent="0" marL="0">
              <a:buNone/>
            </a:pPr>
            <a:r>
              <a:rPr lang="en-US" sz="1400" u="none" dirty="0">
                <a:solidFill>
                  <a:srgbClr val="000000"/>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Referrer Policy</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9" name="Text 26"/>
          <p:cNvSpPr txBox="1"/>
          <p:nvPr/>
        </p:nvSpPr>
        <p:spPr>
          <a:xfrm>
            <a:off x="91281" y="381714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[11]</a:t>
            </a:r>
            <a:endParaRPr lang="en-US" sz="1400" dirty="0"/>
          </a:p>
        </p:txBody>
      </p:sp>
      <p:sp>
        <p:nvSpPr>
          <p:cNvPr id="30" name="Text 27"/>
          <p:cNvSpPr txBox="1"/>
          <p:nvPr/>
        </p:nvSpPr>
        <p:spPr>
          <a:xfrm>
            <a:off x="1005681" y="3817144"/>
            <a:ext cx="451742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IANA, “</a:t>
            </a:r>
            <a:pPr algn="l" indent="0" marL="0">
              <a:buNone/>
            </a:pPr>
            <a:r>
              <a:rPr lang="en-US" sz="1400" u="none" dirty="0">
                <a:solidFill>
                  <a:srgbClr val="000000"/>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Hypertext Transfer Protocol (HTTP) Method Registry</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1" name="Text 28"/>
          <p:cNvSpPr txBox="1"/>
          <p:nvPr/>
        </p:nvSpPr>
        <p:spPr>
          <a:xfrm>
            <a:off x="91281" y="411936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[12]</a:t>
            </a:r>
            <a:endParaRPr lang="en-US" sz="1400" dirty="0"/>
          </a:p>
        </p:txBody>
      </p:sp>
      <p:sp>
        <p:nvSpPr>
          <p:cNvPr id="32" name="Text 29"/>
          <p:cNvSpPr txBox="1"/>
          <p:nvPr/>
        </p:nvSpPr>
        <p:spPr>
          <a:xfrm>
            <a:off x="1005681" y="4119364"/>
            <a:ext cx="4581327"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OpenAPI Initiative, “</a:t>
            </a:r>
            <a:pPr algn="l" indent="0" marL="0">
              <a:buNone/>
            </a:pPr>
            <a:r>
              <a:rPr lang="en-US" sz="1400" u="none" dirty="0">
                <a:solidFill>
                  <a:srgbClr val="000000"/>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OpenAPI Specification v3.2.0</a:t>
            </a:r>
            <a:pPr algn="l" indent="0" marL="0">
              <a:buNone/>
            </a:pPr>
            <a:r>
              <a:rPr lang="en-US" sz="1400" dirty="0">
                <a:solidFill>
                  <a:srgbClr val="000000"/>
                </a:solidFill>
                <a:latin typeface="Calibri" pitchFamily="34" charset="0"/>
                <a:ea typeface="Calibri" pitchFamily="34" charset="-122"/>
                <a:cs typeface="Calibri" pitchFamily="34" charset="-120"/>
              </a:rPr>
              <a:t>,” Sep. 2025.</a:t>
            </a:r>
            <a:endParaRPr lang="en-US" sz="1400" dirty="0"/>
          </a:p>
        </p:txBody>
      </p:sp>
      <p:sp>
        <p:nvSpPr>
          <p:cNvPr id="33" name="Text 30"/>
          <p:cNvSpPr txBox="1"/>
          <p:nvPr/>
        </p:nvSpPr>
        <p:spPr>
          <a:xfrm>
            <a:off x="91281" y="442158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[13]</a:t>
            </a:r>
            <a:endParaRPr lang="en-US" sz="1400" dirty="0"/>
          </a:p>
        </p:txBody>
      </p:sp>
      <p:sp>
        <p:nvSpPr>
          <p:cNvPr id="34" name="Text 31"/>
          <p:cNvSpPr txBox="1"/>
          <p:nvPr/>
        </p:nvSpPr>
        <p:spPr>
          <a:xfrm>
            <a:off x="1005681" y="4421584"/>
            <a:ext cx="5601692"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OWASP, “</a:t>
            </a:r>
            <a:pPr algn="l" indent="0" marL="0">
              <a:buNone/>
            </a:pPr>
            <a:r>
              <a:rPr lang="en-US" sz="1400" u="none" dirty="0">
                <a:solidFill>
                  <a:srgbClr val="000000"/>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WSTG-CONF-06: Test HTTP Methods</a:t>
            </a:r>
            <a:pPr algn="l" indent="0" marL="0">
              <a:buNone/>
            </a:pPr>
            <a:r>
              <a:rPr lang="en-US" sz="1400" dirty="0">
                <a:solidFill>
                  <a:srgbClr val="000000"/>
                </a:solidFill>
                <a:latin typeface="Calibri" pitchFamily="34" charset="0"/>
                <a:ea typeface="Calibri" pitchFamily="34" charset="-122"/>
                <a:cs typeface="Calibri" pitchFamily="34" charset="-120"/>
              </a:rPr>
              <a:t>,” Web Security Testing Guide.</a:t>
            </a:r>
            <a:endParaRPr lang="en-US" sz="1400" dirty="0"/>
          </a:p>
        </p:txBody>
      </p:sp>
      <p:sp>
        <p:nvSpPr>
          <p:cNvPr id="35" name="Text 32"/>
          <p:cNvSpPr txBox="1"/>
          <p:nvPr/>
        </p:nvSpPr>
        <p:spPr>
          <a:xfrm>
            <a:off x="91281" y="4723805"/>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[14]</a:t>
            </a:r>
            <a:endParaRPr lang="en-US" sz="1400" dirty="0"/>
          </a:p>
        </p:txBody>
      </p:sp>
      <p:sp>
        <p:nvSpPr>
          <p:cNvPr id="36" name="Text 33"/>
          <p:cNvSpPr txBox="1"/>
          <p:nvPr/>
        </p:nvSpPr>
        <p:spPr>
          <a:xfrm>
            <a:off x="1005681" y="4723805"/>
            <a:ext cx="425251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MDN Web Docs, “</a:t>
            </a:r>
            <a:pPr algn="l" indent="0" marL="0">
              <a:buNone/>
            </a:pPr>
            <a:r>
              <a:rPr lang="en-US" sz="1400" u="none" dirty="0">
                <a:solidFill>
                  <a:srgbClr val="000000"/>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Cross-Origin Resource Sharing (CORS)</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8" name="Text 5"/>
          <p:cNvSpPr txBox="1"/>
          <p:nvPr/>
        </p:nvSpPr>
        <p:spPr>
          <a:xfrm>
            <a:off x="10482064" y="191492"/>
            <a:ext cx="177105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References</a:t>
            </a:r>
            <a:endParaRPr lang="en-US" sz="2800" dirty="0"/>
          </a:p>
        </p:txBody>
      </p:sp>
      <p:sp>
        <p:nvSpPr>
          <p:cNvPr id="9" name="Text 6"/>
          <p:cNvSpPr txBox="1"/>
          <p:nvPr/>
        </p:nvSpPr>
        <p:spPr>
          <a:xfrm>
            <a:off x="91281" y="794940"/>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[15]</a:t>
            </a:r>
            <a:endParaRPr lang="en-US" sz="1400" dirty="0"/>
          </a:p>
        </p:txBody>
      </p:sp>
      <p:sp>
        <p:nvSpPr>
          <p:cNvPr id="10" name="Text 7"/>
          <p:cNvSpPr txBox="1"/>
          <p:nvPr/>
        </p:nvSpPr>
        <p:spPr>
          <a:xfrm>
            <a:off x="1005681" y="794940"/>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O. Starov, P. Gill, and N. Nikiforakis,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Are You Sure You Want to Contact Us? Quantifying the Leakage of PII via Website Contact Forms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Proc. Privacy Enhancing Technologies, vol. 2016, no. 1, pp. 20–33, 2016, doi: 10.1515/popets-2015-0028.</a:t>
            </a:r>
            <a:endParaRPr lang="en-US" sz="1400" dirty="0"/>
          </a:p>
        </p:txBody>
      </p:sp>
      <p:sp>
        <p:nvSpPr>
          <p:cNvPr id="11" name="Text 8"/>
          <p:cNvSpPr txBox="1"/>
          <p:nvPr/>
        </p:nvSpPr>
        <p:spPr>
          <a:xfrm>
            <a:off x="91281" y="1310481"/>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[16]</a:t>
            </a:r>
            <a:endParaRPr lang="en-US" sz="1400" dirty="0"/>
          </a:p>
        </p:txBody>
      </p:sp>
      <p:sp>
        <p:nvSpPr>
          <p:cNvPr id="12" name="Text 9"/>
          <p:cNvSpPr txBox="1"/>
          <p:nvPr/>
        </p:nvSpPr>
        <p:spPr>
          <a:xfrm>
            <a:off x="1005681" y="1310481"/>
            <a:ext cx="11168876"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H. V. Nguyen, L. Lo Iacono, and H. Federrath,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Your Cache Has Fallen: Cache-Poisoned Denial-of-Service Attack</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2019, pp. 1915–1936, doi: 10.1145/3319535.3354215.</a:t>
            </a:r>
            <a:endParaRPr lang="en-US" sz="1400" dirty="0"/>
          </a:p>
        </p:txBody>
      </p:sp>
      <p:sp>
        <p:nvSpPr>
          <p:cNvPr id="13" name="Text 10"/>
          <p:cNvSpPr txBox="1"/>
          <p:nvPr/>
        </p:nvSpPr>
        <p:spPr>
          <a:xfrm>
            <a:off x="91281" y="1826021"/>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[17]</a:t>
            </a:r>
            <a:endParaRPr lang="en-US" sz="1400" dirty="0"/>
          </a:p>
        </p:txBody>
      </p:sp>
      <p:sp>
        <p:nvSpPr>
          <p:cNvPr id="14" name="Text 11"/>
          <p:cNvSpPr txBox="1"/>
          <p:nvPr/>
        </p:nvSpPr>
        <p:spPr>
          <a:xfrm>
            <a:off x="1005681" y="1826021"/>
            <a:ext cx="11130216"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S. A. Mirheidari, S. Arshad, K. Onarlioglu, B. Crispo, E. Kirda, and W. Robertson,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Cached and Confused: Web Cache Deception in the Wild</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29th USENIX Security Symposium, 2020.</a:t>
            </a:r>
            <a:endParaRPr lang="en-US" sz="1400" dirty="0"/>
          </a:p>
        </p:txBody>
      </p:sp>
      <p:sp>
        <p:nvSpPr>
          <p:cNvPr id="15" name="Text 12"/>
          <p:cNvSpPr txBox="1"/>
          <p:nvPr/>
        </p:nvSpPr>
        <p:spPr>
          <a:xfrm>
            <a:off x="91281" y="2341563"/>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[18]</a:t>
            </a:r>
            <a:endParaRPr lang="en-US" sz="1400" dirty="0"/>
          </a:p>
        </p:txBody>
      </p:sp>
      <p:sp>
        <p:nvSpPr>
          <p:cNvPr id="16" name="Text 13"/>
          <p:cNvSpPr txBox="1"/>
          <p:nvPr/>
        </p:nvSpPr>
        <p:spPr>
          <a:xfrm>
            <a:off x="1005681" y="2341563"/>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B. Jabiyev, S. Sprecher, K. Onarlioglu, and E. Kirda,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T-Reqs: HTTP Request Smuggling with Differential Fuzzing</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2021, pp. 1805–1820, doi: 10.1145/3460120.3485384.</a:t>
            </a:r>
            <a:endParaRPr lang="en-US" sz="1400" dirty="0"/>
          </a:p>
        </p:txBody>
      </p:sp>
      <p:sp>
        <p:nvSpPr>
          <p:cNvPr id="17" name="Text 14"/>
          <p:cNvSpPr txBox="1"/>
          <p:nvPr/>
        </p:nvSpPr>
        <p:spPr>
          <a:xfrm>
            <a:off x="91281" y="2857103"/>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[19]</a:t>
            </a:r>
            <a:endParaRPr lang="en-US" sz="1400" dirty="0"/>
          </a:p>
        </p:txBody>
      </p:sp>
      <p:sp>
        <p:nvSpPr>
          <p:cNvPr id="18" name="Text 15"/>
          <p:cNvSpPr txBox="1"/>
          <p:nvPr/>
        </p:nvSpPr>
        <p:spPr>
          <a:xfrm>
            <a:off x="1005681" y="2857103"/>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J. Chen, J. Jiang, H. Duan, T. Wan, S. Chen, V. Paxson, and M. Yang,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We Still Don’t Have Secure Cross-Domain Requests: an Empirical Study of CORS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27th USENIX Security Symposium, 2018.</a:t>
            </a:r>
            <a:endParaRPr lang="en-US" sz="1400" dirty="0"/>
          </a:p>
        </p:txBody>
      </p:sp>
      <p:sp>
        <p:nvSpPr>
          <p:cNvPr id="19" name="Text 16"/>
          <p:cNvSpPr txBox="1"/>
          <p:nvPr/>
        </p:nvSpPr>
        <p:spPr>
          <a:xfrm>
            <a:off x="91281" y="337264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[20]</a:t>
            </a:r>
            <a:endParaRPr lang="en-US" sz="1400" dirty="0"/>
          </a:p>
        </p:txBody>
      </p:sp>
      <p:sp>
        <p:nvSpPr>
          <p:cNvPr id="20" name="Text 17"/>
          <p:cNvSpPr txBox="1"/>
          <p:nvPr/>
        </p:nvSpPr>
        <p:spPr>
          <a:xfrm>
            <a:off x="1005681" y="3372644"/>
            <a:ext cx="11128800"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A. Cha, E. Wittern, G. Baudart, J. C. Davis, L. Mandel, and J. A. Laredo,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 Principled Approach to GraphQL Query Cost Analysis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ESEC/FSE, 2020, pp. 257–268, doi: 10.1145/3368089.3409670.</a:t>
            </a:r>
            <a:endParaRPr lang="en-US" sz="1400" dirty="0"/>
          </a:p>
        </p:txBody>
      </p:sp>
      <p:sp>
        <p:nvSpPr>
          <p:cNvPr id="21" name="Text 18"/>
          <p:cNvSpPr txBox="1"/>
          <p:nvPr/>
        </p:nvSpPr>
        <p:spPr>
          <a:xfrm>
            <a:off x="91281" y="388818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[21]</a:t>
            </a:r>
            <a:endParaRPr lang="en-US" sz="1400" dirty="0"/>
          </a:p>
        </p:txBody>
      </p:sp>
      <p:sp>
        <p:nvSpPr>
          <p:cNvPr id="22" name="Text 19"/>
          <p:cNvSpPr txBox="1"/>
          <p:nvPr/>
        </p:nvSpPr>
        <p:spPr>
          <a:xfrm>
            <a:off x="1005681" y="3888184"/>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O. Hartig and J. Pérez,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Semantics and Complexity of GraphQL</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The Web Conference (WWW), 2018, pp. 1155–1164, doi: 10.1145/3178876.3186014.</a:t>
            </a:r>
            <a:endParaRPr lang="en-US" sz="1400" dirty="0"/>
          </a:p>
        </p:txBody>
      </p:sp>
      <p:sp>
        <p:nvSpPr>
          <p:cNvPr id="23" name="Text 20"/>
          <p:cNvSpPr txBox="1"/>
          <p:nvPr/>
        </p:nvSpPr>
        <p:spPr>
          <a:xfrm>
            <a:off x="91281" y="4403725"/>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[22]</a:t>
            </a:r>
            <a:endParaRPr lang="en-US" sz="1400" dirty="0"/>
          </a:p>
        </p:txBody>
      </p:sp>
      <p:sp>
        <p:nvSpPr>
          <p:cNvPr id="24" name="Text 21"/>
          <p:cNvSpPr txBox="1"/>
          <p:nvPr/>
        </p:nvSpPr>
        <p:spPr>
          <a:xfrm>
            <a:off x="1005681" y="4403725"/>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J. Chen, J. Jiang, H. Duan, N. Weaver, T. Wan, and V. Paxson,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Host of Troubles: Multiple Host Ambiguities in HTTP Implementations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2016, pp. 1516–1527, doi: 10.1145/2976749.2978394.</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26</a:t>
            </a:r>
            <a:endParaRPr lang="en-US" sz="1400" dirty="0"/>
          </a:p>
        </p:txBody>
      </p:sp>
      <p:sp>
        <p:nvSpPr>
          <p:cNvPr id="8" name="Text 5"/>
          <p:cNvSpPr txBox="1"/>
          <p:nvPr/>
        </p:nvSpPr>
        <p:spPr>
          <a:xfrm>
            <a:off x="4810720" y="2613025"/>
            <a:ext cx="1598415"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Queries</a:t>
            </a:r>
            <a:endParaRPr lang="en-US" sz="3600" dirty="0"/>
          </a:p>
        </p:txBody>
      </p:sp>
      <p:sp>
        <p:nvSpPr>
          <p:cNvPr id="9" name="Text 6"/>
          <p:cNvSpPr txBox="1"/>
          <p:nvPr/>
        </p:nvSpPr>
        <p:spPr>
          <a:xfrm>
            <a:off x="5452071" y="3264495"/>
            <a:ext cx="464344"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&amp;</a:t>
            </a:r>
            <a:endParaRPr lang="en-US" sz="3600" dirty="0"/>
          </a:p>
        </p:txBody>
      </p:sp>
      <p:sp>
        <p:nvSpPr>
          <p:cNvPr id="10" name="Text 7"/>
          <p:cNvSpPr txBox="1"/>
          <p:nvPr/>
        </p:nvSpPr>
        <p:spPr>
          <a:xfrm>
            <a:off x="4344591" y="3950295"/>
            <a:ext cx="2349699"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Suggestions</a:t>
            </a:r>
            <a:endParaRPr lang="en-US" sz="3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27</a:t>
            </a:r>
            <a:endParaRPr lang="en-US" sz="1400" dirty="0"/>
          </a:p>
        </p:txBody>
      </p:sp>
      <p:sp>
        <p:nvSpPr>
          <p:cNvPr id="8" name="Text 5"/>
          <p:cNvSpPr txBox="1"/>
          <p:nvPr/>
        </p:nvSpPr>
        <p:spPr>
          <a:xfrm>
            <a:off x="4333081" y="2723555"/>
            <a:ext cx="2680493"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8467" cap="flat" cmpd="sng" algn="ctr">
          <a:solidFill>
            <a:schemeClr val="phClr"/>
          </a:solidFill>
          <a:prstDash val="solid"/>
          <a:miter lim="800000"/>
        </a:ln>
        <a:ln w="16933"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76200" dist="2540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 QUERY Method</dc:title>
  <dc:subject>HTTP QUERY Method: A Security-Focused Literature Survey and Analysis.
M.E. CyberSecurity technical seminar, Manipal School of Information Sciences, MAHE, Manipal.
Built on the MSIS Seminar Template 2026-27 (order, fonts and colours kept), widened to 16:9.
</dc:subject>
  <dc:creator>Anish Shobith</dc:creator>
  <cp:lastModifiedBy>Anish Shobith</cp:lastModifiedBy>
  <cp:revision>1</cp:revision>
  <dcterms:created xsi:type="dcterms:W3CDTF">2026-09-22T20:25:13Z</dcterms:created>
  <dcterms:modified xsi:type="dcterms:W3CDTF">2026-09-22T20:25:13Z</dcterms:modified>
</cp:coreProperties>
</file>