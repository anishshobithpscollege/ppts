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6256000" cy="9144000"/>
  <p:notesSz cx="6858000" cy="12192000"/>
  <p:defaultTextStyle>
    <a:lvl1pPr marL="0" algn="l" defTabSz="1219200" rtl="0" eaLnBrk="1" latinLnBrk="0" hangingPunct="1">
      <a:defRPr sz="2400" kern="1600">
        <a:solidFill>
          <a:schemeClr val="tx1"/>
        </a:solidFill>
        <a:latin typeface="+mn-lt"/>
        <a:ea typeface="+mn-ea"/>
        <a:cs typeface="+mn-cs"/>
      </a:defRPr>
    </a:lvl1pPr>
    <a:lvl2pPr marL="609600" algn="l" defTabSz="1219200" rtl="0" eaLnBrk="1" latinLnBrk="0" hangingPunct="1">
      <a:defRPr sz="2400" kern="1600">
        <a:solidFill>
          <a:schemeClr val="tx1"/>
        </a:solidFill>
        <a:latin typeface="+mn-lt"/>
        <a:ea typeface="+mn-ea"/>
        <a:cs typeface="+mn-cs"/>
      </a:defRPr>
    </a:lvl2pPr>
    <a:lvl3pPr marL="1219200" algn="l" defTabSz="1219200" rtl="0" eaLnBrk="1" latinLnBrk="0" hangingPunct="1">
      <a:defRPr sz="2400" kern="1600">
        <a:solidFill>
          <a:schemeClr val="tx1"/>
        </a:solidFill>
        <a:latin typeface="+mn-lt"/>
        <a:ea typeface="+mn-ea"/>
        <a:cs typeface="+mn-cs"/>
      </a:defRPr>
    </a:lvl3pPr>
    <a:lvl4pPr marL="1828800" algn="l" defTabSz="1219200" rtl="0" eaLnBrk="1" latinLnBrk="0" hangingPunct="1">
      <a:defRPr sz="2400" kern="1600">
        <a:solidFill>
          <a:schemeClr val="tx1"/>
        </a:solidFill>
        <a:latin typeface="+mn-lt"/>
        <a:ea typeface="+mn-ea"/>
        <a:cs typeface="+mn-cs"/>
      </a:defRPr>
    </a:lvl4pPr>
    <a:lvl5pPr marL="2438400" algn="l" defTabSz="1219200" rtl="0" eaLnBrk="1" latinLnBrk="0" hangingPunct="1">
      <a:defRPr sz="2400" kern="1600">
        <a:solidFill>
          <a:schemeClr val="tx1"/>
        </a:solidFill>
        <a:latin typeface="+mn-lt"/>
        <a:ea typeface="+mn-ea"/>
        <a:cs typeface="+mn-cs"/>
      </a:defRPr>
    </a:lvl5pPr>
    <a:lvl6pPr marL="3048000" algn="l" defTabSz="1219200" rtl="0" eaLnBrk="1" latinLnBrk="0" hangingPunct="1">
      <a:defRPr sz="2400" kern="1600">
        <a:solidFill>
          <a:schemeClr val="tx1"/>
        </a:solidFill>
        <a:latin typeface="+mn-lt"/>
        <a:ea typeface="+mn-ea"/>
        <a:cs typeface="+mn-cs"/>
      </a:defRPr>
    </a:lvl6pPr>
    <a:lvl7pPr marL="3657600" algn="l" defTabSz="1219200" rtl="0" eaLnBrk="1" latinLnBrk="0" hangingPunct="1">
      <a:defRPr sz="2400" kern="1600">
        <a:solidFill>
          <a:schemeClr val="tx1"/>
        </a:solidFill>
        <a:latin typeface="+mn-lt"/>
        <a:ea typeface="+mn-ea"/>
        <a:cs typeface="+mn-cs"/>
      </a:defRPr>
    </a:lvl7pPr>
    <a:lvl8pPr marL="4267200" algn="l" defTabSz="1219200" rtl="0" eaLnBrk="1" latinLnBrk="0" hangingPunct="1">
      <a:defRPr sz="2400" kern="1600">
        <a:solidFill>
          <a:schemeClr val="tx1"/>
        </a:solidFill>
        <a:latin typeface="+mn-lt"/>
        <a:ea typeface="+mn-ea"/>
        <a:cs typeface="+mn-cs"/>
      </a:defRPr>
    </a:lvl8pPr>
    <a:lvl9pPr marL="4876800" algn="l" defTabSz="1219200" rtl="0" eaLnBrk="1" latinLnBrk="0" hangingPunct="1">
      <a:defRPr sz="2400" kern="16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0:15 (ends 0:15)
SAY: Hi, I'm Anish. A photo is not just pixels. exifleak is a short Bash script that reads what a photo gives away and wipes it. The problem, the cases, the design, the code, a demo, and where it breaks.
NEXT → What is hiding in a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 (ends 0:45)
SAY: A JPEG carries a second payload, the EXIF block. The camera fills in where you stood, the phone model, its serial number, your name and what software touched it. These five lines are what my script hunts. Instagram, Facebook and X usually strip them on upload. Email, cloud links and sending as a file usually do not.
NEXT → Has this actually hurt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0:35 (ends 1:20)
SAY: This is not theory. In 2007 geotagged photos of new Apaches helped attackers find and destroy four of them. In 2010 a TV host tweeted his car outside his house, with the address inside the file. In 2012 the FBI tied a hacker to his girlfriend's house through a photo, and a published photo placed John McAfee in Guatemala. A 2010 paper showed this works at scale.
NEXT → So how is the tool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0:25 (ends 1:45)
SAY: The shape is simple. A for loop walks the files. exiftool runs once and its text is kept in a variable. Then the loop runs every function named in DETECTORS. Each detector owns one leak type, and show is the only thing that prints. So a new check is one function and one name in the list.
NEXT → The script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2:35)
SAY: Here is the whole script. Click. DETECTORS is just a list of names, and show is the helper: grep the line out of the exiftool text, take the first match, squeeze the spaces, print it with a label. Click. For location, awk adds degrees plus minutes over sixty plus seconds over thirty-six hundred, and flips the sign for south and west. That gives the map link. Click. The other detectors are two lines each. Click. inspect runs every name in the list.
NEXT → What commands are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 (ends 3:05)
SAY: Every field goes through the same four steps. exiftool prints all tags as text, grep and head keep the first line with the label, tr squeezes the padding, and echo prints it with its leak type. Location needs one more step: awk adds degrees, minutes over sixty and seconds over thirty-six hundred, and south or west flips the sign. That is the map link. Last, the dash s flag only changes which function runs for each file.
NEXT → Let's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0:35 (ends 3:40)
SAY: Real output. I point it at a folder. The first photo gives away where it was taken, with a map link, the phone, its serial number, my name and the iOS version. The second shows only a device. The third is clean. Click. Now the dash s flag: exiftool wipes the file in place. Scan again and it is clean.
NEXT → Where does it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0:25 (ends 4:05)
SAY: Honest limits. It parses exiftool's labels, so a camera that names a field differently slips past grep. It scans one folder level, because globstar needs bash 4 and a Mac has 3.2. The wipe is not total for PDFs. And exiftool itself has had remote code execution and filename injection bugs, so keep it patched.
NEXT →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0:10 (ends 4:15)
SAY: Detect, report, scrub. And one habit: share the scrubbed copy, not the original.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1219200" rtl="0" eaLnBrk="1" latinLnBrk="0" hangingPunct="1">
        <a:spcBef>
          <a:spcPct val="0"/>
        </a:spcBef>
        <a:buNone/>
        <a:defRPr sz="5867" kern="16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itchFamily="34" charset="0"/>
        <a:buChar char="•"/>
        <a:defRPr sz="4267" kern="1600">
          <a:solidFill>
            <a:schemeClr val="tx1"/>
          </a:solidFill>
          <a:latin typeface="+mn-lt"/>
          <a:ea typeface="+mn-ea"/>
          <a:cs typeface="+mn-cs"/>
        </a:defRPr>
      </a:lvl1pPr>
      <a:lvl2pPr marL="990600" indent="-381000" algn="l" defTabSz="1219200" rtl="0" eaLnBrk="1" latinLnBrk="0" hangingPunct="1">
        <a:spcBef>
          <a:spcPct val="20000"/>
        </a:spcBef>
        <a:buFont typeface="Arial" pitchFamily="34" charset="0"/>
        <a:buChar char="–"/>
        <a:defRPr sz="3733" kern="1600">
          <a:solidFill>
            <a:schemeClr val="tx1"/>
          </a:solidFill>
          <a:latin typeface="+mn-lt"/>
          <a:ea typeface="+mn-ea"/>
          <a:cs typeface="+mn-cs"/>
        </a:defRPr>
      </a:lvl2pPr>
      <a:lvl3pPr marL="1524000" indent="-304800" algn="l" defTabSz="1219200" rtl="0" eaLnBrk="1" latinLnBrk="0" hangingPunct="1">
        <a:spcBef>
          <a:spcPct val="20000"/>
        </a:spcBef>
        <a:buFont typeface="Arial" pitchFamily="34" charset="0"/>
        <a:buChar char="•"/>
        <a:defRPr sz="3200" kern="1600">
          <a:solidFill>
            <a:schemeClr val="tx1"/>
          </a:solidFill>
          <a:latin typeface="+mn-lt"/>
          <a:ea typeface="+mn-ea"/>
          <a:cs typeface="+mn-cs"/>
        </a:defRPr>
      </a:lvl3pPr>
      <a:lvl4pPr marL="21336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4pPr>
      <a:lvl5pPr marL="27432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5pPr>
      <a:lvl6pPr marL="33528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6pPr>
      <a:lvl7pPr marL="39624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7pPr>
      <a:lvl8pPr marL="45720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8pPr>
      <a:lvl9pPr marL="51816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9pPr>
    </p:bodyStyle>
    <p:otherStyle>
      <a:defPPr>
        <a:defRPr lang="en-US"/>
      </a:defPPr>
      <a:lvl1pPr marL="0" algn="l" defTabSz="1219200" rtl="0" eaLnBrk="1" latinLnBrk="0" hangingPunct="1">
        <a:defRPr sz="2400" kern="1600">
          <a:solidFill>
            <a:schemeClr val="tx1"/>
          </a:solidFill>
          <a:latin typeface="+mn-lt"/>
          <a:ea typeface="+mn-ea"/>
          <a:cs typeface="+mn-cs"/>
        </a:defRPr>
      </a:lvl1pPr>
      <a:lvl2pPr marL="609600" algn="l" defTabSz="1219200" rtl="0" eaLnBrk="1" latinLnBrk="0" hangingPunct="1">
        <a:defRPr sz="2400" kern="1600">
          <a:solidFill>
            <a:schemeClr val="tx1"/>
          </a:solidFill>
          <a:latin typeface="+mn-lt"/>
          <a:ea typeface="+mn-ea"/>
          <a:cs typeface="+mn-cs"/>
        </a:defRPr>
      </a:lvl2pPr>
      <a:lvl3pPr marL="1219200" algn="l" defTabSz="1219200" rtl="0" eaLnBrk="1" latinLnBrk="0" hangingPunct="1">
        <a:defRPr sz="2400" kern="1600">
          <a:solidFill>
            <a:schemeClr val="tx1"/>
          </a:solidFill>
          <a:latin typeface="+mn-lt"/>
          <a:ea typeface="+mn-ea"/>
          <a:cs typeface="+mn-cs"/>
        </a:defRPr>
      </a:lvl3pPr>
      <a:lvl4pPr marL="1828800" algn="l" defTabSz="1219200" rtl="0" eaLnBrk="1" latinLnBrk="0" hangingPunct="1">
        <a:defRPr sz="2400" kern="1600">
          <a:solidFill>
            <a:schemeClr val="tx1"/>
          </a:solidFill>
          <a:latin typeface="+mn-lt"/>
          <a:ea typeface="+mn-ea"/>
          <a:cs typeface="+mn-cs"/>
        </a:defRPr>
      </a:lvl4pPr>
      <a:lvl5pPr marL="2438400" algn="l" defTabSz="1219200" rtl="0" eaLnBrk="1" latinLnBrk="0" hangingPunct="1">
        <a:defRPr sz="2400" kern="1600">
          <a:solidFill>
            <a:schemeClr val="tx1"/>
          </a:solidFill>
          <a:latin typeface="+mn-lt"/>
          <a:ea typeface="+mn-ea"/>
          <a:cs typeface="+mn-cs"/>
        </a:defRPr>
      </a:lvl5pPr>
      <a:lvl6pPr marL="3048000" algn="l" defTabSz="1219200" rtl="0" eaLnBrk="1" latinLnBrk="0" hangingPunct="1">
        <a:defRPr sz="2400" kern="1600">
          <a:solidFill>
            <a:schemeClr val="tx1"/>
          </a:solidFill>
          <a:latin typeface="+mn-lt"/>
          <a:ea typeface="+mn-ea"/>
          <a:cs typeface="+mn-cs"/>
        </a:defRPr>
      </a:lvl6pPr>
      <a:lvl7pPr marL="3657600" algn="l" defTabSz="1219200" rtl="0" eaLnBrk="1" latinLnBrk="0" hangingPunct="1">
        <a:defRPr sz="2400" kern="1600">
          <a:solidFill>
            <a:schemeClr val="tx1"/>
          </a:solidFill>
          <a:latin typeface="+mn-lt"/>
          <a:ea typeface="+mn-ea"/>
          <a:cs typeface="+mn-cs"/>
        </a:defRPr>
      </a:lvl7pPr>
      <a:lvl8pPr marL="4267200" algn="l" defTabSz="1219200" rtl="0" eaLnBrk="1" latinLnBrk="0" hangingPunct="1">
        <a:defRPr sz="2400" kern="1600">
          <a:solidFill>
            <a:schemeClr val="tx1"/>
          </a:solidFill>
          <a:latin typeface="+mn-lt"/>
          <a:ea typeface="+mn-ea"/>
          <a:cs typeface="+mn-cs"/>
        </a:defRPr>
      </a:lvl8pPr>
      <a:lvl9pPr marL="4876800" algn="l" defTabSz="1219200" rtl="0" eaLnBrk="1" latinLnBrk="0" hangingPunct="1">
        <a:defRPr sz="2400" kern="16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hyperlink" Target="https://www.itnews.com.au/news/apaches-destroyed-using-geotagged-photo-data-293745" TargetMode="External"/><Relationship Id="rId5" Type="http://schemas.openxmlformats.org/officeDocument/2006/relationships/hyperlink" Target="https://www.itnews.com.au/news/apaches-destroyed-using-geotagged-photo-data-293745" TargetMode="External"/><Relationship Id="rId6" Type="http://schemas.openxmlformats.org/officeDocument/2006/relationships/hyperlink" Target="https://www.benton.org/headlines/web-photos-reveal-secrets-where-you-live" TargetMode="External"/><Relationship Id="rId7" Type="http://schemas.openxmlformats.org/officeDocument/2006/relationships/hyperlink" Target="https://www.benton.org/headlines/web-photos-reveal-secrets-where-you-live" TargetMode="External"/><Relationship Id="rId8" Type="http://schemas.openxmlformats.org/officeDocument/2006/relationships/hyperlink" Target="https://www.computerworld.com/article/1432091/embedded-data-not-breasts-brought-down-hacker-2.html" TargetMode="External"/><Relationship Id="rId9" Type="http://schemas.openxmlformats.org/officeDocument/2006/relationships/hyperlink" Target="https://www.computerworld.com/article/1432091/embedded-data-not-breasts-brought-down-hacker-2.html" TargetMode="External"/><Relationship Id="rId10" Type="http://schemas.openxmlformats.org/officeDocument/2006/relationships/hyperlink" Target="https://thenextweb.com/insider/2012/12/03/it-gets-stranger-now-mcafee-claims-that-he-falsely-edited-the-metadata-on-the-photo-that-placed-him-in-guatemala/" TargetMode="External"/><Relationship Id="rId11" Type="http://schemas.openxmlformats.org/officeDocument/2006/relationships/hyperlink" Target="https://thenextweb.com/insider/2012/12/03/it-gets-stranger-now-mcafee-claims-that-he-falsely-edited-the-metadata-on-the-photo-that-placed-him-in-guatemala/" TargetMode="Externa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4" Type="http://schemas.openxmlformats.org/officeDocument/2006/relationships/hyperlink" Target="https://exiftool.org/exiftool_pod.html" TargetMode="External"/><Relationship Id="rId5" Type="http://schemas.openxmlformats.org/officeDocument/2006/relationships/hyperlink" Target="https://exiftool.org/exiftool_pod.html" TargetMode="External"/><Relationship Id="rId6" Type="http://schemas.openxmlformats.org/officeDocument/2006/relationships/hyperlink" Target="https://nvd.nist.gov/vuln/detail/CVE-2022-23935" TargetMode="External"/><Relationship Id="rId7" Type="http://schemas.openxmlformats.org/officeDocument/2006/relationships/hyperlink" Target="https://nvd.nist.gov/vuln/detail/CVE-2022-23935" TargetMode="Externa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01 / 09</a:t>
            </a:r>
            <a:endParaRPr lang="en-US" sz="1300" dirty="0"/>
          </a:p>
        </p:txBody>
      </p:sp>
      <p:sp>
        <p:nvSpPr>
          <p:cNvPr id="12" name="Text 7"/>
          <p:cNvSpPr txBox="1"/>
          <p:nvPr/>
        </p:nvSpPr>
        <p:spPr>
          <a:xfrm>
            <a:off x="1422400" y="2388791"/>
            <a:ext cx="550168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SHELL SCRIPTING / M.E. CYBERSECURITY</a:t>
            </a:r>
            <a:endParaRPr lang="en-US" sz="1500" dirty="0"/>
          </a:p>
        </p:txBody>
      </p:sp>
      <p:sp>
        <p:nvSpPr>
          <p:cNvPr id="13" name="Text 8"/>
          <p:cNvSpPr txBox="1"/>
          <p:nvPr/>
        </p:nvSpPr>
        <p:spPr>
          <a:xfrm>
            <a:off x="1422400" y="2811065"/>
            <a:ext cx="7063383" cy="2554684"/>
          </a:xfrm>
          <a:prstGeom prst="rect">
            <a:avLst/>
          </a:prstGeom>
          <a:noFill/>
          <a:ln/>
        </p:spPr>
        <p:txBody>
          <a:bodyPr wrap="square" lIns="0" tIns="0" rIns="0" bIns="0" rtlCol="0" anchor="t"/>
          <a:lstStyle/>
          <a:p>
            <a:pPr algn="l" indent="0" marL="0">
              <a:lnSpc>
                <a:spcPts val="9016"/>
              </a:lnSpc>
              <a:buNone/>
            </a:pPr>
            <a:r>
              <a:rPr lang="en-US" sz="9200" b="1" spc="-321" kern="0" dirty="0">
                <a:solidFill>
                  <a:srgbClr val="09090B"/>
                </a:solidFill>
                <a:latin typeface="Bricolage Grotesque" pitchFamily="34" charset="0"/>
                <a:ea typeface="Bricolage Grotesque" pitchFamily="34" charset="-122"/>
                <a:cs typeface="Bricolage Grotesque" pitchFamily="34" charset="-120"/>
              </a:rPr>
              <a:t>Your photos talk.</a:t>
            </a:r>
            <a:endParaRPr lang="en-US" sz="9200" dirty="0"/>
          </a:p>
        </p:txBody>
      </p:sp>
      <p:sp>
        <p:nvSpPr>
          <p:cNvPr id="14" name="Shape 9"/>
          <p:cNvSpPr/>
          <p:nvPr/>
        </p:nvSpPr>
        <p:spPr>
          <a:xfrm>
            <a:off x="1422400" y="6256735"/>
            <a:ext cx="1647825" cy="457200"/>
          </a:xfrm>
          <a:prstGeom prst="roundRect">
            <a:avLst>
              <a:gd name="adj" fmla="val 11111"/>
            </a:avLst>
          </a:prstGeom>
          <a:solidFill>
            <a:srgbClr val="63E197"/>
          </a:solidFill>
          <a:ln/>
        </p:spPr>
      </p:sp>
      <p:sp>
        <p:nvSpPr>
          <p:cNvPr id="15" name="Text 10"/>
          <p:cNvSpPr txBox="1"/>
          <p:nvPr/>
        </p:nvSpPr>
        <p:spPr>
          <a:xfrm>
            <a:off x="1422400" y="5761435"/>
            <a:ext cx="7063383" cy="952500"/>
          </a:xfrm>
          <a:prstGeom prst="rect">
            <a:avLst/>
          </a:prstGeom>
          <a:noFill/>
          <a:ln/>
        </p:spPr>
        <p:txBody>
          <a:bodyPr wrap="square" lIns="0" tIns="0" rIns="0" bIns="0" rtlCol="0" anchor="t"/>
          <a:lstStyle/>
          <a:p>
            <a:pPr algn="l" indent="0" marL="0">
              <a:lnSpc>
                <a:spcPts val="3900"/>
              </a:lnSpc>
              <a:buNone/>
            </a:pPr>
            <a:r>
              <a:rPr lang="en-US" sz="2600" b="1" dirty="0">
                <a:solidFill>
                  <a:srgbClr val="09090B"/>
                </a:solidFill>
                <a:latin typeface="Manrope" pitchFamily="34" charset="0"/>
                <a:ea typeface="Manrope" pitchFamily="34" charset="-122"/>
                <a:cs typeface="Manrope" pitchFamily="34" charset="-120"/>
              </a:rPr>
              <a:t>exifleak</a:t>
            </a:r>
            <a:pPr algn="l" indent="0" marL="0">
              <a:lnSpc>
                <a:spcPts val="3900"/>
              </a:lnSpc>
              <a:buNone/>
            </a:pPr>
            <a:r>
              <a:rPr lang="en-US" sz="2600" dirty="0">
                <a:solidFill>
                  <a:srgbClr val="71717B"/>
                </a:solidFill>
                <a:latin typeface="Manrope" pitchFamily="34" charset="0"/>
                <a:ea typeface="Manrope" pitchFamily="34" charset="-122"/>
                <a:cs typeface="Manrope" pitchFamily="34" charset="-120"/>
              </a:rPr>
              <a:t> is a small Bash script. It reads the </a:t>
            </a:r>
            <a:pPr algn="l" indent="0" marL="0">
              <a:lnSpc>
                <a:spcPts val="3900"/>
              </a:lnSpc>
              <a:buNone/>
            </a:pPr>
            <a:r>
              <a:rPr lang="en-US" sz="2600" dirty="0">
                <a:solidFill>
                  <a:srgbClr val="030504"/>
                </a:solidFill>
                <a:latin typeface="Manrope" pitchFamily="34" charset="0"/>
                <a:ea typeface="Manrope" pitchFamily="34" charset="-122"/>
                <a:cs typeface="Manrope" pitchFamily="34" charset="-120"/>
              </a:rPr>
              <a:t>metadata</a:t>
            </a:r>
            <a:pPr algn="l" indent="0" marL="0">
              <a:lnSpc>
                <a:spcPts val="3900"/>
              </a:lnSpc>
              <a:buNone/>
            </a:pPr>
            <a:r>
              <a:rPr lang="en-US" sz="2600" dirty="0">
                <a:solidFill>
                  <a:srgbClr val="71717B"/>
                </a:solidFill>
                <a:latin typeface="Manrope" pitchFamily="34" charset="0"/>
                <a:ea typeface="Manrope" pitchFamily="34" charset="-122"/>
                <a:cs typeface="Manrope" pitchFamily="34" charset="-120"/>
              </a:rPr>
              <a:t> a photo gives away, then wipes it.</a:t>
            </a:r>
            <a:endParaRPr lang="en-US" sz="2600" dirty="0"/>
          </a:p>
        </p:txBody>
      </p:sp>
      <p:sp>
        <p:nvSpPr>
          <p:cNvPr id="16" name="Text 11"/>
          <p:cNvSpPr txBox="1"/>
          <p:nvPr/>
        </p:nvSpPr>
        <p:spPr>
          <a:xfrm>
            <a:off x="1422400" y="7107635"/>
            <a:ext cx="2548929" cy="254000"/>
          </a:xfrm>
          <a:prstGeom prst="rect">
            <a:avLst/>
          </a:prstGeom>
          <a:noFill/>
          <a:ln/>
        </p:spPr>
        <p:txBody>
          <a:bodyPr wrap="none" lIns="0" tIns="0" rIns="0" bIns="0" rtlCol="0" anchor="t"/>
          <a:lstStyle/>
          <a:p>
            <a:pPr algn="l" indent="0" marL="0">
              <a:buNone/>
            </a:pPr>
            <a:r>
              <a:rPr lang="en-US" sz="1500" spc="211" kern="0" dirty="0">
                <a:solidFill>
                  <a:srgbClr val="71717B"/>
                </a:solidFill>
                <a:latin typeface="Fira Code" pitchFamily="34" charset="0"/>
                <a:ea typeface="Fira Code" pitchFamily="34" charset="-122"/>
                <a:cs typeface="Fira Code" pitchFamily="34" charset="-120"/>
              </a:rPr>
              <a:t>ANISH SHOBITH P S</a:t>
            </a:r>
            <a:endParaRPr lang="en-US" sz="1500" dirty="0"/>
          </a:p>
        </p:txBody>
      </p:sp>
      <p:sp>
        <p:nvSpPr>
          <p:cNvPr id="17" name="Text 12"/>
          <p:cNvSpPr txBox="1"/>
          <p:nvPr/>
        </p:nvSpPr>
        <p:spPr>
          <a:xfrm>
            <a:off x="4518819" y="7107635"/>
            <a:ext cx="1562100" cy="254000"/>
          </a:xfrm>
          <a:prstGeom prst="rect">
            <a:avLst/>
          </a:prstGeom>
          <a:noFill/>
          <a:ln/>
        </p:spPr>
        <p:txBody>
          <a:bodyPr wrap="none" lIns="0" tIns="0" rIns="0" bIns="0" rtlCol="0" anchor="t"/>
          <a:lstStyle/>
          <a:p>
            <a:pPr algn="l" indent="0" marL="0">
              <a:buNone/>
            </a:pPr>
            <a:r>
              <a:rPr lang="en-US" sz="1500" spc="211" kern="0" dirty="0">
                <a:solidFill>
                  <a:srgbClr val="71717B"/>
                </a:solidFill>
                <a:latin typeface="Fira Code" pitchFamily="34" charset="0"/>
                <a:ea typeface="Fira Code" pitchFamily="34" charset="-122"/>
                <a:cs typeface="Fira Code" pitchFamily="34" charset="-120"/>
              </a:rPr>
              <a:t>MSIS, MAHE</a:t>
            </a:r>
            <a:endParaRPr lang="en-US" sz="1500" dirty="0"/>
          </a:p>
        </p:txBody>
      </p:sp>
      <p:pic>
        <p:nvPicPr>
          <p:cNvPr id="18" name="Image 3" descr="Rendered as an image because of CSS svg">    </p:cNvPr>
          <p:cNvPicPr>
            <a:picLocks noChangeAspect="1"/>
          </p:cNvPicPr>
          <p:nvPr/>
        </p:nvPicPr>
        <p:blipFill>
          <a:blip r:embed="rId4"/>
          <a:stretch>
            <a:fillRect/>
          </a:stretch>
        </p:blipFill>
        <p:spPr>
          <a:xfrm>
            <a:off x="8968383" y="2700139"/>
            <a:ext cx="5865217" cy="43658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02 / 09</a:t>
            </a:r>
            <a:endParaRPr lang="en-US" sz="1300" dirty="0"/>
          </a:p>
        </p:txBody>
      </p:sp>
      <p:sp>
        <p:nvSpPr>
          <p:cNvPr id="12" name="Text 7"/>
          <p:cNvSpPr txBox="1"/>
          <p:nvPr/>
        </p:nvSpPr>
        <p:spPr>
          <a:xfrm>
            <a:off x="1422400" y="1231900"/>
            <a:ext cx="44966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02</a:t>
            </a:r>
            <a:endParaRPr lang="en-US" sz="1500" dirty="0"/>
          </a:p>
        </p:txBody>
      </p:sp>
      <p:sp>
        <p:nvSpPr>
          <p:cNvPr id="13" name="Text 8"/>
          <p:cNvSpPr txBox="1"/>
          <p:nvPr/>
        </p:nvSpPr>
        <p:spPr>
          <a:xfrm>
            <a:off x="1897460" y="1231900"/>
            <a:ext cx="1786929" cy="254000"/>
          </a:xfrm>
          <a:prstGeom prst="rect">
            <a:avLst/>
          </a:prstGeom>
          <a:noFill/>
          <a:ln/>
        </p:spPr>
        <p:txBody>
          <a:bodyPr wrap="none" lIns="0" tIns="0" rIns="0" bIns="0" rtlCol="0" anchor="t"/>
          <a:lstStyle/>
          <a:p>
            <a:pPr algn="l" indent="0" marL="0">
              <a:buNone/>
            </a:pPr>
            <a:r>
              <a:rPr lang="en-US" sz="1500" spc="271" kern="0" dirty="0">
                <a:solidFill>
                  <a:srgbClr val="71717B"/>
                </a:solidFill>
                <a:latin typeface="Fira Code" pitchFamily="34" charset="0"/>
                <a:ea typeface="Fira Code" pitchFamily="34" charset="-122"/>
                <a:cs typeface="Fira Code" pitchFamily="34" charset="-120"/>
              </a:rPr>
              <a:t>THE PROBLEM</a:t>
            </a:r>
            <a:endParaRPr lang="en-US" sz="1500" dirty="0"/>
          </a:p>
        </p:txBody>
      </p:sp>
      <p:sp>
        <p:nvSpPr>
          <p:cNvPr id="14" name="Shape 9"/>
          <p:cNvSpPr/>
          <p:nvPr/>
        </p:nvSpPr>
        <p:spPr>
          <a:xfrm>
            <a:off x="3709789" y="1360488"/>
            <a:ext cx="11123811" cy="12700"/>
          </a:xfrm>
          <a:prstGeom prst="rect">
            <a:avLst/>
          </a:prstGeom>
          <a:solidFill>
            <a:srgbClr val="E4E4E7"/>
          </a:solidFill>
          <a:ln/>
        </p:spPr>
      </p:sp>
      <p:sp>
        <p:nvSpPr>
          <p:cNvPr id="15" name="Text 10"/>
          <p:cNvSpPr txBox="1"/>
          <p:nvPr/>
        </p:nvSpPr>
        <p:spPr>
          <a:xfrm>
            <a:off x="1422400" y="1730375"/>
            <a:ext cx="5844183" cy="1407120"/>
          </a:xfrm>
          <a:prstGeom prst="rect">
            <a:avLst/>
          </a:prstGeom>
          <a:noFill/>
          <a:ln/>
        </p:spPr>
        <p:txBody>
          <a:bodyPr wrap="square" lIns="0" tIns="0" rIns="0" bIns="0" rtlCol="0" anchor="t"/>
          <a:lstStyle/>
          <a:p>
            <a:pPr algn="l" indent="0" marL="0">
              <a:lnSpc>
                <a:spcPts val="5280"/>
              </a:lnSpc>
              <a:buNone/>
            </a:pPr>
            <a:r>
              <a:rPr lang="en-US" sz="4800" b="1" spc="-120" kern="0" dirty="0">
                <a:solidFill>
                  <a:srgbClr val="09090B"/>
                </a:solidFill>
                <a:latin typeface="Bricolage Grotesque" pitchFamily="34" charset="0"/>
                <a:ea typeface="Bricolage Grotesque" pitchFamily="34" charset="-122"/>
                <a:cs typeface="Bricolage Grotesque" pitchFamily="34" charset="-120"/>
              </a:rPr>
              <a:t>A photo is two files in one.</a:t>
            </a:r>
            <a:endParaRPr lang="en-US" sz="4800" dirty="0"/>
          </a:p>
        </p:txBody>
      </p:sp>
      <p:sp>
        <p:nvSpPr>
          <p:cNvPr id="16" name="Shape 11"/>
          <p:cNvSpPr/>
          <p:nvPr/>
        </p:nvSpPr>
        <p:spPr>
          <a:xfrm>
            <a:off x="4793257" y="3350816"/>
            <a:ext cx="796727" cy="457200"/>
          </a:xfrm>
          <a:prstGeom prst="roundRect">
            <a:avLst>
              <a:gd name="adj" fmla="val 11111"/>
            </a:avLst>
          </a:prstGeom>
          <a:solidFill>
            <a:srgbClr val="63E197"/>
          </a:solidFill>
          <a:ln/>
        </p:spPr>
      </p:sp>
      <p:sp>
        <p:nvSpPr>
          <p:cNvPr id="17" name="Text 12"/>
          <p:cNvSpPr txBox="1"/>
          <p:nvPr/>
        </p:nvSpPr>
        <p:spPr>
          <a:xfrm>
            <a:off x="1422400" y="3350816"/>
            <a:ext cx="5844183" cy="1447800"/>
          </a:xfrm>
          <a:prstGeom prst="rect">
            <a:avLst/>
          </a:prstGeom>
          <a:noFill/>
          <a:ln/>
        </p:spPr>
        <p:txBody>
          <a:bodyPr wrap="square" lIns="0" tIns="0" rIns="0" bIns="0" rtlCol="0" anchor="t"/>
          <a:lstStyle/>
          <a:p>
            <a:pPr algn="l" indent="0" marL="0">
              <a:lnSpc>
                <a:spcPts val="3900"/>
              </a:lnSpc>
              <a:buNone/>
            </a:pPr>
            <a:r>
              <a:rPr lang="en-US" sz="2600" dirty="0">
                <a:solidFill>
                  <a:srgbClr val="71717B"/>
                </a:solidFill>
                <a:latin typeface="Manrope" pitchFamily="34" charset="0"/>
                <a:ea typeface="Manrope" pitchFamily="34" charset="-122"/>
                <a:cs typeface="Manrope" pitchFamily="34" charset="-120"/>
              </a:rPr>
              <a:t>Pixels you see, and an </a:t>
            </a:r>
            <a:pPr algn="l" indent="0" marL="0">
              <a:lnSpc>
                <a:spcPts val="3900"/>
              </a:lnSpc>
              <a:buNone/>
            </a:pPr>
            <a:r>
              <a:rPr lang="en-US" sz="2600" dirty="0">
                <a:solidFill>
                  <a:srgbClr val="030504"/>
                </a:solidFill>
                <a:latin typeface="Manrope" pitchFamily="34" charset="0"/>
                <a:ea typeface="Manrope" pitchFamily="34" charset="-122"/>
                <a:cs typeface="Manrope" pitchFamily="34" charset="-120"/>
              </a:rPr>
              <a:t>EXIF</a:t>
            </a:r>
            <a:pPr algn="l" indent="0" marL="0">
              <a:lnSpc>
                <a:spcPts val="3900"/>
              </a:lnSpc>
              <a:buNone/>
            </a:pPr>
            <a:r>
              <a:rPr lang="en-US" sz="2600" dirty="0">
                <a:solidFill>
                  <a:srgbClr val="71717B"/>
                </a:solidFill>
                <a:latin typeface="Manrope" pitchFamily="34" charset="0"/>
                <a:ea typeface="Manrope" pitchFamily="34" charset="-122"/>
                <a:cs typeface="Manrope" pitchFamily="34" charset="-120"/>
              </a:rPr>
              <a:t> block you don't. The camera writes it. Every app that copies the file carries it along.</a:t>
            </a:r>
            <a:endParaRPr lang="en-US" sz="2600" dirty="0"/>
          </a:p>
        </p:txBody>
      </p:sp>
      <p:sp>
        <p:nvSpPr>
          <p:cNvPr id="18" name="Text 13"/>
          <p:cNvSpPr txBox="1"/>
          <p:nvPr/>
        </p:nvSpPr>
        <p:spPr>
          <a:xfrm>
            <a:off x="1422400" y="5166916"/>
            <a:ext cx="1697831" cy="215900"/>
          </a:xfrm>
          <a:prstGeom prst="rect">
            <a:avLst/>
          </a:prstGeom>
          <a:noFill/>
          <a:ln/>
        </p:spPr>
        <p:txBody>
          <a:bodyPr wrap="none" lIns="0" tIns="0" rIns="0" bIns="0" rtlCol="0" anchor="t"/>
          <a:lstStyle/>
          <a:p>
            <a:pPr algn="l" indent="0" marL="0">
              <a:buNone/>
            </a:pPr>
            <a:r>
              <a:rPr lang="en-US" sz="1300" spc="235" kern="0" dirty="0">
                <a:solidFill>
                  <a:srgbClr val="71717B"/>
                </a:solidFill>
                <a:latin typeface="Fira Code" pitchFamily="34" charset="0"/>
                <a:ea typeface="Fira Code" pitchFamily="34" charset="-122"/>
                <a:cs typeface="Fira Code" pitchFamily="34" charset="-120"/>
              </a:rPr>
              <a:t>USUALLY KEPT</a:t>
            </a:r>
            <a:endParaRPr lang="en-US" sz="1300" dirty="0"/>
          </a:p>
        </p:txBody>
      </p:sp>
      <p:sp>
        <p:nvSpPr>
          <p:cNvPr id="19" name="Shape 14"/>
          <p:cNvSpPr/>
          <p:nvPr/>
        </p:nvSpPr>
        <p:spPr>
          <a:xfrm>
            <a:off x="1422400" y="5537001"/>
            <a:ext cx="786011" cy="348853"/>
          </a:xfrm>
          <a:prstGeom prst="roundRect">
            <a:avLst>
              <a:gd name="adj" fmla="val 50000"/>
            </a:avLst>
          </a:prstGeom>
          <a:solidFill>
            <a:srgbClr val="FBEBEB"/>
          </a:solidFill>
          <a:ln w="12700">
            <a:solidFill>
              <a:srgbClr val="E5898F"/>
            </a:solidFill>
            <a:prstDash val="solid"/>
          </a:ln>
        </p:spPr>
      </p:sp>
      <p:sp>
        <p:nvSpPr>
          <p:cNvPr id="20" name="Text 15"/>
          <p:cNvSpPr txBox="1"/>
          <p:nvPr/>
        </p:nvSpPr>
        <p:spPr>
          <a:xfrm>
            <a:off x="1550789" y="5591969"/>
            <a:ext cx="681633" cy="215900"/>
          </a:xfrm>
          <a:prstGeom prst="rect">
            <a:avLst/>
          </a:prstGeom>
          <a:noFill/>
          <a:ln/>
        </p:spPr>
        <p:txBody>
          <a:bodyPr wrap="none" lIns="0" tIns="0" rIns="0" bIns="0" rtlCol="0" anchor="t"/>
          <a:lstStyle/>
          <a:p>
            <a:pPr algn="l" indent="0" marL="0">
              <a:buNone/>
            </a:pPr>
            <a:r>
              <a:rPr lang="en-US" sz="1303" spc="52" kern="0" dirty="0">
                <a:solidFill>
                  <a:srgbClr val="E7000B"/>
                </a:solidFill>
                <a:latin typeface="Fira Code" pitchFamily="34" charset="0"/>
                <a:ea typeface="Fira Code" pitchFamily="34" charset="-122"/>
                <a:cs typeface="Fira Code" pitchFamily="34" charset="-120"/>
              </a:rPr>
              <a:t>email</a:t>
            </a:r>
            <a:endParaRPr lang="en-US" sz="1303" dirty="0"/>
          </a:p>
        </p:txBody>
      </p:sp>
      <p:sp>
        <p:nvSpPr>
          <p:cNvPr id="21" name="Shape 16"/>
          <p:cNvSpPr/>
          <p:nvPr/>
        </p:nvSpPr>
        <p:spPr>
          <a:xfrm>
            <a:off x="2310011" y="5537001"/>
            <a:ext cx="1421011" cy="348853"/>
          </a:xfrm>
          <a:prstGeom prst="roundRect">
            <a:avLst>
              <a:gd name="adj" fmla="val 50000"/>
            </a:avLst>
          </a:prstGeom>
          <a:solidFill>
            <a:srgbClr val="FBEBEB"/>
          </a:solidFill>
          <a:ln w="12700">
            <a:solidFill>
              <a:srgbClr val="E5898F"/>
            </a:solidFill>
            <a:prstDash val="solid"/>
          </a:ln>
        </p:spPr>
      </p:sp>
      <p:sp>
        <p:nvSpPr>
          <p:cNvPr id="22" name="Text 17"/>
          <p:cNvSpPr txBox="1"/>
          <p:nvPr/>
        </p:nvSpPr>
        <p:spPr>
          <a:xfrm>
            <a:off x="2438400" y="5591969"/>
            <a:ext cx="1316633" cy="215900"/>
          </a:xfrm>
          <a:prstGeom prst="rect">
            <a:avLst/>
          </a:prstGeom>
          <a:noFill/>
          <a:ln/>
        </p:spPr>
        <p:txBody>
          <a:bodyPr wrap="none" lIns="0" tIns="0" rIns="0" bIns="0" rtlCol="0" anchor="t"/>
          <a:lstStyle/>
          <a:p>
            <a:pPr algn="l" indent="0" marL="0">
              <a:buNone/>
            </a:pPr>
            <a:r>
              <a:rPr lang="en-US" sz="1303" spc="52" kern="0" dirty="0">
                <a:solidFill>
                  <a:srgbClr val="E7000B"/>
                </a:solidFill>
                <a:latin typeface="Fira Code" pitchFamily="34" charset="0"/>
                <a:ea typeface="Fira Code" pitchFamily="34" charset="-122"/>
                <a:cs typeface="Fira Code" pitchFamily="34" charset="-120"/>
              </a:rPr>
              <a:t>cloud links</a:t>
            </a:r>
            <a:endParaRPr lang="en-US" sz="1303" dirty="0"/>
          </a:p>
        </p:txBody>
      </p:sp>
      <p:sp>
        <p:nvSpPr>
          <p:cNvPr id="23" name="Shape 18"/>
          <p:cNvSpPr/>
          <p:nvPr/>
        </p:nvSpPr>
        <p:spPr>
          <a:xfrm>
            <a:off x="3832621" y="5537001"/>
            <a:ext cx="997744" cy="348853"/>
          </a:xfrm>
          <a:prstGeom prst="roundRect">
            <a:avLst>
              <a:gd name="adj" fmla="val 50000"/>
            </a:avLst>
          </a:prstGeom>
          <a:solidFill>
            <a:srgbClr val="FBEBEB"/>
          </a:solidFill>
          <a:ln w="12700">
            <a:solidFill>
              <a:srgbClr val="E5898F"/>
            </a:solidFill>
            <a:prstDash val="solid"/>
          </a:ln>
        </p:spPr>
      </p:sp>
      <p:sp>
        <p:nvSpPr>
          <p:cNvPr id="24" name="Text 19"/>
          <p:cNvSpPr txBox="1"/>
          <p:nvPr/>
        </p:nvSpPr>
        <p:spPr>
          <a:xfrm>
            <a:off x="3961011" y="5591969"/>
            <a:ext cx="893365" cy="215900"/>
          </a:xfrm>
          <a:prstGeom prst="rect">
            <a:avLst/>
          </a:prstGeom>
          <a:noFill/>
          <a:ln/>
        </p:spPr>
        <p:txBody>
          <a:bodyPr wrap="none" lIns="0" tIns="0" rIns="0" bIns="0" rtlCol="0" anchor="t"/>
          <a:lstStyle/>
          <a:p>
            <a:pPr algn="l" indent="0" marL="0">
              <a:buNone/>
            </a:pPr>
            <a:r>
              <a:rPr lang="en-US" sz="1303" spc="52" kern="0" dirty="0">
                <a:solidFill>
                  <a:srgbClr val="E7000B"/>
                </a:solidFill>
                <a:latin typeface="Fira Code" pitchFamily="34" charset="0"/>
                <a:ea typeface="Fira Code" pitchFamily="34" charset="-122"/>
                <a:cs typeface="Fira Code" pitchFamily="34" charset="-120"/>
              </a:rPr>
              <a:t>AirDrop</a:t>
            </a:r>
            <a:endParaRPr lang="en-US" sz="1303" dirty="0"/>
          </a:p>
        </p:txBody>
      </p:sp>
      <p:sp>
        <p:nvSpPr>
          <p:cNvPr id="25" name="Shape 20"/>
          <p:cNvSpPr/>
          <p:nvPr/>
        </p:nvSpPr>
        <p:spPr>
          <a:xfrm>
            <a:off x="4931965" y="5537001"/>
            <a:ext cx="1950045" cy="348853"/>
          </a:xfrm>
          <a:prstGeom prst="roundRect">
            <a:avLst>
              <a:gd name="adj" fmla="val 50000"/>
            </a:avLst>
          </a:prstGeom>
          <a:solidFill>
            <a:srgbClr val="FBEBEB"/>
          </a:solidFill>
          <a:ln w="12700">
            <a:solidFill>
              <a:srgbClr val="E5898F"/>
            </a:solidFill>
            <a:prstDash val="solid"/>
          </a:ln>
        </p:spPr>
      </p:sp>
      <p:sp>
        <p:nvSpPr>
          <p:cNvPr id="26" name="Text 21"/>
          <p:cNvSpPr txBox="1"/>
          <p:nvPr/>
        </p:nvSpPr>
        <p:spPr>
          <a:xfrm>
            <a:off x="5060355" y="5591969"/>
            <a:ext cx="1845667" cy="215900"/>
          </a:xfrm>
          <a:prstGeom prst="rect">
            <a:avLst/>
          </a:prstGeom>
          <a:noFill/>
          <a:ln/>
        </p:spPr>
        <p:txBody>
          <a:bodyPr wrap="none" lIns="0" tIns="0" rIns="0" bIns="0" rtlCol="0" anchor="t"/>
          <a:lstStyle/>
          <a:p>
            <a:pPr algn="l" indent="0" marL="0">
              <a:buNone/>
            </a:pPr>
            <a:r>
              <a:rPr lang="en-US" sz="1303" spc="52" kern="0" dirty="0">
                <a:solidFill>
                  <a:srgbClr val="E7000B"/>
                </a:solidFill>
                <a:latin typeface="Fira Code" pitchFamily="34" charset="0"/>
                <a:ea typeface="Fira Code" pitchFamily="34" charset="-122"/>
                <a:cs typeface="Fira Code" pitchFamily="34" charset="-120"/>
              </a:rPr>
              <a:t>sent as document</a:t>
            </a:r>
            <a:endParaRPr lang="en-US" sz="1303" dirty="0"/>
          </a:p>
        </p:txBody>
      </p:sp>
      <p:sp>
        <p:nvSpPr>
          <p:cNvPr id="27" name="Text 22"/>
          <p:cNvSpPr txBox="1"/>
          <p:nvPr/>
        </p:nvSpPr>
        <p:spPr>
          <a:xfrm>
            <a:off x="1422400" y="6127155"/>
            <a:ext cx="3500636" cy="215900"/>
          </a:xfrm>
          <a:prstGeom prst="rect">
            <a:avLst/>
          </a:prstGeom>
          <a:noFill/>
          <a:ln/>
        </p:spPr>
        <p:txBody>
          <a:bodyPr wrap="none" lIns="0" tIns="0" rIns="0" bIns="0" rtlCol="0" anchor="t"/>
          <a:lstStyle/>
          <a:p>
            <a:pPr algn="l" indent="0" marL="0">
              <a:buNone/>
            </a:pPr>
            <a:r>
              <a:rPr lang="en-US" sz="1300" spc="235" kern="0" dirty="0">
                <a:solidFill>
                  <a:srgbClr val="71717B"/>
                </a:solidFill>
                <a:latin typeface="Fira Code" pitchFamily="34" charset="0"/>
                <a:ea typeface="Fira Code" pitchFamily="34" charset="-122"/>
                <a:cs typeface="Fira Code" pitchFamily="34" charset="-120"/>
              </a:rPr>
              <a:t>USUALLY STRIPPED ON UPLOAD</a:t>
            </a:r>
            <a:endParaRPr lang="en-US" sz="1300" dirty="0"/>
          </a:p>
        </p:txBody>
      </p:sp>
      <p:sp>
        <p:nvSpPr>
          <p:cNvPr id="28" name="Shape 23"/>
          <p:cNvSpPr/>
          <p:nvPr/>
        </p:nvSpPr>
        <p:spPr>
          <a:xfrm>
            <a:off x="1422400" y="6497240"/>
            <a:ext cx="1209279" cy="348853"/>
          </a:xfrm>
          <a:prstGeom prst="roundRect">
            <a:avLst>
              <a:gd name="adj" fmla="val 50000"/>
            </a:avLst>
          </a:prstGeom>
          <a:solidFill>
            <a:srgbClr val="E4F3E8"/>
          </a:solidFill>
          <a:ln w="12700">
            <a:solidFill>
              <a:srgbClr val="BFDFC9"/>
            </a:solidFill>
            <a:prstDash val="solid"/>
          </a:ln>
        </p:spPr>
      </p:sp>
      <p:sp>
        <p:nvSpPr>
          <p:cNvPr id="29" name="Text 24"/>
          <p:cNvSpPr txBox="1"/>
          <p:nvPr/>
        </p:nvSpPr>
        <p:spPr>
          <a:xfrm>
            <a:off x="1550789" y="6552208"/>
            <a:ext cx="1104900" cy="215900"/>
          </a:xfrm>
          <a:prstGeom prst="rect">
            <a:avLst/>
          </a:prstGeom>
          <a:noFill/>
          <a:ln/>
        </p:spPr>
        <p:txBody>
          <a:bodyPr wrap="none" lIns="0" tIns="0" rIns="0" bIns="0" rtlCol="0" anchor="t"/>
          <a:lstStyle/>
          <a:p>
            <a:pPr algn="l" indent="0" marL="0">
              <a:buNone/>
            </a:pPr>
            <a:r>
              <a:rPr lang="en-US" sz="1303" spc="52" kern="0" dirty="0">
                <a:solidFill>
                  <a:srgbClr val="006630"/>
                </a:solidFill>
                <a:latin typeface="Fira Code" pitchFamily="34" charset="0"/>
                <a:ea typeface="Fira Code" pitchFamily="34" charset="-122"/>
                <a:cs typeface="Fira Code" pitchFamily="34" charset="-120"/>
              </a:rPr>
              <a:t>Instagram</a:t>
            </a:r>
            <a:endParaRPr lang="en-US" sz="1303" dirty="0"/>
          </a:p>
        </p:txBody>
      </p:sp>
      <p:sp>
        <p:nvSpPr>
          <p:cNvPr id="30" name="Shape 25"/>
          <p:cNvSpPr/>
          <p:nvPr/>
        </p:nvSpPr>
        <p:spPr>
          <a:xfrm>
            <a:off x="2733279" y="6497240"/>
            <a:ext cx="1103511" cy="348853"/>
          </a:xfrm>
          <a:prstGeom prst="roundRect">
            <a:avLst>
              <a:gd name="adj" fmla="val 50000"/>
            </a:avLst>
          </a:prstGeom>
          <a:solidFill>
            <a:srgbClr val="E4F3E8"/>
          </a:solidFill>
          <a:ln w="12700">
            <a:solidFill>
              <a:srgbClr val="BFDFC9"/>
            </a:solidFill>
            <a:prstDash val="solid"/>
          </a:ln>
        </p:spPr>
      </p:sp>
      <p:sp>
        <p:nvSpPr>
          <p:cNvPr id="31" name="Text 26"/>
          <p:cNvSpPr txBox="1"/>
          <p:nvPr/>
        </p:nvSpPr>
        <p:spPr>
          <a:xfrm>
            <a:off x="2861667" y="6552208"/>
            <a:ext cx="999133" cy="215900"/>
          </a:xfrm>
          <a:prstGeom prst="rect">
            <a:avLst/>
          </a:prstGeom>
          <a:noFill/>
          <a:ln/>
        </p:spPr>
        <p:txBody>
          <a:bodyPr wrap="none" lIns="0" tIns="0" rIns="0" bIns="0" rtlCol="0" anchor="t"/>
          <a:lstStyle/>
          <a:p>
            <a:pPr algn="l" indent="0" marL="0">
              <a:buNone/>
            </a:pPr>
            <a:r>
              <a:rPr lang="en-US" sz="1303" spc="52" kern="0" dirty="0">
                <a:solidFill>
                  <a:srgbClr val="006630"/>
                </a:solidFill>
                <a:latin typeface="Fira Code" pitchFamily="34" charset="0"/>
                <a:ea typeface="Fira Code" pitchFamily="34" charset="-122"/>
                <a:cs typeface="Fira Code" pitchFamily="34" charset="-120"/>
              </a:rPr>
              <a:t>Facebook</a:t>
            </a:r>
            <a:endParaRPr lang="en-US" sz="1303" dirty="0"/>
          </a:p>
        </p:txBody>
      </p:sp>
      <p:sp>
        <p:nvSpPr>
          <p:cNvPr id="32" name="Shape 27"/>
          <p:cNvSpPr/>
          <p:nvPr/>
        </p:nvSpPr>
        <p:spPr>
          <a:xfrm>
            <a:off x="3938389" y="6497240"/>
            <a:ext cx="362744" cy="348853"/>
          </a:xfrm>
          <a:prstGeom prst="roundRect">
            <a:avLst>
              <a:gd name="adj" fmla="val 50000"/>
            </a:avLst>
          </a:prstGeom>
          <a:solidFill>
            <a:srgbClr val="E4F3E8"/>
          </a:solidFill>
          <a:ln w="12700">
            <a:solidFill>
              <a:srgbClr val="BFDFC9"/>
            </a:solidFill>
            <a:prstDash val="solid"/>
          </a:ln>
        </p:spPr>
      </p:sp>
      <p:sp>
        <p:nvSpPr>
          <p:cNvPr id="33" name="Text 28"/>
          <p:cNvSpPr txBox="1"/>
          <p:nvPr/>
        </p:nvSpPr>
        <p:spPr>
          <a:xfrm>
            <a:off x="4066779" y="6552208"/>
            <a:ext cx="258365" cy="215900"/>
          </a:xfrm>
          <a:prstGeom prst="rect">
            <a:avLst/>
          </a:prstGeom>
          <a:noFill/>
          <a:ln/>
        </p:spPr>
        <p:txBody>
          <a:bodyPr wrap="none" lIns="0" tIns="0" rIns="0" bIns="0" rtlCol="0" anchor="t"/>
          <a:lstStyle/>
          <a:p>
            <a:pPr algn="l" indent="0" marL="0">
              <a:buNone/>
            </a:pPr>
            <a:r>
              <a:rPr lang="en-US" sz="1303" spc="52" kern="0" dirty="0">
                <a:solidFill>
                  <a:srgbClr val="006630"/>
                </a:solidFill>
                <a:latin typeface="Fira Code" pitchFamily="34" charset="0"/>
                <a:ea typeface="Fira Code" pitchFamily="34" charset="-122"/>
                <a:cs typeface="Fira Code" pitchFamily="34" charset="-120"/>
              </a:rPr>
              <a:t>X</a:t>
            </a:r>
            <a:endParaRPr lang="en-US" sz="1303" dirty="0"/>
          </a:p>
        </p:txBody>
      </p:sp>
      <p:sp>
        <p:nvSpPr>
          <p:cNvPr id="34" name="Shape 29"/>
          <p:cNvSpPr/>
          <p:nvPr/>
        </p:nvSpPr>
        <p:spPr>
          <a:xfrm>
            <a:off x="4402733" y="6497240"/>
            <a:ext cx="891779" cy="348853"/>
          </a:xfrm>
          <a:prstGeom prst="roundRect">
            <a:avLst>
              <a:gd name="adj" fmla="val 50000"/>
            </a:avLst>
          </a:prstGeom>
          <a:solidFill>
            <a:srgbClr val="E4F3E8"/>
          </a:solidFill>
          <a:ln w="12700">
            <a:solidFill>
              <a:srgbClr val="BFDFC9"/>
            </a:solidFill>
            <a:prstDash val="solid"/>
          </a:ln>
        </p:spPr>
      </p:sp>
      <p:sp>
        <p:nvSpPr>
          <p:cNvPr id="35" name="Text 30"/>
          <p:cNvSpPr txBox="1"/>
          <p:nvPr/>
        </p:nvSpPr>
        <p:spPr>
          <a:xfrm>
            <a:off x="4531121" y="6552208"/>
            <a:ext cx="787400" cy="215900"/>
          </a:xfrm>
          <a:prstGeom prst="rect">
            <a:avLst/>
          </a:prstGeom>
          <a:noFill/>
          <a:ln/>
        </p:spPr>
        <p:txBody>
          <a:bodyPr wrap="none" lIns="0" tIns="0" rIns="0" bIns="0" rtlCol="0" anchor="t"/>
          <a:lstStyle/>
          <a:p>
            <a:pPr algn="l" indent="0" marL="0">
              <a:buNone/>
            </a:pPr>
            <a:r>
              <a:rPr lang="en-US" sz="1303" spc="52" kern="0" dirty="0">
                <a:solidFill>
                  <a:srgbClr val="006630"/>
                </a:solidFill>
                <a:latin typeface="Fira Code" pitchFamily="34" charset="0"/>
                <a:ea typeface="Fira Code" pitchFamily="34" charset="-122"/>
                <a:cs typeface="Fira Code" pitchFamily="34" charset="-120"/>
              </a:rPr>
              <a:t>Signal</a:t>
            </a:r>
            <a:endParaRPr lang="en-US" sz="1303" dirty="0"/>
          </a:p>
        </p:txBody>
      </p:sp>
      <p:sp>
        <p:nvSpPr>
          <p:cNvPr id="36" name="Shape 31"/>
          <p:cNvSpPr/>
          <p:nvPr/>
        </p:nvSpPr>
        <p:spPr>
          <a:xfrm>
            <a:off x="7850783" y="1768475"/>
            <a:ext cx="6982817" cy="5450681"/>
          </a:xfrm>
          <a:prstGeom prst="roundRect">
            <a:avLst>
              <a:gd name="adj" fmla="val 3262"/>
            </a:avLst>
          </a:prstGeom>
          <a:solidFill>
            <a:srgbClr val="E4E4E7"/>
          </a:solidFill>
          <a:ln w="12700">
            <a:solidFill>
              <a:srgbClr val="E4E4E7"/>
            </a:solidFill>
            <a:prstDash val="solid"/>
          </a:ln>
        </p:spPr>
      </p:sp>
      <p:sp>
        <p:nvSpPr>
          <p:cNvPr id="37" name="Shape 32"/>
          <p:cNvSpPr/>
          <p:nvPr/>
        </p:nvSpPr>
        <p:spPr>
          <a:xfrm>
            <a:off x="7863483" y="1781175"/>
            <a:ext cx="6957417" cy="560585"/>
          </a:xfrm>
          <a:prstGeom prst="rect">
            <a:avLst/>
          </a:prstGeom>
          <a:solidFill>
            <a:srgbClr val="F4F7F5"/>
          </a:solidFill>
          <a:ln/>
        </p:spPr>
      </p:sp>
      <p:sp>
        <p:nvSpPr>
          <p:cNvPr id="38" name="Text 33"/>
          <p:cNvSpPr txBox="1"/>
          <p:nvPr/>
        </p:nvSpPr>
        <p:spPr>
          <a:xfrm>
            <a:off x="8142883" y="1946275"/>
            <a:ext cx="2856707" cy="215900"/>
          </a:xfrm>
          <a:prstGeom prst="rect">
            <a:avLst/>
          </a:prstGeom>
          <a:noFill/>
          <a:ln/>
        </p:spPr>
        <p:txBody>
          <a:bodyPr wrap="none" lIns="0" tIns="0" rIns="0" bIns="0" rtlCol="0" anchor="t"/>
          <a:lstStyle/>
          <a:p>
            <a:pPr algn="l" indent="0" marL="0">
              <a:buNone/>
            </a:pPr>
            <a:r>
              <a:rPr lang="en-US" sz="1300" spc="235" kern="0" dirty="0">
                <a:solidFill>
                  <a:srgbClr val="71717B"/>
                </a:solidFill>
                <a:latin typeface="Fira Code" pitchFamily="34" charset="0"/>
                <a:ea typeface="Fira Code" pitchFamily="34" charset="-122"/>
                <a:cs typeface="Fira Code" pitchFamily="34" charset="-120"/>
              </a:rPr>
              <a:t>WHAT THE SCRIPT HUNTS</a:t>
            </a:r>
            <a:endParaRPr lang="en-US" sz="1300" dirty="0"/>
          </a:p>
        </p:txBody>
      </p:sp>
      <p:sp>
        <p:nvSpPr>
          <p:cNvPr id="39" name="Shape 34"/>
          <p:cNvSpPr/>
          <p:nvPr/>
        </p:nvSpPr>
        <p:spPr>
          <a:xfrm>
            <a:off x="7863483" y="2354461"/>
            <a:ext cx="6957417" cy="960239"/>
          </a:xfrm>
          <a:prstGeom prst="roundRect">
            <a:avLst>
              <a:gd name="adj" fmla="val 18516"/>
            </a:avLst>
          </a:prstGeom>
          <a:solidFill>
            <a:srgbClr val="FDFFFE"/>
          </a:solidFill>
          <a:ln/>
        </p:spPr>
      </p:sp>
      <p:sp>
        <p:nvSpPr>
          <p:cNvPr id="40" name="Text 35"/>
          <p:cNvSpPr txBox="1"/>
          <p:nvPr/>
        </p:nvSpPr>
        <p:spPr>
          <a:xfrm>
            <a:off x="8142883" y="2533055"/>
            <a:ext cx="1578967" cy="254000"/>
          </a:xfrm>
          <a:prstGeom prst="rect">
            <a:avLst/>
          </a:prstGeom>
          <a:noFill/>
          <a:ln/>
        </p:spPr>
        <p:txBody>
          <a:bodyPr wrap="none" lIns="0" tIns="0" rIns="0" bIns="0" rtlCol="0" anchor="t"/>
          <a:lstStyle/>
          <a:p>
            <a:pPr algn="l" indent="0" marL="0">
              <a:buNone/>
            </a:pPr>
            <a:r>
              <a:rPr lang="en-US" sz="1560" b="1" dirty="0">
                <a:solidFill>
                  <a:srgbClr val="09090B"/>
                </a:solidFill>
                <a:latin typeface="Fira Code" pitchFamily="34" charset="0"/>
                <a:ea typeface="Fira Code" pitchFamily="34" charset="-122"/>
                <a:cs typeface="Fira Code" pitchFamily="34" charset="-120"/>
              </a:rPr>
              <a:t>GPS Position</a:t>
            </a:r>
            <a:endParaRPr lang="en-US" sz="1560" dirty="0"/>
          </a:p>
        </p:txBody>
      </p:sp>
      <p:sp>
        <p:nvSpPr>
          <p:cNvPr id="41" name="Shape 36"/>
          <p:cNvSpPr/>
          <p:nvPr/>
        </p:nvSpPr>
        <p:spPr>
          <a:xfrm>
            <a:off x="13489384" y="2494161"/>
            <a:ext cx="1052116" cy="333772"/>
          </a:xfrm>
          <a:prstGeom prst="roundRect">
            <a:avLst>
              <a:gd name="adj" fmla="val 50000"/>
            </a:avLst>
          </a:prstGeom>
          <a:solidFill>
            <a:srgbClr val="FBEBEB"/>
          </a:solidFill>
          <a:ln w="12700">
            <a:solidFill>
              <a:srgbClr val="E5898F"/>
            </a:solidFill>
            <a:prstDash val="solid"/>
          </a:ln>
        </p:spPr>
      </p:sp>
      <p:sp>
        <p:nvSpPr>
          <p:cNvPr id="42" name="Text 37"/>
          <p:cNvSpPr txBox="1"/>
          <p:nvPr/>
        </p:nvSpPr>
        <p:spPr>
          <a:xfrm>
            <a:off x="13612217" y="2547739"/>
            <a:ext cx="958849" cy="203200"/>
          </a:xfrm>
          <a:prstGeom prst="rect">
            <a:avLst/>
          </a:prstGeom>
          <a:noFill/>
          <a:ln/>
        </p:spPr>
        <p:txBody>
          <a:bodyPr wrap="none" lIns="0" tIns="0" rIns="0" bIns="0" rtlCol="0" anchor="t"/>
          <a:lstStyle/>
          <a:p>
            <a:pPr algn="l" indent="0" marL="0">
              <a:buNone/>
            </a:pPr>
            <a:r>
              <a:rPr lang="en-US" sz="1240" spc="49" kern="0" dirty="0">
                <a:solidFill>
                  <a:srgbClr val="E7000B"/>
                </a:solidFill>
                <a:latin typeface="Fira Code" pitchFamily="34" charset="0"/>
                <a:ea typeface="Fira Code" pitchFamily="34" charset="-122"/>
                <a:cs typeface="Fira Code" pitchFamily="34" charset="-120"/>
              </a:rPr>
              <a:t>location</a:t>
            </a:r>
            <a:endParaRPr lang="en-US" sz="1240" dirty="0"/>
          </a:p>
        </p:txBody>
      </p:sp>
      <p:sp>
        <p:nvSpPr>
          <p:cNvPr id="43" name="Text 38"/>
          <p:cNvSpPr txBox="1"/>
          <p:nvPr/>
        </p:nvSpPr>
        <p:spPr>
          <a:xfrm>
            <a:off x="8142883" y="2891433"/>
            <a:ext cx="4431903" cy="241300"/>
          </a:xfrm>
          <a:prstGeom prst="rect">
            <a:avLst/>
          </a:prstGeom>
          <a:noFill/>
          <a:ln/>
        </p:spPr>
        <p:txBody>
          <a:bodyPr wrap="none" lIns="0" tIns="0" rIns="0" bIns="0" rtlCol="0" anchor="t"/>
          <a:lstStyle/>
          <a:p>
            <a:pPr algn="l" indent="0" marL="0">
              <a:buNone/>
            </a:pPr>
            <a:r>
              <a:rPr lang="en-US" sz="1440" dirty="0">
                <a:solidFill>
                  <a:srgbClr val="71717B"/>
                </a:solidFill>
                <a:latin typeface="Fira Code" pitchFamily="34" charset="0"/>
                <a:ea typeface="Fira Code" pitchFamily="34" charset="-122"/>
                <a:cs typeface="Fira Code" pitchFamily="34" charset="-120"/>
              </a:rPr>
              <a:t>13 deg 21' 9.00" N, 74 deg 47' 34.08" E</a:t>
            </a:r>
            <a:endParaRPr lang="en-US" sz="1440" dirty="0"/>
          </a:p>
        </p:txBody>
      </p:sp>
      <p:sp>
        <p:nvSpPr>
          <p:cNvPr id="44" name="Shape 39"/>
          <p:cNvSpPr/>
          <p:nvPr/>
        </p:nvSpPr>
        <p:spPr>
          <a:xfrm>
            <a:off x="7863483" y="3327400"/>
            <a:ext cx="6957417" cy="960239"/>
          </a:xfrm>
          <a:prstGeom prst="roundRect">
            <a:avLst>
              <a:gd name="adj" fmla="val 18516"/>
            </a:avLst>
          </a:prstGeom>
          <a:solidFill>
            <a:srgbClr val="FDFFFE"/>
          </a:solidFill>
          <a:ln/>
        </p:spPr>
      </p:sp>
      <p:sp>
        <p:nvSpPr>
          <p:cNvPr id="45" name="Text 40"/>
          <p:cNvSpPr txBox="1"/>
          <p:nvPr/>
        </p:nvSpPr>
        <p:spPr>
          <a:xfrm>
            <a:off x="8142883" y="3505993"/>
            <a:ext cx="2173288" cy="254000"/>
          </a:xfrm>
          <a:prstGeom prst="rect">
            <a:avLst/>
          </a:prstGeom>
          <a:noFill/>
          <a:ln/>
        </p:spPr>
        <p:txBody>
          <a:bodyPr wrap="none" lIns="0" tIns="0" rIns="0" bIns="0" rtlCol="0" anchor="t"/>
          <a:lstStyle/>
          <a:p>
            <a:pPr algn="l" indent="0" marL="0">
              <a:buNone/>
            </a:pPr>
            <a:r>
              <a:rPr lang="en-US" sz="1560" b="1" dirty="0">
                <a:solidFill>
                  <a:srgbClr val="09090B"/>
                </a:solidFill>
                <a:latin typeface="Fira Code" pitchFamily="34" charset="0"/>
                <a:ea typeface="Fira Code" pitchFamily="34" charset="-122"/>
                <a:cs typeface="Fira Code" pitchFamily="34" charset="-120"/>
              </a:rPr>
              <a:t>Camera Model Name</a:t>
            </a:r>
            <a:endParaRPr lang="en-US" sz="1560" dirty="0"/>
          </a:p>
        </p:txBody>
      </p:sp>
      <p:sp>
        <p:nvSpPr>
          <p:cNvPr id="46" name="Shape 41"/>
          <p:cNvSpPr/>
          <p:nvPr/>
        </p:nvSpPr>
        <p:spPr>
          <a:xfrm>
            <a:off x="13690997" y="3467100"/>
            <a:ext cx="850503" cy="333772"/>
          </a:xfrm>
          <a:prstGeom prst="roundRect">
            <a:avLst>
              <a:gd name="adj" fmla="val 50000"/>
            </a:avLst>
          </a:prstGeom>
          <a:solidFill>
            <a:srgbClr val="FDF5E5"/>
          </a:solidFill>
          <a:ln w="12700">
            <a:solidFill>
              <a:srgbClr val="F1BF73"/>
            </a:solidFill>
            <a:prstDash val="solid"/>
          </a:ln>
        </p:spPr>
      </p:sp>
      <p:sp>
        <p:nvSpPr>
          <p:cNvPr id="47" name="Text 42"/>
          <p:cNvSpPr txBox="1"/>
          <p:nvPr/>
        </p:nvSpPr>
        <p:spPr>
          <a:xfrm>
            <a:off x="13813829" y="3520679"/>
            <a:ext cx="757237" cy="203200"/>
          </a:xfrm>
          <a:prstGeom prst="rect">
            <a:avLst/>
          </a:prstGeom>
          <a:noFill/>
          <a:ln/>
        </p:spPr>
        <p:txBody>
          <a:bodyPr wrap="none" lIns="0" tIns="0" rIns="0" bIns="0" rtlCol="0" anchor="t"/>
          <a:lstStyle/>
          <a:p>
            <a:pPr algn="l" indent="0" marL="0">
              <a:buNone/>
            </a:pPr>
            <a:r>
              <a:rPr lang="en-US" sz="1240" spc="49" kern="0" dirty="0">
                <a:solidFill>
                  <a:srgbClr val="B46E03"/>
                </a:solidFill>
                <a:latin typeface="Fira Code" pitchFamily="34" charset="0"/>
                <a:ea typeface="Fira Code" pitchFamily="34" charset="-122"/>
                <a:cs typeface="Fira Code" pitchFamily="34" charset="-120"/>
              </a:rPr>
              <a:t>device</a:t>
            </a:r>
            <a:endParaRPr lang="en-US" sz="1240" dirty="0"/>
          </a:p>
        </p:txBody>
      </p:sp>
      <p:sp>
        <p:nvSpPr>
          <p:cNvPr id="48" name="Text 43"/>
          <p:cNvSpPr txBox="1"/>
          <p:nvPr/>
        </p:nvSpPr>
        <p:spPr>
          <a:xfrm>
            <a:off x="8142883" y="3864372"/>
            <a:ext cx="1578967" cy="241300"/>
          </a:xfrm>
          <a:prstGeom prst="rect">
            <a:avLst/>
          </a:prstGeom>
          <a:noFill/>
          <a:ln/>
        </p:spPr>
        <p:txBody>
          <a:bodyPr wrap="none" lIns="0" tIns="0" rIns="0" bIns="0" rtlCol="0" anchor="t"/>
          <a:lstStyle/>
          <a:p>
            <a:pPr algn="l" indent="0" marL="0">
              <a:buNone/>
            </a:pPr>
            <a:r>
              <a:rPr lang="en-US" sz="1440" dirty="0">
                <a:solidFill>
                  <a:srgbClr val="71717B"/>
                </a:solidFill>
                <a:latin typeface="Fira Code" pitchFamily="34" charset="0"/>
                <a:ea typeface="Fira Code" pitchFamily="34" charset="-122"/>
                <a:cs typeface="Fira Code" pitchFamily="34" charset="-120"/>
              </a:rPr>
              <a:t>iPhone 15 Pro</a:t>
            </a:r>
            <a:endParaRPr lang="en-US" sz="1440" dirty="0"/>
          </a:p>
        </p:txBody>
      </p:sp>
      <p:sp>
        <p:nvSpPr>
          <p:cNvPr id="49" name="Shape 44"/>
          <p:cNvSpPr/>
          <p:nvPr/>
        </p:nvSpPr>
        <p:spPr>
          <a:xfrm>
            <a:off x="7863483" y="4300339"/>
            <a:ext cx="6957417" cy="960239"/>
          </a:xfrm>
          <a:prstGeom prst="roundRect">
            <a:avLst>
              <a:gd name="adj" fmla="val 18516"/>
            </a:avLst>
          </a:prstGeom>
          <a:solidFill>
            <a:srgbClr val="FDFFFE"/>
          </a:solidFill>
          <a:ln/>
        </p:spPr>
      </p:sp>
      <p:sp>
        <p:nvSpPr>
          <p:cNvPr id="50" name="Text 45"/>
          <p:cNvSpPr txBox="1"/>
          <p:nvPr/>
        </p:nvSpPr>
        <p:spPr>
          <a:xfrm>
            <a:off x="8142883" y="4478933"/>
            <a:ext cx="1697831" cy="254000"/>
          </a:xfrm>
          <a:prstGeom prst="rect">
            <a:avLst/>
          </a:prstGeom>
          <a:noFill/>
          <a:ln/>
        </p:spPr>
        <p:txBody>
          <a:bodyPr wrap="none" lIns="0" tIns="0" rIns="0" bIns="0" rtlCol="0" anchor="t"/>
          <a:lstStyle/>
          <a:p>
            <a:pPr algn="l" indent="0" marL="0">
              <a:buNone/>
            </a:pPr>
            <a:r>
              <a:rPr lang="en-US" sz="1560" b="1" dirty="0">
                <a:solidFill>
                  <a:srgbClr val="09090B"/>
                </a:solidFill>
                <a:latin typeface="Fira Code" pitchFamily="34" charset="0"/>
                <a:ea typeface="Fira Code" pitchFamily="34" charset="-122"/>
                <a:cs typeface="Fira Code" pitchFamily="34" charset="-120"/>
              </a:rPr>
              <a:t>Serial Number</a:t>
            </a:r>
            <a:endParaRPr lang="en-US" sz="1560" dirty="0"/>
          </a:p>
        </p:txBody>
      </p:sp>
      <p:sp>
        <p:nvSpPr>
          <p:cNvPr id="51" name="Shape 46"/>
          <p:cNvSpPr/>
          <p:nvPr/>
        </p:nvSpPr>
        <p:spPr>
          <a:xfrm>
            <a:off x="13690997" y="4440039"/>
            <a:ext cx="850503" cy="333772"/>
          </a:xfrm>
          <a:prstGeom prst="roundRect">
            <a:avLst>
              <a:gd name="adj" fmla="val 50000"/>
            </a:avLst>
          </a:prstGeom>
          <a:solidFill>
            <a:srgbClr val="FDF5E5"/>
          </a:solidFill>
          <a:ln w="12700">
            <a:solidFill>
              <a:srgbClr val="F1BF73"/>
            </a:solidFill>
            <a:prstDash val="solid"/>
          </a:ln>
        </p:spPr>
      </p:sp>
      <p:sp>
        <p:nvSpPr>
          <p:cNvPr id="52" name="Text 47"/>
          <p:cNvSpPr txBox="1"/>
          <p:nvPr/>
        </p:nvSpPr>
        <p:spPr>
          <a:xfrm>
            <a:off x="13813829" y="4493617"/>
            <a:ext cx="757237" cy="203200"/>
          </a:xfrm>
          <a:prstGeom prst="rect">
            <a:avLst/>
          </a:prstGeom>
          <a:noFill/>
          <a:ln/>
        </p:spPr>
        <p:txBody>
          <a:bodyPr wrap="none" lIns="0" tIns="0" rIns="0" bIns="0" rtlCol="0" anchor="t"/>
          <a:lstStyle/>
          <a:p>
            <a:pPr algn="l" indent="0" marL="0">
              <a:buNone/>
            </a:pPr>
            <a:r>
              <a:rPr lang="en-US" sz="1240" spc="49" kern="0" dirty="0">
                <a:solidFill>
                  <a:srgbClr val="B46E03"/>
                </a:solidFill>
                <a:latin typeface="Fira Code" pitchFamily="34" charset="0"/>
                <a:ea typeface="Fira Code" pitchFamily="34" charset="-122"/>
                <a:cs typeface="Fira Code" pitchFamily="34" charset="-120"/>
              </a:rPr>
              <a:t>device</a:t>
            </a:r>
            <a:endParaRPr lang="en-US" sz="1240" dirty="0"/>
          </a:p>
        </p:txBody>
      </p:sp>
      <p:sp>
        <p:nvSpPr>
          <p:cNvPr id="53" name="Text 48"/>
          <p:cNvSpPr txBox="1"/>
          <p:nvPr/>
        </p:nvSpPr>
        <p:spPr>
          <a:xfrm>
            <a:off x="8142883" y="4837311"/>
            <a:ext cx="1469231" cy="241300"/>
          </a:xfrm>
          <a:prstGeom prst="rect">
            <a:avLst/>
          </a:prstGeom>
          <a:noFill/>
          <a:ln/>
        </p:spPr>
        <p:txBody>
          <a:bodyPr wrap="none" lIns="0" tIns="0" rIns="0" bIns="0" rtlCol="0" anchor="t"/>
          <a:lstStyle/>
          <a:p>
            <a:pPr algn="l" indent="0" marL="0">
              <a:buNone/>
            </a:pPr>
            <a:r>
              <a:rPr lang="en-US" sz="1440" dirty="0">
                <a:solidFill>
                  <a:srgbClr val="71717B"/>
                </a:solidFill>
                <a:latin typeface="Fira Code" pitchFamily="34" charset="0"/>
                <a:ea typeface="Fira Code" pitchFamily="34" charset="-122"/>
                <a:cs typeface="Fira Code" pitchFamily="34" charset="-120"/>
              </a:rPr>
              <a:t>F2LDEMO12345</a:t>
            </a:r>
            <a:endParaRPr lang="en-US" sz="1440" dirty="0"/>
          </a:p>
        </p:txBody>
      </p:sp>
      <p:sp>
        <p:nvSpPr>
          <p:cNvPr id="54" name="Shape 49"/>
          <p:cNvSpPr/>
          <p:nvPr/>
        </p:nvSpPr>
        <p:spPr>
          <a:xfrm>
            <a:off x="7863483" y="5273279"/>
            <a:ext cx="6957417" cy="960239"/>
          </a:xfrm>
          <a:prstGeom prst="roundRect">
            <a:avLst>
              <a:gd name="adj" fmla="val 18516"/>
            </a:avLst>
          </a:prstGeom>
          <a:solidFill>
            <a:srgbClr val="FDFFFE"/>
          </a:solidFill>
          <a:ln/>
        </p:spPr>
      </p:sp>
      <p:sp>
        <p:nvSpPr>
          <p:cNvPr id="55" name="Text 50"/>
          <p:cNvSpPr txBox="1"/>
          <p:nvPr/>
        </p:nvSpPr>
        <p:spPr>
          <a:xfrm>
            <a:off x="8142883" y="5451872"/>
            <a:ext cx="865783" cy="254000"/>
          </a:xfrm>
          <a:prstGeom prst="rect">
            <a:avLst/>
          </a:prstGeom>
          <a:noFill/>
          <a:ln/>
        </p:spPr>
        <p:txBody>
          <a:bodyPr wrap="none" lIns="0" tIns="0" rIns="0" bIns="0" rtlCol="0" anchor="t"/>
          <a:lstStyle/>
          <a:p>
            <a:pPr algn="l" indent="0" marL="0">
              <a:buNone/>
            </a:pPr>
            <a:r>
              <a:rPr lang="en-US" sz="1560" b="1" dirty="0">
                <a:solidFill>
                  <a:srgbClr val="09090B"/>
                </a:solidFill>
                <a:latin typeface="Fira Code" pitchFamily="34" charset="0"/>
                <a:ea typeface="Fira Code" pitchFamily="34" charset="-122"/>
                <a:cs typeface="Fira Code" pitchFamily="34" charset="-120"/>
              </a:rPr>
              <a:t>Artist</a:t>
            </a:r>
            <a:endParaRPr lang="en-US" sz="1560" dirty="0"/>
          </a:p>
        </p:txBody>
      </p:sp>
      <p:sp>
        <p:nvSpPr>
          <p:cNvPr id="56" name="Shape 51"/>
          <p:cNvSpPr/>
          <p:nvPr/>
        </p:nvSpPr>
        <p:spPr>
          <a:xfrm>
            <a:off x="13489384" y="5412979"/>
            <a:ext cx="1052116" cy="333772"/>
          </a:xfrm>
          <a:prstGeom prst="roundRect">
            <a:avLst>
              <a:gd name="adj" fmla="val 50000"/>
            </a:avLst>
          </a:prstGeom>
          <a:solidFill>
            <a:srgbClr val="E4F3E8"/>
          </a:solidFill>
          <a:ln w="12700">
            <a:solidFill>
              <a:srgbClr val="BFDFC9"/>
            </a:solidFill>
            <a:prstDash val="solid"/>
          </a:ln>
        </p:spPr>
      </p:sp>
      <p:sp>
        <p:nvSpPr>
          <p:cNvPr id="57" name="Text 52"/>
          <p:cNvSpPr txBox="1"/>
          <p:nvPr/>
        </p:nvSpPr>
        <p:spPr>
          <a:xfrm>
            <a:off x="13612217" y="5466556"/>
            <a:ext cx="958849" cy="203200"/>
          </a:xfrm>
          <a:prstGeom prst="rect">
            <a:avLst/>
          </a:prstGeom>
          <a:noFill/>
          <a:ln/>
        </p:spPr>
        <p:txBody>
          <a:bodyPr wrap="none" lIns="0" tIns="0" rIns="0" bIns="0" rtlCol="0" anchor="t"/>
          <a:lstStyle/>
          <a:p>
            <a:pPr algn="l" indent="0" marL="0">
              <a:buNone/>
            </a:pPr>
            <a:r>
              <a:rPr lang="en-US" sz="1240" spc="49" kern="0" dirty="0">
                <a:solidFill>
                  <a:srgbClr val="006630"/>
                </a:solidFill>
                <a:latin typeface="Fira Code" pitchFamily="34" charset="0"/>
                <a:ea typeface="Fira Code" pitchFamily="34" charset="-122"/>
                <a:cs typeface="Fira Code" pitchFamily="34" charset="-120"/>
              </a:rPr>
              <a:t>identity</a:t>
            </a:r>
            <a:endParaRPr lang="en-US" sz="1240" dirty="0"/>
          </a:p>
        </p:txBody>
      </p:sp>
      <p:sp>
        <p:nvSpPr>
          <p:cNvPr id="58" name="Text 53"/>
          <p:cNvSpPr txBox="1"/>
          <p:nvPr/>
        </p:nvSpPr>
        <p:spPr>
          <a:xfrm>
            <a:off x="8142883" y="5810251"/>
            <a:ext cx="1578967" cy="241300"/>
          </a:xfrm>
          <a:prstGeom prst="rect">
            <a:avLst/>
          </a:prstGeom>
          <a:noFill/>
          <a:ln/>
        </p:spPr>
        <p:txBody>
          <a:bodyPr wrap="none" lIns="0" tIns="0" rIns="0" bIns="0" rtlCol="0" anchor="t"/>
          <a:lstStyle/>
          <a:p>
            <a:pPr algn="l" indent="0" marL="0">
              <a:buNone/>
            </a:pPr>
            <a:r>
              <a:rPr lang="en-US" sz="1440" dirty="0">
                <a:solidFill>
                  <a:srgbClr val="71717B"/>
                </a:solidFill>
                <a:latin typeface="Fira Code" pitchFamily="34" charset="0"/>
                <a:ea typeface="Fira Code" pitchFamily="34" charset="-122"/>
                <a:cs typeface="Fira Code" pitchFamily="34" charset="-120"/>
              </a:rPr>
              <a:t>Anish Shobith</a:t>
            </a:r>
            <a:endParaRPr lang="en-US" sz="1440" dirty="0"/>
          </a:p>
        </p:txBody>
      </p:sp>
      <p:sp>
        <p:nvSpPr>
          <p:cNvPr id="59" name="Shape 54"/>
          <p:cNvSpPr/>
          <p:nvPr/>
        </p:nvSpPr>
        <p:spPr>
          <a:xfrm>
            <a:off x="7863483" y="6246217"/>
            <a:ext cx="6957417" cy="960239"/>
          </a:xfrm>
          <a:prstGeom prst="roundRect">
            <a:avLst>
              <a:gd name="adj" fmla="val 18516"/>
            </a:avLst>
          </a:prstGeom>
          <a:solidFill>
            <a:srgbClr val="FDFFFE"/>
          </a:solidFill>
          <a:ln/>
        </p:spPr>
      </p:sp>
      <p:sp>
        <p:nvSpPr>
          <p:cNvPr id="60" name="Text 55"/>
          <p:cNvSpPr txBox="1"/>
          <p:nvPr/>
        </p:nvSpPr>
        <p:spPr>
          <a:xfrm>
            <a:off x="8142883" y="6424811"/>
            <a:ext cx="1103511" cy="254000"/>
          </a:xfrm>
          <a:prstGeom prst="rect">
            <a:avLst/>
          </a:prstGeom>
          <a:noFill/>
          <a:ln/>
        </p:spPr>
        <p:txBody>
          <a:bodyPr wrap="none" lIns="0" tIns="0" rIns="0" bIns="0" rtlCol="0" anchor="t"/>
          <a:lstStyle/>
          <a:p>
            <a:pPr algn="l" indent="0" marL="0">
              <a:buNone/>
            </a:pPr>
            <a:r>
              <a:rPr lang="en-US" sz="1560" b="1" dirty="0">
                <a:solidFill>
                  <a:srgbClr val="09090B"/>
                </a:solidFill>
                <a:latin typeface="Fira Code" pitchFamily="34" charset="0"/>
                <a:ea typeface="Fira Code" pitchFamily="34" charset="-122"/>
                <a:cs typeface="Fira Code" pitchFamily="34" charset="-120"/>
              </a:rPr>
              <a:t>Software</a:t>
            </a:r>
            <a:endParaRPr lang="en-US" sz="1560" dirty="0"/>
          </a:p>
        </p:txBody>
      </p:sp>
      <p:sp>
        <p:nvSpPr>
          <p:cNvPr id="61" name="Shape 56"/>
          <p:cNvSpPr/>
          <p:nvPr/>
        </p:nvSpPr>
        <p:spPr>
          <a:xfrm>
            <a:off x="13489384" y="6385917"/>
            <a:ext cx="1052116" cy="333772"/>
          </a:xfrm>
          <a:prstGeom prst="roundRect">
            <a:avLst>
              <a:gd name="adj" fmla="val 50000"/>
            </a:avLst>
          </a:prstGeom>
          <a:solidFill>
            <a:srgbClr val="F4F4F5"/>
          </a:solidFill>
          <a:ln w="12700">
            <a:solidFill>
              <a:srgbClr val="E4E4E7"/>
            </a:solidFill>
            <a:prstDash val="solid"/>
          </a:ln>
        </p:spPr>
      </p:sp>
      <p:sp>
        <p:nvSpPr>
          <p:cNvPr id="62" name="Text 57"/>
          <p:cNvSpPr txBox="1"/>
          <p:nvPr/>
        </p:nvSpPr>
        <p:spPr>
          <a:xfrm>
            <a:off x="13612217" y="6439495"/>
            <a:ext cx="958849" cy="203200"/>
          </a:xfrm>
          <a:prstGeom prst="rect">
            <a:avLst/>
          </a:prstGeom>
          <a:noFill/>
          <a:ln/>
        </p:spPr>
        <p:txBody>
          <a:bodyPr wrap="none" lIns="0" tIns="0" rIns="0" bIns="0" rtlCol="0" anchor="t"/>
          <a:lstStyle/>
          <a:p>
            <a:pPr algn="l" indent="0" marL="0">
              <a:buNone/>
            </a:pPr>
            <a:r>
              <a:rPr lang="en-US" sz="1240" spc="49" kern="0" dirty="0">
                <a:solidFill>
                  <a:srgbClr val="71717B"/>
                </a:solidFill>
                <a:latin typeface="Fira Code" pitchFamily="34" charset="0"/>
                <a:ea typeface="Fira Code" pitchFamily="34" charset="-122"/>
                <a:cs typeface="Fira Code" pitchFamily="34" charset="-120"/>
              </a:rPr>
              <a:t>software</a:t>
            </a:r>
            <a:endParaRPr lang="en-US" sz="1240" dirty="0"/>
          </a:p>
        </p:txBody>
      </p:sp>
      <p:sp>
        <p:nvSpPr>
          <p:cNvPr id="63" name="Text 58"/>
          <p:cNvSpPr txBox="1"/>
          <p:nvPr/>
        </p:nvSpPr>
        <p:spPr>
          <a:xfrm>
            <a:off x="8142883" y="6783189"/>
            <a:ext cx="1030288" cy="241300"/>
          </a:xfrm>
          <a:prstGeom prst="rect">
            <a:avLst/>
          </a:prstGeom>
          <a:noFill/>
          <a:ln/>
        </p:spPr>
        <p:txBody>
          <a:bodyPr wrap="none" lIns="0" tIns="0" rIns="0" bIns="0" rtlCol="0" anchor="t"/>
          <a:lstStyle/>
          <a:p>
            <a:pPr algn="l" indent="0" marL="0">
              <a:buNone/>
            </a:pPr>
            <a:r>
              <a:rPr lang="en-US" sz="1440" dirty="0">
                <a:solidFill>
                  <a:srgbClr val="71717B"/>
                </a:solidFill>
                <a:latin typeface="Fira Code" pitchFamily="34" charset="0"/>
                <a:ea typeface="Fira Code" pitchFamily="34" charset="-122"/>
                <a:cs typeface="Fira Code" pitchFamily="34" charset="-120"/>
              </a:rPr>
              <a:t>iOS 18.1</a:t>
            </a:r>
            <a:endParaRPr lang="en-US" sz="14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03 / 09</a:t>
            </a:r>
            <a:endParaRPr lang="en-US" sz="1300" dirty="0"/>
          </a:p>
        </p:txBody>
      </p:sp>
      <p:sp>
        <p:nvSpPr>
          <p:cNvPr id="12" name="Text 7"/>
          <p:cNvSpPr txBox="1"/>
          <p:nvPr/>
        </p:nvSpPr>
        <p:spPr>
          <a:xfrm>
            <a:off x="1422400" y="1231900"/>
            <a:ext cx="44966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03</a:t>
            </a:r>
            <a:endParaRPr lang="en-US" sz="1500" dirty="0"/>
          </a:p>
        </p:txBody>
      </p:sp>
      <p:sp>
        <p:nvSpPr>
          <p:cNvPr id="13" name="Text 8"/>
          <p:cNvSpPr txBox="1"/>
          <p:nvPr/>
        </p:nvSpPr>
        <p:spPr>
          <a:xfrm>
            <a:off x="1897460" y="1231900"/>
            <a:ext cx="2232819" cy="254000"/>
          </a:xfrm>
          <a:prstGeom prst="rect">
            <a:avLst/>
          </a:prstGeom>
          <a:noFill/>
          <a:ln/>
        </p:spPr>
        <p:txBody>
          <a:bodyPr wrap="none" lIns="0" tIns="0" rIns="0" bIns="0" rtlCol="0" anchor="t"/>
          <a:lstStyle/>
          <a:p>
            <a:pPr algn="l" indent="0" marL="0">
              <a:buNone/>
            </a:pPr>
            <a:r>
              <a:rPr lang="en-US" sz="1500" spc="271" kern="0" dirty="0">
                <a:solidFill>
                  <a:srgbClr val="71717B"/>
                </a:solidFill>
                <a:latin typeface="Fira Code" pitchFamily="34" charset="0"/>
                <a:ea typeface="Fira Code" pitchFamily="34" charset="-122"/>
                <a:cs typeface="Fira Code" pitchFamily="34" charset="-120"/>
              </a:rPr>
              <a:t>WHY IT MATTERS</a:t>
            </a:r>
            <a:endParaRPr lang="en-US" sz="1500" dirty="0"/>
          </a:p>
        </p:txBody>
      </p:sp>
      <p:sp>
        <p:nvSpPr>
          <p:cNvPr id="14" name="Shape 9"/>
          <p:cNvSpPr/>
          <p:nvPr/>
        </p:nvSpPr>
        <p:spPr>
          <a:xfrm>
            <a:off x="4155679" y="1360488"/>
            <a:ext cx="10677921" cy="12700"/>
          </a:xfrm>
          <a:prstGeom prst="rect">
            <a:avLst/>
          </a:prstGeom>
          <a:solidFill>
            <a:srgbClr val="E4E4E7"/>
          </a:solidFill>
          <a:ln/>
        </p:spPr>
      </p:sp>
      <p:sp>
        <p:nvSpPr>
          <p:cNvPr id="15" name="Text 10"/>
          <p:cNvSpPr txBox="1"/>
          <p:nvPr/>
        </p:nvSpPr>
        <p:spPr>
          <a:xfrm>
            <a:off x="1422400" y="1730375"/>
            <a:ext cx="7195939" cy="736600"/>
          </a:xfrm>
          <a:prstGeom prst="rect">
            <a:avLst/>
          </a:prstGeom>
          <a:noFill/>
          <a:ln/>
        </p:spPr>
        <p:txBody>
          <a:bodyPr wrap="none" lIns="0" tIns="0" rIns="0" bIns="0" rtlCol="0" anchor="t"/>
          <a:lstStyle/>
          <a:p>
            <a:pPr algn="l" indent="0" marL="0">
              <a:buNone/>
            </a:pPr>
            <a:r>
              <a:rPr lang="en-US" sz="4800" b="1" spc="-120" kern="0" dirty="0">
                <a:solidFill>
                  <a:srgbClr val="09090B"/>
                </a:solidFill>
                <a:latin typeface="Bricolage Grotesque" pitchFamily="34" charset="0"/>
                <a:ea typeface="Bricolage Grotesque" pitchFamily="34" charset="-122"/>
                <a:cs typeface="Bricolage Grotesque" pitchFamily="34" charset="-120"/>
              </a:rPr>
              <a:t>It has already cost people.</a:t>
            </a:r>
            <a:endParaRPr lang="en-US" sz="4800" dirty="0"/>
          </a:p>
        </p:txBody>
      </p:sp>
      <p:sp>
        <p:nvSpPr>
          <p:cNvPr id="16" name="Shape 11"/>
          <p:cNvSpPr/>
          <p:nvPr/>
        </p:nvSpPr>
        <p:spPr>
          <a:xfrm>
            <a:off x="723900" y="2667595"/>
            <a:ext cx="14808200" cy="4460081"/>
          </a:xfrm>
          <a:prstGeom prst="rect">
            <a:avLst/>
          </a:prstGeom>
          <a:solidFill>
            <a:srgbClr val="E4E4E7"/>
          </a:solidFill>
          <a:ln/>
        </p:spPr>
      </p:sp>
      <p:sp>
        <p:nvSpPr>
          <p:cNvPr id="17" name="Shape 12"/>
          <p:cNvSpPr/>
          <p:nvPr/>
        </p:nvSpPr>
        <p:spPr>
          <a:xfrm>
            <a:off x="723900" y="2667595"/>
            <a:ext cx="14808200" cy="12700"/>
          </a:xfrm>
          <a:prstGeom prst="rect">
            <a:avLst/>
          </a:prstGeom>
          <a:solidFill>
            <a:srgbClr val="E4E4E7"/>
          </a:solidFill>
          <a:ln/>
        </p:spPr>
      </p:sp>
      <p:sp>
        <p:nvSpPr>
          <p:cNvPr id="18" name="Shape 13"/>
          <p:cNvSpPr/>
          <p:nvPr/>
        </p:nvSpPr>
        <p:spPr>
          <a:xfrm>
            <a:off x="723900" y="7114976"/>
            <a:ext cx="14808200" cy="12700"/>
          </a:xfrm>
          <a:prstGeom prst="rect">
            <a:avLst/>
          </a:prstGeom>
          <a:solidFill>
            <a:srgbClr val="E4E4E7"/>
          </a:solidFill>
          <a:ln/>
        </p:spPr>
      </p:sp>
      <p:sp>
        <p:nvSpPr>
          <p:cNvPr id="19" name="Shape 14"/>
          <p:cNvSpPr/>
          <p:nvPr/>
        </p:nvSpPr>
        <p:spPr>
          <a:xfrm>
            <a:off x="723900" y="2680295"/>
            <a:ext cx="7397751" cy="2210991"/>
          </a:xfrm>
          <a:prstGeom prst="rect">
            <a:avLst/>
          </a:prstGeom>
          <a:solidFill>
            <a:srgbClr val="FDFFFE"/>
          </a:solidFill>
          <a:ln/>
        </p:spPr>
      </p:sp>
      <p:sp>
        <p:nvSpPr>
          <p:cNvPr id="20" name="Text 15"/>
          <p:cNvSpPr txBox="1"/>
          <p:nvPr/>
        </p:nvSpPr>
        <p:spPr>
          <a:xfrm>
            <a:off x="1422400" y="3051373"/>
            <a:ext cx="667544" cy="215900"/>
          </a:xfrm>
          <a:prstGeom prst="rect">
            <a:avLst/>
          </a:prstGeom>
          <a:noFill/>
          <a:ln/>
        </p:spPr>
        <p:txBody>
          <a:bodyPr wrap="none" lIns="0" tIns="0" rIns="0" bIns="0" rtlCol="0" anchor="t"/>
          <a:lstStyle/>
          <a:p>
            <a:pPr algn="l" indent="0" marL="0">
              <a:buNone/>
            </a:pPr>
            <a:r>
              <a:rPr lang="en-US" sz="1300" spc="235" kern="0" dirty="0">
                <a:solidFill>
                  <a:srgbClr val="006630"/>
                </a:solidFill>
                <a:latin typeface="Fira Code" pitchFamily="34" charset="0"/>
                <a:ea typeface="Fira Code" pitchFamily="34" charset="-122"/>
                <a:cs typeface="Fira Code" pitchFamily="34" charset="-120"/>
              </a:rPr>
              <a:t>2007</a:t>
            </a:r>
            <a:endParaRPr lang="en-US" sz="1300" dirty="0"/>
          </a:p>
        </p:txBody>
      </p:sp>
      <p:sp>
        <p:nvSpPr>
          <p:cNvPr id="21" name="Text 16"/>
          <p:cNvSpPr txBox="1"/>
          <p:nvPr/>
        </p:nvSpPr>
        <p:spPr>
          <a:xfrm>
            <a:off x="2089944" y="2959695"/>
            <a:ext cx="2174081" cy="393700"/>
          </a:xfrm>
          <a:prstGeom prst="rect">
            <a:avLst/>
          </a:prstGeom>
          <a:noFill/>
          <a:ln/>
        </p:spPr>
        <p:txBody>
          <a:bodyPr wrap="none" lIns="0" tIns="0" rIns="0" bIns="0" rtlCol="0" anchor="t"/>
          <a:lstStyle/>
          <a:p>
            <a:pPr algn="l" indent="0" marL="0">
              <a:buNone/>
            </a:pPr>
            <a:r>
              <a:rPr lang="en-US" sz="2600" b="1" spc="-65" kern="0" dirty="0">
                <a:solidFill>
                  <a:srgbClr val="09090B"/>
                </a:solidFill>
                <a:latin typeface="Bricolage Grotesque" pitchFamily="34" charset="0"/>
                <a:ea typeface="Bricolage Grotesque" pitchFamily="34" charset="-122"/>
                <a:cs typeface="Bricolage Grotesque" pitchFamily="34" charset="-120"/>
              </a:rPr>
              <a:t>US Army, Iraq</a:t>
            </a:r>
            <a:endParaRPr lang="en-US" sz="2600" dirty="0"/>
          </a:p>
        </p:txBody>
      </p:sp>
      <p:sp>
        <p:nvSpPr>
          <p:cNvPr id="22" name="Text 17"/>
          <p:cNvSpPr txBox="1"/>
          <p:nvPr/>
        </p:nvSpPr>
        <p:spPr>
          <a:xfrm>
            <a:off x="6330951" y="3046611"/>
            <a:ext cx="256779" cy="215900"/>
          </a:xfrm>
          <a:prstGeom prst="rect">
            <a:avLst/>
          </a:prstGeom>
          <a:noFill/>
          <a:ln/>
        </p:spPr>
        <p:txBody>
          <a:bodyPr wrap="none" lIns="0" tIns="0" rIns="0" bIns="0" rtlCol="0" anchor="t"/>
          <a:lstStyle/>
          <a:p>
            <a:pPr algn="l" indent="0" marL="0">
              <a:buNone/>
            </a:pPr>
            <a:r>
              <a:rPr lang="en-US" sz="1300" u="none" spc="39" kern="0" dirty="0">
                <a:solidFill>
                  <a:srgbClr val="006630"/>
                </a:solidFill>
                <a:latin typeface="Fira Code" pitchFamily="34" charset="0"/>
                <a:ea typeface="Fira Code" pitchFamily="34" charset="-122"/>
                <a:cs typeface="Fira Code" pitchFamily="34" charset="-120"/>
                <a:hlinkClick r:id="rId4" invalidUrl="" action="" tgtFrame="" tooltip="" history="1" highlightClick="0" endSnd="0">
                  <a:extLst>
                    <a:ext uri="{A12FA001-AC4F-418D-AE19-62706E023703}">
                      <ahyp:hlinkClr xmlns:ahyp="http://schemas.microsoft.com/office/drawing/2018/hyperlinkcolor" val="tx"/>
                    </a:ext>
                  </a:extLst>
                </a:hlinkClick>
              </a:rPr>
              <a:t>↗</a:t>
            </a:r>
            <a:endParaRPr lang="en-US" sz="1300" dirty="0"/>
          </a:p>
        </p:txBody>
      </p:sp>
      <p:sp>
        <p:nvSpPr>
          <p:cNvPr id="23" name="Text 18"/>
          <p:cNvSpPr txBox="1"/>
          <p:nvPr/>
        </p:nvSpPr>
        <p:spPr>
          <a:xfrm>
            <a:off x="6517879" y="3046611"/>
            <a:ext cx="1400572" cy="215900"/>
          </a:xfrm>
          <a:prstGeom prst="rect">
            <a:avLst/>
          </a:prstGeom>
          <a:noFill/>
          <a:ln/>
        </p:spPr>
        <p:txBody>
          <a:bodyPr wrap="none" lIns="0" tIns="0" rIns="0" bIns="0" rtlCol="0" anchor="t"/>
          <a:lstStyle/>
          <a:p>
            <a:pPr algn="l" indent="0" marL="0">
              <a:buNone/>
            </a:pPr>
            <a:r>
              <a:rPr lang="en-US" sz="1300" u="none" spc="39" kern="0" dirty="0">
                <a:solidFill>
                  <a:srgbClr val="71717B"/>
                </a:solidFill>
                <a:latin typeface="Fira Code" pitchFamily="34" charset="0"/>
                <a:ea typeface="Fira Code" pitchFamily="34" charset="-122"/>
                <a:cs typeface="Fira Code" pitchFamily="34" charset="-120"/>
                <a:hlinkClick r:id="rId5" invalidUrl="" action="" tgtFrame="" tooltip="" history="1" highlightClick="0" endSnd="0">
                  <a:extLst>
                    <a:ext uri="{A12FA001-AC4F-418D-AE19-62706E023703}">
                      <ahyp:hlinkClr xmlns:ahyp="http://schemas.microsoft.com/office/drawing/2018/hyperlinkcolor" val="tx"/>
                    </a:ext>
                  </a:extLst>
                </a:hlinkClick>
              </a:rPr>
              <a:t>iTnews, 2012</a:t>
            </a:r>
            <a:endParaRPr lang="en-US" sz="1300" dirty="0"/>
          </a:p>
        </p:txBody>
      </p:sp>
      <p:sp>
        <p:nvSpPr>
          <p:cNvPr id="24" name="Text 19"/>
          <p:cNvSpPr txBox="1"/>
          <p:nvPr/>
        </p:nvSpPr>
        <p:spPr>
          <a:xfrm>
            <a:off x="1422400" y="3487936"/>
            <a:ext cx="6369051" cy="1054100"/>
          </a:xfrm>
          <a:prstGeom prst="rect">
            <a:avLst/>
          </a:prstGeom>
          <a:noFill/>
          <a:ln/>
        </p:spPr>
        <p:txBody>
          <a:bodyPr wrap="square" lIns="0" tIns="0" rIns="0" bIns="0" rtlCol="0" anchor="t"/>
          <a:lstStyle/>
          <a:p>
            <a:pPr algn="l" indent="0" marL="0">
              <a:lnSpc>
                <a:spcPts val="2851"/>
              </a:lnSpc>
              <a:buNone/>
            </a:pPr>
            <a:r>
              <a:rPr lang="en-US" sz="1900" dirty="0">
                <a:solidFill>
                  <a:srgbClr val="71717B"/>
                </a:solidFill>
                <a:latin typeface="Manrope" pitchFamily="34" charset="0"/>
                <a:ea typeface="Manrope" pitchFamily="34" charset="-122"/>
                <a:cs typeface="Manrope" pitchFamily="34" charset="-120"/>
              </a:rPr>
              <a:t>Geotagged flightline photos helped attackers find four new Apache helicopters. Mortars destroyed them. The Army disclosed it in 2012.</a:t>
            </a:r>
            <a:endParaRPr lang="en-US" sz="1900" dirty="0"/>
          </a:p>
        </p:txBody>
      </p:sp>
      <p:sp>
        <p:nvSpPr>
          <p:cNvPr id="25" name="Shape 20"/>
          <p:cNvSpPr/>
          <p:nvPr/>
        </p:nvSpPr>
        <p:spPr>
          <a:xfrm>
            <a:off x="8134351" y="2680295"/>
            <a:ext cx="7397751" cy="2210991"/>
          </a:xfrm>
          <a:prstGeom prst="roundRect">
            <a:avLst>
              <a:gd name="adj" fmla="val 8042"/>
            </a:avLst>
          </a:prstGeom>
          <a:solidFill>
            <a:srgbClr val="FDFFFE"/>
          </a:solidFill>
          <a:ln/>
        </p:spPr>
      </p:sp>
      <p:sp>
        <p:nvSpPr>
          <p:cNvPr id="26" name="Text 21"/>
          <p:cNvSpPr txBox="1"/>
          <p:nvPr/>
        </p:nvSpPr>
        <p:spPr>
          <a:xfrm>
            <a:off x="8489949" y="3051373"/>
            <a:ext cx="667544" cy="215900"/>
          </a:xfrm>
          <a:prstGeom prst="rect">
            <a:avLst/>
          </a:prstGeom>
          <a:noFill/>
          <a:ln/>
        </p:spPr>
        <p:txBody>
          <a:bodyPr wrap="none" lIns="0" tIns="0" rIns="0" bIns="0" rtlCol="0" anchor="t"/>
          <a:lstStyle/>
          <a:p>
            <a:pPr algn="l" indent="0" marL="0">
              <a:buNone/>
            </a:pPr>
            <a:r>
              <a:rPr lang="en-US" sz="1300" spc="235" kern="0" dirty="0">
                <a:solidFill>
                  <a:srgbClr val="006630"/>
                </a:solidFill>
                <a:latin typeface="Fira Code" pitchFamily="34" charset="0"/>
                <a:ea typeface="Fira Code" pitchFamily="34" charset="-122"/>
                <a:cs typeface="Fira Code" pitchFamily="34" charset="-120"/>
              </a:rPr>
              <a:t>2010</a:t>
            </a:r>
            <a:endParaRPr lang="en-US" sz="1300" dirty="0"/>
          </a:p>
        </p:txBody>
      </p:sp>
      <p:sp>
        <p:nvSpPr>
          <p:cNvPr id="27" name="Text 22"/>
          <p:cNvSpPr txBox="1"/>
          <p:nvPr/>
        </p:nvSpPr>
        <p:spPr>
          <a:xfrm>
            <a:off x="9157493" y="2959695"/>
            <a:ext cx="2186980" cy="393700"/>
          </a:xfrm>
          <a:prstGeom prst="rect">
            <a:avLst/>
          </a:prstGeom>
          <a:noFill/>
          <a:ln/>
        </p:spPr>
        <p:txBody>
          <a:bodyPr wrap="none" lIns="0" tIns="0" rIns="0" bIns="0" rtlCol="0" anchor="t"/>
          <a:lstStyle/>
          <a:p>
            <a:pPr algn="l" indent="0" marL="0">
              <a:buNone/>
            </a:pPr>
            <a:r>
              <a:rPr lang="en-US" sz="2600" b="1" spc="-65" kern="0" dirty="0">
                <a:solidFill>
                  <a:srgbClr val="09090B"/>
                </a:solidFill>
                <a:latin typeface="Bricolage Grotesque" pitchFamily="34" charset="0"/>
                <a:ea typeface="Bricolage Grotesque" pitchFamily="34" charset="-122"/>
                <a:cs typeface="Bricolage Grotesque" pitchFamily="34" charset="-120"/>
              </a:rPr>
              <a:t>Adam Savage</a:t>
            </a:r>
            <a:endParaRPr lang="en-US" sz="2600" dirty="0"/>
          </a:p>
        </p:txBody>
      </p:sp>
      <p:sp>
        <p:nvSpPr>
          <p:cNvPr id="28" name="Text 23"/>
          <p:cNvSpPr txBox="1"/>
          <p:nvPr/>
        </p:nvSpPr>
        <p:spPr>
          <a:xfrm>
            <a:off x="12150328" y="3046611"/>
            <a:ext cx="256779" cy="215900"/>
          </a:xfrm>
          <a:prstGeom prst="rect">
            <a:avLst/>
          </a:prstGeom>
          <a:noFill/>
          <a:ln/>
        </p:spPr>
        <p:txBody>
          <a:bodyPr wrap="none" lIns="0" tIns="0" rIns="0" bIns="0" rtlCol="0" anchor="t"/>
          <a:lstStyle/>
          <a:p>
            <a:pPr algn="l" indent="0" marL="0">
              <a:buNone/>
            </a:pPr>
            <a:r>
              <a:rPr lang="en-US" sz="1300" u="none" spc="39" kern="0" dirty="0">
                <a:solidFill>
                  <a:srgbClr val="006630"/>
                </a:solidFill>
                <a:latin typeface="Fira Code" pitchFamily="34" charset="0"/>
                <a:ea typeface="Fira Code" pitchFamily="34" charset="-122"/>
                <a:cs typeface="Fira Code" pitchFamily="34" charset="-120"/>
                <a:hlinkClick r:id="rId6" invalidUrl="" action="" tgtFrame="" tooltip="" history="1" highlightClick="0" endSnd="0">
                  <a:extLst>
                    <a:ext uri="{A12FA001-AC4F-418D-AE19-62706E023703}">
                      <ahyp:hlinkClr xmlns:ahyp="http://schemas.microsoft.com/office/drawing/2018/hyperlinkcolor" val="tx"/>
                    </a:ext>
                  </a:extLst>
                </a:hlinkClick>
              </a:rPr>
              <a:t>↗</a:t>
            </a:r>
            <a:endParaRPr lang="en-US" sz="1300" dirty="0"/>
          </a:p>
        </p:txBody>
      </p:sp>
      <p:sp>
        <p:nvSpPr>
          <p:cNvPr id="29" name="Text 24"/>
          <p:cNvSpPr txBox="1"/>
          <p:nvPr/>
        </p:nvSpPr>
        <p:spPr>
          <a:xfrm>
            <a:off x="12337256" y="3046611"/>
            <a:ext cx="2648744" cy="215900"/>
          </a:xfrm>
          <a:prstGeom prst="rect">
            <a:avLst/>
          </a:prstGeom>
          <a:noFill/>
          <a:ln/>
        </p:spPr>
        <p:txBody>
          <a:bodyPr wrap="none" lIns="0" tIns="0" rIns="0" bIns="0" rtlCol="0" anchor="t"/>
          <a:lstStyle/>
          <a:p>
            <a:pPr algn="l" indent="0" marL="0">
              <a:buNone/>
            </a:pPr>
            <a:r>
              <a:rPr lang="en-US" sz="1300" u="none" spc="39" kern="0" dirty="0">
                <a:solidFill>
                  <a:srgbClr val="71717B"/>
                </a:solidFill>
                <a:latin typeface="Fira Code" pitchFamily="34" charset="0"/>
                <a:ea typeface="Fira Code" pitchFamily="34" charset="-122"/>
                <a:cs typeface="Fira Code" pitchFamily="34" charset="-120"/>
                <a:hlinkClick r:id="rId7" invalidUrl="" action="" tgtFrame="" tooltip="" history="1" highlightClick="0" endSnd="0">
                  <a:extLst>
                    <a:ext uri="{A12FA001-AC4F-418D-AE19-62706E023703}">
                      <ahyp:hlinkClr xmlns:ahyp="http://schemas.microsoft.com/office/drawing/2018/hyperlinkcolor" val="tx"/>
                    </a:ext>
                  </a:extLst>
                </a:hlinkClick>
              </a:rPr>
              <a:t>NYT via Benton, Aug 2010</a:t>
            </a:r>
            <a:endParaRPr lang="en-US" sz="1300" dirty="0"/>
          </a:p>
        </p:txBody>
      </p:sp>
      <p:sp>
        <p:nvSpPr>
          <p:cNvPr id="30" name="Text 25"/>
          <p:cNvSpPr txBox="1"/>
          <p:nvPr/>
        </p:nvSpPr>
        <p:spPr>
          <a:xfrm>
            <a:off x="8489949" y="3487936"/>
            <a:ext cx="6369051" cy="692149"/>
          </a:xfrm>
          <a:prstGeom prst="rect">
            <a:avLst/>
          </a:prstGeom>
          <a:noFill/>
          <a:ln/>
        </p:spPr>
        <p:txBody>
          <a:bodyPr wrap="square" lIns="0" tIns="0" rIns="0" bIns="0" rtlCol="0" anchor="t"/>
          <a:lstStyle/>
          <a:p>
            <a:pPr algn="l" indent="0" marL="0">
              <a:lnSpc>
                <a:spcPts val="2851"/>
              </a:lnSpc>
              <a:buNone/>
            </a:pPr>
            <a:r>
              <a:rPr lang="en-US" sz="1900" dirty="0">
                <a:solidFill>
                  <a:srgbClr val="71717B"/>
                </a:solidFill>
                <a:latin typeface="Manrope" pitchFamily="34" charset="0"/>
                <a:ea typeface="Manrope" pitchFamily="34" charset="-122"/>
                <a:cs typeface="Manrope" pitchFamily="34" charset="-120"/>
              </a:rPr>
              <a:t>He tweeted a photo of his car outside his home, captioned "off to work". The geotag gave the address.</a:t>
            </a:r>
            <a:endParaRPr lang="en-US" sz="1900" dirty="0"/>
          </a:p>
        </p:txBody>
      </p:sp>
      <p:sp>
        <p:nvSpPr>
          <p:cNvPr id="31" name="Shape 26"/>
          <p:cNvSpPr/>
          <p:nvPr/>
        </p:nvSpPr>
        <p:spPr>
          <a:xfrm>
            <a:off x="723900" y="4903985"/>
            <a:ext cx="7397751" cy="2210991"/>
          </a:xfrm>
          <a:prstGeom prst="roundRect">
            <a:avLst>
              <a:gd name="adj" fmla="val 8042"/>
            </a:avLst>
          </a:prstGeom>
          <a:solidFill>
            <a:srgbClr val="FDFFFE"/>
          </a:solidFill>
          <a:ln/>
        </p:spPr>
      </p:sp>
      <p:sp>
        <p:nvSpPr>
          <p:cNvPr id="32" name="Text 27"/>
          <p:cNvSpPr txBox="1"/>
          <p:nvPr/>
        </p:nvSpPr>
        <p:spPr>
          <a:xfrm>
            <a:off x="1422400" y="5275064"/>
            <a:ext cx="667544" cy="215900"/>
          </a:xfrm>
          <a:prstGeom prst="rect">
            <a:avLst/>
          </a:prstGeom>
          <a:noFill/>
          <a:ln/>
        </p:spPr>
        <p:txBody>
          <a:bodyPr wrap="none" lIns="0" tIns="0" rIns="0" bIns="0" rtlCol="0" anchor="t"/>
          <a:lstStyle/>
          <a:p>
            <a:pPr algn="l" indent="0" marL="0">
              <a:buNone/>
            </a:pPr>
            <a:r>
              <a:rPr lang="en-US" sz="1300" spc="235" kern="0" dirty="0">
                <a:solidFill>
                  <a:srgbClr val="006630"/>
                </a:solidFill>
                <a:latin typeface="Fira Code" pitchFamily="34" charset="0"/>
                <a:ea typeface="Fira Code" pitchFamily="34" charset="-122"/>
                <a:cs typeface="Fira Code" pitchFamily="34" charset="-120"/>
              </a:rPr>
              <a:t>2012</a:t>
            </a:r>
            <a:endParaRPr lang="en-US" sz="1300" dirty="0"/>
          </a:p>
        </p:txBody>
      </p:sp>
      <p:sp>
        <p:nvSpPr>
          <p:cNvPr id="33" name="Text 28"/>
          <p:cNvSpPr txBox="1"/>
          <p:nvPr/>
        </p:nvSpPr>
        <p:spPr>
          <a:xfrm>
            <a:off x="2089944" y="5183385"/>
            <a:ext cx="2208808" cy="393700"/>
          </a:xfrm>
          <a:prstGeom prst="rect">
            <a:avLst/>
          </a:prstGeom>
          <a:noFill/>
          <a:ln/>
        </p:spPr>
        <p:txBody>
          <a:bodyPr wrap="none" lIns="0" tIns="0" rIns="0" bIns="0" rtlCol="0" anchor="t"/>
          <a:lstStyle/>
          <a:p>
            <a:pPr algn="l" indent="0" marL="0">
              <a:buNone/>
            </a:pPr>
            <a:r>
              <a:rPr lang="en-US" sz="2600" b="1" spc="-65" kern="0" dirty="0">
                <a:solidFill>
                  <a:srgbClr val="09090B"/>
                </a:solidFill>
                <a:latin typeface="Bricolage Grotesque" pitchFamily="34" charset="0"/>
                <a:ea typeface="Bricolage Grotesque" pitchFamily="34" charset="-122"/>
                <a:cs typeface="Bricolage Grotesque" pitchFamily="34" charset="-120"/>
              </a:rPr>
              <a:t>Higinio Ochoa</a:t>
            </a:r>
            <a:endParaRPr lang="en-US" sz="2600" dirty="0"/>
          </a:p>
        </p:txBody>
      </p:sp>
      <p:sp>
        <p:nvSpPr>
          <p:cNvPr id="34" name="Text 29"/>
          <p:cNvSpPr txBox="1"/>
          <p:nvPr/>
        </p:nvSpPr>
        <p:spPr>
          <a:xfrm>
            <a:off x="5602883" y="5270301"/>
            <a:ext cx="256779" cy="215900"/>
          </a:xfrm>
          <a:prstGeom prst="rect">
            <a:avLst/>
          </a:prstGeom>
          <a:noFill/>
          <a:ln/>
        </p:spPr>
        <p:txBody>
          <a:bodyPr wrap="none" lIns="0" tIns="0" rIns="0" bIns="0" rtlCol="0" anchor="t"/>
          <a:lstStyle/>
          <a:p>
            <a:pPr algn="l" indent="0" marL="0">
              <a:buNone/>
            </a:pPr>
            <a:r>
              <a:rPr lang="en-US" sz="1300" u="none" spc="39" kern="0" dirty="0">
                <a:solidFill>
                  <a:srgbClr val="006630"/>
                </a:solidFill>
                <a:latin typeface="Fira Code" pitchFamily="34" charset="0"/>
                <a:ea typeface="Fira Code" pitchFamily="34" charset="-122"/>
                <a:cs typeface="Fira Code" pitchFamily="34" charset="-120"/>
                <a:hlinkClick r:id="rId8" invalidUrl="" action="" tgtFrame="" tooltip="" history="1" highlightClick="0" endSnd="0">
                  <a:extLst>
                    <a:ext uri="{A12FA001-AC4F-418D-AE19-62706E023703}">
                      <ahyp:hlinkClr xmlns:ahyp="http://schemas.microsoft.com/office/drawing/2018/hyperlinkcolor" val="tx"/>
                    </a:ext>
                  </a:extLst>
                </a:hlinkClick>
              </a:rPr>
              <a:t>↗</a:t>
            </a:r>
            <a:endParaRPr lang="en-US" sz="1300" dirty="0"/>
          </a:p>
        </p:txBody>
      </p:sp>
      <p:sp>
        <p:nvSpPr>
          <p:cNvPr id="35" name="Text 30"/>
          <p:cNvSpPr txBox="1"/>
          <p:nvPr/>
        </p:nvSpPr>
        <p:spPr>
          <a:xfrm>
            <a:off x="5789811" y="5270301"/>
            <a:ext cx="2128639" cy="215900"/>
          </a:xfrm>
          <a:prstGeom prst="rect">
            <a:avLst/>
          </a:prstGeom>
          <a:noFill/>
          <a:ln/>
        </p:spPr>
        <p:txBody>
          <a:bodyPr wrap="none" lIns="0" tIns="0" rIns="0" bIns="0" rtlCol="0" anchor="t"/>
          <a:lstStyle/>
          <a:p>
            <a:pPr algn="l" indent="0" marL="0">
              <a:buNone/>
            </a:pPr>
            <a:r>
              <a:rPr lang="en-US" sz="1300" u="none" spc="39" kern="0" dirty="0">
                <a:solidFill>
                  <a:srgbClr val="71717B"/>
                </a:solidFill>
                <a:latin typeface="Fira Code" pitchFamily="34" charset="0"/>
                <a:ea typeface="Fira Code" pitchFamily="34" charset="-122"/>
                <a:cs typeface="Fira Code" pitchFamily="34" charset="-120"/>
                <a:hlinkClick r:id="rId9" invalidUrl="" action="" tgtFrame="" tooltip="" history="1" highlightClick="0" endSnd="0">
                  <a:extLst>
                    <a:ext uri="{A12FA001-AC4F-418D-AE19-62706E023703}">
                      <ahyp:hlinkClr xmlns:ahyp="http://schemas.microsoft.com/office/drawing/2018/hyperlinkcolor" val="tx"/>
                    </a:ext>
                  </a:extLst>
                </a:hlinkClick>
              </a:rPr>
              <a:t>Computerworld, 2012</a:t>
            </a:r>
            <a:endParaRPr lang="en-US" sz="1300" dirty="0"/>
          </a:p>
        </p:txBody>
      </p:sp>
      <p:sp>
        <p:nvSpPr>
          <p:cNvPr id="36" name="Text 31"/>
          <p:cNvSpPr txBox="1"/>
          <p:nvPr/>
        </p:nvSpPr>
        <p:spPr>
          <a:xfrm>
            <a:off x="1422400" y="5711627"/>
            <a:ext cx="6470623" cy="692149"/>
          </a:xfrm>
          <a:prstGeom prst="rect">
            <a:avLst/>
          </a:prstGeom>
          <a:noFill/>
          <a:ln/>
        </p:spPr>
        <p:txBody>
          <a:bodyPr wrap="square" lIns="0" tIns="0" rIns="0" bIns="0" rtlCol="0" anchor="t"/>
          <a:lstStyle/>
          <a:p>
            <a:pPr algn="l" indent="0" marL="0">
              <a:lnSpc>
                <a:spcPts val="2851"/>
              </a:lnSpc>
              <a:buNone/>
            </a:pPr>
            <a:r>
              <a:rPr lang="en-US" sz="1900" dirty="0">
                <a:solidFill>
                  <a:srgbClr val="71717B"/>
                </a:solidFill>
                <a:latin typeface="Manrope" pitchFamily="34" charset="0"/>
                <a:ea typeface="Manrope" pitchFamily="34" charset="-122"/>
                <a:cs typeface="Manrope" pitchFamily="34" charset="-120"/>
              </a:rPr>
              <a:t>The FBI says GPS in a photo of his girlfriend pointed to her home in Australia. He was arrested in March.</a:t>
            </a:r>
            <a:endParaRPr lang="en-US" sz="1900" dirty="0"/>
          </a:p>
        </p:txBody>
      </p:sp>
      <p:sp>
        <p:nvSpPr>
          <p:cNvPr id="37" name="Shape 32"/>
          <p:cNvSpPr/>
          <p:nvPr/>
        </p:nvSpPr>
        <p:spPr>
          <a:xfrm>
            <a:off x="8134351" y="4903985"/>
            <a:ext cx="7397751" cy="2210991"/>
          </a:xfrm>
          <a:prstGeom prst="roundRect">
            <a:avLst>
              <a:gd name="adj" fmla="val 8042"/>
            </a:avLst>
          </a:prstGeom>
          <a:solidFill>
            <a:srgbClr val="FDFFFE"/>
          </a:solidFill>
          <a:ln/>
        </p:spPr>
      </p:sp>
      <p:sp>
        <p:nvSpPr>
          <p:cNvPr id="38" name="Text 33"/>
          <p:cNvSpPr txBox="1"/>
          <p:nvPr/>
        </p:nvSpPr>
        <p:spPr>
          <a:xfrm>
            <a:off x="8489949" y="5275064"/>
            <a:ext cx="667544" cy="215900"/>
          </a:xfrm>
          <a:prstGeom prst="rect">
            <a:avLst/>
          </a:prstGeom>
          <a:noFill/>
          <a:ln/>
        </p:spPr>
        <p:txBody>
          <a:bodyPr wrap="none" lIns="0" tIns="0" rIns="0" bIns="0" rtlCol="0" anchor="t"/>
          <a:lstStyle/>
          <a:p>
            <a:pPr algn="l" indent="0" marL="0">
              <a:buNone/>
            </a:pPr>
            <a:r>
              <a:rPr lang="en-US" sz="1300" spc="235" kern="0" dirty="0">
                <a:solidFill>
                  <a:srgbClr val="006630"/>
                </a:solidFill>
                <a:latin typeface="Fira Code" pitchFamily="34" charset="0"/>
                <a:ea typeface="Fira Code" pitchFamily="34" charset="-122"/>
                <a:cs typeface="Fira Code" pitchFamily="34" charset="-120"/>
              </a:rPr>
              <a:t>2012</a:t>
            </a:r>
            <a:endParaRPr lang="en-US" sz="1300" dirty="0"/>
          </a:p>
        </p:txBody>
      </p:sp>
      <p:sp>
        <p:nvSpPr>
          <p:cNvPr id="39" name="Text 34"/>
          <p:cNvSpPr txBox="1"/>
          <p:nvPr/>
        </p:nvSpPr>
        <p:spPr>
          <a:xfrm>
            <a:off x="9157493" y="5183385"/>
            <a:ext cx="2054820" cy="393700"/>
          </a:xfrm>
          <a:prstGeom prst="rect">
            <a:avLst/>
          </a:prstGeom>
          <a:noFill/>
          <a:ln/>
        </p:spPr>
        <p:txBody>
          <a:bodyPr wrap="none" lIns="0" tIns="0" rIns="0" bIns="0" rtlCol="0" anchor="t"/>
          <a:lstStyle/>
          <a:p>
            <a:pPr algn="l" indent="0" marL="0">
              <a:buNone/>
            </a:pPr>
            <a:r>
              <a:rPr lang="en-US" sz="2600" b="1" spc="-65" kern="0" dirty="0">
                <a:solidFill>
                  <a:srgbClr val="09090B"/>
                </a:solidFill>
                <a:latin typeface="Bricolage Grotesque" pitchFamily="34" charset="0"/>
                <a:ea typeface="Bricolage Grotesque" pitchFamily="34" charset="-122"/>
                <a:cs typeface="Bricolage Grotesque" pitchFamily="34" charset="-120"/>
              </a:rPr>
              <a:t>John McAfee</a:t>
            </a:r>
            <a:endParaRPr lang="en-US" sz="2600" dirty="0"/>
          </a:p>
        </p:txBody>
      </p:sp>
      <p:sp>
        <p:nvSpPr>
          <p:cNvPr id="40" name="Text 35"/>
          <p:cNvSpPr txBox="1"/>
          <p:nvPr/>
        </p:nvSpPr>
        <p:spPr>
          <a:xfrm>
            <a:off x="12774415" y="5270301"/>
            <a:ext cx="256779" cy="215900"/>
          </a:xfrm>
          <a:prstGeom prst="rect">
            <a:avLst/>
          </a:prstGeom>
          <a:noFill/>
          <a:ln/>
        </p:spPr>
        <p:txBody>
          <a:bodyPr wrap="none" lIns="0" tIns="0" rIns="0" bIns="0" rtlCol="0" anchor="t"/>
          <a:lstStyle/>
          <a:p>
            <a:pPr algn="l" indent="0" marL="0">
              <a:buNone/>
            </a:pPr>
            <a:r>
              <a:rPr lang="en-US" sz="1300" u="none" spc="39" kern="0" dirty="0">
                <a:solidFill>
                  <a:srgbClr val="006630"/>
                </a:solidFill>
                <a:latin typeface="Fira Code" pitchFamily="34" charset="0"/>
                <a:ea typeface="Fira Code" pitchFamily="34" charset="-122"/>
                <a:cs typeface="Fira Code" pitchFamily="34" charset="-120"/>
                <a:hlinkClick r:id="rId10" invalidUrl="" action="" tgtFrame="" tooltip="" history="1" highlightClick="0" endSnd="0">
                  <a:extLst>
                    <a:ext uri="{A12FA001-AC4F-418D-AE19-62706E023703}">
                      <ahyp:hlinkClr xmlns:ahyp="http://schemas.microsoft.com/office/drawing/2018/hyperlinkcolor" val="tx"/>
                    </a:ext>
                  </a:extLst>
                </a:hlinkClick>
              </a:rPr>
              <a:t>↗</a:t>
            </a:r>
            <a:endParaRPr lang="en-US" sz="1300" dirty="0"/>
          </a:p>
        </p:txBody>
      </p:sp>
      <p:sp>
        <p:nvSpPr>
          <p:cNvPr id="41" name="Text 36"/>
          <p:cNvSpPr txBox="1"/>
          <p:nvPr/>
        </p:nvSpPr>
        <p:spPr>
          <a:xfrm>
            <a:off x="12961343" y="5270301"/>
            <a:ext cx="2024657" cy="215900"/>
          </a:xfrm>
          <a:prstGeom prst="rect">
            <a:avLst/>
          </a:prstGeom>
          <a:noFill/>
          <a:ln/>
        </p:spPr>
        <p:txBody>
          <a:bodyPr wrap="none" lIns="0" tIns="0" rIns="0" bIns="0" rtlCol="0" anchor="t"/>
          <a:lstStyle/>
          <a:p>
            <a:pPr algn="l" indent="0" marL="0">
              <a:buNone/>
            </a:pPr>
            <a:r>
              <a:rPr lang="en-US" sz="1300" u="none" spc="39" kern="0" dirty="0">
                <a:solidFill>
                  <a:srgbClr val="71717B"/>
                </a:solidFill>
                <a:latin typeface="Fira Code" pitchFamily="34" charset="0"/>
                <a:ea typeface="Fira Code" pitchFamily="34" charset="-122"/>
                <a:cs typeface="Fira Code" pitchFamily="34" charset="-120"/>
                <a:hlinkClick r:id="rId11" invalidUrl="" action="" tgtFrame="" tooltip="" history="1" highlightClick="0" endSnd="0">
                  <a:extLst>
                    <a:ext uri="{A12FA001-AC4F-418D-AE19-62706E023703}">
                      <ahyp:hlinkClr xmlns:ahyp="http://schemas.microsoft.com/office/drawing/2018/hyperlinkcolor" val="tx"/>
                    </a:ext>
                  </a:extLst>
                </a:hlinkClick>
              </a:rPr>
              <a:t>The Next Web, 2012</a:t>
            </a:r>
            <a:endParaRPr lang="en-US" sz="1300" dirty="0"/>
          </a:p>
        </p:txBody>
      </p:sp>
      <p:sp>
        <p:nvSpPr>
          <p:cNvPr id="42" name="Text 37"/>
          <p:cNvSpPr txBox="1"/>
          <p:nvPr/>
        </p:nvSpPr>
        <p:spPr>
          <a:xfrm>
            <a:off x="8489949" y="5711627"/>
            <a:ext cx="6468800" cy="1054100"/>
          </a:xfrm>
          <a:prstGeom prst="rect">
            <a:avLst/>
          </a:prstGeom>
          <a:noFill/>
          <a:ln/>
        </p:spPr>
        <p:txBody>
          <a:bodyPr wrap="square" lIns="0" tIns="0" rIns="0" bIns="0" rtlCol="0" anchor="t"/>
          <a:lstStyle/>
          <a:p>
            <a:pPr algn="l" indent="0" marL="0">
              <a:lnSpc>
                <a:spcPts val="2851"/>
              </a:lnSpc>
              <a:buNone/>
            </a:pPr>
            <a:r>
              <a:rPr lang="en-US" sz="1900" dirty="0">
                <a:solidFill>
                  <a:srgbClr val="71717B"/>
                </a:solidFill>
                <a:latin typeface="Manrope" pitchFamily="34" charset="0"/>
                <a:ea typeface="Manrope" pitchFamily="34" charset="-122"/>
                <a:cs typeface="Manrope" pitchFamily="34" charset="-120"/>
              </a:rPr>
              <a:t>A published photo carried GPS that put him in Guatemala. He was arrested two days later, and later claimed he faked the data.</a:t>
            </a:r>
            <a:endParaRPr lang="en-US" sz="1900" dirty="0"/>
          </a:p>
        </p:txBody>
      </p:sp>
      <p:sp>
        <p:nvSpPr>
          <p:cNvPr id="43" name="Shape 38"/>
          <p:cNvSpPr/>
          <p:nvPr/>
        </p:nvSpPr>
        <p:spPr>
          <a:xfrm>
            <a:off x="723900" y="7280076"/>
            <a:ext cx="14808200" cy="802481"/>
          </a:xfrm>
          <a:prstGeom prst="rect">
            <a:avLst/>
          </a:prstGeom>
          <a:solidFill>
            <a:srgbClr val="E4E4E7"/>
          </a:solidFill>
          <a:ln/>
        </p:spPr>
      </p:sp>
      <p:sp>
        <p:nvSpPr>
          <p:cNvPr id="44" name="Shape 39"/>
          <p:cNvSpPr/>
          <p:nvPr/>
        </p:nvSpPr>
        <p:spPr>
          <a:xfrm>
            <a:off x="723900" y="7280076"/>
            <a:ext cx="14808200" cy="12700"/>
          </a:xfrm>
          <a:prstGeom prst="rect">
            <a:avLst/>
          </a:prstGeom>
          <a:solidFill>
            <a:srgbClr val="E4E4E7"/>
          </a:solidFill>
          <a:ln/>
        </p:spPr>
      </p:sp>
      <p:sp>
        <p:nvSpPr>
          <p:cNvPr id="45" name="Shape 40"/>
          <p:cNvSpPr/>
          <p:nvPr/>
        </p:nvSpPr>
        <p:spPr>
          <a:xfrm>
            <a:off x="723900" y="8069857"/>
            <a:ext cx="14808200" cy="12700"/>
          </a:xfrm>
          <a:prstGeom prst="rect">
            <a:avLst/>
          </a:prstGeom>
          <a:solidFill>
            <a:srgbClr val="E4E4E7"/>
          </a:solidFill>
          <a:ln/>
        </p:spPr>
      </p:sp>
      <p:sp>
        <p:nvSpPr>
          <p:cNvPr id="46" name="Shape 41"/>
          <p:cNvSpPr/>
          <p:nvPr/>
        </p:nvSpPr>
        <p:spPr>
          <a:xfrm>
            <a:off x="723900" y="7292776"/>
            <a:ext cx="14808200" cy="777081"/>
          </a:xfrm>
          <a:prstGeom prst="rect">
            <a:avLst/>
          </a:prstGeom>
          <a:solidFill>
            <a:srgbClr val="FDFFFE"/>
          </a:solidFill>
          <a:ln/>
        </p:spPr>
      </p:sp>
      <p:sp>
        <p:nvSpPr>
          <p:cNvPr id="47" name="Text 42"/>
          <p:cNvSpPr txBox="1"/>
          <p:nvPr/>
        </p:nvSpPr>
        <p:spPr>
          <a:xfrm>
            <a:off x="1422400" y="7610276"/>
            <a:ext cx="1103511" cy="203200"/>
          </a:xfrm>
          <a:prstGeom prst="rect">
            <a:avLst/>
          </a:prstGeom>
          <a:noFill/>
          <a:ln/>
        </p:spPr>
        <p:txBody>
          <a:bodyPr wrap="none" lIns="0" tIns="0" rIns="0" bIns="0" rtlCol="0" anchor="t"/>
          <a:lstStyle/>
          <a:p>
            <a:pPr algn="l" indent="0" marL="0">
              <a:buNone/>
            </a:pPr>
            <a:r>
              <a:rPr lang="en-US" sz="1200" spc="216" kern="0" dirty="0">
                <a:solidFill>
                  <a:srgbClr val="006630"/>
                </a:solidFill>
                <a:latin typeface="Fira Code" pitchFamily="34" charset="0"/>
                <a:ea typeface="Fira Code" pitchFamily="34" charset="-122"/>
                <a:cs typeface="Fira Code" pitchFamily="34" charset="-120"/>
              </a:rPr>
              <a:t>RESEARCH</a:t>
            </a:r>
            <a:endParaRPr lang="en-US" sz="1200" dirty="0"/>
          </a:p>
        </p:txBody>
      </p:sp>
      <p:sp>
        <p:nvSpPr>
          <p:cNvPr id="48" name="Text 43"/>
          <p:cNvSpPr txBox="1"/>
          <p:nvPr/>
        </p:nvSpPr>
        <p:spPr>
          <a:xfrm>
            <a:off x="2576711" y="7521376"/>
            <a:ext cx="11977092" cy="304800"/>
          </a:xfrm>
          <a:prstGeom prst="rect">
            <a:avLst/>
          </a:prstGeom>
          <a:noFill/>
          <a:ln/>
        </p:spPr>
        <p:txBody>
          <a:bodyPr wrap="none" lIns="0" tIns="0" rIns="0" bIns="0" rtlCol="0" anchor="t"/>
          <a:lstStyle/>
          <a:p>
            <a:pPr algn="l" indent="0" marL="0">
              <a:buNone/>
            </a:pPr>
            <a:r>
              <a:rPr lang="en-US" sz="1800" dirty="0">
                <a:solidFill>
                  <a:srgbClr val="71717B"/>
                </a:solidFill>
                <a:latin typeface="Manrope" pitchFamily="34" charset="0"/>
                <a:ea typeface="Manrope" pitchFamily="34" charset="-122"/>
                <a:cs typeface="Manrope" pitchFamily="34" charset="-120"/>
              </a:rPr>
              <a:t>Friedland and Sommer, HotSec 2010: geotags on Craigslist, YouTube and Twitter revealed homes and away-times.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04 / 09</a:t>
            </a:r>
            <a:endParaRPr lang="en-US" sz="1300" dirty="0"/>
          </a:p>
        </p:txBody>
      </p:sp>
      <p:sp>
        <p:nvSpPr>
          <p:cNvPr id="12" name="Text 7"/>
          <p:cNvSpPr txBox="1"/>
          <p:nvPr/>
        </p:nvSpPr>
        <p:spPr>
          <a:xfrm>
            <a:off x="1422400" y="1231900"/>
            <a:ext cx="44966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04</a:t>
            </a:r>
            <a:endParaRPr lang="en-US" sz="1500" dirty="0"/>
          </a:p>
        </p:txBody>
      </p:sp>
      <p:sp>
        <p:nvSpPr>
          <p:cNvPr id="13" name="Text 8"/>
          <p:cNvSpPr txBox="1"/>
          <p:nvPr/>
        </p:nvSpPr>
        <p:spPr>
          <a:xfrm>
            <a:off x="1897460" y="1231900"/>
            <a:ext cx="1043980" cy="254000"/>
          </a:xfrm>
          <a:prstGeom prst="rect">
            <a:avLst/>
          </a:prstGeom>
          <a:noFill/>
          <a:ln/>
        </p:spPr>
        <p:txBody>
          <a:bodyPr wrap="none" lIns="0" tIns="0" rIns="0" bIns="0" rtlCol="0" anchor="t"/>
          <a:lstStyle/>
          <a:p>
            <a:pPr algn="l" indent="0" marL="0">
              <a:buNone/>
            </a:pPr>
            <a:r>
              <a:rPr lang="en-US" sz="1500" spc="271" kern="0" dirty="0">
                <a:solidFill>
                  <a:srgbClr val="71717B"/>
                </a:solidFill>
                <a:latin typeface="Fira Code" pitchFamily="34" charset="0"/>
                <a:ea typeface="Fira Code" pitchFamily="34" charset="-122"/>
                <a:cs typeface="Fira Code" pitchFamily="34" charset="-120"/>
              </a:rPr>
              <a:t>DESIGN</a:t>
            </a:r>
            <a:endParaRPr lang="en-US" sz="1500" dirty="0"/>
          </a:p>
        </p:txBody>
      </p:sp>
      <p:sp>
        <p:nvSpPr>
          <p:cNvPr id="14" name="Shape 9"/>
          <p:cNvSpPr/>
          <p:nvPr/>
        </p:nvSpPr>
        <p:spPr>
          <a:xfrm>
            <a:off x="2966839" y="1360488"/>
            <a:ext cx="11866761" cy="12700"/>
          </a:xfrm>
          <a:prstGeom prst="rect">
            <a:avLst/>
          </a:prstGeom>
          <a:solidFill>
            <a:srgbClr val="E4E4E7"/>
          </a:solidFill>
          <a:ln/>
        </p:spPr>
      </p:sp>
      <p:sp>
        <p:nvSpPr>
          <p:cNvPr id="15" name="Text 10"/>
          <p:cNvSpPr txBox="1"/>
          <p:nvPr/>
        </p:nvSpPr>
        <p:spPr>
          <a:xfrm>
            <a:off x="1422400" y="1730375"/>
            <a:ext cx="5771753" cy="736600"/>
          </a:xfrm>
          <a:prstGeom prst="rect">
            <a:avLst/>
          </a:prstGeom>
          <a:noFill/>
          <a:ln/>
        </p:spPr>
        <p:txBody>
          <a:bodyPr wrap="none" lIns="0" tIns="0" rIns="0" bIns="0" rtlCol="0" anchor="t"/>
          <a:lstStyle/>
          <a:p>
            <a:pPr algn="l" indent="0" marL="0">
              <a:buNone/>
            </a:pPr>
            <a:r>
              <a:rPr lang="en-US" sz="4800" b="1" spc="-120" kern="0" dirty="0">
                <a:solidFill>
                  <a:srgbClr val="09090B"/>
                </a:solidFill>
                <a:latin typeface="Bricolage Grotesque" pitchFamily="34" charset="0"/>
                <a:ea typeface="Bricolage Grotesque" pitchFamily="34" charset="-122"/>
                <a:cs typeface="Bricolage Grotesque" pitchFamily="34" charset="-120"/>
              </a:rPr>
              <a:t>One job per function.</a:t>
            </a:r>
            <a:endParaRPr lang="en-US" sz="4800" dirty="0"/>
          </a:p>
        </p:txBody>
      </p:sp>
      <p:sp>
        <p:nvSpPr>
          <p:cNvPr id="16" name="Shape 11"/>
          <p:cNvSpPr/>
          <p:nvPr/>
        </p:nvSpPr>
        <p:spPr>
          <a:xfrm>
            <a:off x="723900" y="2667595"/>
            <a:ext cx="14808200" cy="4216400"/>
          </a:xfrm>
          <a:prstGeom prst="rect">
            <a:avLst/>
          </a:prstGeom>
          <a:solidFill>
            <a:srgbClr val="E4E4E7"/>
          </a:solidFill>
          <a:ln/>
        </p:spPr>
      </p:sp>
      <p:sp>
        <p:nvSpPr>
          <p:cNvPr id="17" name="Shape 12"/>
          <p:cNvSpPr/>
          <p:nvPr/>
        </p:nvSpPr>
        <p:spPr>
          <a:xfrm>
            <a:off x="723900" y="2667595"/>
            <a:ext cx="14808200" cy="12700"/>
          </a:xfrm>
          <a:prstGeom prst="rect">
            <a:avLst/>
          </a:prstGeom>
          <a:solidFill>
            <a:srgbClr val="E4E4E7"/>
          </a:solidFill>
          <a:ln/>
        </p:spPr>
      </p:sp>
      <p:sp>
        <p:nvSpPr>
          <p:cNvPr id="18" name="Shape 13"/>
          <p:cNvSpPr/>
          <p:nvPr/>
        </p:nvSpPr>
        <p:spPr>
          <a:xfrm>
            <a:off x="723900" y="6871295"/>
            <a:ext cx="14808200" cy="12700"/>
          </a:xfrm>
          <a:prstGeom prst="rect">
            <a:avLst/>
          </a:prstGeom>
          <a:solidFill>
            <a:srgbClr val="E4E4E7"/>
          </a:solidFill>
          <a:ln/>
        </p:spPr>
      </p:sp>
      <p:sp>
        <p:nvSpPr>
          <p:cNvPr id="19" name="Shape 14"/>
          <p:cNvSpPr/>
          <p:nvPr/>
        </p:nvSpPr>
        <p:spPr>
          <a:xfrm>
            <a:off x="723900" y="2680295"/>
            <a:ext cx="3692525" cy="4191000"/>
          </a:xfrm>
          <a:prstGeom prst="rect">
            <a:avLst/>
          </a:prstGeom>
          <a:solidFill>
            <a:srgbClr val="FDFFFE"/>
          </a:solidFill>
          <a:ln/>
        </p:spPr>
      </p:sp>
      <p:sp>
        <p:nvSpPr>
          <p:cNvPr id="20" name="Text 15"/>
          <p:cNvSpPr txBox="1"/>
          <p:nvPr/>
        </p:nvSpPr>
        <p:spPr>
          <a:xfrm>
            <a:off x="1422400" y="2997795"/>
            <a:ext cx="1103709" cy="203200"/>
          </a:xfrm>
          <a:prstGeom prst="rect">
            <a:avLst/>
          </a:prstGeom>
          <a:noFill/>
          <a:ln/>
        </p:spPr>
        <p:txBody>
          <a:bodyPr wrap="none" lIns="0" tIns="0" rIns="0" bIns="0" rtlCol="0" anchor="t"/>
          <a:lstStyle/>
          <a:p>
            <a:pPr algn="l" indent="0" marL="0">
              <a:buNone/>
            </a:pPr>
            <a:r>
              <a:rPr lang="en-US" sz="1200" spc="216" kern="0" dirty="0">
                <a:solidFill>
                  <a:srgbClr val="71717B"/>
                </a:solidFill>
                <a:latin typeface="Fira Code" pitchFamily="34" charset="0"/>
                <a:ea typeface="Fira Code" pitchFamily="34" charset="-122"/>
                <a:cs typeface="Fira Code" pitchFamily="34" charset="-120"/>
              </a:rPr>
              <a:t>01</a:t>
            </a:r>
            <a:pPr algn="l" indent="0" marL="0">
              <a:buNone/>
            </a:pPr>
            <a:r>
              <a:rPr lang="en-US" sz="1200" spc="216" kern="0" dirty="0">
                <a:solidFill>
                  <a:srgbClr val="71717B"/>
                </a:solidFill>
                <a:latin typeface="Fira Code" pitchFamily="34" charset="0"/>
                <a:ea typeface="Fira Code" pitchFamily="34" charset="-122"/>
                <a:cs typeface="Fira Code" pitchFamily="34" charset="-120"/>
              </a:rPr>
              <a:t> FILES</a:t>
            </a:r>
            <a:endParaRPr lang="en-US" sz="1200" dirty="0"/>
          </a:p>
        </p:txBody>
      </p:sp>
      <p:sp>
        <p:nvSpPr>
          <p:cNvPr id="21" name="Text 16"/>
          <p:cNvSpPr txBox="1"/>
          <p:nvPr/>
        </p:nvSpPr>
        <p:spPr>
          <a:xfrm>
            <a:off x="1422400" y="3373636"/>
            <a:ext cx="632619" cy="355600"/>
          </a:xfrm>
          <a:prstGeom prst="rect">
            <a:avLst/>
          </a:prstGeom>
          <a:noFill/>
          <a:ln/>
        </p:spPr>
        <p:txBody>
          <a:bodyPr wrap="none" lIns="0" tIns="0" rIns="0" bIns="0" rtlCol="0" anchor="t"/>
          <a:lstStyle/>
          <a:p>
            <a:pPr algn="l" indent="0" marL="0">
              <a:buNone/>
            </a:pPr>
            <a:r>
              <a:rPr lang="en-US" sz="2100" b="1" dirty="0">
                <a:solidFill>
                  <a:srgbClr val="09090B"/>
                </a:solidFill>
                <a:latin typeface="Fira Code" pitchFamily="34" charset="0"/>
                <a:ea typeface="Fira Code" pitchFamily="34" charset="-122"/>
                <a:cs typeface="Fira Code" pitchFamily="34" charset="-120"/>
              </a:rPr>
              <a:t>for</a:t>
            </a:r>
            <a:endParaRPr lang="en-US" sz="2100" dirty="0"/>
          </a:p>
        </p:txBody>
      </p:sp>
      <p:sp>
        <p:nvSpPr>
          <p:cNvPr id="22" name="Text 17"/>
          <p:cNvSpPr txBox="1"/>
          <p:nvPr/>
        </p:nvSpPr>
        <p:spPr>
          <a:xfrm>
            <a:off x="1422400" y="3901281"/>
            <a:ext cx="2740025" cy="636191"/>
          </a:xfrm>
          <a:prstGeom prst="rect">
            <a:avLst/>
          </a:prstGeom>
          <a:noFill/>
          <a:ln/>
        </p:spPr>
        <p:txBody>
          <a:bodyPr wrap="square" lIns="0" tIns="0" rIns="0" bIns="0" rtlCol="0" anchor="t"/>
          <a:lstStyle/>
          <a:p>
            <a:pPr algn="l" indent="0" marL="0">
              <a:lnSpc>
                <a:spcPts val="2609"/>
              </a:lnSpc>
              <a:buNone/>
            </a:pPr>
            <a:r>
              <a:rPr lang="en-US" sz="1800" dirty="0">
                <a:solidFill>
                  <a:srgbClr val="71717B"/>
                </a:solidFill>
                <a:latin typeface="Manrope" pitchFamily="34" charset="0"/>
                <a:ea typeface="Manrope" pitchFamily="34" charset="-122"/>
                <a:cs typeface="Manrope" pitchFamily="34" charset="-120"/>
              </a:rPr>
              <a:t>a file, or every image in a folder by glob</a:t>
            </a:r>
            <a:endParaRPr lang="en-US" sz="1800" dirty="0"/>
          </a:p>
        </p:txBody>
      </p:sp>
      <p:sp>
        <p:nvSpPr>
          <p:cNvPr id="23" name="Shape 18"/>
          <p:cNvSpPr/>
          <p:nvPr/>
        </p:nvSpPr>
        <p:spPr>
          <a:xfrm>
            <a:off x="4429125" y="2680295"/>
            <a:ext cx="3692525" cy="4191000"/>
          </a:xfrm>
          <a:prstGeom prst="roundRect">
            <a:avLst>
              <a:gd name="adj" fmla="val 4815"/>
            </a:avLst>
          </a:prstGeom>
          <a:solidFill>
            <a:srgbClr val="FDFFFE"/>
          </a:solidFill>
          <a:ln/>
        </p:spPr>
      </p:sp>
      <p:sp>
        <p:nvSpPr>
          <p:cNvPr id="24" name="Text 19"/>
          <p:cNvSpPr txBox="1"/>
          <p:nvPr/>
        </p:nvSpPr>
        <p:spPr>
          <a:xfrm>
            <a:off x="4708525" y="2997795"/>
            <a:ext cx="1103709" cy="203200"/>
          </a:xfrm>
          <a:prstGeom prst="rect">
            <a:avLst/>
          </a:prstGeom>
          <a:noFill/>
          <a:ln/>
        </p:spPr>
        <p:txBody>
          <a:bodyPr wrap="none" lIns="0" tIns="0" rIns="0" bIns="0" rtlCol="0" anchor="t"/>
          <a:lstStyle/>
          <a:p>
            <a:pPr algn="l" indent="0" marL="0">
              <a:buNone/>
            </a:pPr>
            <a:r>
              <a:rPr lang="en-US" sz="1200" spc="216" kern="0" dirty="0">
                <a:solidFill>
                  <a:srgbClr val="71717B"/>
                </a:solidFill>
                <a:latin typeface="Fira Code" pitchFamily="34" charset="0"/>
                <a:ea typeface="Fira Code" pitchFamily="34" charset="-122"/>
                <a:cs typeface="Fira Code" pitchFamily="34" charset="-120"/>
              </a:rPr>
              <a:t>02</a:t>
            </a:r>
            <a:pPr algn="l" indent="0" marL="0">
              <a:buNone/>
            </a:pPr>
            <a:r>
              <a:rPr lang="en-US" sz="1200" spc="216" kern="0" dirty="0">
                <a:solidFill>
                  <a:srgbClr val="71717B"/>
                </a:solidFill>
                <a:latin typeface="Fira Code" pitchFamily="34" charset="0"/>
                <a:ea typeface="Fira Code" pitchFamily="34" charset="-122"/>
                <a:cs typeface="Fira Code" pitchFamily="34" charset="-120"/>
              </a:rPr>
              <a:t> FETCH</a:t>
            </a:r>
            <a:endParaRPr lang="en-US" sz="1200" dirty="0"/>
          </a:p>
        </p:txBody>
      </p:sp>
      <p:sp>
        <p:nvSpPr>
          <p:cNvPr id="25" name="Text 20"/>
          <p:cNvSpPr txBox="1"/>
          <p:nvPr/>
        </p:nvSpPr>
        <p:spPr>
          <a:xfrm>
            <a:off x="4708525" y="3373636"/>
            <a:ext cx="2712839" cy="355600"/>
          </a:xfrm>
          <a:prstGeom prst="rect">
            <a:avLst/>
          </a:prstGeom>
          <a:noFill/>
          <a:ln/>
        </p:spPr>
        <p:txBody>
          <a:bodyPr wrap="none" lIns="0" tIns="0" rIns="0" bIns="0" rtlCol="0" anchor="t"/>
          <a:lstStyle/>
          <a:p>
            <a:pPr algn="l" indent="0" marL="0">
              <a:buNone/>
            </a:pPr>
            <a:r>
              <a:rPr lang="en-US" sz="2100" b="1" dirty="0">
                <a:solidFill>
                  <a:srgbClr val="09090B"/>
                </a:solidFill>
                <a:latin typeface="Fira Code" pitchFamily="34" charset="0"/>
                <a:ea typeface="Fira Code" pitchFamily="34" charset="-122"/>
                <a:cs typeface="Fira Code" pitchFamily="34" charset="-120"/>
              </a:rPr>
              <a:t>meta=$(exiftool)</a:t>
            </a:r>
            <a:endParaRPr lang="en-US" sz="2100" dirty="0"/>
          </a:p>
        </p:txBody>
      </p:sp>
      <p:sp>
        <p:nvSpPr>
          <p:cNvPr id="26" name="Text 21"/>
          <p:cNvSpPr txBox="1"/>
          <p:nvPr/>
        </p:nvSpPr>
        <p:spPr>
          <a:xfrm>
            <a:off x="4708525" y="3901281"/>
            <a:ext cx="2811065" cy="304800"/>
          </a:xfrm>
          <a:prstGeom prst="rect">
            <a:avLst/>
          </a:prstGeom>
          <a:noFill/>
          <a:ln/>
        </p:spPr>
        <p:txBody>
          <a:bodyPr wrap="none" lIns="0" tIns="0" rIns="0" bIns="0" rtlCol="0" anchor="t"/>
          <a:lstStyle/>
          <a:p>
            <a:pPr algn="l" indent="0" marL="0">
              <a:buNone/>
            </a:pPr>
            <a:r>
              <a:rPr lang="en-US" sz="1800" dirty="0">
                <a:solidFill>
                  <a:srgbClr val="71717B"/>
                </a:solidFill>
                <a:latin typeface="Manrope" pitchFamily="34" charset="0"/>
                <a:ea typeface="Manrope" pitchFamily="34" charset="-122"/>
                <a:cs typeface="Manrope" pitchFamily="34" charset="-120"/>
              </a:rPr>
              <a:t>one call, kept in a variable</a:t>
            </a:r>
            <a:endParaRPr lang="en-US" sz="1800" dirty="0"/>
          </a:p>
        </p:txBody>
      </p:sp>
      <p:sp>
        <p:nvSpPr>
          <p:cNvPr id="27" name="Shape 22"/>
          <p:cNvSpPr/>
          <p:nvPr/>
        </p:nvSpPr>
        <p:spPr>
          <a:xfrm>
            <a:off x="8134351" y="2680295"/>
            <a:ext cx="3692525" cy="4191000"/>
          </a:xfrm>
          <a:prstGeom prst="roundRect">
            <a:avLst>
              <a:gd name="adj" fmla="val 4815"/>
            </a:avLst>
          </a:prstGeom>
          <a:solidFill>
            <a:srgbClr val="E4F3E8"/>
          </a:solidFill>
          <a:ln/>
        </p:spPr>
      </p:sp>
      <p:sp>
        <p:nvSpPr>
          <p:cNvPr id="28" name="Text 23"/>
          <p:cNvSpPr txBox="1"/>
          <p:nvPr/>
        </p:nvSpPr>
        <p:spPr>
          <a:xfrm>
            <a:off x="8413749" y="2997795"/>
            <a:ext cx="1222573" cy="203200"/>
          </a:xfrm>
          <a:prstGeom prst="rect">
            <a:avLst/>
          </a:prstGeom>
          <a:noFill/>
          <a:ln/>
        </p:spPr>
        <p:txBody>
          <a:bodyPr wrap="none" lIns="0" tIns="0" rIns="0" bIns="0" rtlCol="0" anchor="t"/>
          <a:lstStyle/>
          <a:p>
            <a:pPr algn="l" indent="0" marL="0">
              <a:buNone/>
            </a:pPr>
            <a:r>
              <a:rPr lang="en-US" sz="1200" spc="216" kern="0" dirty="0">
                <a:solidFill>
                  <a:srgbClr val="006630"/>
                </a:solidFill>
                <a:latin typeface="Fira Code" pitchFamily="34" charset="0"/>
                <a:ea typeface="Fira Code" pitchFamily="34" charset="-122"/>
                <a:cs typeface="Fira Code" pitchFamily="34" charset="-120"/>
              </a:rPr>
              <a:t>03</a:t>
            </a:r>
            <a:pPr algn="l" indent="0" marL="0">
              <a:buNone/>
            </a:pPr>
            <a:r>
              <a:rPr lang="en-US" sz="1200" spc="216" kern="0" dirty="0">
                <a:solidFill>
                  <a:srgbClr val="006630"/>
                </a:solidFill>
                <a:latin typeface="Fira Code" pitchFamily="34" charset="0"/>
                <a:ea typeface="Fira Code" pitchFamily="34" charset="-122"/>
                <a:cs typeface="Fira Code" pitchFamily="34" charset="-120"/>
              </a:rPr>
              <a:t> DETECT</a:t>
            </a:r>
            <a:endParaRPr lang="en-US" sz="1200" dirty="0"/>
          </a:p>
        </p:txBody>
      </p:sp>
      <p:sp>
        <p:nvSpPr>
          <p:cNvPr id="29" name="Text 24"/>
          <p:cNvSpPr txBox="1"/>
          <p:nvPr/>
        </p:nvSpPr>
        <p:spPr>
          <a:xfrm>
            <a:off x="8413749" y="3373636"/>
            <a:ext cx="1592660" cy="355600"/>
          </a:xfrm>
          <a:prstGeom prst="rect">
            <a:avLst/>
          </a:prstGeom>
          <a:noFill/>
          <a:ln/>
        </p:spPr>
        <p:txBody>
          <a:bodyPr wrap="none" lIns="0" tIns="0" rIns="0" bIns="0" rtlCol="0" anchor="t"/>
          <a:lstStyle/>
          <a:p>
            <a:pPr algn="l" indent="0" marL="0">
              <a:buNone/>
            </a:pPr>
            <a:r>
              <a:rPr lang="en-US" sz="2100" b="1" dirty="0">
                <a:solidFill>
                  <a:srgbClr val="09090B"/>
                </a:solidFill>
                <a:latin typeface="Fira Code" pitchFamily="34" charset="0"/>
                <a:ea typeface="Fira Code" pitchFamily="34" charset="-122"/>
                <a:cs typeface="Fira Code" pitchFamily="34" charset="-120"/>
              </a:rPr>
              <a:t>DETECTORS</a:t>
            </a:r>
            <a:endParaRPr lang="en-US" sz="2100" dirty="0"/>
          </a:p>
        </p:txBody>
      </p:sp>
      <p:sp>
        <p:nvSpPr>
          <p:cNvPr id="30" name="Shape 25"/>
          <p:cNvSpPr/>
          <p:nvPr/>
        </p:nvSpPr>
        <p:spPr>
          <a:xfrm>
            <a:off x="8413749" y="3888581"/>
            <a:ext cx="3133725" cy="497880"/>
          </a:xfrm>
          <a:prstGeom prst="roundRect">
            <a:avLst>
              <a:gd name="adj" fmla="val 20407"/>
            </a:avLst>
          </a:prstGeom>
          <a:solidFill>
            <a:srgbClr val="FDFFFE"/>
          </a:solidFill>
          <a:ln w="12700">
            <a:solidFill>
              <a:srgbClr val="BFDFC9"/>
            </a:solidFill>
            <a:prstDash val="solid"/>
          </a:ln>
        </p:spPr>
      </p:sp>
      <p:sp>
        <p:nvSpPr>
          <p:cNvPr id="31" name="Shape 26"/>
          <p:cNvSpPr/>
          <p:nvPr/>
        </p:nvSpPr>
        <p:spPr>
          <a:xfrm>
            <a:off x="8440420" y="4009485"/>
            <a:ext cx="74676" cy="74676"/>
          </a:xfrm>
          <a:prstGeom prst="roundRect">
            <a:avLst>
              <a:gd name="adj" fmla="val 34014"/>
            </a:avLst>
          </a:prstGeom>
          <a:solidFill>
            <a:srgbClr val="0E9254"/>
          </a:solidFill>
          <a:ln/>
        </p:spPr>
      </p:sp>
      <p:sp>
        <p:nvSpPr>
          <p:cNvPr id="32" name="Text 27"/>
          <p:cNvSpPr txBox="1"/>
          <p:nvPr/>
        </p:nvSpPr>
        <p:spPr>
          <a:xfrm>
            <a:off x="8553451" y="4015581"/>
            <a:ext cx="1752600" cy="241300"/>
          </a:xfrm>
          <a:prstGeom prst="rect">
            <a:avLst/>
          </a:prstGeom>
          <a:noFill/>
          <a:ln/>
        </p:spPr>
        <p:txBody>
          <a:bodyPr wrap="none" lIns="0" tIns="0" rIns="0" bIns="0" rtlCol="0" anchor="t"/>
          <a:lstStyle/>
          <a:p>
            <a:pPr algn="l" indent="0" marL="0">
              <a:buNone/>
            </a:pPr>
            <a:r>
              <a:rPr lang="en-US" sz="1400" dirty="0">
                <a:solidFill>
                  <a:srgbClr val="006630"/>
                </a:solidFill>
                <a:latin typeface="Fira Code" pitchFamily="34" charset="0"/>
                <a:ea typeface="Fira Code" pitchFamily="34" charset="-122"/>
                <a:cs typeface="Fira Code" pitchFamily="34" charset="-120"/>
              </a:rPr>
              <a:t>detect_location</a:t>
            </a:r>
            <a:endParaRPr lang="en-US" sz="1400" dirty="0"/>
          </a:p>
        </p:txBody>
      </p:sp>
      <p:sp>
        <p:nvSpPr>
          <p:cNvPr id="33" name="Shape 28"/>
          <p:cNvSpPr/>
          <p:nvPr/>
        </p:nvSpPr>
        <p:spPr>
          <a:xfrm>
            <a:off x="8413749" y="4462661"/>
            <a:ext cx="3133725" cy="497880"/>
          </a:xfrm>
          <a:prstGeom prst="roundRect">
            <a:avLst>
              <a:gd name="adj" fmla="val 20407"/>
            </a:avLst>
          </a:prstGeom>
          <a:solidFill>
            <a:srgbClr val="FDFFFE"/>
          </a:solidFill>
          <a:ln w="12700">
            <a:solidFill>
              <a:srgbClr val="BFDFC9"/>
            </a:solidFill>
            <a:prstDash val="solid"/>
          </a:ln>
        </p:spPr>
      </p:sp>
      <p:sp>
        <p:nvSpPr>
          <p:cNvPr id="34" name="Shape 29"/>
          <p:cNvSpPr/>
          <p:nvPr/>
        </p:nvSpPr>
        <p:spPr>
          <a:xfrm>
            <a:off x="8440420" y="4583565"/>
            <a:ext cx="74676" cy="74676"/>
          </a:xfrm>
          <a:prstGeom prst="roundRect">
            <a:avLst>
              <a:gd name="adj" fmla="val 34014"/>
            </a:avLst>
          </a:prstGeom>
          <a:solidFill>
            <a:srgbClr val="0E9254"/>
          </a:solidFill>
          <a:ln/>
        </p:spPr>
      </p:sp>
      <p:sp>
        <p:nvSpPr>
          <p:cNvPr id="35" name="Text 30"/>
          <p:cNvSpPr txBox="1"/>
          <p:nvPr/>
        </p:nvSpPr>
        <p:spPr>
          <a:xfrm>
            <a:off x="8553451" y="4589661"/>
            <a:ext cx="1539280" cy="241300"/>
          </a:xfrm>
          <a:prstGeom prst="rect">
            <a:avLst/>
          </a:prstGeom>
          <a:noFill/>
          <a:ln/>
        </p:spPr>
        <p:txBody>
          <a:bodyPr wrap="none" lIns="0" tIns="0" rIns="0" bIns="0" rtlCol="0" anchor="t"/>
          <a:lstStyle/>
          <a:p>
            <a:pPr algn="l" indent="0" marL="0">
              <a:buNone/>
            </a:pPr>
            <a:r>
              <a:rPr lang="en-US" sz="1400" dirty="0">
                <a:solidFill>
                  <a:srgbClr val="006630"/>
                </a:solidFill>
                <a:latin typeface="Fira Code" pitchFamily="34" charset="0"/>
                <a:ea typeface="Fira Code" pitchFamily="34" charset="-122"/>
                <a:cs typeface="Fira Code" pitchFamily="34" charset="-120"/>
              </a:rPr>
              <a:t>detect_device</a:t>
            </a:r>
            <a:endParaRPr lang="en-US" sz="1400" dirty="0"/>
          </a:p>
        </p:txBody>
      </p:sp>
      <p:sp>
        <p:nvSpPr>
          <p:cNvPr id="36" name="Shape 31"/>
          <p:cNvSpPr/>
          <p:nvPr/>
        </p:nvSpPr>
        <p:spPr>
          <a:xfrm>
            <a:off x="8413749" y="5036740"/>
            <a:ext cx="3133725" cy="497880"/>
          </a:xfrm>
          <a:prstGeom prst="roundRect">
            <a:avLst>
              <a:gd name="adj" fmla="val 20407"/>
            </a:avLst>
          </a:prstGeom>
          <a:solidFill>
            <a:srgbClr val="FDFFFE"/>
          </a:solidFill>
          <a:ln w="12700">
            <a:solidFill>
              <a:srgbClr val="BFDFC9"/>
            </a:solidFill>
            <a:prstDash val="solid"/>
          </a:ln>
        </p:spPr>
      </p:sp>
      <p:sp>
        <p:nvSpPr>
          <p:cNvPr id="37" name="Shape 32"/>
          <p:cNvSpPr/>
          <p:nvPr/>
        </p:nvSpPr>
        <p:spPr>
          <a:xfrm>
            <a:off x="8440420" y="5157644"/>
            <a:ext cx="74676" cy="74676"/>
          </a:xfrm>
          <a:prstGeom prst="roundRect">
            <a:avLst>
              <a:gd name="adj" fmla="val 34014"/>
            </a:avLst>
          </a:prstGeom>
          <a:solidFill>
            <a:srgbClr val="0E9254"/>
          </a:solidFill>
          <a:ln/>
        </p:spPr>
      </p:sp>
      <p:sp>
        <p:nvSpPr>
          <p:cNvPr id="38" name="Text 33"/>
          <p:cNvSpPr txBox="1"/>
          <p:nvPr/>
        </p:nvSpPr>
        <p:spPr>
          <a:xfrm>
            <a:off x="8553451" y="5163740"/>
            <a:ext cx="1752600" cy="241300"/>
          </a:xfrm>
          <a:prstGeom prst="rect">
            <a:avLst/>
          </a:prstGeom>
          <a:noFill/>
          <a:ln/>
        </p:spPr>
        <p:txBody>
          <a:bodyPr wrap="none" lIns="0" tIns="0" rIns="0" bIns="0" rtlCol="0" anchor="t"/>
          <a:lstStyle/>
          <a:p>
            <a:pPr algn="l" indent="0" marL="0">
              <a:buNone/>
            </a:pPr>
            <a:r>
              <a:rPr lang="en-US" sz="1400" dirty="0">
                <a:solidFill>
                  <a:srgbClr val="006630"/>
                </a:solidFill>
                <a:latin typeface="Fira Code" pitchFamily="34" charset="0"/>
                <a:ea typeface="Fira Code" pitchFamily="34" charset="-122"/>
                <a:cs typeface="Fira Code" pitchFamily="34" charset="-120"/>
              </a:rPr>
              <a:t>detect_identity</a:t>
            </a:r>
            <a:endParaRPr lang="en-US" sz="1400" dirty="0"/>
          </a:p>
        </p:txBody>
      </p:sp>
      <p:sp>
        <p:nvSpPr>
          <p:cNvPr id="39" name="Shape 34"/>
          <p:cNvSpPr/>
          <p:nvPr/>
        </p:nvSpPr>
        <p:spPr>
          <a:xfrm>
            <a:off x="8413749" y="5610820"/>
            <a:ext cx="3133725" cy="497880"/>
          </a:xfrm>
          <a:prstGeom prst="roundRect">
            <a:avLst>
              <a:gd name="adj" fmla="val 20407"/>
            </a:avLst>
          </a:prstGeom>
          <a:solidFill>
            <a:srgbClr val="FDFFFE"/>
          </a:solidFill>
          <a:ln w="12700">
            <a:solidFill>
              <a:srgbClr val="BFDFC9"/>
            </a:solidFill>
            <a:prstDash val="solid"/>
          </a:ln>
        </p:spPr>
      </p:sp>
      <p:sp>
        <p:nvSpPr>
          <p:cNvPr id="40" name="Shape 35"/>
          <p:cNvSpPr/>
          <p:nvPr/>
        </p:nvSpPr>
        <p:spPr>
          <a:xfrm>
            <a:off x="8440420" y="5731724"/>
            <a:ext cx="74676" cy="74676"/>
          </a:xfrm>
          <a:prstGeom prst="roundRect">
            <a:avLst>
              <a:gd name="adj" fmla="val 34014"/>
            </a:avLst>
          </a:prstGeom>
          <a:solidFill>
            <a:srgbClr val="0E9254"/>
          </a:solidFill>
          <a:ln/>
        </p:spPr>
      </p:sp>
      <p:sp>
        <p:nvSpPr>
          <p:cNvPr id="41" name="Text 36"/>
          <p:cNvSpPr txBox="1"/>
          <p:nvPr/>
        </p:nvSpPr>
        <p:spPr>
          <a:xfrm>
            <a:off x="8553451" y="5737820"/>
            <a:ext cx="1752600" cy="241300"/>
          </a:xfrm>
          <a:prstGeom prst="rect">
            <a:avLst/>
          </a:prstGeom>
          <a:noFill/>
          <a:ln/>
        </p:spPr>
        <p:txBody>
          <a:bodyPr wrap="none" lIns="0" tIns="0" rIns="0" bIns="0" rtlCol="0" anchor="t"/>
          <a:lstStyle/>
          <a:p>
            <a:pPr algn="l" indent="0" marL="0">
              <a:buNone/>
            </a:pPr>
            <a:r>
              <a:rPr lang="en-US" sz="1400" dirty="0">
                <a:solidFill>
                  <a:srgbClr val="006630"/>
                </a:solidFill>
                <a:latin typeface="Fira Code" pitchFamily="34" charset="0"/>
                <a:ea typeface="Fira Code" pitchFamily="34" charset="-122"/>
                <a:cs typeface="Fira Code" pitchFamily="34" charset="-120"/>
              </a:rPr>
              <a:t>detect_software</a:t>
            </a:r>
            <a:endParaRPr lang="en-US" sz="1400" dirty="0"/>
          </a:p>
        </p:txBody>
      </p:sp>
      <p:sp>
        <p:nvSpPr>
          <p:cNvPr id="42" name="Shape 37"/>
          <p:cNvSpPr/>
          <p:nvPr/>
        </p:nvSpPr>
        <p:spPr>
          <a:xfrm>
            <a:off x="11839575" y="2680295"/>
            <a:ext cx="3692525" cy="4191000"/>
          </a:xfrm>
          <a:prstGeom prst="roundRect">
            <a:avLst>
              <a:gd name="adj" fmla="val 4815"/>
            </a:avLst>
          </a:prstGeom>
          <a:solidFill>
            <a:srgbClr val="FDFFFE"/>
          </a:solidFill>
          <a:ln/>
        </p:spPr>
      </p:sp>
      <p:sp>
        <p:nvSpPr>
          <p:cNvPr id="43" name="Text 38"/>
          <p:cNvSpPr txBox="1"/>
          <p:nvPr/>
        </p:nvSpPr>
        <p:spPr>
          <a:xfrm>
            <a:off x="12118975" y="2997795"/>
            <a:ext cx="1222573" cy="203200"/>
          </a:xfrm>
          <a:prstGeom prst="rect">
            <a:avLst/>
          </a:prstGeom>
          <a:noFill/>
          <a:ln/>
        </p:spPr>
        <p:txBody>
          <a:bodyPr wrap="none" lIns="0" tIns="0" rIns="0" bIns="0" rtlCol="0" anchor="t"/>
          <a:lstStyle/>
          <a:p>
            <a:pPr algn="l" indent="0" marL="0">
              <a:buNone/>
            </a:pPr>
            <a:r>
              <a:rPr lang="en-US" sz="1200" spc="216" kern="0" dirty="0">
                <a:solidFill>
                  <a:srgbClr val="71717B"/>
                </a:solidFill>
                <a:latin typeface="Fira Code" pitchFamily="34" charset="0"/>
                <a:ea typeface="Fira Code" pitchFamily="34" charset="-122"/>
                <a:cs typeface="Fira Code" pitchFamily="34" charset="-120"/>
              </a:rPr>
              <a:t>04</a:t>
            </a:r>
            <a:pPr algn="l" indent="0" marL="0">
              <a:buNone/>
            </a:pPr>
            <a:r>
              <a:rPr lang="en-US" sz="1200" spc="216" kern="0" dirty="0">
                <a:solidFill>
                  <a:srgbClr val="71717B"/>
                </a:solidFill>
                <a:latin typeface="Fira Code" pitchFamily="34" charset="0"/>
                <a:ea typeface="Fira Code" pitchFamily="34" charset="-122"/>
                <a:cs typeface="Fira Code" pitchFamily="34" charset="-120"/>
              </a:rPr>
              <a:t> REPORT</a:t>
            </a:r>
            <a:endParaRPr lang="en-US" sz="1200" dirty="0"/>
          </a:p>
        </p:txBody>
      </p:sp>
      <p:sp>
        <p:nvSpPr>
          <p:cNvPr id="44" name="Text 39"/>
          <p:cNvSpPr txBox="1"/>
          <p:nvPr/>
        </p:nvSpPr>
        <p:spPr>
          <a:xfrm>
            <a:off x="12118975" y="3373636"/>
            <a:ext cx="792560" cy="355600"/>
          </a:xfrm>
          <a:prstGeom prst="rect">
            <a:avLst/>
          </a:prstGeom>
          <a:noFill/>
          <a:ln/>
        </p:spPr>
        <p:txBody>
          <a:bodyPr wrap="none" lIns="0" tIns="0" rIns="0" bIns="0" rtlCol="0" anchor="t"/>
          <a:lstStyle/>
          <a:p>
            <a:pPr algn="l" indent="0" marL="0">
              <a:buNone/>
            </a:pPr>
            <a:r>
              <a:rPr lang="en-US" sz="2100" b="1" dirty="0">
                <a:solidFill>
                  <a:srgbClr val="09090B"/>
                </a:solidFill>
                <a:latin typeface="Fira Code" pitchFamily="34" charset="0"/>
                <a:ea typeface="Fira Code" pitchFamily="34" charset="-122"/>
                <a:cs typeface="Fira Code" pitchFamily="34" charset="-120"/>
              </a:rPr>
              <a:t>show</a:t>
            </a:r>
            <a:endParaRPr lang="en-US" sz="2100" dirty="0"/>
          </a:p>
        </p:txBody>
      </p:sp>
      <p:sp>
        <p:nvSpPr>
          <p:cNvPr id="45" name="Shape 40"/>
          <p:cNvSpPr/>
          <p:nvPr/>
        </p:nvSpPr>
        <p:spPr>
          <a:xfrm>
            <a:off x="12568635" y="3924101"/>
            <a:ext cx="1255712" cy="309960"/>
          </a:xfrm>
          <a:prstGeom prst="roundRect">
            <a:avLst>
              <a:gd name="adj" fmla="val 24584"/>
            </a:avLst>
          </a:prstGeom>
          <a:solidFill>
            <a:srgbClr val="F4F4F5"/>
          </a:solidFill>
          <a:ln/>
        </p:spPr>
      </p:sp>
      <p:sp>
        <p:nvSpPr>
          <p:cNvPr id="46" name="Text 41"/>
          <p:cNvSpPr txBox="1"/>
          <p:nvPr/>
        </p:nvSpPr>
        <p:spPr>
          <a:xfrm>
            <a:off x="12118975" y="3901281"/>
            <a:ext cx="2424311" cy="304800"/>
          </a:xfrm>
          <a:prstGeom prst="rect">
            <a:avLst/>
          </a:prstGeom>
          <a:noFill/>
          <a:ln/>
        </p:spPr>
        <p:txBody>
          <a:bodyPr wrap="none" lIns="0" tIns="0" rIns="0" bIns="0" rtlCol="0" anchor="t"/>
          <a:lstStyle/>
          <a:p>
            <a:pPr algn="l" indent="0" marL="0">
              <a:buNone/>
            </a:pPr>
            <a:r>
              <a:rPr lang="en-US" sz="1800" dirty="0">
                <a:solidFill>
                  <a:srgbClr val="71717B"/>
                </a:solidFill>
                <a:latin typeface="Manrope" pitchFamily="34" charset="0"/>
                <a:ea typeface="Manrope" pitchFamily="34" charset="-122"/>
                <a:cs typeface="Manrope" pitchFamily="34" charset="-120"/>
              </a:rPr>
              <a:t>one </a:t>
            </a:r>
            <a:pPr algn="l" indent="0" marL="0">
              <a:buNone/>
            </a:pPr>
            <a:r>
              <a:rPr lang="en-US" sz="1476" b="1" dirty="0">
                <a:solidFill>
                  <a:srgbClr val="09090B"/>
                </a:solidFill>
                <a:latin typeface="Fira Code" pitchFamily="34" charset="0"/>
                <a:ea typeface="Fira Code" pitchFamily="34" charset="-122"/>
                <a:cs typeface="Fira Code" pitchFamily="34" charset="-120"/>
              </a:rPr>
              <a:t>[TAG] line</a:t>
            </a:r>
            <a:pPr algn="l" indent="0" marL="0">
              <a:buNone/>
            </a:pPr>
            <a:r>
              <a:rPr lang="en-US" sz="1800" dirty="0">
                <a:solidFill>
                  <a:srgbClr val="71717B"/>
                </a:solidFill>
                <a:latin typeface="Manrope" pitchFamily="34" charset="0"/>
                <a:ea typeface="Manrope" pitchFamily="34" charset="-122"/>
                <a:cs typeface="Manrope" pitchFamily="34" charset="-120"/>
              </a:rPr>
              <a:t> each</a:t>
            </a:r>
            <a:endParaRPr lang="en-US" sz="1800" dirty="0"/>
          </a:p>
        </p:txBody>
      </p:sp>
      <p:sp>
        <p:nvSpPr>
          <p:cNvPr id="47" name="Shape 42"/>
          <p:cNvSpPr/>
          <p:nvPr/>
        </p:nvSpPr>
        <p:spPr>
          <a:xfrm>
            <a:off x="8142089" y="7188795"/>
            <a:ext cx="4147939" cy="444500"/>
          </a:xfrm>
          <a:prstGeom prst="roundRect">
            <a:avLst>
              <a:gd name="adj" fmla="val 11429"/>
            </a:avLst>
          </a:prstGeom>
          <a:solidFill>
            <a:srgbClr val="63E197"/>
          </a:solidFill>
          <a:ln/>
        </p:spPr>
      </p:sp>
      <p:sp>
        <p:nvSpPr>
          <p:cNvPr id="48" name="Shape 43"/>
          <p:cNvSpPr/>
          <p:nvPr/>
        </p:nvSpPr>
        <p:spPr>
          <a:xfrm>
            <a:off x="12679760" y="7238801"/>
            <a:ext cx="1588095" cy="420688"/>
          </a:xfrm>
          <a:prstGeom prst="roundRect">
            <a:avLst>
              <a:gd name="adj" fmla="val 18113"/>
            </a:avLst>
          </a:prstGeom>
          <a:solidFill>
            <a:srgbClr val="F4F4F5"/>
          </a:solidFill>
          <a:ln/>
        </p:spPr>
      </p:sp>
      <p:sp>
        <p:nvSpPr>
          <p:cNvPr id="49" name="Text 44"/>
          <p:cNvSpPr txBox="1"/>
          <p:nvPr/>
        </p:nvSpPr>
        <p:spPr>
          <a:xfrm>
            <a:off x="1422400" y="7188795"/>
            <a:ext cx="13078420" cy="444500"/>
          </a:xfrm>
          <a:prstGeom prst="rect">
            <a:avLst/>
          </a:prstGeom>
          <a:noFill/>
          <a:ln/>
        </p:spPr>
        <p:txBody>
          <a:bodyPr wrap="none" lIns="0" tIns="0" rIns="0" bIns="0" rtlCol="0" anchor="t"/>
          <a:lstStyle/>
          <a:p>
            <a:pPr algn="l" indent="0" marL="0">
              <a:buNone/>
            </a:pPr>
            <a:r>
              <a:rPr lang="en-US" sz="2500" dirty="0">
                <a:solidFill>
                  <a:srgbClr val="71717B"/>
                </a:solidFill>
                <a:latin typeface="Manrope" pitchFamily="34" charset="0"/>
                <a:ea typeface="Manrope" pitchFamily="34" charset="-122"/>
                <a:cs typeface="Manrope" pitchFamily="34" charset="-120"/>
              </a:rPr>
              <a:t>The loop never names a check. A new check is </a:t>
            </a:r>
            <a:pPr algn="l" indent="0" marL="0">
              <a:buNone/>
            </a:pPr>
            <a:r>
              <a:rPr lang="en-US" sz="2500" dirty="0">
                <a:solidFill>
                  <a:srgbClr val="030504"/>
                </a:solidFill>
                <a:latin typeface="Manrope" pitchFamily="34" charset="0"/>
                <a:ea typeface="Manrope" pitchFamily="34" charset="-122"/>
                <a:cs typeface="Manrope" pitchFamily="34" charset="-120"/>
              </a:rPr>
              <a:t>one function and one name</a:t>
            </a:r>
            <a:pPr algn="l" indent="0" marL="0">
              <a:buNone/>
            </a:pPr>
            <a:r>
              <a:rPr lang="en-US" sz="2500" dirty="0">
                <a:solidFill>
                  <a:srgbClr val="71717B"/>
                </a:solidFill>
                <a:latin typeface="Manrope" pitchFamily="34" charset="0"/>
                <a:ea typeface="Manrope" pitchFamily="34" charset="-122"/>
                <a:cs typeface="Manrope" pitchFamily="34" charset="-120"/>
              </a:rPr>
              <a:t> in </a:t>
            </a:r>
            <a:pPr algn="l" indent="0" marL="0">
              <a:buNone/>
            </a:pPr>
            <a:r>
              <a:rPr lang="en-US" sz="2051" b="1" dirty="0">
                <a:solidFill>
                  <a:srgbClr val="09090B"/>
                </a:solidFill>
                <a:latin typeface="Fira Code" pitchFamily="34" charset="0"/>
                <a:ea typeface="Fira Code" pitchFamily="34" charset="-122"/>
                <a:cs typeface="Fira Code" pitchFamily="34" charset="-120"/>
              </a:rPr>
              <a:t>DETECTORS</a:t>
            </a:r>
            <a:pPr algn="l" indent="0" marL="0">
              <a:buNone/>
            </a:pPr>
            <a:r>
              <a:rPr lang="en-US" sz="2500" dirty="0">
                <a:solidFill>
                  <a:srgbClr val="71717B"/>
                </a:solidFill>
                <a:latin typeface="Manrope" pitchFamily="34" charset="0"/>
                <a:ea typeface="Manrope" pitchFamily="34" charset="-122"/>
                <a:cs typeface="Manrope" pitchFamily="34" charset="-120"/>
              </a:rPr>
              <a:t>.</a:t>
            </a:r>
            <a:endParaRPr lang="en-US" sz="2500" dirty="0"/>
          </a:p>
        </p:txBody>
      </p:sp>
      <p:sp>
        <p:nvSpPr>
          <p:cNvPr id="50" name="Shape 45"/>
          <p:cNvSpPr/>
          <p:nvPr/>
        </p:nvSpPr>
        <p:spPr>
          <a:xfrm>
            <a:off x="4264025" y="2985095"/>
            <a:ext cx="330200" cy="330200"/>
          </a:xfrm>
          <a:prstGeom prst="roundRect">
            <a:avLst>
              <a:gd name="adj" fmla="val 50000"/>
            </a:avLst>
          </a:prstGeom>
          <a:solidFill>
            <a:srgbClr val="FDFFFE"/>
          </a:solidFill>
          <a:ln w="12700">
            <a:solidFill>
              <a:srgbClr val="E4E4E7"/>
            </a:solidFill>
            <a:prstDash val="solid"/>
          </a:ln>
        </p:spPr>
      </p:sp>
      <p:sp>
        <p:nvSpPr>
          <p:cNvPr id="51" name="Text 46"/>
          <p:cNvSpPr txBox="1"/>
          <p:nvPr/>
        </p:nvSpPr>
        <p:spPr>
          <a:xfrm>
            <a:off x="4264025" y="2985095"/>
            <a:ext cx="482600" cy="330200"/>
          </a:xfrm>
          <a:prstGeom prst="rect">
            <a:avLst/>
          </a:prstGeom>
          <a:noFill/>
          <a:ln/>
        </p:spPr>
        <p:txBody>
          <a:bodyPr wrap="none" lIns="0" tIns="0" rIns="0" bIns="0" rtlCol="0" anchor="ctr"/>
          <a:lstStyle/>
          <a:p>
            <a:pPr algn="l" indent="0" marL="0">
              <a:buNone/>
            </a:pPr>
            <a:r>
              <a:rPr lang="en-US" sz="1400" dirty="0">
                <a:solidFill>
                  <a:srgbClr val="006630"/>
                </a:solidFill>
                <a:latin typeface="Fira Code" pitchFamily="34" charset="0"/>
                <a:ea typeface="Fira Code" pitchFamily="34" charset="-122"/>
                <a:cs typeface="Fira Code" pitchFamily="34" charset="-120"/>
              </a:rPr>
              <a:t>→</a:t>
            </a:r>
            <a:endParaRPr lang="en-US" sz="1400" dirty="0"/>
          </a:p>
        </p:txBody>
      </p:sp>
      <p:sp>
        <p:nvSpPr>
          <p:cNvPr id="52" name="Shape 47"/>
          <p:cNvSpPr/>
          <p:nvPr/>
        </p:nvSpPr>
        <p:spPr>
          <a:xfrm>
            <a:off x="7969251" y="2985095"/>
            <a:ext cx="330200" cy="330200"/>
          </a:xfrm>
          <a:prstGeom prst="roundRect">
            <a:avLst>
              <a:gd name="adj" fmla="val 50000"/>
            </a:avLst>
          </a:prstGeom>
          <a:solidFill>
            <a:srgbClr val="FDFFFE"/>
          </a:solidFill>
          <a:ln w="12700">
            <a:solidFill>
              <a:srgbClr val="E4E4E7"/>
            </a:solidFill>
            <a:prstDash val="solid"/>
          </a:ln>
        </p:spPr>
      </p:sp>
      <p:sp>
        <p:nvSpPr>
          <p:cNvPr id="53" name="Text 48"/>
          <p:cNvSpPr txBox="1"/>
          <p:nvPr/>
        </p:nvSpPr>
        <p:spPr>
          <a:xfrm>
            <a:off x="7969251" y="2985095"/>
            <a:ext cx="482600" cy="330200"/>
          </a:xfrm>
          <a:prstGeom prst="rect">
            <a:avLst/>
          </a:prstGeom>
          <a:noFill/>
          <a:ln/>
        </p:spPr>
        <p:txBody>
          <a:bodyPr wrap="none" lIns="0" tIns="0" rIns="0" bIns="0" rtlCol="0" anchor="ctr"/>
          <a:lstStyle/>
          <a:p>
            <a:pPr algn="l" indent="0" marL="0">
              <a:buNone/>
            </a:pPr>
            <a:r>
              <a:rPr lang="en-US" sz="1400" dirty="0">
                <a:solidFill>
                  <a:srgbClr val="006630"/>
                </a:solidFill>
                <a:latin typeface="Fira Code" pitchFamily="34" charset="0"/>
                <a:ea typeface="Fira Code" pitchFamily="34" charset="-122"/>
                <a:cs typeface="Fira Code" pitchFamily="34" charset="-120"/>
              </a:rPr>
              <a:t>→</a:t>
            </a:r>
            <a:endParaRPr lang="en-US" sz="1400" dirty="0"/>
          </a:p>
        </p:txBody>
      </p:sp>
      <p:sp>
        <p:nvSpPr>
          <p:cNvPr id="54" name="Shape 49"/>
          <p:cNvSpPr/>
          <p:nvPr/>
        </p:nvSpPr>
        <p:spPr>
          <a:xfrm>
            <a:off x="11674475" y="2985095"/>
            <a:ext cx="330200" cy="330200"/>
          </a:xfrm>
          <a:prstGeom prst="roundRect">
            <a:avLst>
              <a:gd name="adj" fmla="val 50000"/>
            </a:avLst>
          </a:prstGeom>
          <a:solidFill>
            <a:srgbClr val="FDFFFE"/>
          </a:solidFill>
          <a:ln w="12700">
            <a:solidFill>
              <a:srgbClr val="E4E4E7"/>
            </a:solidFill>
            <a:prstDash val="solid"/>
          </a:ln>
        </p:spPr>
      </p:sp>
      <p:sp>
        <p:nvSpPr>
          <p:cNvPr id="55" name="Text 50"/>
          <p:cNvSpPr txBox="1"/>
          <p:nvPr/>
        </p:nvSpPr>
        <p:spPr>
          <a:xfrm>
            <a:off x="11674475" y="2985095"/>
            <a:ext cx="482600" cy="330200"/>
          </a:xfrm>
          <a:prstGeom prst="rect">
            <a:avLst/>
          </a:prstGeom>
          <a:noFill/>
          <a:ln/>
        </p:spPr>
        <p:txBody>
          <a:bodyPr wrap="none" lIns="0" tIns="0" rIns="0" bIns="0" rtlCol="0" anchor="ctr"/>
          <a:lstStyle/>
          <a:p>
            <a:pPr algn="l" indent="0" marL="0">
              <a:buNone/>
            </a:pPr>
            <a:r>
              <a:rPr lang="en-US" sz="1400" dirty="0">
                <a:solidFill>
                  <a:srgbClr val="006630"/>
                </a:solidFill>
                <a:latin typeface="Fira Code" pitchFamily="34" charset="0"/>
                <a:ea typeface="Fira Code" pitchFamily="34" charset="-122"/>
                <a:cs typeface="Fira Code" pitchFamily="34" charset="-120"/>
              </a:rPr>
              <a: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05 / 09</a:t>
            </a:r>
            <a:endParaRPr lang="en-US" sz="1300" dirty="0"/>
          </a:p>
        </p:txBody>
      </p:sp>
      <p:sp>
        <p:nvSpPr>
          <p:cNvPr id="12" name="Text 7"/>
          <p:cNvSpPr txBox="1"/>
          <p:nvPr/>
        </p:nvSpPr>
        <p:spPr>
          <a:xfrm>
            <a:off x="1422400" y="1231900"/>
            <a:ext cx="44966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05</a:t>
            </a:r>
            <a:endParaRPr lang="en-US" sz="1500" dirty="0"/>
          </a:p>
        </p:txBody>
      </p:sp>
      <p:sp>
        <p:nvSpPr>
          <p:cNvPr id="13" name="Text 8"/>
          <p:cNvSpPr txBox="1"/>
          <p:nvPr/>
        </p:nvSpPr>
        <p:spPr>
          <a:xfrm>
            <a:off x="1897460" y="1231900"/>
            <a:ext cx="1638300" cy="254000"/>
          </a:xfrm>
          <a:prstGeom prst="rect">
            <a:avLst/>
          </a:prstGeom>
          <a:noFill/>
          <a:ln/>
        </p:spPr>
        <p:txBody>
          <a:bodyPr wrap="none" lIns="0" tIns="0" rIns="0" bIns="0" rtlCol="0" anchor="t"/>
          <a:lstStyle/>
          <a:p>
            <a:pPr algn="l" indent="0" marL="0">
              <a:buNone/>
            </a:pPr>
            <a:r>
              <a:rPr lang="en-US" sz="1500" spc="271" kern="0" dirty="0">
                <a:solidFill>
                  <a:srgbClr val="71717B"/>
                </a:solidFill>
                <a:latin typeface="Fira Code" pitchFamily="34" charset="0"/>
                <a:ea typeface="Fira Code" pitchFamily="34" charset="-122"/>
                <a:cs typeface="Fira Code" pitchFamily="34" charset="-120"/>
              </a:rPr>
              <a:t>THE SCRIPT</a:t>
            </a:r>
            <a:endParaRPr lang="en-US" sz="1500" dirty="0"/>
          </a:p>
        </p:txBody>
      </p:sp>
      <p:sp>
        <p:nvSpPr>
          <p:cNvPr id="14" name="Shape 9"/>
          <p:cNvSpPr/>
          <p:nvPr/>
        </p:nvSpPr>
        <p:spPr>
          <a:xfrm>
            <a:off x="3561160" y="1360488"/>
            <a:ext cx="11272440" cy="12700"/>
          </a:xfrm>
          <a:prstGeom prst="rect">
            <a:avLst/>
          </a:prstGeom>
          <a:solidFill>
            <a:srgbClr val="E4E4E7"/>
          </a:solidFill>
          <a:ln/>
        </p:spPr>
      </p:sp>
      <p:sp>
        <p:nvSpPr>
          <p:cNvPr id="15" name="Shape 10"/>
          <p:cNvSpPr/>
          <p:nvPr/>
        </p:nvSpPr>
        <p:spPr>
          <a:xfrm>
            <a:off x="1422400" y="1717675"/>
            <a:ext cx="13411200" cy="6867525"/>
          </a:xfrm>
          <a:prstGeom prst="roundRect">
            <a:avLst>
              <a:gd name="adj" fmla="val 2589"/>
            </a:avLst>
          </a:prstGeom>
          <a:solidFill>
            <a:srgbClr val="F4F7F5"/>
          </a:solidFill>
          <a:ln w="12700">
            <a:solidFill>
              <a:srgbClr val="E4E4E7"/>
            </a:solidFill>
            <a:prstDash val="solid"/>
          </a:ln>
          <a:effectLst>
            <a:outerShdw sx="100000" sy="100000" kx="0" ky="0" algn="bl" rotWithShape="0" blurRad="135467" dist="12700" dir="5400000">
              <a:srgbClr val="09090B">
                <a:alpha val="7000"/>
              </a:srgbClr>
            </a:outerShdw>
          </a:effectLst>
        </p:spPr>
      </p:sp>
      <p:sp>
        <p:nvSpPr>
          <p:cNvPr id="16" name="Shape 11"/>
          <p:cNvSpPr/>
          <p:nvPr/>
        </p:nvSpPr>
        <p:spPr>
          <a:xfrm>
            <a:off x="1435100" y="1730375"/>
            <a:ext cx="13385800" cy="522485"/>
          </a:xfrm>
          <a:prstGeom prst="rect">
            <a:avLst/>
          </a:prstGeom>
          <a:solidFill>
            <a:srgbClr val="F4F7F5"/>
          </a:solidFill>
          <a:ln/>
        </p:spPr>
      </p:sp>
      <p:sp>
        <p:nvSpPr>
          <p:cNvPr id="17" name="Shape 12"/>
          <p:cNvSpPr/>
          <p:nvPr/>
        </p:nvSpPr>
        <p:spPr>
          <a:xfrm>
            <a:off x="1435100" y="2240161"/>
            <a:ext cx="13385800" cy="12700"/>
          </a:xfrm>
          <a:prstGeom prst="rect">
            <a:avLst/>
          </a:prstGeom>
          <a:solidFill>
            <a:srgbClr val="E4E4E7"/>
          </a:solidFill>
          <a:ln/>
        </p:spPr>
      </p:sp>
      <p:sp>
        <p:nvSpPr>
          <p:cNvPr id="18" name="Shape 13"/>
          <p:cNvSpPr/>
          <p:nvPr/>
        </p:nvSpPr>
        <p:spPr>
          <a:xfrm>
            <a:off x="1638300" y="1915319"/>
            <a:ext cx="139700" cy="139700"/>
          </a:xfrm>
          <a:prstGeom prst="roundRect">
            <a:avLst>
              <a:gd name="adj" fmla="val 50000"/>
            </a:avLst>
          </a:prstGeom>
          <a:solidFill>
            <a:srgbClr val="D2D5D4"/>
          </a:solidFill>
          <a:ln/>
        </p:spPr>
      </p:sp>
      <p:sp>
        <p:nvSpPr>
          <p:cNvPr id="19" name="Shape 14"/>
          <p:cNvSpPr/>
          <p:nvPr/>
        </p:nvSpPr>
        <p:spPr>
          <a:xfrm>
            <a:off x="1879600" y="1915319"/>
            <a:ext cx="139700" cy="139700"/>
          </a:xfrm>
          <a:prstGeom prst="roundRect">
            <a:avLst>
              <a:gd name="adj" fmla="val 50000"/>
            </a:avLst>
          </a:prstGeom>
          <a:solidFill>
            <a:srgbClr val="D2D5D4"/>
          </a:solidFill>
          <a:ln/>
        </p:spPr>
      </p:sp>
      <p:sp>
        <p:nvSpPr>
          <p:cNvPr id="20" name="Shape 15"/>
          <p:cNvSpPr/>
          <p:nvPr/>
        </p:nvSpPr>
        <p:spPr>
          <a:xfrm>
            <a:off x="2120900" y="1915319"/>
            <a:ext cx="139700" cy="139700"/>
          </a:xfrm>
          <a:prstGeom prst="roundRect">
            <a:avLst>
              <a:gd name="adj" fmla="val 50000"/>
            </a:avLst>
          </a:prstGeom>
          <a:solidFill>
            <a:srgbClr val="D2D5D4"/>
          </a:solidFill>
          <a:ln/>
        </p:spPr>
      </p:sp>
      <p:sp>
        <p:nvSpPr>
          <p:cNvPr id="21" name="Text 16"/>
          <p:cNvSpPr txBox="1"/>
          <p:nvPr/>
        </p:nvSpPr>
        <p:spPr>
          <a:xfrm>
            <a:off x="2489200" y="1870075"/>
            <a:ext cx="1351161" cy="215900"/>
          </a:xfrm>
          <a:prstGeom prst="rect">
            <a:avLst/>
          </a:prstGeom>
          <a:noFill/>
          <a:ln/>
        </p:spPr>
        <p:txBody>
          <a:bodyPr wrap="none" lIns="0" tIns="0" rIns="0" bIns="0" rtlCol="0" anchor="t"/>
          <a:lstStyle/>
          <a:p>
            <a:pPr algn="l" indent="0" marL="0">
              <a:buNone/>
            </a:pPr>
            <a:r>
              <a:rPr lang="en-US" sz="1300" spc="79" kern="0" dirty="0">
                <a:solidFill>
                  <a:srgbClr val="71717B"/>
                </a:solidFill>
                <a:latin typeface="Fira Code" pitchFamily="34" charset="0"/>
                <a:ea typeface="Fira Code" pitchFamily="34" charset="-122"/>
                <a:cs typeface="Fira Code" pitchFamily="34" charset="-120"/>
              </a:rPr>
              <a:t>exifleak.sh</a:t>
            </a:r>
            <a:endParaRPr lang="en-US" sz="1300" dirty="0"/>
          </a:p>
        </p:txBody>
      </p:sp>
      <p:sp>
        <p:nvSpPr>
          <p:cNvPr id="22" name="Text 17"/>
          <p:cNvSpPr txBox="1"/>
          <p:nvPr/>
        </p:nvSpPr>
        <p:spPr>
          <a:xfrm>
            <a:off x="10872589" y="1870075"/>
            <a:ext cx="680839" cy="215900"/>
          </a:xfrm>
          <a:prstGeom prst="rect">
            <a:avLst/>
          </a:prstGeom>
          <a:noFill/>
          <a:ln/>
        </p:spPr>
        <p:txBody>
          <a:bodyPr wrap="none" lIns="0" tIns="0" rIns="0" bIns="0" rtlCol="0" anchor="t"/>
          <a:lstStyle/>
          <a:p>
            <a:pPr algn="l" indent="0" marL="0">
              <a:buNone/>
            </a:pPr>
            <a:r>
              <a:rPr lang="en-US" sz="1300" b="1" spc="52" kern="0" dirty="0">
                <a:solidFill>
                  <a:srgbClr val="006630"/>
                </a:solidFill>
                <a:latin typeface="Fira Code" pitchFamily="34" charset="0"/>
                <a:ea typeface="Fira Code" pitchFamily="34" charset="-122"/>
                <a:cs typeface="Fira Code" pitchFamily="34" charset="-120"/>
              </a:rPr>
              <a:t>4 / 4</a:t>
            </a:r>
            <a:endParaRPr lang="en-US" sz="1300" dirty="0"/>
          </a:p>
        </p:txBody>
      </p:sp>
      <p:sp>
        <p:nvSpPr>
          <p:cNvPr id="23" name="Text 18"/>
          <p:cNvSpPr txBox="1"/>
          <p:nvPr/>
        </p:nvSpPr>
        <p:spPr>
          <a:xfrm>
            <a:off x="11553428" y="1870075"/>
            <a:ext cx="3216672" cy="215900"/>
          </a:xfrm>
          <a:prstGeom prst="rect">
            <a:avLst/>
          </a:prstGeom>
          <a:noFill/>
          <a:ln/>
        </p:spPr>
        <p:txBody>
          <a:bodyPr wrap="none" lIns="0" tIns="0" rIns="0" bIns="0" rtlCol="0" anchor="t"/>
          <a:lstStyle/>
          <a:p>
            <a:pPr algn="l" indent="0" marL="0">
              <a:buNone/>
            </a:pPr>
            <a:r>
              <a:rPr lang="en-US" sz="1300" spc="52" kern="0" dirty="0">
                <a:solidFill>
                  <a:srgbClr val="71717B"/>
                </a:solidFill>
                <a:latin typeface="Fira Code" pitchFamily="34" charset="0"/>
                <a:ea typeface="Fira Code" pitchFamily="34" charset="-122"/>
                <a:cs typeface="Fira Code" pitchFamily="34" charset="-120"/>
              </a:rPr>
              <a:t>run every registered detector</a:t>
            </a:r>
            <a:endParaRPr lang="en-US" sz="1300" dirty="0"/>
          </a:p>
        </p:txBody>
      </p:sp>
      <p:sp>
        <p:nvSpPr>
          <p:cNvPr id="24" name="Shape 19"/>
          <p:cNvSpPr/>
          <p:nvPr/>
        </p:nvSpPr>
        <p:spPr>
          <a:xfrm>
            <a:off x="1435100" y="2405261"/>
            <a:ext cx="13385800" cy="5715000"/>
          </a:xfrm>
          <a:prstGeom prst="rect">
            <a:avLst/>
          </a:prstGeom>
          <a:solidFill>
            <a:srgbClr val="F4F7F5"/>
          </a:solidFill>
          <a:ln/>
        </p:spPr>
      </p:sp>
      <p:pic>
        <p:nvPicPr>
          <p:cNvPr id="25" name="Image 3" descr="Rendered as an image because of CSS transform">    </p:cNvPr>
          <p:cNvPicPr>
            <a:picLocks noChangeAspect="1"/>
          </p:cNvPicPr>
          <p:nvPr/>
        </p:nvPicPr>
        <p:blipFill>
          <a:blip r:embed="rId4"/>
          <a:stretch>
            <a:fillRect/>
          </a:stretch>
        </p:blipFill>
        <p:spPr>
          <a:xfrm>
            <a:off x="1435100" y="0"/>
            <a:ext cx="495300" cy="9144000"/>
          </a:xfrm>
          <a:prstGeom prst="rect">
            <a:avLst/>
          </a:prstGeom>
        </p:spPr>
      </p:pic>
      <p:pic>
        <p:nvPicPr>
          <p:cNvPr id="26" name="Image 4" descr="Rendered as an image because of CSS transform">    </p:cNvPr>
          <p:cNvPicPr>
            <a:picLocks noChangeAspect="1"/>
          </p:cNvPicPr>
          <p:nvPr/>
        </p:nvPicPr>
        <p:blipFill>
          <a:blip r:embed="rId5"/>
          <a:stretch>
            <a:fillRect/>
          </a:stretch>
        </p:blipFill>
        <p:spPr>
          <a:xfrm>
            <a:off x="1930400" y="0"/>
            <a:ext cx="14325600" cy="9144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06 / 09</a:t>
            </a:r>
            <a:endParaRPr lang="en-US" sz="1300" dirty="0"/>
          </a:p>
        </p:txBody>
      </p:sp>
      <p:sp>
        <p:nvSpPr>
          <p:cNvPr id="12" name="Text 7"/>
          <p:cNvSpPr txBox="1"/>
          <p:nvPr/>
        </p:nvSpPr>
        <p:spPr>
          <a:xfrm>
            <a:off x="1422400" y="1231900"/>
            <a:ext cx="44966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06</a:t>
            </a:r>
            <a:endParaRPr lang="en-US" sz="1500" dirty="0"/>
          </a:p>
        </p:txBody>
      </p:sp>
      <p:sp>
        <p:nvSpPr>
          <p:cNvPr id="13" name="Text 8"/>
          <p:cNvSpPr txBox="1"/>
          <p:nvPr/>
        </p:nvSpPr>
        <p:spPr>
          <a:xfrm>
            <a:off x="1897460" y="1231900"/>
            <a:ext cx="1935560" cy="254000"/>
          </a:xfrm>
          <a:prstGeom prst="rect">
            <a:avLst/>
          </a:prstGeom>
          <a:noFill/>
          <a:ln/>
        </p:spPr>
        <p:txBody>
          <a:bodyPr wrap="none" lIns="0" tIns="0" rIns="0" bIns="0" rtlCol="0" anchor="t"/>
          <a:lstStyle/>
          <a:p>
            <a:pPr algn="l" indent="0" marL="0">
              <a:buNone/>
            </a:pPr>
            <a:r>
              <a:rPr lang="en-US" sz="1500" spc="271" kern="0" dirty="0">
                <a:solidFill>
                  <a:srgbClr val="71717B"/>
                </a:solidFill>
                <a:latin typeface="Fira Code" pitchFamily="34" charset="0"/>
                <a:ea typeface="Fira Code" pitchFamily="34" charset="-122"/>
                <a:cs typeface="Fira Code" pitchFamily="34" charset="-120"/>
              </a:rPr>
              <a:t>HOW IT WORKS</a:t>
            </a:r>
            <a:endParaRPr lang="en-US" sz="1500" dirty="0"/>
          </a:p>
        </p:txBody>
      </p:sp>
      <p:sp>
        <p:nvSpPr>
          <p:cNvPr id="14" name="Shape 9"/>
          <p:cNvSpPr/>
          <p:nvPr/>
        </p:nvSpPr>
        <p:spPr>
          <a:xfrm>
            <a:off x="3858419" y="1360488"/>
            <a:ext cx="10975181" cy="12700"/>
          </a:xfrm>
          <a:prstGeom prst="rect">
            <a:avLst/>
          </a:prstGeom>
          <a:solidFill>
            <a:srgbClr val="E4E4E7"/>
          </a:solidFill>
          <a:ln/>
        </p:spPr>
      </p:sp>
      <p:sp>
        <p:nvSpPr>
          <p:cNvPr id="15" name="Text 10"/>
          <p:cNvSpPr txBox="1"/>
          <p:nvPr/>
        </p:nvSpPr>
        <p:spPr>
          <a:xfrm>
            <a:off x="1422400" y="1730375"/>
            <a:ext cx="6496051" cy="736600"/>
          </a:xfrm>
          <a:prstGeom prst="rect">
            <a:avLst/>
          </a:prstGeom>
          <a:noFill/>
          <a:ln/>
        </p:spPr>
        <p:txBody>
          <a:bodyPr wrap="none" lIns="0" tIns="0" rIns="0" bIns="0" rtlCol="0" anchor="t"/>
          <a:lstStyle/>
          <a:p>
            <a:pPr algn="l" indent="0" marL="0">
              <a:buNone/>
            </a:pPr>
            <a:r>
              <a:rPr lang="en-US" sz="4800" b="1" spc="-120" kern="0" dirty="0">
                <a:solidFill>
                  <a:srgbClr val="09090B"/>
                </a:solidFill>
                <a:latin typeface="Bricolage Grotesque" pitchFamily="34" charset="0"/>
                <a:ea typeface="Bricolage Grotesque" pitchFamily="34" charset="-122"/>
                <a:cs typeface="Bricolage Grotesque" pitchFamily="34" charset="-120"/>
              </a:rPr>
              <a:t>One field, start to finish.</a:t>
            </a:r>
            <a:endParaRPr lang="en-US" sz="4800" dirty="0"/>
          </a:p>
        </p:txBody>
      </p:sp>
      <p:sp>
        <p:nvSpPr>
          <p:cNvPr id="16" name="Shape 11"/>
          <p:cNvSpPr/>
          <p:nvPr/>
        </p:nvSpPr>
        <p:spPr>
          <a:xfrm>
            <a:off x="723900" y="2667595"/>
            <a:ext cx="14808200" cy="5885457"/>
          </a:xfrm>
          <a:prstGeom prst="rect">
            <a:avLst/>
          </a:prstGeom>
          <a:solidFill>
            <a:srgbClr val="E4E4E7"/>
          </a:solidFill>
          <a:ln/>
        </p:spPr>
      </p:sp>
      <p:sp>
        <p:nvSpPr>
          <p:cNvPr id="17" name="Shape 12"/>
          <p:cNvSpPr/>
          <p:nvPr/>
        </p:nvSpPr>
        <p:spPr>
          <a:xfrm>
            <a:off x="723900" y="2667595"/>
            <a:ext cx="14808200" cy="12700"/>
          </a:xfrm>
          <a:prstGeom prst="rect">
            <a:avLst/>
          </a:prstGeom>
          <a:solidFill>
            <a:srgbClr val="E4E4E7"/>
          </a:solidFill>
          <a:ln/>
        </p:spPr>
      </p:sp>
      <p:sp>
        <p:nvSpPr>
          <p:cNvPr id="18" name="Shape 13"/>
          <p:cNvSpPr/>
          <p:nvPr/>
        </p:nvSpPr>
        <p:spPr>
          <a:xfrm>
            <a:off x="723900" y="8540353"/>
            <a:ext cx="14808200" cy="12700"/>
          </a:xfrm>
          <a:prstGeom prst="rect">
            <a:avLst/>
          </a:prstGeom>
          <a:solidFill>
            <a:srgbClr val="E4E4E7"/>
          </a:solidFill>
          <a:ln/>
        </p:spPr>
      </p:sp>
      <p:sp>
        <p:nvSpPr>
          <p:cNvPr id="19" name="Shape 14"/>
          <p:cNvSpPr/>
          <p:nvPr/>
        </p:nvSpPr>
        <p:spPr>
          <a:xfrm>
            <a:off x="723900" y="2680295"/>
            <a:ext cx="4927600" cy="5860057"/>
          </a:xfrm>
          <a:prstGeom prst="rect">
            <a:avLst/>
          </a:prstGeom>
          <a:solidFill>
            <a:srgbClr val="FDFFFE"/>
          </a:solidFill>
          <a:ln/>
        </p:spPr>
      </p:sp>
      <p:sp>
        <p:nvSpPr>
          <p:cNvPr id="20" name="Text 15"/>
          <p:cNvSpPr txBox="1"/>
          <p:nvPr/>
        </p:nvSpPr>
        <p:spPr>
          <a:xfrm>
            <a:off x="1422400" y="2946995"/>
            <a:ext cx="1569045" cy="215900"/>
          </a:xfrm>
          <a:prstGeom prst="rect">
            <a:avLst/>
          </a:prstGeom>
          <a:noFill/>
          <a:ln/>
        </p:spPr>
        <p:txBody>
          <a:bodyPr wrap="none" lIns="0" tIns="0" rIns="0" bIns="0" rtlCol="0" anchor="t"/>
          <a:lstStyle/>
          <a:p>
            <a:pPr algn="l" indent="0" marL="0">
              <a:buNone/>
            </a:pPr>
            <a:r>
              <a:rPr lang="en-US" sz="1300" spc="235" kern="0" dirty="0">
                <a:solidFill>
                  <a:srgbClr val="006630"/>
                </a:solidFill>
                <a:latin typeface="Fira Code" pitchFamily="34" charset="0"/>
                <a:ea typeface="Fira Code" pitchFamily="34" charset="-122"/>
                <a:cs typeface="Fira Code" pitchFamily="34" charset="-120"/>
              </a:rPr>
              <a:t>EVERY FIELD</a:t>
            </a:r>
            <a:endParaRPr lang="en-US" sz="1300" dirty="0"/>
          </a:p>
        </p:txBody>
      </p:sp>
      <p:sp>
        <p:nvSpPr>
          <p:cNvPr id="21" name="Shape 16"/>
          <p:cNvSpPr/>
          <p:nvPr/>
        </p:nvSpPr>
        <p:spPr>
          <a:xfrm>
            <a:off x="1422400" y="3367881"/>
            <a:ext cx="1789509" cy="650280"/>
          </a:xfrm>
          <a:prstGeom prst="roundRect">
            <a:avLst>
              <a:gd name="adj" fmla="val 15624"/>
            </a:avLst>
          </a:prstGeom>
          <a:solidFill>
            <a:srgbClr val="E4F3E8"/>
          </a:solidFill>
          <a:ln w="12700">
            <a:solidFill>
              <a:srgbClr val="BFDFC9"/>
            </a:solidFill>
            <a:prstDash val="solid"/>
          </a:ln>
        </p:spPr>
      </p:sp>
      <p:sp>
        <p:nvSpPr>
          <p:cNvPr id="22" name="Text 17"/>
          <p:cNvSpPr txBox="1"/>
          <p:nvPr/>
        </p:nvSpPr>
        <p:spPr>
          <a:xfrm>
            <a:off x="1549400" y="3558381"/>
            <a:ext cx="1687909"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exiftool "$1"</a:t>
            </a:r>
            <a:endParaRPr lang="en-US" sz="1551" dirty="0"/>
          </a:p>
        </p:txBody>
      </p:sp>
      <p:sp>
        <p:nvSpPr>
          <p:cNvPr id="23" name="Shape 18"/>
          <p:cNvSpPr/>
          <p:nvPr/>
        </p:nvSpPr>
        <p:spPr>
          <a:xfrm>
            <a:off x="4321572" y="4068167"/>
            <a:ext cx="646509" cy="280988"/>
          </a:xfrm>
          <a:prstGeom prst="roundRect">
            <a:avLst>
              <a:gd name="adj" fmla="val 27119"/>
            </a:avLst>
          </a:prstGeom>
          <a:solidFill>
            <a:srgbClr val="F4F4F5"/>
          </a:solidFill>
          <a:ln/>
        </p:spPr>
      </p:sp>
      <p:sp>
        <p:nvSpPr>
          <p:cNvPr id="24" name="Text 19"/>
          <p:cNvSpPr txBox="1"/>
          <p:nvPr/>
        </p:nvSpPr>
        <p:spPr>
          <a:xfrm>
            <a:off x="1422400" y="4056261"/>
            <a:ext cx="3636963" cy="279400"/>
          </a:xfrm>
          <a:prstGeom prst="rect">
            <a:avLst/>
          </a:prstGeom>
          <a:noFill/>
          <a:ln/>
        </p:spPr>
        <p:txBody>
          <a:bodyPr wrap="none" lIns="0" tIns="0" rIns="0" bIns="0" rtlCol="0" anchor="t"/>
          <a:lstStyle/>
          <a:p>
            <a:pPr algn="l" indent="0" marL="0">
              <a:buNone/>
            </a:pPr>
            <a:r>
              <a:rPr lang="en-US" sz="1600" dirty="0">
                <a:solidFill>
                  <a:srgbClr val="71717B"/>
                </a:solidFill>
                <a:latin typeface="Manrope" pitchFamily="34" charset="0"/>
                <a:ea typeface="Manrope" pitchFamily="34" charset="-122"/>
                <a:cs typeface="Manrope" pitchFamily="34" charset="-120"/>
              </a:rPr>
              <a:t>prints every tag as text, kept in </a:t>
            </a:r>
            <a:pPr algn="l" indent="0" marL="0">
              <a:buNone/>
            </a:pPr>
            <a:r>
              <a:rPr lang="en-US" sz="1376" b="1" dirty="0">
                <a:solidFill>
                  <a:srgbClr val="09090B"/>
                </a:solidFill>
                <a:latin typeface="Fira Code" pitchFamily="34" charset="0"/>
                <a:ea typeface="Fira Code" pitchFamily="34" charset="-122"/>
                <a:cs typeface="Fira Code" pitchFamily="34" charset="-120"/>
              </a:rPr>
              <a:t>$meta</a:t>
            </a:r>
            <a:endParaRPr lang="en-US" sz="1600" dirty="0"/>
          </a:p>
        </p:txBody>
      </p:sp>
      <p:sp>
        <p:nvSpPr>
          <p:cNvPr id="25" name="Shape 20"/>
          <p:cNvSpPr/>
          <p:nvPr/>
        </p:nvSpPr>
        <p:spPr>
          <a:xfrm>
            <a:off x="1422400" y="4489053"/>
            <a:ext cx="3443089" cy="650280"/>
          </a:xfrm>
          <a:prstGeom prst="roundRect">
            <a:avLst>
              <a:gd name="adj" fmla="val 15624"/>
            </a:avLst>
          </a:prstGeom>
          <a:solidFill>
            <a:srgbClr val="E4F3E8"/>
          </a:solidFill>
          <a:ln w="12700">
            <a:solidFill>
              <a:srgbClr val="BFDFC9"/>
            </a:solidFill>
            <a:prstDash val="solid"/>
          </a:ln>
        </p:spPr>
      </p:sp>
      <p:sp>
        <p:nvSpPr>
          <p:cNvPr id="26" name="Text 21"/>
          <p:cNvSpPr txBox="1"/>
          <p:nvPr/>
        </p:nvSpPr>
        <p:spPr>
          <a:xfrm>
            <a:off x="1549400" y="4679553"/>
            <a:ext cx="3341489"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grep -i "^Artist" | head -1</a:t>
            </a:r>
            <a:endParaRPr lang="en-US" sz="1551" dirty="0"/>
          </a:p>
        </p:txBody>
      </p:sp>
      <p:sp>
        <p:nvSpPr>
          <p:cNvPr id="27" name="Text 22"/>
          <p:cNvSpPr txBox="1"/>
          <p:nvPr/>
        </p:nvSpPr>
        <p:spPr>
          <a:xfrm>
            <a:off x="1422400" y="5177433"/>
            <a:ext cx="3238699" cy="279400"/>
          </a:xfrm>
          <a:prstGeom prst="rect">
            <a:avLst/>
          </a:prstGeom>
          <a:noFill/>
          <a:ln/>
        </p:spPr>
        <p:txBody>
          <a:bodyPr wrap="none" lIns="0" tIns="0" rIns="0" bIns="0" rtlCol="0" anchor="t"/>
          <a:lstStyle/>
          <a:p>
            <a:pPr algn="l" indent="0" marL="0">
              <a:buNone/>
            </a:pPr>
            <a:r>
              <a:rPr lang="en-US" sz="1600" dirty="0">
                <a:solidFill>
                  <a:srgbClr val="71717B"/>
                </a:solidFill>
                <a:latin typeface="Manrope" pitchFamily="34" charset="0"/>
                <a:ea typeface="Manrope" pitchFamily="34" charset="-122"/>
                <a:cs typeface="Manrope" pitchFamily="34" charset="-120"/>
              </a:rPr>
              <a:t>keeps the first line with that label</a:t>
            </a:r>
            <a:endParaRPr lang="en-US" sz="1600" dirty="0"/>
          </a:p>
        </p:txBody>
      </p:sp>
      <p:sp>
        <p:nvSpPr>
          <p:cNvPr id="28" name="Shape 23"/>
          <p:cNvSpPr/>
          <p:nvPr/>
        </p:nvSpPr>
        <p:spPr>
          <a:xfrm>
            <a:off x="1422400" y="5610225"/>
            <a:ext cx="1317029" cy="650280"/>
          </a:xfrm>
          <a:prstGeom prst="roundRect">
            <a:avLst>
              <a:gd name="adj" fmla="val 15624"/>
            </a:avLst>
          </a:prstGeom>
          <a:solidFill>
            <a:srgbClr val="E4F3E8"/>
          </a:solidFill>
          <a:ln w="12700">
            <a:solidFill>
              <a:srgbClr val="BFDFC9"/>
            </a:solidFill>
            <a:prstDash val="solid"/>
          </a:ln>
        </p:spPr>
      </p:sp>
      <p:sp>
        <p:nvSpPr>
          <p:cNvPr id="29" name="Text 24"/>
          <p:cNvSpPr txBox="1"/>
          <p:nvPr/>
        </p:nvSpPr>
        <p:spPr>
          <a:xfrm>
            <a:off x="1549400" y="5800725"/>
            <a:ext cx="1215429"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tr -s ' '</a:t>
            </a:r>
            <a:endParaRPr lang="en-US" sz="1551" dirty="0"/>
          </a:p>
        </p:txBody>
      </p:sp>
      <p:sp>
        <p:nvSpPr>
          <p:cNvPr id="30" name="Text 25"/>
          <p:cNvSpPr txBox="1"/>
          <p:nvPr/>
        </p:nvSpPr>
        <p:spPr>
          <a:xfrm>
            <a:off x="1422400" y="6298605"/>
            <a:ext cx="2227461" cy="279400"/>
          </a:xfrm>
          <a:prstGeom prst="rect">
            <a:avLst/>
          </a:prstGeom>
          <a:noFill/>
          <a:ln/>
        </p:spPr>
        <p:txBody>
          <a:bodyPr wrap="none" lIns="0" tIns="0" rIns="0" bIns="0" rtlCol="0" anchor="t"/>
          <a:lstStyle/>
          <a:p>
            <a:pPr algn="l" indent="0" marL="0">
              <a:buNone/>
            </a:pPr>
            <a:r>
              <a:rPr lang="en-US" sz="1600" dirty="0">
                <a:solidFill>
                  <a:srgbClr val="71717B"/>
                </a:solidFill>
                <a:latin typeface="Manrope" pitchFamily="34" charset="0"/>
                <a:ea typeface="Manrope" pitchFamily="34" charset="-122"/>
                <a:cs typeface="Manrope" pitchFamily="34" charset="-120"/>
              </a:rPr>
              <a:t>squeezes the padding</a:t>
            </a:r>
            <a:endParaRPr lang="en-US" sz="1600" dirty="0"/>
          </a:p>
        </p:txBody>
      </p:sp>
      <p:sp>
        <p:nvSpPr>
          <p:cNvPr id="31" name="Shape 26"/>
          <p:cNvSpPr/>
          <p:nvPr/>
        </p:nvSpPr>
        <p:spPr>
          <a:xfrm>
            <a:off x="1422400" y="6731397"/>
            <a:ext cx="2970609" cy="650280"/>
          </a:xfrm>
          <a:prstGeom prst="roundRect">
            <a:avLst>
              <a:gd name="adj" fmla="val 15624"/>
            </a:avLst>
          </a:prstGeom>
          <a:solidFill>
            <a:srgbClr val="E4F3E8"/>
          </a:solidFill>
          <a:ln w="12700">
            <a:solidFill>
              <a:srgbClr val="BFDFC9"/>
            </a:solidFill>
            <a:prstDash val="solid"/>
          </a:ln>
        </p:spPr>
      </p:sp>
      <p:sp>
        <p:nvSpPr>
          <p:cNvPr id="32" name="Text 27"/>
          <p:cNvSpPr txBox="1"/>
          <p:nvPr/>
        </p:nvSpPr>
        <p:spPr>
          <a:xfrm>
            <a:off x="1549400" y="6921897"/>
            <a:ext cx="2869009"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echo "[IDENTITY] $line"</a:t>
            </a:r>
            <a:endParaRPr lang="en-US" sz="1551" dirty="0"/>
          </a:p>
        </p:txBody>
      </p:sp>
      <p:sp>
        <p:nvSpPr>
          <p:cNvPr id="33" name="Text 28"/>
          <p:cNvSpPr txBox="1"/>
          <p:nvPr/>
        </p:nvSpPr>
        <p:spPr>
          <a:xfrm>
            <a:off x="1422400" y="7419776"/>
            <a:ext cx="2477691" cy="279400"/>
          </a:xfrm>
          <a:prstGeom prst="rect">
            <a:avLst/>
          </a:prstGeom>
          <a:noFill/>
          <a:ln/>
        </p:spPr>
        <p:txBody>
          <a:bodyPr wrap="none" lIns="0" tIns="0" rIns="0" bIns="0" rtlCol="0" anchor="t"/>
          <a:lstStyle/>
          <a:p>
            <a:pPr algn="l" indent="0" marL="0">
              <a:buNone/>
            </a:pPr>
            <a:r>
              <a:rPr lang="en-US" sz="1600" dirty="0">
                <a:solidFill>
                  <a:srgbClr val="71717B"/>
                </a:solidFill>
                <a:latin typeface="Manrope" pitchFamily="34" charset="0"/>
                <a:ea typeface="Manrope" pitchFamily="34" charset="-122"/>
                <a:cs typeface="Manrope" pitchFamily="34" charset="-120"/>
              </a:rPr>
              <a:t>prints it with its leak type</a:t>
            </a:r>
            <a:endParaRPr lang="en-US" sz="1600" dirty="0"/>
          </a:p>
        </p:txBody>
      </p:sp>
      <p:sp>
        <p:nvSpPr>
          <p:cNvPr id="34" name="Shape 29"/>
          <p:cNvSpPr/>
          <p:nvPr/>
        </p:nvSpPr>
        <p:spPr>
          <a:xfrm>
            <a:off x="5664200" y="2680295"/>
            <a:ext cx="4927600" cy="5860057"/>
          </a:xfrm>
          <a:prstGeom prst="roundRect">
            <a:avLst>
              <a:gd name="adj" fmla="val 3608"/>
            </a:avLst>
          </a:prstGeom>
          <a:solidFill>
            <a:srgbClr val="FDFFFE"/>
          </a:solidFill>
          <a:ln/>
        </p:spPr>
      </p:sp>
      <p:sp>
        <p:nvSpPr>
          <p:cNvPr id="35" name="Text 30"/>
          <p:cNvSpPr txBox="1"/>
          <p:nvPr/>
        </p:nvSpPr>
        <p:spPr>
          <a:xfrm>
            <a:off x="6019800" y="2946995"/>
            <a:ext cx="1182688" cy="215900"/>
          </a:xfrm>
          <a:prstGeom prst="rect">
            <a:avLst/>
          </a:prstGeom>
          <a:noFill/>
          <a:ln/>
        </p:spPr>
        <p:txBody>
          <a:bodyPr wrap="none" lIns="0" tIns="0" rIns="0" bIns="0" rtlCol="0" anchor="t"/>
          <a:lstStyle/>
          <a:p>
            <a:pPr algn="l" indent="0" marL="0">
              <a:buNone/>
            </a:pPr>
            <a:r>
              <a:rPr lang="en-US" sz="1300" spc="235" kern="0" dirty="0">
                <a:solidFill>
                  <a:srgbClr val="006630"/>
                </a:solidFill>
                <a:latin typeface="Fira Code" pitchFamily="34" charset="0"/>
                <a:ea typeface="Fira Code" pitchFamily="34" charset="-122"/>
                <a:cs typeface="Fira Code" pitchFamily="34" charset="-120"/>
              </a:rPr>
              <a:t>LOCATION</a:t>
            </a:r>
            <a:endParaRPr lang="en-US" sz="1300" dirty="0"/>
          </a:p>
        </p:txBody>
      </p:sp>
      <p:sp>
        <p:nvSpPr>
          <p:cNvPr id="36" name="Shape 31"/>
          <p:cNvSpPr/>
          <p:nvPr/>
        </p:nvSpPr>
        <p:spPr>
          <a:xfrm>
            <a:off x="6065520" y="3575145"/>
            <a:ext cx="128016" cy="128016"/>
          </a:xfrm>
          <a:prstGeom prst="roundRect">
            <a:avLst>
              <a:gd name="adj" fmla="val 19841"/>
            </a:avLst>
          </a:prstGeom>
          <a:solidFill>
            <a:srgbClr val="0E9254"/>
          </a:solidFill>
          <a:ln/>
        </p:spPr>
      </p:sp>
      <p:sp>
        <p:nvSpPr>
          <p:cNvPr id="37" name="Shape 32"/>
          <p:cNvSpPr/>
          <p:nvPr/>
        </p:nvSpPr>
        <p:spPr>
          <a:xfrm>
            <a:off x="6019800" y="3367881"/>
            <a:ext cx="2380060" cy="650280"/>
          </a:xfrm>
          <a:prstGeom prst="roundRect">
            <a:avLst>
              <a:gd name="adj" fmla="val 15624"/>
            </a:avLst>
          </a:prstGeom>
          <a:solidFill>
            <a:srgbClr val="E4F3E8"/>
          </a:solidFill>
          <a:ln w="12700">
            <a:solidFill>
              <a:srgbClr val="BFDFC9"/>
            </a:solidFill>
            <a:prstDash val="solid"/>
          </a:ln>
        </p:spPr>
      </p:sp>
      <p:sp>
        <p:nvSpPr>
          <p:cNvPr id="38" name="Text 33"/>
          <p:cNvSpPr txBox="1"/>
          <p:nvPr/>
        </p:nvSpPr>
        <p:spPr>
          <a:xfrm>
            <a:off x="6146800" y="3558381"/>
            <a:ext cx="2278460"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13 deg 21' 9.00" N</a:t>
            </a:r>
            <a:endParaRPr lang="en-US" sz="1551" dirty="0"/>
          </a:p>
        </p:txBody>
      </p:sp>
      <p:sp>
        <p:nvSpPr>
          <p:cNvPr id="39" name="Text 34"/>
          <p:cNvSpPr txBox="1"/>
          <p:nvPr/>
        </p:nvSpPr>
        <p:spPr>
          <a:xfrm>
            <a:off x="6019800" y="4056261"/>
            <a:ext cx="1960960" cy="279400"/>
          </a:xfrm>
          <a:prstGeom prst="rect">
            <a:avLst/>
          </a:prstGeom>
          <a:noFill/>
          <a:ln/>
        </p:spPr>
        <p:txBody>
          <a:bodyPr wrap="none" lIns="0" tIns="0" rIns="0" bIns="0" rtlCol="0" anchor="t"/>
          <a:lstStyle/>
          <a:p>
            <a:pPr algn="l" indent="0" marL="0">
              <a:buNone/>
            </a:pPr>
            <a:r>
              <a:rPr lang="en-US" sz="1600" dirty="0">
                <a:solidFill>
                  <a:srgbClr val="71717B"/>
                </a:solidFill>
                <a:latin typeface="Manrope" pitchFamily="34" charset="0"/>
                <a:ea typeface="Manrope" pitchFamily="34" charset="-122"/>
                <a:cs typeface="Manrope" pitchFamily="34" charset="-120"/>
              </a:rPr>
              <a:t>what exiftool prints</a:t>
            </a:r>
            <a:endParaRPr lang="en-US" sz="1600" dirty="0"/>
          </a:p>
        </p:txBody>
      </p:sp>
      <p:sp>
        <p:nvSpPr>
          <p:cNvPr id="40" name="Shape 35"/>
          <p:cNvSpPr/>
          <p:nvPr/>
        </p:nvSpPr>
        <p:spPr>
          <a:xfrm>
            <a:off x="6065520" y="4696317"/>
            <a:ext cx="128016" cy="128016"/>
          </a:xfrm>
          <a:prstGeom prst="roundRect">
            <a:avLst>
              <a:gd name="adj" fmla="val 19841"/>
            </a:avLst>
          </a:prstGeom>
          <a:solidFill>
            <a:srgbClr val="0E9254"/>
          </a:solidFill>
          <a:ln/>
        </p:spPr>
      </p:sp>
      <p:sp>
        <p:nvSpPr>
          <p:cNvPr id="41" name="Shape 36"/>
          <p:cNvSpPr/>
          <p:nvPr/>
        </p:nvSpPr>
        <p:spPr>
          <a:xfrm>
            <a:off x="6019800" y="4489053"/>
            <a:ext cx="2143919" cy="650280"/>
          </a:xfrm>
          <a:prstGeom prst="roundRect">
            <a:avLst>
              <a:gd name="adj" fmla="val 15624"/>
            </a:avLst>
          </a:prstGeom>
          <a:solidFill>
            <a:srgbClr val="E4F3E8"/>
          </a:solidFill>
          <a:ln w="12700">
            <a:solidFill>
              <a:srgbClr val="BFDFC9"/>
            </a:solidFill>
            <a:prstDash val="solid"/>
          </a:ln>
        </p:spPr>
      </p:sp>
      <p:sp>
        <p:nvSpPr>
          <p:cNvPr id="42" name="Text 37"/>
          <p:cNvSpPr txBox="1"/>
          <p:nvPr/>
        </p:nvSpPr>
        <p:spPr>
          <a:xfrm>
            <a:off x="6146800" y="4679553"/>
            <a:ext cx="2042319"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13 deg 21 9.00 N</a:t>
            </a:r>
            <a:endParaRPr lang="en-US" sz="1551" dirty="0"/>
          </a:p>
        </p:txBody>
      </p:sp>
      <p:sp>
        <p:nvSpPr>
          <p:cNvPr id="43" name="Shape 38"/>
          <p:cNvSpPr/>
          <p:nvPr/>
        </p:nvSpPr>
        <p:spPr>
          <a:xfrm>
            <a:off x="6019800" y="5189339"/>
            <a:ext cx="646509" cy="280988"/>
          </a:xfrm>
          <a:prstGeom prst="roundRect">
            <a:avLst>
              <a:gd name="adj" fmla="val 27119"/>
            </a:avLst>
          </a:prstGeom>
          <a:solidFill>
            <a:srgbClr val="F4F4F5"/>
          </a:solidFill>
          <a:ln/>
        </p:spPr>
      </p:sp>
      <p:sp>
        <p:nvSpPr>
          <p:cNvPr id="44" name="Shape 39"/>
          <p:cNvSpPr/>
          <p:nvPr/>
        </p:nvSpPr>
        <p:spPr>
          <a:xfrm>
            <a:off x="7285435" y="5189339"/>
            <a:ext cx="227211" cy="280988"/>
          </a:xfrm>
          <a:prstGeom prst="roundRect">
            <a:avLst>
              <a:gd name="adj" fmla="val 33537"/>
            </a:avLst>
          </a:prstGeom>
          <a:solidFill>
            <a:srgbClr val="F4F4F5"/>
          </a:solidFill>
          <a:ln/>
        </p:spPr>
      </p:sp>
      <p:sp>
        <p:nvSpPr>
          <p:cNvPr id="45" name="Shape 40"/>
          <p:cNvSpPr/>
          <p:nvPr/>
        </p:nvSpPr>
        <p:spPr>
          <a:xfrm>
            <a:off x="7553325" y="5189339"/>
            <a:ext cx="227211" cy="280988"/>
          </a:xfrm>
          <a:prstGeom prst="roundRect">
            <a:avLst>
              <a:gd name="adj" fmla="val 33537"/>
            </a:avLst>
          </a:prstGeom>
          <a:solidFill>
            <a:srgbClr val="F4F4F5"/>
          </a:solidFill>
          <a:ln/>
        </p:spPr>
      </p:sp>
      <p:sp>
        <p:nvSpPr>
          <p:cNvPr id="46" name="Shape 41"/>
          <p:cNvSpPr/>
          <p:nvPr/>
        </p:nvSpPr>
        <p:spPr>
          <a:xfrm>
            <a:off x="7821216" y="5189339"/>
            <a:ext cx="227211" cy="280988"/>
          </a:xfrm>
          <a:prstGeom prst="roundRect">
            <a:avLst>
              <a:gd name="adj" fmla="val 33537"/>
            </a:avLst>
          </a:prstGeom>
          <a:solidFill>
            <a:srgbClr val="F4F4F5"/>
          </a:solidFill>
          <a:ln/>
        </p:spPr>
      </p:sp>
      <p:sp>
        <p:nvSpPr>
          <p:cNvPr id="47" name="Text 42"/>
          <p:cNvSpPr txBox="1"/>
          <p:nvPr/>
        </p:nvSpPr>
        <p:spPr>
          <a:xfrm>
            <a:off x="6080919" y="5177433"/>
            <a:ext cx="2058789" cy="279400"/>
          </a:xfrm>
          <a:prstGeom prst="rect">
            <a:avLst/>
          </a:prstGeom>
          <a:noFill/>
          <a:ln/>
        </p:spPr>
        <p:txBody>
          <a:bodyPr wrap="none" lIns="0" tIns="0" rIns="0" bIns="0" rtlCol="0" anchor="t"/>
          <a:lstStyle/>
          <a:p>
            <a:pPr algn="l" indent="0" marL="0">
              <a:buNone/>
            </a:pPr>
            <a:r>
              <a:rPr lang="en-US" sz="1376" b="1" dirty="0">
                <a:solidFill>
                  <a:srgbClr val="09090B"/>
                </a:solidFill>
                <a:latin typeface="Fira Code" pitchFamily="34" charset="0"/>
                <a:ea typeface="Fira Code" pitchFamily="34" charset="-122"/>
                <a:cs typeface="Fira Code" pitchFamily="34" charset="-120"/>
              </a:rPr>
              <a:t>tr -d</a:t>
            </a:r>
            <a:pPr algn="l" indent="0" marL="0">
              <a:buNone/>
            </a:pPr>
            <a:r>
              <a:rPr lang="en-US" sz="1600" dirty="0">
                <a:solidFill>
                  <a:srgbClr val="71717B"/>
                </a:solidFill>
                <a:latin typeface="Manrope" pitchFamily="34" charset="0"/>
                <a:ea typeface="Manrope" pitchFamily="34" charset="-122"/>
                <a:cs typeface="Manrope" pitchFamily="34" charset="-120"/>
              </a:rPr>
              <a:t> drops </a:t>
            </a:r>
            <a:pPr algn="l" indent="0" marL="0">
              <a:buNone/>
            </a:pPr>
            <a:r>
              <a:rPr lang="en-US" sz="1376" b="1" dirty="0">
                <a:solidFill>
                  <a:srgbClr val="09090B"/>
                </a:solidFill>
                <a:latin typeface="Fira Code" pitchFamily="34" charset="0"/>
                <a:ea typeface="Fira Code" pitchFamily="34" charset="-122"/>
                <a:cs typeface="Fira Code" pitchFamily="34" charset="-120"/>
              </a:rPr>
              <a:t>" </a:t>
            </a:r>
            <a:pPr algn="l" indent="0" marL="0">
              <a:buNone/>
            </a:pPr>
            <a:r>
              <a:rPr lang="en-US" sz="1376" b="1" dirty="0">
                <a:solidFill>
                  <a:srgbClr val="09090B"/>
                </a:solidFill>
                <a:latin typeface="Fira Code" pitchFamily="34" charset="0"/>
                <a:ea typeface="Fira Code" pitchFamily="34" charset="-122"/>
                <a:cs typeface="Fira Code" pitchFamily="34" charset="-120"/>
              </a:rPr>
              <a:t>' </a:t>
            </a:r>
            <a:pPr algn="l" indent="0" marL="0">
              <a:buNone/>
            </a:pPr>
            <a:r>
              <a:rPr lang="en-US" sz="1376" b="1" dirty="0">
                <a:solidFill>
                  <a:srgbClr val="09090B"/>
                </a:solidFill>
                <a:latin typeface="Fira Code" pitchFamily="34" charset="0"/>
                <a:ea typeface="Fira Code" pitchFamily="34" charset="-122"/>
                <a:cs typeface="Fira Code" pitchFamily="34" charset="-120"/>
              </a:rPr>
              <a:t>,</a:t>
            </a:r>
            <a:endParaRPr lang="en-US" sz="1376" dirty="0"/>
          </a:p>
        </p:txBody>
      </p:sp>
      <p:sp>
        <p:nvSpPr>
          <p:cNvPr id="48" name="Shape 43"/>
          <p:cNvSpPr/>
          <p:nvPr/>
        </p:nvSpPr>
        <p:spPr>
          <a:xfrm>
            <a:off x="6065520" y="5817489"/>
            <a:ext cx="128016" cy="128016"/>
          </a:xfrm>
          <a:prstGeom prst="roundRect">
            <a:avLst>
              <a:gd name="adj" fmla="val 19841"/>
            </a:avLst>
          </a:prstGeom>
          <a:solidFill>
            <a:srgbClr val="0E9254"/>
          </a:solidFill>
          <a:ln/>
        </p:spPr>
      </p:sp>
      <p:sp>
        <p:nvSpPr>
          <p:cNvPr id="49" name="Shape 44"/>
          <p:cNvSpPr/>
          <p:nvPr/>
        </p:nvSpPr>
        <p:spPr>
          <a:xfrm>
            <a:off x="6019800" y="5610225"/>
            <a:ext cx="2498129" cy="650280"/>
          </a:xfrm>
          <a:prstGeom prst="roundRect">
            <a:avLst>
              <a:gd name="adj" fmla="val 15624"/>
            </a:avLst>
          </a:prstGeom>
          <a:solidFill>
            <a:srgbClr val="E4F3E8"/>
          </a:solidFill>
          <a:ln w="12700">
            <a:solidFill>
              <a:srgbClr val="BFDFC9"/>
            </a:solidFill>
            <a:prstDash val="solid"/>
          </a:ln>
        </p:spPr>
      </p:sp>
      <p:sp>
        <p:nvSpPr>
          <p:cNvPr id="50" name="Text 45"/>
          <p:cNvSpPr txBox="1"/>
          <p:nvPr/>
        </p:nvSpPr>
        <p:spPr>
          <a:xfrm>
            <a:off x="6146800" y="5800725"/>
            <a:ext cx="2396529"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13 + 21/60 + 9/3600</a:t>
            </a:r>
            <a:endParaRPr lang="en-US" sz="1551" dirty="0"/>
          </a:p>
        </p:txBody>
      </p:sp>
      <p:sp>
        <p:nvSpPr>
          <p:cNvPr id="51" name="Shape 46"/>
          <p:cNvSpPr/>
          <p:nvPr/>
        </p:nvSpPr>
        <p:spPr>
          <a:xfrm>
            <a:off x="6019800" y="6310511"/>
            <a:ext cx="436960" cy="280988"/>
          </a:xfrm>
          <a:prstGeom prst="roundRect">
            <a:avLst>
              <a:gd name="adj" fmla="val 27119"/>
            </a:avLst>
          </a:prstGeom>
          <a:solidFill>
            <a:srgbClr val="F4F4F5"/>
          </a:solidFill>
          <a:ln/>
        </p:spPr>
      </p:sp>
      <p:sp>
        <p:nvSpPr>
          <p:cNvPr id="52" name="Text 47"/>
          <p:cNvSpPr txBox="1"/>
          <p:nvPr/>
        </p:nvSpPr>
        <p:spPr>
          <a:xfrm>
            <a:off x="6019800" y="6298605"/>
            <a:ext cx="4241800" cy="559792"/>
          </a:xfrm>
          <a:prstGeom prst="rect">
            <a:avLst/>
          </a:prstGeom>
          <a:noFill/>
          <a:ln/>
        </p:spPr>
        <p:txBody>
          <a:bodyPr wrap="square" lIns="0" tIns="0" rIns="0" bIns="0" rtlCol="0" anchor="t"/>
          <a:lstStyle/>
          <a:p>
            <a:pPr algn="l" indent="0" marL="0">
              <a:lnSpc>
                <a:spcPts val="2208"/>
              </a:lnSpc>
              <a:buNone/>
            </a:pPr>
            <a:r>
              <a:rPr lang="en-US" sz="1376" b="1" dirty="0">
                <a:solidFill>
                  <a:srgbClr val="09090B"/>
                </a:solidFill>
                <a:latin typeface="Fira Code" pitchFamily="34" charset="0"/>
                <a:ea typeface="Fira Code" pitchFamily="34" charset="-122"/>
                <a:cs typeface="Fira Code" pitchFamily="34" charset="-120"/>
              </a:rPr>
              <a:t>awk</a:t>
            </a:r>
            <a:pPr algn="l" indent="0" marL="0">
              <a:lnSpc>
                <a:spcPts val="2208"/>
              </a:lnSpc>
              <a:buNone/>
            </a:pPr>
            <a:r>
              <a:rPr lang="en-US" sz="1600" dirty="0">
                <a:solidFill>
                  <a:srgbClr val="71717B"/>
                </a:solidFill>
                <a:latin typeface="Manrope" pitchFamily="34" charset="0"/>
                <a:ea typeface="Manrope" pitchFamily="34" charset="-122"/>
                <a:cs typeface="Manrope" pitchFamily="34" charset="-120"/>
              </a:rPr>
              <a:t> adds degrees, minutes, seconds; S and W go negative</a:t>
            </a:r>
            <a:endParaRPr lang="en-US" sz="1376" dirty="0"/>
          </a:p>
        </p:txBody>
      </p:sp>
      <p:sp>
        <p:nvSpPr>
          <p:cNvPr id="53" name="Shape 48"/>
          <p:cNvSpPr/>
          <p:nvPr/>
        </p:nvSpPr>
        <p:spPr>
          <a:xfrm>
            <a:off x="6065520" y="7219053"/>
            <a:ext cx="128016" cy="128016"/>
          </a:xfrm>
          <a:prstGeom prst="roundRect">
            <a:avLst>
              <a:gd name="adj" fmla="val 19841"/>
            </a:avLst>
          </a:prstGeom>
          <a:solidFill>
            <a:srgbClr val="0E9254"/>
          </a:solidFill>
          <a:ln/>
        </p:spPr>
      </p:sp>
      <p:sp>
        <p:nvSpPr>
          <p:cNvPr id="54" name="Shape 49"/>
          <p:cNvSpPr/>
          <p:nvPr/>
        </p:nvSpPr>
        <p:spPr>
          <a:xfrm>
            <a:off x="6019800" y="7011789"/>
            <a:ext cx="2380060" cy="650280"/>
          </a:xfrm>
          <a:prstGeom prst="roundRect">
            <a:avLst>
              <a:gd name="adj" fmla="val 15624"/>
            </a:avLst>
          </a:prstGeom>
          <a:solidFill>
            <a:srgbClr val="E4F3E8"/>
          </a:solidFill>
          <a:ln w="12700">
            <a:solidFill>
              <a:srgbClr val="BFDFC9"/>
            </a:solidFill>
            <a:prstDash val="solid"/>
          </a:ln>
        </p:spPr>
      </p:sp>
      <p:sp>
        <p:nvSpPr>
          <p:cNvPr id="55" name="Text 50"/>
          <p:cNvSpPr txBox="1"/>
          <p:nvPr/>
        </p:nvSpPr>
        <p:spPr>
          <a:xfrm>
            <a:off x="6146800" y="7202289"/>
            <a:ext cx="2278460"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?q=13.3525,74.7928</a:t>
            </a:r>
            <a:endParaRPr lang="en-US" sz="1551" dirty="0"/>
          </a:p>
        </p:txBody>
      </p:sp>
      <p:sp>
        <p:nvSpPr>
          <p:cNvPr id="56" name="Text 51"/>
          <p:cNvSpPr txBox="1"/>
          <p:nvPr/>
        </p:nvSpPr>
        <p:spPr>
          <a:xfrm>
            <a:off x="6019800" y="7700169"/>
            <a:ext cx="1276548" cy="279400"/>
          </a:xfrm>
          <a:prstGeom prst="rect">
            <a:avLst/>
          </a:prstGeom>
          <a:noFill/>
          <a:ln/>
        </p:spPr>
        <p:txBody>
          <a:bodyPr wrap="none" lIns="0" tIns="0" rIns="0" bIns="0" rtlCol="0" anchor="t"/>
          <a:lstStyle/>
          <a:p>
            <a:pPr algn="l" indent="0" marL="0">
              <a:buNone/>
            </a:pPr>
            <a:r>
              <a:rPr lang="en-US" sz="1600" dirty="0">
                <a:solidFill>
                  <a:srgbClr val="71717B"/>
                </a:solidFill>
                <a:latin typeface="Manrope" pitchFamily="34" charset="0"/>
                <a:ea typeface="Manrope" pitchFamily="34" charset="-122"/>
                <a:cs typeface="Manrope" pitchFamily="34" charset="-120"/>
              </a:rPr>
              <a:t>the map link</a:t>
            </a:r>
            <a:endParaRPr lang="en-US" sz="1600" dirty="0"/>
          </a:p>
        </p:txBody>
      </p:sp>
      <p:sp>
        <p:nvSpPr>
          <p:cNvPr id="57" name="Shape 52"/>
          <p:cNvSpPr/>
          <p:nvPr/>
        </p:nvSpPr>
        <p:spPr>
          <a:xfrm>
            <a:off x="10604500" y="2680295"/>
            <a:ext cx="4927600" cy="5860057"/>
          </a:xfrm>
          <a:prstGeom prst="roundRect">
            <a:avLst>
              <a:gd name="adj" fmla="val 3608"/>
            </a:avLst>
          </a:prstGeom>
          <a:solidFill>
            <a:srgbClr val="FDFFFE"/>
          </a:solidFill>
          <a:ln/>
        </p:spPr>
      </p:sp>
      <p:sp>
        <p:nvSpPr>
          <p:cNvPr id="58" name="Text 53"/>
          <p:cNvSpPr txBox="1"/>
          <p:nvPr/>
        </p:nvSpPr>
        <p:spPr>
          <a:xfrm>
            <a:off x="10960100" y="2946995"/>
            <a:ext cx="538757" cy="215900"/>
          </a:xfrm>
          <a:prstGeom prst="rect">
            <a:avLst/>
          </a:prstGeom>
          <a:noFill/>
          <a:ln/>
        </p:spPr>
        <p:txBody>
          <a:bodyPr wrap="none" lIns="0" tIns="0" rIns="0" bIns="0" rtlCol="0" anchor="t"/>
          <a:lstStyle/>
          <a:p>
            <a:pPr algn="l" indent="0" marL="0">
              <a:buNone/>
            </a:pPr>
            <a:r>
              <a:rPr lang="en-US" sz="1300" spc="235" kern="0" dirty="0">
                <a:solidFill>
                  <a:srgbClr val="006630"/>
                </a:solidFill>
                <a:latin typeface="Fira Code" pitchFamily="34" charset="0"/>
                <a:ea typeface="Fira Code" pitchFamily="34" charset="-122"/>
                <a:cs typeface="Fira Code" pitchFamily="34" charset="-120"/>
              </a:rPr>
              <a:t>RUN</a:t>
            </a:r>
            <a:endParaRPr lang="en-US" sz="1300" dirty="0"/>
          </a:p>
        </p:txBody>
      </p:sp>
      <p:sp>
        <p:nvSpPr>
          <p:cNvPr id="59" name="Shape 54"/>
          <p:cNvSpPr/>
          <p:nvPr/>
        </p:nvSpPr>
        <p:spPr>
          <a:xfrm>
            <a:off x="11005820" y="3575145"/>
            <a:ext cx="128016" cy="128016"/>
          </a:xfrm>
          <a:prstGeom prst="roundRect">
            <a:avLst>
              <a:gd name="adj" fmla="val 19841"/>
            </a:avLst>
          </a:prstGeom>
          <a:solidFill>
            <a:srgbClr val="0E9254"/>
          </a:solidFill>
          <a:ln/>
        </p:spPr>
      </p:sp>
      <p:sp>
        <p:nvSpPr>
          <p:cNvPr id="60" name="Shape 55"/>
          <p:cNvSpPr/>
          <p:nvPr/>
        </p:nvSpPr>
        <p:spPr>
          <a:xfrm>
            <a:off x="10960100" y="3367881"/>
            <a:ext cx="490339" cy="650280"/>
          </a:xfrm>
          <a:prstGeom prst="roundRect">
            <a:avLst>
              <a:gd name="adj" fmla="val 20720"/>
            </a:avLst>
          </a:prstGeom>
          <a:solidFill>
            <a:srgbClr val="E4F3E8"/>
          </a:solidFill>
          <a:ln w="12700">
            <a:solidFill>
              <a:srgbClr val="BFDFC9"/>
            </a:solidFill>
            <a:prstDash val="solid"/>
          </a:ln>
        </p:spPr>
      </p:sp>
      <p:sp>
        <p:nvSpPr>
          <p:cNvPr id="61" name="Text 56"/>
          <p:cNvSpPr txBox="1"/>
          <p:nvPr/>
        </p:nvSpPr>
        <p:spPr>
          <a:xfrm>
            <a:off x="11087100" y="3558381"/>
            <a:ext cx="388739"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-s</a:t>
            </a:r>
            <a:endParaRPr lang="en-US" sz="1551" dirty="0"/>
          </a:p>
        </p:txBody>
      </p:sp>
      <p:sp>
        <p:nvSpPr>
          <p:cNvPr id="62" name="Shape 57"/>
          <p:cNvSpPr/>
          <p:nvPr/>
        </p:nvSpPr>
        <p:spPr>
          <a:xfrm>
            <a:off x="11486555" y="4068167"/>
            <a:ext cx="646509" cy="280988"/>
          </a:xfrm>
          <a:prstGeom prst="roundRect">
            <a:avLst>
              <a:gd name="adj" fmla="val 27119"/>
            </a:avLst>
          </a:prstGeom>
          <a:solidFill>
            <a:srgbClr val="F4F4F5"/>
          </a:solidFill>
          <a:ln/>
        </p:spPr>
      </p:sp>
      <p:sp>
        <p:nvSpPr>
          <p:cNvPr id="63" name="Shape 58"/>
          <p:cNvSpPr/>
          <p:nvPr/>
        </p:nvSpPr>
        <p:spPr>
          <a:xfrm>
            <a:off x="13211572" y="4068167"/>
            <a:ext cx="856257" cy="280988"/>
          </a:xfrm>
          <a:prstGeom prst="roundRect">
            <a:avLst>
              <a:gd name="adj" fmla="val 27119"/>
            </a:avLst>
          </a:prstGeom>
          <a:solidFill>
            <a:srgbClr val="F4F4F5"/>
          </a:solidFill>
          <a:ln/>
        </p:spPr>
      </p:sp>
      <p:sp>
        <p:nvSpPr>
          <p:cNvPr id="64" name="Text 59"/>
          <p:cNvSpPr txBox="1"/>
          <p:nvPr/>
        </p:nvSpPr>
        <p:spPr>
          <a:xfrm>
            <a:off x="10960100" y="4056261"/>
            <a:ext cx="3199011" cy="279400"/>
          </a:xfrm>
          <a:prstGeom prst="rect">
            <a:avLst/>
          </a:prstGeom>
          <a:noFill/>
          <a:ln/>
        </p:spPr>
        <p:txBody>
          <a:bodyPr wrap="none" lIns="0" tIns="0" rIns="0" bIns="0" rtlCol="0" anchor="t"/>
          <a:lstStyle/>
          <a:p>
            <a:pPr algn="l" indent="0" marL="0">
              <a:buNone/>
            </a:pPr>
            <a:r>
              <a:rPr lang="en-US" sz="1600" dirty="0">
                <a:solidFill>
                  <a:srgbClr val="71717B"/>
                </a:solidFill>
                <a:latin typeface="Manrope" pitchFamily="34" charset="0"/>
                <a:ea typeface="Manrope" pitchFamily="34" charset="-122"/>
                <a:cs typeface="Manrope" pitchFamily="34" charset="-120"/>
              </a:rPr>
              <a:t>picks </a:t>
            </a:r>
            <a:pPr algn="l" indent="0" marL="0">
              <a:buNone/>
            </a:pPr>
            <a:r>
              <a:rPr lang="en-US" sz="1376" b="1" dirty="0">
                <a:solidFill>
                  <a:srgbClr val="09090B"/>
                </a:solidFill>
                <a:latin typeface="Fira Code" pitchFamily="34" charset="0"/>
                <a:ea typeface="Fira Code" pitchFamily="34" charset="-122"/>
                <a:cs typeface="Fira Code" pitchFamily="34" charset="-120"/>
              </a:rPr>
              <a:t>scrub</a:t>
            </a:r>
            <a:pPr algn="l" indent="0" marL="0">
              <a:buNone/>
            </a:pPr>
            <a:r>
              <a:rPr lang="en-US" sz="1600" dirty="0">
                <a:solidFill>
                  <a:srgbClr val="71717B"/>
                </a:solidFill>
                <a:latin typeface="Manrope" pitchFamily="34" charset="0"/>
                <a:ea typeface="Manrope" pitchFamily="34" charset="-122"/>
                <a:cs typeface="Manrope" pitchFamily="34" charset="-120"/>
              </a:rPr>
              <a:t>, otherwise </a:t>
            </a:r>
            <a:pPr algn="l" indent="0" marL="0">
              <a:buNone/>
            </a:pPr>
            <a:r>
              <a:rPr lang="en-US" sz="1376" b="1" dirty="0">
                <a:solidFill>
                  <a:srgbClr val="09090B"/>
                </a:solidFill>
                <a:latin typeface="Fira Code" pitchFamily="34" charset="0"/>
                <a:ea typeface="Fira Code" pitchFamily="34" charset="-122"/>
                <a:cs typeface="Fira Code" pitchFamily="34" charset="-120"/>
              </a:rPr>
              <a:t>inspect</a:t>
            </a:r>
            <a:endParaRPr lang="en-US" sz="1600" dirty="0"/>
          </a:p>
        </p:txBody>
      </p:sp>
      <p:sp>
        <p:nvSpPr>
          <p:cNvPr id="65" name="Shape 60"/>
          <p:cNvSpPr/>
          <p:nvPr/>
        </p:nvSpPr>
        <p:spPr>
          <a:xfrm>
            <a:off x="11005820" y="4696317"/>
            <a:ext cx="128016" cy="128016"/>
          </a:xfrm>
          <a:prstGeom prst="roundRect">
            <a:avLst>
              <a:gd name="adj" fmla="val 19841"/>
            </a:avLst>
          </a:prstGeom>
          <a:solidFill>
            <a:srgbClr val="0E9254"/>
          </a:solidFill>
          <a:ln/>
        </p:spPr>
      </p:sp>
      <p:sp>
        <p:nvSpPr>
          <p:cNvPr id="66" name="Shape 61"/>
          <p:cNvSpPr/>
          <p:nvPr/>
        </p:nvSpPr>
        <p:spPr>
          <a:xfrm>
            <a:off x="10960100" y="4489053"/>
            <a:ext cx="608409" cy="650280"/>
          </a:xfrm>
          <a:prstGeom prst="roundRect">
            <a:avLst>
              <a:gd name="adj" fmla="val 16699"/>
            </a:avLst>
          </a:prstGeom>
          <a:solidFill>
            <a:srgbClr val="E4F3E8"/>
          </a:solidFill>
          <a:ln w="12700">
            <a:solidFill>
              <a:srgbClr val="BFDFC9"/>
            </a:solidFill>
            <a:prstDash val="solid"/>
          </a:ln>
        </p:spPr>
      </p:sp>
      <p:sp>
        <p:nvSpPr>
          <p:cNvPr id="67" name="Text 62"/>
          <p:cNvSpPr txBox="1"/>
          <p:nvPr/>
        </p:nvSpPr>
        <p:spPr>
          <a:xfrm>
            <a:off x="11087100" y="4679553"/>
            <a:ext cx="506809"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for</a:t>
            </a:r>
            <a:endParaRPr lang="en-US" sz="1551" dirty="0"/>
          </a:p>
        </p:txBody>
      </p:sp>
      <p:sp>
        <p:nvSpPr>
          <p:cNvPr id="68" name="Shape 63"/>
          <p:cNvSpPr/>
          <p:nvPr/>
        </p:nvSpPr>
        <p:spPr>
          <a:xfrm>
            <a:off x="11198424" y="5469731"/>
            <a:ext cx="856257" cy="280988"/>
          </a:xfrm>
          <a:prstGeom prst="roundRect">
            <a:avLst>
              <a:gd name="adj" fmla="val 27119"/>
            </a:avLst>
          </a:prstGeom>
          <a:solidFill>
            <a:srgbClr val="F4F4F5"/>
          </a:solidFill>
          <a:ln/>
        </p:spPr>
      </p:sp>
      <p:sp>
        <p:nvSpPr>
          <p:cNvPr id="69" name="Text 64"/>
          <p:cNvSpPr txBox="1"/>
          <p:nvPr/>
        </p:nvSpPr>
        <p:spPr>
          <a:xfrm>
            <a:off x="10960100" y="5177433"/>
            <a:ext cx="3903707" cy="559792"/>
          </a:xfrm>
          <a:prstGeom prst="rect">
            <a:avLst/>
          </a:prstGeom>
          <a:noFill/>
          <a:ln/>
        </p:spPr>
        <p:txBody>
          <a:bodyPr wrap="square" lIns="0" tIns="0" rIns="0" bIns="0" rtlCol="0" anchor="t"/>
          <a:lstStyle/>
          <a:p>
            <a:pPr algn="l" indent="0" marL="0">
              <a:lnSpc>
                <a:spcPts val="2208"/>
              </a:lnSpc>
              <a:buNone/>
            </a:pPr>
            <a:r>
              <a:rPr lang="en-US" sz="1600" dirty="0">
                <a:solidFill>
                  <a:srgbClr val="71717B"/>
                </a:solidFill>
                <a:latin typeface="Manrope" pitchFamily="34" charset="0"/>
                <a:ea typeface="Manrope" pitchFamily="34" charset="-122"/>
                <a:cs typeface="Manrope" pitchFamily="34" charset="-120"/>
              </a:rPr>
              <a:t>hands each file, or each image in a folder, to </a:t>
            </a:r>
            <a:pPr algn="l" indent="0" marL="0">
              <a:lnSpc>
                <a:spcPts val="2208"/>
              </a:lnSpc>
              <a:buNone/>
            </a:pPr>
            <a:r>
              <a:rPr lang="en-US" sz="1376" b="1" dirty="0">
                <a:solidFill>
                  <a:srgbClr val="09090B"/>
                </a:solidFill>
                <a:latin typeface="Fira Code" pitchFamily="34" charset="0"/>
                <a:ea typeface="Fira Code" pitchFamily="34" charset="-122"/>
                <a:cs typeface="Fira Code" pitchFamily="34" charset="-120"/>
              </a:rPr>
              <a:t>$action</a:t>
            </a:r>
            <a:endParaRPr lang="en-US" sz="1600" dirty="0"/>
          </a:p>
        </p:txBody>
      </p:sp>
      <p:sp>
        <p:nvSpPr>
          <p:cNvPr id="70" name="Shape 65"/>
          <p:cNvSpPr/>
          <p:nvPr/>
        </p:nvSpPr>
        <p:spPr>
          <a:xfrm>
            <a:off x="11005820" y="6097881"/>
            <a:ext cx="128016" cy="128016"/>
          </a:xfrm>
          <a:prstGeom prst="roundRect">
            <a:avLst>
              <a:gd name="adj" fmla="val 19841"/>
            </a:avLst>
          </a:prstGeom>
          <a:solidFill>
            <a:srgbClr val="0E9254"/>
          </a:solidFill>
          <a:ln/>
        </p:spPr>
      </p:sp>
      <p:sp>
        <p:nvSpPr>
          <p:cNvPr id="71" name="Shape 66"/>
          <p:cNvSpPr/>
          <p:nvPr/>
        </p:nvSpPr>
        <p:spPr>
          <a:xfrm>
            <a:off x="10960100" y="5890617"/>
            <a:ext cx="1907580" cy="650280"/>
          </a:xfrm>
          <a:prstGeom prst="roundRect">
            <a:avLst>
              <a:gd name="adj" fmla="val 15624"/>
            </a:avLst>
          </a:prstGeom>
          <a:solidFill>
            <a:srgbClr val="E4F3E8"/>
          </a:solidFill>
          <a:ln w="12700">
            <a:solidFill>
              <a:srgbClr val="BFDFC9"/>
            </a:solidFill>
            <a:prstDash val="solid"/>
          </a:ln>
        </p:spPr>
      </p:sp>
      <p:sp>
        <p:nvSpPr>
          <p:cNvPr id="72" name="Text 67"/>
          <p:cNvSpPr txBox="1"/>
          <p:nvPr/>
        </p:nvSpPr>
        <p:spPr>
          <a:xfrm>
            <a:off x="11087100" y="6081117"/>
            <a:ext cx="1805980"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exiftool -all=</a:t>
            </a:r>
            <a:endParaRPr lang="en-US" sz="1551" dirty="0"/>
          </a:p>
        </p:txBody>
      </p:sp>
      <p:sp>
        <p:nvSpPr>
          <p:cNvPr id="73" name="Text 68"/>
          <p:cNvSpPr txBox="1"/>
          <p:nvPr/>
        </p:nvSpPr>
        <p:spPr>
          <a:xfrm>
            <a:off x="10960100" y="6578997"/>
            <a:ext cx="3252788" cy="279400"/>
          </a:xfrm>
          <a:prstGeom prst="rect">
            <a:avLst/>
          </a:prstGeom>
          <a:noFill/>
          <a:ln/>
        </p:spPr>
        <p:txBody>
          <a:bodyPr wrap="none" lIns="0" tIns="0" rIns="0" bIns="0" rtlCol="0" anchor="t"/>
          <a:lstStyle/>
          <a:p>
            <a:pPr algn="l" indent="0" marL="0">
              <a:buNone/>
            </a:pPr>
            <a:r>
              <a:rPr lang="en-US" sz="1600" dirty="0">
                <a:solidFill>
                  <a:srgbClr val="71717B"/>
                </a:solidFill>
                <a:latin typeface="Manrope" pitchFamily="34" charset="0"/>
                <a:ea typeface="Manrope" pitchFamily="34" charset="-122"/>
                <a:cs typeface="Manrope" pitchFamily="34" charset="-120"/>
              </a:rPr>
              <a:t>scrub: removes every tag in place</a:t>
            </a:r>
            <a:endParaRPr lang="en-US" sz="1600" dirty="0"/>
          </a:p>
        </p:txBody>
      </p:sp>
      <p:sp>
        <p:nvSpPr>
          <p:cNvPr id="74" name="Shape 69"/>
          <p:cNvSpPr/>
          <p:nvPr/>
        </p:nvSpPr>
        <p:spPr>
          <a:xfrm>
            <a:off x="11005820" y="7219053"/>
            <a:ext cx="128016" cy="128016"/>
          </a:xfrm>
          <a:prstGeom prst="roundRect">
            <a:avLst>
              <a:gd name="adj" fmla="val 19841"/>
            </a:avLst>
          </a:prstGeom>
          <a:solidFill>
            <a:srgbClr val="0E9254"/>
          </a:solidFill>
          <a:ln/>
        </p:spPr>
      </p:sp>
      <p:sp>
        <p:nvSpPr>
          <p:cNvPr id="75" name="Shape 70"/>
          <p:cNvSpPr/>
          <p:nvPr/>
        </p:nvSpPr>
        <p:spPr>
          <a:xfrm>
            <a:off x="10960100" y="7011789"/>
            <a:ext cx="844549" cy="650280"/>
          </a:xfrm>
          <a:prstGeom prst="roundRect">
            <a:avLst>
              <a:gd name="adj" fmla="val 15624"/>
            </a:avLst>
          </a:prstGeom>
          <a:solidFill>
            <a:srgbClr val="E4F3E8"/>
          </a:solidFill>
          <a:ln w="12700">
            <a:solidFill>
              <a:srgbClr val="BFDFC9"/>
            </a:solidFill>
            <a:prstDash val="solid"/>
          </a:ln>
        </p:spPr>
      </p:sp>
      <p:sp>
        <p:nvSpPr>
          <p:cNvPr id="76" name="Text 71"/>
          <p:cNvSpPr txBox="1"/>
          <p:nvPr/>
        </p:nvSpPr>
        <p:spPr>
          <a:xfrm>
            <a:off x="11087100" y="7202289"/>
            <a:ext cx="742951"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clean</a:t>
            </a:r>
            <a:endParaRPr lang="en-US" sz="1551" dirty="0"/>
          </a:p>
        </p:txBody>
      </p:sp>
      <p:sp>
        <p:nvSpPr>
          <p:cNvPr id="77" name="Text 72"/>
          <p:cNvSpPr txBox="1"/>
          <p:nvPr/>
        </p:nvSpPr>
        <p:spPr>
          <a:xfrm>
            <a:off x="10960100" y="7700169"/>
            <a:ext cx="3898900" cy="559792"/>
          </a:xfrm>
          <a:prstGeom prst="rect">
            <a:avLst/>
          </a:prstGeom>
          <a:noFill/>
          <a:ln/>
        </p:spPr>
        <p:txBody>
          <a:bodyPr wrap="square" lIns="0" tIns="0" rIns="0" bIns="0" rtlCol="0" anchor="t"/>
          <a:lstStyle/>
          <a:p>
            <a:pPr algn="l" indent="0" marL="0">
              <a:lnSpc>
                <a:spcPts val="2208"/>
              </a:lnSpc>
              <a:buNone/>
            </a:pPr>
            <a:r>
              <a:rPr lang="en-US" sz="1600" dirty="0">
                <a:solidFill>
                  <a:srgbClr val="71717B"/>
                </a:solidFill>
                <a:latin typeface="Manrope" pitchFamily="34" charset="0"/>
                <a:ea typeface="Manrope" pitchFamily="34" charset="-122"/>
                <a:cs typeface="Manrope" pitchFamily="34" charset="-120"/>
              </a:rPr>
              <a:t>inspect: printed when no detector reports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07 / 09</a:t>
            </a:r>
            <a:endParaRPr lang="en-US" sz="1300" dirty="0"/>
          </a:p>
        </p:txBody>
      </p:sp>
      <p:sp>
        <p:nvSpPr>
          <p:cNvPr id="12" name="Text 7"/>
          <p:cNvSpPr txBox="1"/>
          <p:nvPr/>
        </p:nvSpPr>
        <p:spPr>
          <a:xfrm>
            <a:off x="1422400" y="1231900"/>
            <a:ext cx="44966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07</a:t>
            </a:r>
            <a:endParaRPr lang="en-US" sz="1500" dirty="0"/>
          </a:p>
        </p:txBody>
      </p:sp>
      <p:sp>
        <p:nvSpPr>
          <p:cNvPr id="13" name="Text 8"/>
          <p:cNvSpPr txBox="1"/>
          <p:nvPr/>
        </p:nvSpPr>
        <p:spPr>
          <a:xfrm>
            <a:off x="1897460" y="1231900"/>
            <a:ext cx="746919" cy="254000"/>
          </a:xfrm>
          <a:prstGeom prst="rect">
            <a:avLst/>
          </a:prstGeom>
          <a:noFill/>
          <a:ln/>
        </p:spPr>
        <p:txBody>
          <a:bodyPr wrap="none" lIns="0" tIns="0" rIns="0" bIns="0" rtlCol="0" anchor="t"/>
          <a:lstStyle/>
          <a:p>
            <a:pPr algn="l" indent="0" marL="0">
              <a:buNone/>
            </a:pPr>
            <a:r>
              <a:rPr lang="en-US" sz="1500" spc="271" kern="0" dirty="0">
                <a:solidFill>
                  <a:srgbClr val="71717B"/>
                </a:solidFill>
                <a:latin typeface="Fira Code" pitchFamily="34" charset="0"/>
                <a:ea typeface="Fira Code" pitchFamily="34" charset="-122"/>
                <a:cs typeface="Fira Code" pitchFamily="34" charset="-120"/>
              </a:rPr>
              <a:t>DEMO</a:t>
            </a:r>
            <a:endParaRPr lang="en-US" sz="1500" dirty="0"/>
          </a:p>
        </p:txBody>
      </p:sp>
      <p:sp>
        <p:nvSpPr>
          <p:cNvPr id="14" name="Shape 9"/>
          <p:cNvSpPr/>
          <p:nvPr/>
        </p:nvSpPr>
        <p:spPr>
          <a:xfrm>
            <a:off x="2669779" y="1360488"/>
            <a:ext cx="12163821" cy="12700"/>
          </a:xfrm>
          <a:prstGeom prst="rect">
            <a:avLst/>
          </a:prstGeom>
          <a:solidFill>
            <a:srgbClr val="E4E4E7"/>
          </a:solidFill>
          <a:ln/>
        </p:spPr>
      </p:sp>
      <p:sp>
        <p:nvSpPr>
          <p:cNvPr id="15" name="Shape 10"/>
          <p:cNvSpPr/>
          <p:nvPr/>
        </p:nvSpPr>
        <p:spPr>
          <a:xfrm>
            <a:off x="1422400" y="1768475"/>
            <a:ext cx="8146455" cy="5749925"/>
          </a:xfrm>
          <a:prstGeom prst="roundRect">
            <a:avLst>
              <a:gd name="adj" fmla="val 3092"/>
            </a:avLst>
          </a:prstGeom>
          <a:solidFill>
            <a:srgbClr val="FDFFFE"/>
          </a:solidFill>
          <a:ln w="12700">
            <a:solidFill>
              <a:srgbClr val="E4E4E7"/>
            </a:solidFill>
            <a:prstDash val="solid"/>
          </a:ln>
          <a:effectLst>
            <a:outerShdw sx="100000" sy="100000" kx="0" ky="0" algn="bl" rotWithShape="0" blurRad="135467" dist="12700" dir="5400000">
              <a:srgbClr val="09090B">
                <a:alpha val="7000"/>
              </a:srgbClr>
            </a:outerShdw>
          </a:effectLst>
        </p:spPr>
      </p:sp>
      <p:sp>
        <p:nvSpPr>
          <p:cNvPr id="16" name="Shape 11"/>
          <p:cNvSpPr/>
          <p:nvPr/>
        </p:nvSpPr>
        <p:spPr>
          <a:xfrm>
            <a:off x="1435100" y="1781175"/>
            <a:ext cx="8121055" cy="547885"/>
          </a:xfrm>
          <a:prstGeom prst="rect">
            <a:avLst/>
          </a:prstGeom>
          <a:solidFill>
            <a:srgbClr val="F4F7F5"/>
          </a:solidFill>
          <a:ln/>
        </p:spPr>
      </p:sp>
      <p:sp>
        <p:nvSpPr>
          <p:cNvPr id="17" name="Shape 12"/>
          <p:cNvSpPr/>
          <p:nvPr/>
        </p:nvSpPr>
        <p:spPr>
          <a:xfrm>
            <a:off x="1435100" y="2316361"/>
            <a:ext cx="8121055" cy="12700"/>
          </a:xfrm>
          <a:prstGeom prst="rect">
            <a:avLst/>
          </a:prstGeom>
          <a:solidFill>
            <a:srgbClr val="E4E4E7"/>
          </a:solidFill>
          <a:ln/>
        </p:spPr>
      </p:sp>
      <p:sp>
        <p:nvSpPr>
          <p:cNvPr id="18" name="Shape 13"/>
          <p:cNvSpPr/>
          <p:nvPr/>
        </p:nvSpPr>
        <p:spPr>
          <a:xfrm>
            <a:off x="1638300" y="1978819"/>
            <a:ext cx="139700" cy="139700"/>
          </a:xfrm>
          <a:prstGeom prst="roundRect">
            <a:avLst>
              <a:gd name="adj" fmla="val 50000"/>
            </a:avLst>
          </a:prstGeom>
          <a:solidFill>
            <a:srgbClr val="D2D5D4"/>
          </a:solidFill>
          <a:ln/>
        </p:spPr>
      </p:sp>
      <p:sp>
        <p:nvSpPr>
          <p:cNvPr id="19" name="Shape 14"/>
          <p:cNvSpPr/>
          <p:nvPr/>
        </p:nvSpPr>
        <p:spPr>
          <a:xfrm>
            <a:off x="1879600" y="1978819"/>
            <a:ext cx="139700" cy="139700"/>
          </a:xfrm>
          <a:prstGeom prst="roundRect">
            <a:avLst>
              <a:gd name="adj" fmla="val 50000"/>
            </a:avLst>
          </a:prstGeom>
          <a:solidFill>
            <a:srgbClr val="D2D5D4"/>
          </a:solidFill>
          <a:ln/>
        </p:spPr>
      </p:sp>
      <p:sp>
        <p:nvSpPr>
          <p:cNvPr id="20" name="Shape 15"/>
          <p:cNvSpPr/>
          <p:nvPr/>
        </p:nvSpPr>
        <p:spPr>
          <a:xfrm>
            <a:off x="2120900" y="1978819"/>
            <a:ext cx="139700" cy="139700"/>
          </a:xfrm>
          <a:prstGeom prst="roundRect">
            <a:avLst>
              <a:gd name="adj" fmla="val 50000"/>
            </a:avLst>
          </a:prstGeom>
          <a:solidFill>
            <a:srgbClr val="D2D5D4"/>
          </a:solidFill>
          <a:ln/>
        </p:spPr>
      </p:sp>
      <p:sp>
        <p:nvSpPr>
          <p:cNvPr id="21" name="Text 16"/>
          <p:cNvSpPr txBox="1"/>
          <p:nvPr/>
        </p:nvSpPr>
        <p:spPr>
          <a:xfrm>
            <a:off x="2489200" y="1933575"/>
            <a:ext cx="1024136" cy="215900"/>
          </a:xfrm>
          <a:prstGeom prst="rect">
            <a:avLst/>
          </a:prstGeom>
          <a:noFill/>
          <a:ln/>
        </p:spPr>
        <p:txBody>
          <a:bodyPr wrap="none" lIns="0" tIns="0" rIns="0" bIns="0" rtlCol="0" anchor="t"/>
          <a:lstStyle/>
          <a:p>
            <a:pPr algn="l" indent="0" marL="0">
              <a:buNone/>
            </a:pPr>
            <a:r>
              <a:rPr lang="en-US" sz="1300" spc="79" kern="0" dirty="0">
                <a:solidFill>
                  <a:srgbClr val="71717B"/>
                </a:solidFill>
                <a:latin typeface="Fira Code" pitchFamily="34" charset="0"/>
                <a:ea typeface="Fira Code" pitchFamily="34" charset="-122"/>
                <a:cs typeface="Fira Code" pitchFamily="34" charset="-120"/>
              </a:rPr>
              <a:t>~/photos</a:t>
            </a:r>
            <a:endParaRPr lang="en-US" sz="1300" dirty="0"/>
          </a:p>
        </p:txBody>
      </p:sp>
      <p:sp>
        <p:nvSpPr>
          <p:cNvPr id="22" name="Text 17"/>
          <p:cNvSpPr txBox="1"/>
          <p:nvPr/>
        </p:nvSpPr>
        <p:spPr>
          <a:xfrm>
            <a:off x="1714500" y="2583061"/>
            <a:ext cx="2362399" cy="241300"/>
          </a:xfrm>
          <a:prstGeom prst="rect">
            <a:avLst/>
          </a:prstGeom>
          <a:noFill/>
          <a:ln/>
        </p:spPr>
        <p:txBody>
          <a:bodyPr wrap="none" lIns="0" tIns="0" rIns="0" bIns="0" rtlCol="0" anchor="t"/>
          <a:lstStyle/>
          <a:p>
            <a:pPr algn="l" indent="0" marL="0">
              <a:buNone/>
            </a:pPr>
            <a:r>
              <a:rPr lang="en-US" sz="1451" dirty="0">
                <a:solidFill>
                  <a:srgbClr val="006630"/>
                </a:solidFill>
                <a:latin typeface="Fira Code" pitchFamily="34" charset="0"/>
                <a:ea typeface="Fira Code" pitchFamily="34" charset="-122"/>
                <a:cs typeface="Fira Code" pitchFamily="34" charset="-120"/>
              </a:rPr>
              <a:t>$</a:t>
            </a:r>
            <a:pPr algn="l" indent="0" marL="0">
              <a:buNone/>
            </a:pPr>
            <a:r>
              <a:rPr lang="en-US" sz="1451" dirty="0">
                <a:solidFill>
                  <a:srgbClr val="09090B"/>
                </a:solidFill>
                <a:latin typeface="Fira Code" pitchFamily="34" charset="0"/>
                <a:ea typeface="Fira Code" pitchFamily="34" charset="-122"/>
                <a:cs typeface="Fira Code" pitchFamily="34" charset="-120"/>
              </a:rPr>
              <a:t> ./exifleak.sh demo</a:t>
            </a:r>
            <a:endParaRPr lang="en-US" sz="1451" dirty="0"/>
          </a:p>
        </p:txBody>
      </p:sp>
      <p:sp>
        <p:nvSpPr>
          <p:cNvPr id="23" name="Text 18"/>
          <p:cNvSpPr txBox="1"/>
          <p:nvPr/>
        </p:nvSpPr>
        <p:spPr>
          <a:xfrm>
            <a:off x="1714500" y="3208933"/>
            <a:ext cx="2030809" cy="241300"/>
          </a:xfrm>
          <a:prstGeom prst="rect">
            <a:avLst/>
          </a:prstGeom>
          <a:noFill/>
          <a:ln/>
        </p:spPr>
        <p:txBody>
          <a:bodyPr wrap="none" lIns="0" tIns="0" rIns="0" bIns="0" rtlCol="0" anchor="t"/>
          <a:lstStyle/>
          <a:p>
            <a:pPr algn="l" indent="0" marL="0">
              <a:buNone/>
            </a:pPr>
            <a:r>
              <a:rPr lang="en-US" sz="1451" dirty="0">
                <a:solidFill>
                  <a:srgbClr val="71717B"/>
                </a:solidFill>
                <a:latin typeface="Fira Code" pitchFamily="34" charset="0"/>
                <a:ea typeface="Fira Code" pitchFamily="34" charset="-122"/>
                <a:cs typeface="Fira Code" pitchFamily="34" charset="-120"/>
              </a:rPr>
              <a:t>demo/IMG_4821.jpg</a:t>
            </a:r>
            <a:endParaRPr lang="en-US" sz="1451" dirty="0"/>
          </a:p>
        </p:txBody>
      </p:sp>
      <p:sp>
        <p:nvSpPr>
          <p:cNvPr id="24" name="Text 19"/>
          <p:cNvSpPr txBox="1"/>
          <p:nvPr/>
        </p:nvSpPr>
        <p:spPr>
          <a:xfrm>
            <a:off x="1714500" y="3521869"/>
            <a:ext cx="7334251" cy="241300"/>
          </a:xfrm>
          <a:prstGeom prst="rect">
            <a:avLst/>
          </a:prstGeom>
          <a:noFill/>
          <a:ln/>
        </p:spPr>
        <p:txBody>
          <a:bodyPr wrap="none" lIns="0" tIns="0" rIns="0" bIns="0" rtlCol="0" anchor="t"/>
          <a:lstStyle/>
          <a:p>
            <a:pPr algn="l" indent="0" marL="0">
              <a:buNone/>
            </a:pPr>
            <a:r>
              <a:rPr lang="en-US" sz="1451" b="1" dirty="0">
                <a:solidFill>
                  <a:srgbClr val="E7000B"/>
                </a:solidFill>
                <a:latin typeface="Fira Code" pitchFamily="34" charset="0"/>
                <a:ea typeface="Fira Code" pitchFamily="34" charset="-122"/>
                <a:cs typeface="Fira Code" pitchFamily="34" charset="-120"/>
              </a:rPr>
              <a:t>[LOCATION]</a:t>
            </a:r>
            <a:pPr algn="l" indent="0" marL="0">
              <a:buNone/>
            </a:pPr>
            <a:r>
              <a:rPr lang="en-US" sz="1451" dirty="0">
                <a:solidFill>
                  <a:srgbClr val="09090B"/>
                </a:solidFill>
                <a:latin typeface="Fira Code" pitchFamily="34" charset="0"/>
                <a:ea typeface="Fira Code" pitchFamily="34" charset="-122"/>
                <a:cs typeface="Fira Code" pitchFamily="34" charset="-120"/>
              </a:rPr>
              <a:t> GPS Position : 13 deg 21' 9.00" N, 74 deg 47' 34.08" E</a:t>
            </a:r>
            <a:endParaRPr lang="en-US" sz="1451" dirty="0"/>
          </a:p>
        </p:txBody>
      </p:sp>
      <p:sp>
        <p:nvSpPr>
          <p:cNvPr id="25" name="Text 20"/>
          <p:cNvSpPr txBox="1"/>
          <p:nvPr/>
        </p:nvSpPr>
        <p:spPr>
          <a:xfrm>
            <a:off x="1714500" y="3834805"/>
            <a:ext cx="6008489" cy="241300"/>
          </a:xfrm>
          <a:prstGeom prst="rect">
            <a:avLst/>
          </a:prstGeom>
          <a:noFill/>
          <a:ln/>
        </p:spPr>
        <p:txBody>
          <a:bodyPr wrap="none" lIns="0" tIns="0" rIns="0" bIns="0" rtlCol="0" anchor="t"/>
          <a:lstStyle/>
          <a:p>
            <a:pPr algn="l" indent="0" marL="0">
              <a:buNone/>
            </a:pPr>
            <a:r>
              <a:rPr lang="en-US" sz="1451" b="1" dirty="0">
                <a:solidFill>
                  <a:srgbClr val="E7000B"/>
                </a:solidFill>
                <a:latin typeface="Fira Code" pitchFamily="34" charset="0"/>
                <a:ea typeface="Fira Code" pitchFamily="34" charset="-122"/>
                <a:cs typeface="Fira Code" pitchFamily="34" charset="-120"/>
              </a:rPr>
              <a:t>[LOCATION]</a:t>
            </a:r>
            <a:pPr algn="l" indent="0" marL="0">
              <a:buNone/>
            </a:pPr>
            <a:r>
              <a:rPr lang="en-US" sz="1451" dirty="0">
                <a:solidFill>
                  <a:srgbClr val="09090B"/>
                </a:solidFill>
                <a:latin typeface="Fira Code" pitchFamily="34" charset="0"/>
                <a:ea typeface="Fira Code" pitchFamily="34" charset="-122"/>
                <a:cs typeface="Fira Code" pitchFamily="34" charset="-120"/>
              </a:rPr>
              <a:t> https://maps.google.com/?q=13.3525,74.7928</a:t>
            </a:r>
            <a:endParaRPr lang="en-US" sz="1451" dirty="0"/>
          </a:p>
        </p:txBody>
      </p:sp>
      <p:sp>
        <p:nvSpPr>
          <p:cNvPr id="26" name="Text 21"/>
          <p:cNvSpPr txBox="1"/>
          <p:nvPr/>
        </p:nvSpPr>
        <p:spPr>
          <a:xfrm>
            <a:off x="1714500" y="4147740"/>
            <a:ext cx="4793060" cy="241300"/>
          </a:xfrm>
          <a:prstGeom prst="rect">
            <a:avLst/>
          </a:prstGeom>
          <a:noFill/>
          <a:ln/>
        </p:spPr>
        <p:txBody>
          <a:bodyPr wrap="none" lIns="0" tIns="0" rIns="0" bIns="0" rtlCol="0" anchor="t"/>
          <a:lstStyle/>
          <a:p>
            <a:pPr algn="l" indent="0" marL="0">
              <a:buNone/>
            </a:pPr>
            <a:r>
              <a:rPr lang="en-US" sz="1451" b="1" dirty="0">
                <a:solidFill>
                  <a:srgbClr val="CD7D02"/>
                </a:solidFill>
                <a:latin typeface="Fira Code" pitchFamily="34" charset="0"/>
                <a:ea typeface="Fira Code" pitchFamily="34" charset="-122"/>
                <a:cs typeface="Fira Code" pitchFamily="34" charset="-120"/>
              </a:rPr>
              <a:t>[DEVICE]</a:t>
            </a:r>
            <a:pPr algn="l" indent="0" marL="0">
              <a:buNone/>
            </a:pPr>
            <a:r>
              <a:rPr lang="en-US" sz="1451" dirty="0">
                <a:solidFill>
                  <a:srgbClr val="09090B"/>
                </a:solidFill>
                <a:latin typeface="Fira Code" pitchFamily="34" charset="0"/>
                <a:ea typeface="Fira Code" pitchFamily="34" charset="-122"/>
                <a:cs typeface="Fira Code" pitchFamily="34" charset="-120"/>
              </a:rPr>
              <a:t> Camera Model Name : iPhone 15 Pro</a:t>
            </a:r>
            <a:endParaRPr lang="en-US" sz="1451" dirty="0"/>
          </a:p>
        </p:txBody>
      </p:sp>
      <p:sp>
        <p:nvSpPr>
          <p:cNvPr id="27" name="Text 22"/>
          <p:cNvSpPr txBox="1"/>
          <p:nvPr/>
        </p:nvSpPr>
        <p:spPr>
          <a:xfrm>
            <a:off x="1714500" y="4460676"/>
            <a:ext cx="4240609" cy="241300"/>
          </a:xfrm>
          <a:prstGeom prst="rect">
            <a:avLst/>
          </a:prstGeom>
          <a:noFill/>
          <a:ln/>
        </p:spPr>
        <p:txBody>
          <a:bodyPr wrap="none" lIns="0" tIns="0" rIns="0" bIns="0" rtlCol="0" anchor="t"/>
          <a:lstStyle/>
          <a:p>
            <a:pPr algn="l" indent="0" marL="0">
              <a:buNone/>
            </a:pPr>
            <a:r>
              <a:rPr lang="en-US" sz="1451" b="1" dirty="0">
                <a:solidFill>
                  <a:srgbClr val="CD7D02"/>
                </a:solidFill>
                <a:latin typeface="Fira Code" pitchFamily="34" charset="0"/>
                <a:ea typeface="Fira Code" pitchFamily="34" charset="-122"/>
                <a:cs typeface="Fira Code" pitchFamily="34" charset="-120"/>
              </a:rPr>
              <a:t>[DEVICE]</a:t>
            </a:r>
            <a:pPr algn="l" indent="0" marL="0">
              <a:buNone/>
            </a:pPr>
            <a:r>
              <a:rPr lang="en-US" sz="1451" dirty="0">
                <a:solidFill>
                  <a:srgbClr val="09090B"/>
                </a:solidFill>
                <a:latin typeface="Fira Code" pitchFamily="34" charset="0"/>
                <a:ea typeface="Fira Code" pitchFamily="34" charset="-122"/>
                <a:cs typeface="Fira Code" pitchFamily="34" charset="-120"/>
              </a:rPr>
              <a:t> Serial Number : F2LDEMO12345</a:t>
            </a:r>
            <a:endParaRPr lang="en-US" sz="1451" dirty="0"/>
          </a:p>
        </p:txBody>
      </p:sp>
      <p:sp>
        <p:nvSpPr>
          <p:cNvPr id="28" name="Text 23"/>
          <p:cNvSpPr txBox="1"/>
          <p:nvPr/>
        </p:nvSpPr>
        <p:spPr>
          <a:xfrm>
            <a:off x="1714500" y="4773612"/>
            <a:ext cx="3798689" cy="241300"/>
          </a:xfrm>
          <a:prstGeom prst="rect">
            <a:avLst/>
          </a:prstGeom>
          <a:noFill/>
          <a:ln/>
        </p:spPr>
        <p:txBody>
          <a:bodyPr wrap="none" lIns="0" tIns="0" rIns="0" bIns="0" rtlCol="0" anchor="t"/>
          <a:lstStyle/>
          <a:p>
            <a:pPr algn="l" indent="0" marL="0">
              <a:buNone/>
            </a:pPr>
            <a:r>
              <a:rPr lang="en-US" sz="1451" b="1" dirty="0">
                <a:solidFill>
                  <a:srgbClr val="006630"/>
                </a:solidFill>
                <a:latin typeface="Fira Code" pitchFamily="34" charset="0"/>
                <a:ea typeface="Fira Code" pitchFamily="34" charset="-122"/>
                <a:cs typeface="Fira Code" pitchFamily="34" charset="-120"/>
              </a:rPr>
              <a:t>[IDENTITY]</a:t>
            </a:r>
            <a:pPr algn="l" indent="0" marL="0">
              <a:buNone/>
            </a:pPr>
            <a:r>
              <a:rPr lang="en-US" sz="1451" dirty="0">
                <a:solidFill>
                  <a:srgbClr val="09090B"/>
                </a:solidFill>
                <a:latin typeface="Fira Code" pitchFamily="34" charset="0"/>
                <a:ea typeface="Fira Code" pitchFamily="34" charset="-122"/>
                <a:cs typeface="Fira Code" pitchFamily="34" charset="-120"/>
              </a:rPr>
              <a:t> Artist : Anish Shobith</a:t>
            </a:r>
            <a:endParaRPr lang="en-US" sz="1451" dirty="0"/>
          </a:p>
        </p:txBody>
      </p:sp>
      <p:sp>
        <p:nvSpPr>
          <p:cNvPr id="29" name="Text 24"/>
          <p:cNvSpPr txBox="1"/>
          <p:nvPr/>
        </p:nvSpPr>
        <p:spPr>
          <a:xfrm>
            <a:off x="1714500" y="5086548"/>
            <a:ext cx="3467100" cy="241300"/>
          </a:xfrm>
          <a:prstGeom prst="rect">
            <a:avLst/>
          </a:prstGeom>
          <a:noFill/>
          <a:ln/>
        </p:spPr>
        <p:txBody>
          <a:bodyPr wrap="none" lIns="0" tIns="0" rIns="0" bIns="0" rtlCol="0" anchor="t"/>
          <a:lstStyle/>
          <a:p>
            <a:pPr algn="l" indent="0" marL="0">
              <a:buNone/>
            </a:pPr>
            <a:r>
              <a:rPr lang="en-US" sz="1451" b="1" dirty="0">
                <a:solidFill>
                  <a:srgbClr val="71717B"/>
                </a:solidFill>
                <a:latin typeface="Fira Code" pitchFamily="34" charset="0"/>
                <a:ea typeface="Fira Code" pitchFamily="34" charset="-122"/>
                <a:cs typeface="Fira Code" pitchFamily="34" charset="-120"/>
              </a:rPr>
              <a:t>[SOFTWARE]</a:t>
            </a:r>
            <a:pPr algn="l" indent="0" marL="0">
              <a:buNone/>
            </a:pPr>
            <a:r>
              <a:rPr lang="en-US" sz="1451" dirty="0">
                <a:solidFill>
                  <a:srgbClr val="09090B"/>
                </a:solidFill>
                <a:latin typeface="Fira Code" pitchFamily="34" charset="0"/>
                <a:ea typeface="Fira Code" pitchFamily="34" charset="-122"/>
                <a:cs typeface="Fira Code" pitchFamily="34" charset="-120"/>
              </a:rPr>
              <a:t> Software : iOS 18.1</a:t>
            </a:r>
            <a:endParaRPr lang="en-US" sz="1451" dirty="0"/>
          </a:p>
        </p:txBody>
      </p:sp>
      <p:sp>
        <p:nvSpPr>
          <p:cNvPr id="30" name="Text 25"/>
          <p:cNvSpPr txBox="1"/>
          <p:nvPr/>
        </p:nvSpPr>
        <p:spPr>
          <a:xfrm>
            <a:off x="1714500" y="5712420"/>
            <a:ext cx="2030809" cy="241300"/>
          </a:xfrm>
          <a:prstGeom prst="rect">
            <a:avLst/>
          </a:prstGeom>
          <a:noFill/>
          <a:ln/>
        </p:spPr>
        <p:txBody>
          <a:bodyPr wrap="none" lIns="0" tIns="0" rIns="0" bIns="0" rtlCol="0" anchor="t"/>
          <a:lstStyle/>
          <a:p>
            <a:pPr algn="l" indent="0" marL="0">
              <a:buNone/>
            </a:pPr>
            <a:r>
              <a:rPr lang="en-US" sz="1451" dirty="0">
                <a:solidFill>
                  <a:srgbClr val="71717B"/>
                </a:solidFill>
                <a:latin typeface="Fira Code" pitchFamily="34" charset="0"/>
                <a:ea typeface="Fira Code" pitchFamily="34" charset="-122"/>
                <a:cs typeface="Fira Code" pitchFamily="34" charset="-120"/>
              </a:rPr>
              <a:t>demo/IMG_4822.jpg</a:t>
            </a:r>
            <a:endParaRPr lang="en-US" sz="1451" dirty="0"/>
          </a:p>
        </p:txBody>
      </p:sp>
      <p:sp>
        <p:nvSpPr>
          <p:cNvPr id="31" name="Text 26"/>
          <p:cNvSpPr txBox="1"/>
          <p:nvPr/>
        </p:nvSpPr>
        <p:spPr>
          <a:xfrm>
            <a:off x="1714500" y="6025356"/>
            <a:ext cx="4130279" cy="241300"/>
          </a:xfrm>
          <a:prstGeom prst="rect">
            <a:avLst/>
          </a:prstGeom>
          <a:noFill/>
          <a:ln/>
        </p:spPr>
        <p:txBody>
          <a:bodyPr wrap="none" lIns="0" tIns="0" rIns="0" bIns="0" rtlCol="0" anchor="t"/>
          <a:lstStyle/>
          <a:p>
            <a:pPr algn="l" indent="0" marL="0">
              <a:buNone/>
            </a:pPr>
            <a:r>
              <a:rPr lang="en-US" sz="1451" b="1" dirty="0">
                <a:solidFill>
                  <a:srgbClr val="CD7D02"/>
                </a:solidFill>
                <a:latin typeface="Fira Code" pitchFamily="34" charset="0"/>
                <a:ea typeface="Fira Code" pitchFamily="34" charset="-122"/>
                <a:cs typeface="Fira Code" pitchFamily="34" charset="-120"/>
              </a:rPr>
              <a:t>[DEVICE]</a:t>
            </a:r>
            <a:pPr algn="l" indent="0" marL="0">
              <a:buNone/>
            </a:pPr>
            <a:r>
              <a:rPr lang="en-US" sz="1451" dirty="0">
                <a:solidFill>
                  <a:srgbClr val="09090B"/>
                </a:solidFill>
                <a:latin typeface="Fira Code" pitchFamily="34" charset="0"/>
                <a:ea typeface="Fira Code" pitchFamily="34" charset="-122"/>
                <a:cs typeface="Fira Code" pitchFamily="34" charset="-120"/>
              </a:rPr>
              <a:t> Camera Model Name : Pixel 8</a:t>
            </a:r>
            <a:endParaRPr lang="en-US" sz="1451" dirty="0"/>
          </a:p>
        </p:txBody>
      </p:sp>
      <p:sp>
        <p:nvSpPr>
          <p:cNvPr id="32" name="Text 27"/>
          <p:cNvSpPr txBox="1"/>
          <p:nvPr/>
        </p:nvSpPr>
        <p:spPr>
          <a:xfrm>
            <a:off x="1714500" y="6651228"/>
            <a:ext cx="2030809" cy="241300"/>
          </a:xfrm>
          <a:prstGeom prst="rect">
            <a:avLst/>
          </a:prstGeom>
          <a:noFill/>
          <a:ln/>
        </p:spPr>
        <p:txBody>
          <a:bodyPr wrap="none" lIns="0" tIns="0" rIns="0" bIns="0" rtlCol="0" anchor="t"/>
          <a:lstStyle/>
          <a:p>
            <a:pPr algn="l" indent="0" marL="0">
              <a:buNone/>
            </a:pPr>
            <a:r>
              <a:rPr lang="en-US" sz="1451" dirty="0">
                <a:solidFill>
                  <a:srgbClr val="71717B"/>
                </a:solidFill>
                <a:latin typeface="Fira Code" pitchFamily="34" charset="0"/>
                <a:ea typeface="Fira Code" pitchFamily="34" charset="-122"/>
                <a:cs typeface="Fira Code" pitchFamily="34" charset="-120"/>
              </a:rPr>
              <a:t>demo/IMG_4823.jpg</a:t>
            </a:r>
            <a:endParaRPr lang="en-US" sz="1451" dirty="0"/>
          </a:p>
        </p:txBody>
      </p:sp>
      <p:sp>
        <p:nvSpPr>
          <p:cNvPr id="33" name="Text 28"/>
          <p:cNvSpPr txBox="1"/>
          <p:nvPr/>
        </p:nvSpPr>
        <p:spPr>
          <a:xfrm>
            <a:off x="1714500" y="6964164"/>
            <a:ext cx="704851" cy="241300"/>
          </a:xfrm>
          <a:prstGeom prst="rect">
            <a:avLst/>
          </a:prstGeom>
          <a:noFill/>
          <a:ln/>
        </p:spPr>
        <p:txBody>
          <a:bodyPr wrap="none" lIns="0" tIns="0" rIns="0" bIns="0" rtlCol="0" anchor="t"/>
          <a:lstStyle/>
          <a:p>
            <a:pPr algn="l" indent="0" marL="0">
              <a:buNone/>
            </a:pPr>
            <a:r>
              <a:rPr lang="en-US" sz="1451" b="1" dirty="0">
                <a:solidFill>
                  <a:srgbClr val="006630"/>
                </a:solidFill>
                <a:latin typeface="Fira Code" pitchFamily="34" charset="0"/>
                <a:ea typeface="Fira Code" pitchFamily="34" charset="-122"/>
                <a:cs typeface="Fira Code" pitchFamily="34" charset="-120"/>
              </a:rPr>
              <a:t>clean</a:t>
            </a:r>
            <a:endParaRPr lang="en-US" sz="1451" dirty="0"/>
          </a:p>
        </p:txBody>
      </p:sp>
      <p:sp>
        <p:nvSpPr>
          <p:cNvPr id="34" name="Shape 29"/>
          <p:cNvSpPr/>
          <p:nvPr/>
        </p:nvSpPr>
        <p:spPr>
          <a:xfrm>
            <a:off x="10178455" y="1768475"/>
            <a:ext cx="4654947" cy="3559373"/>
          </a:xfrm>
          <a:prstGeom prst="roundRect">
            <a:avLst>
              <a:gd name="adj" fmla="val 4995"/>
            </a:avLst>
          </a:prstGeom>
          <a:solidFill>
            <a:srgbClr val="FDFFFE"/>
          </a:solidFill>
          <a:ln w="12700">
            <a:solidFill>
              <a:srgbClr val="E4E4E7"/>
            </a:solidFill>
            <a:prstDash val="solid"/>
          </a:ln>
          <a:effectLst>
            <a:outerShdw sx="100000" sy="100000" kx="0" ky="0" algn="bl" rotWithShape="0" blurRad="135467" dist="12700" dir="5400000">
              <a:srgbClr val="09090B">
                <a:alpha val="7000"/>
              </a:srgbClr>
            </a:outerShdw>
          </a:effectLst>
        </p:spPr>
      </p:sp>
      <p:sp>
        <p:nvSpPr>
          <p:cNvPr id="35" name="Shape 30"/>
          <p:cNvSpPr/>
          <p:nvPr/>
        </p:nvSpPr>
        <p:spPr>
          <a:xfrm>
            <a:off x="10191155" y="1781175"/>
            <a:ext cx="4629547" cy="547885"/>
          </a:xfrm>
          <a:prstGeom prst="rect">
            <a:avLst/>
          </a:prstGeom>
          <a:solidFill>
            <a:srgbClr val="F4F7F5"/>
          </a:solidFill>
          <a:ln/>
        </p:spPr>
      </p:sp>
      <p:sp>
        <p:nvSpPr>
          <p:cNvPr id="36" name="Shape 31"/>
          <p:cNvSpPr/>
          <p:nvPr/>
        </p:nvSpPr>
        <p:spPr>
          <a:xfrm>
            <a:off x="10191155" y="2316361"/>
            <a:ext cx="4629547" cy="12700"/>
          </a:xfrm>
          <a:prstGeom prst="rect">
            <a:avLst/>
          </a:prstGeom>
          <a:solidFill>
            <a:srgbClr val="E4E4E7"/>
          </a:solidFill>
          <a:ln/>
        </p:spPr>
      </p:sp>
      <p:sp>
        <p:nvSpPr>
          <p:cNvPr id="37" name="Shape 32"/>
          <p:cNvSpPr/>
          <p:nvPr/>
        </p:nvSpPr>
        <p:spPr>
          <a:xfrm>
            <a:off x="10394355" y="1978819"/>
            <a:ext cx="139700" cy="139700"/>
          </a:xfrm>
          <a:prstGeom prst="roundRect">
            <a:avLst>
              <a:gd name="adj" fmla="val 50000"/>
            </a:avLst>
          </a:prstGeom>
          <a:solidFill>
            <a:srgbClr val="D2D5D4"/>
          </a:solidFill>
          <a:ln/>
        </p:spPr>
      </p:sp>
      <p:sp>
        <p:nvSpPr>
          <p:cNvPr id="38" name="Shape 33"/>
          <p:cNvSpPr/>
          <p:nvPr/>
        </p:nvSpPr>
        <p:spPr>
          <a:xfrm>
            <a:off x="10635655" y="1978819"/>
            <a:ext cx="139700" cy="139700"/>
          </a:xfrm>
          <a:prstGeom prst="roundRect">
            <a:avLst>
              <a:gd name="adj" fmla="val 50000"/>
            </a:avLst>
          </a:prstGeom>
          <a:solidFill>
            <a:srgbClr val="D2D5D4"/>
          </a:solidFill>
          <a:ln/>
        </p:spPr>
      </p:sp>
      <p:sp>
        <p:nvSpPr>
          <p:cNvPr id="39" name="Shape 34"/>
          <p:cNvSpPr/>
          <p:nvPr/>
        </p:nvSpPr>
        <p:spPr>
          <a:xfrm>
            <a:off x="10876955" y="1978819"/>
            <a:ext cx="139700" cy="139700"/>
          </a:xfrm>
          <a:prstGeom prst="roundRect">
            <a:avLst>
              <a:gd name="adj" fmla="val 50000"/>
            </a:avLst>
          </a:prstGeom>
          <a:solidFill>
            <a:srgbClr val="D2D5D4"/>
          </a:solidFill>
          <a:ln/>
        </p:spPr>
      </p:sp>
      <p:sp>
        <p:nvSpPr>
          <p:cNvPr id="40" name="Text 35"/>
          <p:cNvSpPr txBox="1"/>
          <p:nvPr/>
        </p:nvSpPr>
        <p:spPr>
          <a:xfrm>
            <a:off x="11245255" y="1933575"/>
            <a:ext cx="2767608" cy="215900"/>
          </a:xfrm>
          <a:prstGeom prst="rect">
            <a:avLst/>
          </a:prstGeom>
          <a:noFill/>
          <a:ln/>
        </p:spPr>
        <p:txBody>
          <a:bodyPr wrap="none" lIns="0" tIns="0" rIns="0" bIns="0" rtlCol="0" anchor="t"/>
          <a:lstStyle/>
          <a:p>
            <a:pPr algn="l" indent="0" marL="0">
              <a:buNone/>
            </a:pPr>
            <a:r>
              <a:rPr lang="en-US" sz="1300" spc="79" kern="0" dirty="0">
                <a:solidFill>
                  <a:srgbClr val="71717B"/>
                </a:solidFill>
                <a:latin typeface="Fira Code" pitchFamily="34" charset="0"/>
                <a:ea typeface="Fira Code" pitchFamily="34" charset="-122"/>
                <a:cs typeface="Fira Code" pitchFamily="34" charset="-120"/>
              </a:rPr>
              <a:t>wipe it, then look again</a:t>
            </a:r>
            <a:endParaRPr lang="en-US" sz="1300" dirty="0"/>
          </a:p>
        </p:txBody>
      </p:sp>
      <p:sp>
        <p:nvSpPr>
          <p:cNvPr id="41" name="Text 36"/>
          <p:cNvSpPr txBox="1"/>
          <p:nvPr/>
        </p:nvSpPr>
        <p:spPr>
          <a:xfrm>
            <a:off x="10470555" y="2583061"/>
            <a:ext cx="2362399" cy="241300"/>
          </a:xfrm>
          <a:prstGeom prst="rect">
            <a:avLst/>
          </a:prstGeom>
          <a:noFill/>
          <a:ln/>
        </p:spPr>
        <p:txBody>
          <a:bodyPr wrap="none" lIns="0" tIns="0" rIns="0" bIns="0" rtlCol="0" anchor="t"/>
          <a:lstStyle/>
          <a:p>
            <a:pPr algn="l" indent="0" marL="0">
              <a:buNone/>
            </a:pPr>
            <a:r>
              <a:rPr lang="en-US" sz="1451" dirty="0">
                <a:solidFill>
                  <a:srgbClr val="006630"/>
                </a:solidFill>
                <a:latin typeface="Fira Code" pitchFamily="34" charset="0"/>
                <a:ea typeface="Fira Code" pitchFamily="34" charset="-122"/>
                <a:cs typeface="Fira Code" pitchFamily="34" charset="-120"/>
              </a:rPr>
              <a:t>$</a:t>
            </a:r>
            <a:pPr algn="l" indent="0" marL="0">
              <a:buNone/>
            </a:pPr>
            <a:r>
              <a:rPr lang="en-US" sz="1451" dirty="0">
                <a:solidFill>
                  <a:srgbClr val="09090B"/>
                </a:solidFill>
                <a:latin typeface="Fira Code" pitchFamily="34" charset="0"/>
                <a:ea typeface="Fira Code" pitchFamily="34" charset="-122"/>
                <a:cs typeface="Fira Code" pitchFamily="34" charset="-120"/>
              </a:rPr>
              <a:t> ./exifleak.sh -s \</a:t>
            </a:r>
            <a:endParaRPr lang="en-US" sz="1451" dirty="0"/>
          </a:p>
        </p:txBody>
      </p:sp>
      <p:sp>
        <p:nvSpPr>
          <p:cNvPr id="42" name="Text 37"/>
          <p:cNvSpPr txBox="1"/>
          <p:nvPr/>
        </p:nvSpPr>
        <p:spPr>
          <a:xfrm>
            <a:off x="10470555" y="2895997"/>
            <a:ext cx="2141339" cy="241300"/>
          </a:xfrm>
          <a:prstGeom prst="rect">
            <a:avLst/>
          </a:prstGeom>
          <a:noFill/>
          <a:ln/>
        </p:spPr>
        <p:txBody>
          <a:bodyPr wrap="none" lIns="0" tIns="0" rIns="0" bIns="0" rtlCol="0" anchor="t"/>
          <a:lstStyle/>
          <a:p>
            <a:pPr algn="l" indent="0" marL="0">
              <a:buNone/>
            </a:pPr>
            <a:r>
              <a:rPr lang="en-US" sz="1451" dirty="0">
                <a:solidFill>
                  <a:srgbClr val="09090B"/>
                </a:solidFill>
                <a:latin typeface="Fira Code" pitchFamily="34" charset="0"/>
                <a:ea typeface="Fira Code" pitchFamily="34" charset="-122"/>
                <a:cs typeface="Fira Code" pitchFamily="34" charset="-120"/>
              </a:rPr>
              <a:t>demo/IMG_4821.jpg</a:t>
            </a:r>
            <a:endParaRPr lang="en-US" sz="1451" dirty="0"/>
          </a:p>
        </p:txBody>
      </p:sp>
      <p:sp>
        <p:nvSpPr>
          <p:cNvPr id="43" name="Text 38"/>
          <p:cNvSpPr txBox="1"/>
          <p:nvPr/>
        </p:nvSpPr>
        <p:spPr>
          <a:xfrm>
            <a:off x="10470555" y="3208933"/>
            <a:ext cx="3025379" cy="241300"/>
          </a:xfrm>
          <a:prstGeom prst="rect">
            <a:avLst/>
          </a:prstGeom>
          <a:noFill/>
          <a:ln/>
        </p:spPr>
        <p:txBody>
          <a:bodyPr wrap="none" lIns="0" tIns="0" rIns="0" bIns="0" rtlCol="0" anchor="t"/>
          <a:lstStyle/>
          <a:p>
            <a:pPr algn="l" indent="0" marL="0">
              <a:buNone/>
            </a:pPr>
            <a:r>
              <a:rPr lang="en-US" sz="1451" b="1" dirty="0">
                <a:solidFill>
                  <a:srgbClr val="006630"/>
                </a:solidFill>
                <a:latin typeface="Fira Code" pitchFamily="34" charset="0"/>
                <a:ea typeface="Fira Code" pitchFamily="34" charset="-122"/>
                <a:cs typeface="Fira Code" pitchFamily="34" charset="-120"/>
              </a:rPr>
              <a:t>scrubbed</a:t>
            </a:r>
            <a:pPr algn="l" indent="0" marL="0">
              <a:buNone/>
            </a:pPr>
            <a:r>
              <a:rPr lang="en-US" sz="1451" dirty="0">
                <a:solidFill>
                  <a:srgbClr val="09090B"/>
                </a:solidFill>
                <a:latin typeface="Fira Code" pitchFamily="34" charset="0"/>
                <a:ea typeface="Fira Code" pitchFamily="34" charset="-122"/>
                <a:cs typeface="Fira Code" pitchFamily="34" charset="-120"/>
              </a:rPr>
              <a:t> demo/IMG_4821.jpg</a:t>
            </a:r>
            <a:endParaRPr lang="en-US" sz="1451" dirty="0"/>
          </a:p>
        </p:txBody>
      </p:sp>
      <p:sp>
        <p:nvSpPr>
          <p:cNvPr id="44" name="Text 39"/>
          <p:cNvSpPr txBox="1"/>
          <p:nvPr/>
        </p:nvSpPr>
        <p:spPr>
          <a:xfrm>
            <a:off x="10470555" y="3521869"/>
            <a:ext cx="2030809" cy="241300"/>
          </a:xfrm>
          <a:prstGeom prst="rect">
            <a:avLst/>
          </a:prstGeom>
          <a:noFill/>
          <a:ln/>
        </p:spPr>
        <p:txBody>
          <a:bodyPr wrap="none" lIns="0" tIns="0" rIns="0" bIns="0" rtlCol="0" anchor="t"/>
          <a:lstStyle/>
          <a:p>
            <a:pPr algn="l" indent="0" marL="0">
              <a:buNone/>
            </a:pPr>
            <a:r>
              <a:rPr lang="en-US" sz="1451" dirty="0">
                <a:solidFill>
                  <a:srgbClr val="006630"/>
                </a:solidFill>
                <a:latin typeface="Fira Code" pitchFamily="34" charset="0"/>
                <a:ea typeface="Fira Code" pitchFamily="34" charset="-122"/>
                <a:cs typeface="Fira Code" pitchFamily="34" charset="-120"/>
              </a:rPr>
              <a:t>$</a:t>
            </a:r>
            <a:pPr algn="l" indent="0" marL="0">
              <a:buNone/>
            </a:pPr>
            <a:r>
              <a:rPr lang="en-US" sz="1451" dirty="0">
                <a:solidFill>
                  <a:srgbClr val="09090B"/>
                </a:solidFill>
                <a:latin typeface="Fira Code" pitchFamily="34" charset="0"/>
                <a:ea typeface="Fira Code" pitchFamily="34" charset="-122"/>
                <a:cs typeface="Fira Code" pitchFamily="34" charset="-120"/>
              </a:rPr>
              <a:t> ./exifleak.sh \</a:t>
            </a:r>
            <a:endParaRPr lang="en-US" sz="1451" dirty="0"/>
          </a:p>
        </p:txBody>
      </p:sp>
      <p:sp>
        <p:nvSpPr>
          <p:cNvPr id="45" name="Text 40"/>
          <p:cNvSpPr txBox="1"/>
          <p:nvPr/>
        </p:nvSpPr>
        <p:spPr>
          <a:xfrm>
            <a:off x="10470555" y="3834805"/>
            <a:ext cx="2141339" cy="241300"/>
          </a:xfrm>
          <a:prstGeom prst="rect">
            <a:avLst/>
          </a:prstGeom>
          <a:noFill/>
          <a:ln/>
        </p:spPr>
        <p:txBody>
          <a:bodyPr wrap="none" lIns="0" tIns="0" rIns="0" bIns="0" rtlCol="0" anchor="t"/>
          <a:lstStyle/>
          <a:p>
            <a:pPr algn="l" indent="0" marL="0">
              <a:buNone/>
            </a:pPr>
            <a:r>
              <a:rPr lang="en-US" sz="1451" dirty="0">
                <a:solidFill>
                  <a:srgbClr val="09090B"/>
                </a:solidFill>
                <a:latin typeface="Fira Code" pitchFamily="34" charset="0"/>
                <a:ea typeface="Fira Code" pitchFamily="34" charset="-122"/>
                <a:cs typeface="Fira Code" pitchFamily="34" charset="-120"/>
              </a:rPr>
              <a:t>demo/IMG_4821.jpg</a:t>
            </a:r>
            <a:endParaRPr lang="en-US" sz="1451" dirty="0"/>
          </a:p>
        </p:txBody>
      </p:sp>
      <p:sp>
        <p:nvSpPr>
          <p:cNvPr id="46" name="Text 41"/>
          <p:cNvSpPr txBox="1"/>
          <p:nvPr/>
        </p:nvSpPr>
        <p:spPr>
          <a:xfrm>
            <a:off x="10470555" y="4460676"/>
            <a:ext cx="2030809" cy="241300"/>
          </a:xfrm>
          <a:prstGeom prst="rect">
            <a:avLst/>
          </a:prstGeom>
          <a:noFill/>
          <a:ln/>
        </p:spPr>
        <p:txBody>
          <a:bodyPr wrap="none" lIns="0" tIns="0" rIns="0" bIns="0" rtlCol="0" anchor="t"/>
          <a:lstStyle/>
          <a:p>
            <a:pPr algn="l" indent="0" marL="0">
              <a:buNone/>
            </a:pPr>
            <a:r>
              <a:rPr lang="en-US" sz="1451" dirty="0">
                <a:solidFill>
                  <a:srgbClr val="71717B"/>
                </a:solidFill>
                <a:latin typeface="Fira Code" pitchFamily="34" charset="0"/>
                <a:ea typeface="Fira Code" pitchFamily="34" charset="-122"/>
                <a:cs typeface="Fira Code" pitchFamily="34" charset="-120"/>
              </a:rPr>
              <a:t>demo/IMG_4821.jpg</a:t>
            </a:r>
            <a:endParaRPr lang="en-US" sz="1451" dirty="0"/>
          </a:p>
        </p:txBody>
      </p:sp>
      <p:sp>
        <p:nvSpPr>
          <p:cNvPr id="47" name="Text 42"/>
          <p:cNvSpPr txBox="1"/>
          <p:nvPr/>
        </p:nvSpPr>
        <p:spPr>
          <a:xfrm>
            <a:off x="10470555" y="4773612"/>
            <a:ext cx="704851" cy="241300"/>
          </a:xfrm>
          <a:prstGeom prst="rect">
            <a:avLst/>
          </a:prstGeom>
          <a:noFill/>
          <a:ln/>
        </p:spPr>
        <p:txBody>
          <a:bodyPr wrap="none" lIns="0" tIns="0" rIns="0" bIns="0" rtlCol="0" anchor="t"/>
          <a:lstStyle/>
          <a:p>
            <a:pPr algn="l" indent="0" marL="0">
              <a:buNone/>
            </a:pPr>
            <a:r>
              <a:rPr lang="en-US" sz="1451" b="1" dirty="0">
                <a:solidFill>
                  <a:srgbClr val="006630"/>
                </a:solidFill>
                <a:latin typeface="Fira Code" pitchFamily="34" charset="0"/>
                <a:ea typeface="Fira Code" pitchFamily="34" charset="-122"/>
                <a:cs typeface="Fira Code" pitchFamily="34" charset="-120"/>
              </a:rPr>
              <a:t>clean</a:t>
            </a:r>
            <a:endParaRPr lang="en-US" sz="1451" dirty="0"/>
          </a:p>
        </p:txBody>
      </p:sp>
      <p:sp>
        <p:nvSpPr>
          <p:cNvPr id="48" name="Shape 43"/>
          <p:cNvSpPr/>
          <p:nvPr/>
        </p:nvSpPr>
        <p:spPr>
          <a:xfrm>
            <a:off x="11023005" y="4812507"/>
            <a:ext cx="110331" cy="202407"/>
          </a:xfrm>
          <a:prstGeom prst="rect">
            <a:avLst/>
          </a:prstGeom>
          <a:solidFill>
            <a:srgbClr val="09090B"/>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08 / 09</a:t>
            </a:r>
            <a:endParaRPr lang="en-US" sz="1300" dirty="0"/>
          </a:p>
        </p:txBody>
      </p:sp>
      <p:sp>
        <p:nvSpPr>
          <p:cNvPr id="12" name="Text 7"/>
          <p:cNvSpPr txBox="1"/>
          <p:nvPr/>
        </p:nvSpPr>
        <p:spPr>
          <a:xfrm>
            <a:off x="1422400" y="1231900"/>
            <a:ext cx="44966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08</a:t>
            </a:r>
            <a:endParaRPr lang="en-US" sz="1500" dirty="0"/>
          </a:p>
        </p:txBody>
      </p:sp>
      <p:sp>
        <p:nvSpPr>
          <p:cNvPr id="13" name="Text 8"/>
          <p:cNvSpPr txBox="1"/>
          <p:nvPr/>
        </p:nvSpPr>
        <p:spPr>
          <a:xfrm>
            <a:off x="1897460" y="1231900"/>
            <a:ext cx="1043980" cy="254000"/>
          </a:xfrm>
          <a:prstGeom prst="rect">
            <a:avLst/>
          </a:prstGeom>
          <a:noFill/>
          <a:ln/>
        </p:spPr>
        <p:txBody>
          <a:bodyPr wrap="none" lIns="0" tIns="0" rIns="0" bIns="0" rtlCol="0" anchor="t"/>
          <a:lstStyle/>
          <a:p>
            <a:pPr algn="l" indent="0" marL="0">
              <a:buNone/>
            </a:pPr>
            <a:r>
              <a:rPr lang="en-US" sz="1500" spc="271" kern="0" dirty="0">
                <a:solidFill>
                  <a:srgbClr val="71717B"/>
                </a:solidFill>
                <a:latin typeface="Fira Code" pitchFamily="34" charset="0"/>
                <a:ea typeface="Fira Code" pitchFamily="34" charset="-122"/>
                <a:cs typeface="Fira Code" pitchFamily="34" charset="-120"/>
              </a:rPr>
              <a:t>LIMITS</a:t>
            </a:r>
            <a:endParaRPr lang="en-US" sz="1500" dirty="0"/>
          </a:p>
        </p:txBody>
      </p:sp>
      <p:sp>
        <p:nvSpPr>
          <p:cNvPr id="14" name="Shape 9"/>
          <p:cNvSpPr/>
          <p:nvPr/>
        </p:nvSpPr>
        <p:spPr>
          <a:xfrm>
            <a:off x="2966839" y="1360488"/>
            <a:ext cx="11866761" cy="12700"/>
          </a:xfrm>
          <a:prstGeom prst="rect">
            <a:avLst/>
          </a:prstGeom>
          <a:solidFill>
            <a:srgbClr val="E4E4E7"/>
          </a:solidFill>
          <a:ln/>
        </p:spPr>
      </p:sp>
      <p:sp>
        <p:nvSpPr>
          <p:cNvPr id="15" name="Text 10"/>
          <p:cNvSpPr txBox="1"/>
          <p:nvPr/>
        </p:nvSpPr>
        <p:spPr>
          <a:xfrm>
            <a:off x="1422400" y="1730375"/>
            <a:ext cx="4555133" cy="736600"/>
          </a:xfrm>
          <a:prstGeom prst="rect">
            <a:avLst/>
          </a:prstGeom>
          <a:noFill/>
          <a:ln/>
        </p:spPr>
        <p:txBody>
          <a:bodyPr wrap="none" lIns="0" tIns="0" rIns="0" bIns="0" rtlCol="0" anchor="t"/>
          <a:lstStyle/>
          <a:p>
            <a:pPr algn="l" indent="0" marL="0">
              <a:buNone/>
            </a:pPr>
            <a:r>
              <a:rPr lang="en-US" sz="4800" b="1" spc="-120" kern="0" dirty="0">
                <a:solidFill>
                  <a:srgbClr val="09090B"/>
                </a:solidFill>
                <a:latin typeface="Bricolage Grotesque" pitchFamily="34" charset="0"/>
                <a:ea typeface="Bricolage Grotesque" pitchFamily="34" charset="-122"/>
                <a:cs typeface="Bricolage Grotesque" pitchFamily="34" charset="-120"/>
              </a:rPr>
              <a:t>Where it breaks.</a:t>
            </a:r>
            <a:endParaRPr lang="en-US" sz="4800" dirty="0"/>
          </a:p>
        </p:txBody>
      </p:sp>
      <p:sp>
        <p:nvSpPr>
          <p:cNvPr id="16" name="Shape 11"/>
          <p:cNvSpPr/>
          <p:nvPr/>
        </p:nvSpPr>
        <p:spPr>
          <a:xfrm>
            <a:off x="723900" y="2667595"/>
            <a:ext cx="14808200" cy="5683647"/>
          </a:xfrm>
          <a:prstGeom prst="rect">
            <a:avLst/>
          </a:prstGeom>
          <a:solidFill>
            <a:srgbClr val="E4E4E7"/>
          </a:solidFill>
          <a:ln/>
        </p:spPr>
      </p:sp>
      <p:sp>
        <p:nvSpPr>
          <p:cNvPr id="17" name="Shape 12"/>
          <p:cNvSpPr/>
          <p:nvPr/>
        </p:nvSpPr>
        <p:spPr>
          <a:xfrm>
            <a:off x="723900" y="2667595"/>
            <a:ext cx="14808200" cy="12700"/>
          </a:xfrm>
          <a:prstGeom prst="rect">
            <a:avLst/>
          </a:prstGeom>
          <a:solidFill>
            <a:srgbClr val="E4E4E7"/>
          </a:solidFill>
          <a:ln/>
        </p:spPr>
      </p:sp>
      <p:sp>
        <p:nvSpPr>
          <p:cNvPr id="18" name="Shape 13"/>
          <p:cNvSpPr/>
          <p:nvPr/>
        </p:nvSpPr>
        <p:spPr>
          <a:xfrm>
            <a:off x="723900" y="8338543"/>
            <a:ext cx="14808200" cy="12700"/>
          </a:xfrm>
          <a:prstGeom prst="rect">
            <a:avLst/>
          </a:prstGeom>
          <a:solidFill>
            <a:srgbClr val="E4E4E7"/>
          </a:solidFill>
          <a:ln/>
        </p:spPr>
      </p:sp>
      <p:sp>
        <p:nvSpPr>
          <p:cNvPr id="19" name="Shape 14"/>
          <p:cNvSpPr/>
          <p:nvPr/>
        </p:nvSpPr>
        <p:spPr>
          <a:xfrm>
            <a:off x="723900" y="2680295"/>
            <a:ext cx="7397751" cy="2667000"/>
          </a:xfrm>
          <a:prstGeom prst="rect">
            <a:avLst/>
          </a:prstGeom>
          <a:solidFill>
            <a:srgbClr val="FDF7EA"/>
          </a:solidFill>
          <a:ln/>
        </p:spPr>
      </p:sp>
      <p:sp>
        <p:nvSpPr>
          <p:cNvPr id="20" name="Text 15"/>
          <p:cNvSpPr txBox="1"/>
          <p:nvPr/>
        </p:nvSpPr>
        <p:spPr>
          <a:xfrm>
            <a:off x="1422400" y="3023195"/>
            <a:ext cx="2173288" cy="203200"/>
          </a:xfrm>
          <a:prstGeom prst="rect">
            <a:avLst/>
          </a:prstGeom>
          <a:noFill/>
          <a:ln/>
        </p:spPr>
        <p:txBody>
          <a:bodyPr wrap="none" lIns="0" tIns="0" rIns="0" bIns="0" rtlCol="0" anchor="t"/>
          <a:lstStyle/>
          <a:p>
            <a:pPr algn="l" indent="0" marL="0">
              <a:buNone/>
            </a:pPr>
            <a:r>
              <a:rPr lang="en-US" sz="1200" spc="216" kern="0" dirty="0">
                <a:solidFill>
                  <a:srgbClr val="71717B"/>
                </a:solidFill>
                <a:latin typeface="Fira Code" pitchFamily="34" charset="0"/>
                <a:ea typeface="Fira Code" pitchFamily="34" charset="-122"/>
                <a:cs typeface="Fira Code" pitchFamily="34" charset="-120"/>
              </a:rPr>
              <a:t>BRITTLE BY DESIGN</a:t>
            </a:r>
            <a:endParaRPr lang="en-US" sz="1200" dirty="0"/>
          </a:p>
        </p:txBody>
      </p:sp>
      <p:sp>
        <p:nvSpPr>
          <p:cNvPr id="21" name="Text 16"/>
          <p:cNvSpPr txBox="1"/>
          <p:nvPr/>
        </p:nvSpPr>
        <p:spPr>
          <a:xfrm>
            <a:off x="1422400" y="3322836"/>
            <a:ext cx="3540919" cy="381000"/>
          </a:xfrm>
          <a:prstGeom prst="rect">
            <a:avLst/>
          </a:prstGeom>
          <a:noFill/>
          <a:ln/>
        </p:spPr>
        <p:txBody>
          <a:bodyPr wrap="none" lIns="0" tIns="0" rIns="0" bIns="0" rtlCol="0" anchor="t"/>
          <a:lstStyle/>
          <a:p>
            <a:pPr algn="l" indent="0" marL="0">
              <a:buNone/>
            </a:pPr>
            <a:r>
              <a:rPr lang="en-US" sz="2500" b="1" spc="-63" kern="0" dirty="0">
                <a:solidFill>
                  <a:srgbClr val="09090B"/>
                </a:solidFill>
                <a:latin typeface="Bricolage Grotesque" pitchFamily="34" charset="0"/>
                <a:ea typeface="Bricolage Grotesque" pitchFamily="34" charset="-122"/>
                <a:cs typeface="Bricolage Grotesque" pitchFamily="34" charset="-120"/>
              </a:rPr>
              <a:t>It reads ExifTool's labels</a:t>
            </a:r>
            <a:endParaRPr lang="en-US" sz="2500" dirty="0"/>
          </a:p>
        </p:txBody>
      </p:sp>
      <p:sp>
        <p:nvSpPr>
          <p:cNvPr id="22" name="Shape 17"/>
          <p:cNvSpPr/>
          <p:nvPr/>
        </p:nvSpPr>
        <p:spPr>
          <a:xfrm>
            <a:off x="3693915" y="3833812"/>
            <a:ext cx="712589" cy="311547"/>
          </a:xfrm>
          <a:prstGeom prst="roundRect">
            <a:avLst>
              <a:gd name="adj" fmla="val 24459"/>
            </a:avLst>
          </a:prstGeom>
          <a:solidFill>
            <a:srgbClr val="F4F4F5"/>
          </a:solidFill>
          <a:ln/>
        </p:spPr>
      </p:sp>
      <p:sp>
        <p:nvSpPr>
          <p:cNvPr id="23" name="Shape 18"/>
          <p:cNvSpPr/>
          <p:nvPr/>
        </p:nvSpPr>
        <p:spPr>
          <a:xfrm>
            <a:off x="1422400" y="4186237"/>
            <a:ext cx="2099667" cy="311547"/>
          </a:xfrm>
          <a:prstGeom prst="roundRect">
            <a:avLst>
              <a:gd name="adj" fmla="val 24459"/>
            </a:avLst>
          </a:prstGeom>
          <a:solidFill>
            <a:srgbClr val="F4F4F5"/>
          </a:solidFill>
          <a:ln/>
        </p:spPr>
      </p:sp>
      <p:sp>
        <p:nvSpPr>
          <p:cNvPr id="24" name="Shape 19"/>
          <p:cNvSpPr/>
          <p:nvPr/>
        </p:nvSpPr>
        <p:spPr>
          <a:xfrm>
            <a:off x="4644429" y="4186237"/>
            <a:ext cx="597099" cy="311547"/>
          </a:xfrm>
          <a:prstGeom prst="roundRect">
            <a:avLst>
              <a:gd name="adj" fmla="val 24459"/>
            </a:avLst>
          </a:prstGeom>
          <a:solidFill>
            <a:srgbClr val="F4F4F5"/>
          </a:solidFill>
          <a:ln/>
        </p:spPr>
      </p:sp>
      <p:sp>
        <p:nvSpPr>
          <p:cNvPr id="25" name="Shape 20"/>
          <p:cNvSpPr/>
          <p:nvPr/>
        </p:nvSpPr>
        <p:spPr>
          <a:xfrm>
            <a:off x="1422400" y="4538663"/>
            <a:ext cx="1406128" cy="311547"/>
          </a:xfrm>
          <a:prstGeom prst="roundRect">
            <a:avLst>
              <a:gd name="adj" fmla="val 24459"/>
            </a:avLst>
          </a:prstGeom>
          <a:solidFill>
            <a:srgbClr val="F4F4F5"/>
          </a:solidFill>
          <a:ln/>
        </p:spPr>
      </p:sp>
      <p:sp>
        <p:nvSpPr>
          <p:cNvPr id="26" name="Text 21"/>
          <p:cNvSpPr txBox="1"/>
          <p:nvPr/>
        </p:nvSpPr>
        <p:spPr>
          <a:xfrm>
            <a:off x="1422400" y="3799085"/>
            <a:ext cx="6400589" cy="1035049"/>
          </a:xfrm>
          <a:prstGeom prst="rect">
            <a:avLst/>
          </a:prstGeom>
          <a:noFill/>
          <a:ln/>
        </p:spPr>
        <p:txBody>
          <a:bodyPr wrap="square" lIns="0" tIns="0" rIns="0" bIns="0" rtlCol="0" anchor="t"/>
          <a:lstStyle/>
          <a:p>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A camera that writes </a:t>
            </a:r>
            <a:pPr algn="l" indent="0" marL="0">
              <a:lnSpc>
                <a:spcPts val="2775"/>
              </a:lnSpc>
              <a:buNone/>
            </a:pPr>
            <a:r>
              <a:rPr lang="en-US" sz="1517" b="1" dirty="0">
                <a:solidFill>
                  <a:srgbClr val="09090B"/>
                </a:solidFill>
                <a:latin typeface="Fira Code" pitchFamily="34" charset="0"/>
                <a:ea typeface="Fira Code" pitchFamily="34" charset="-122"/>
                <a:cs typeface="Fira Code" pitchFamily="34" charset="-120"/>
              </a:rPr>
              <a:t>Model</a:t>
            </a:r>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 instead of </a:t>
            </a:r>
            <a:pPr algn="l" indent="0" marL="0">
              <a:lnSpc>
                <a:spcPts val="2775"/>
              </a:lnSpc>
              <a:buNone/>
            </a:pPr>
            <a:r>
              <a:rPr lang="en-US" sz="1517" b="1" dirty="0">
                <a:solidFill>
                  <a:srgbClr val="09090B"/>
                </a:solidFill>
                <a:latin typeface="Fira Code" pitchFamily="34" charset="0"/>
                <a:ea typeface="Fira Code" pitchFamily="34" charset="-122"/>
                <a:cs typeface="Fira Code" pitchFamily="34" charset="-120"/>
              </a:rPr>
              <a:t>Camera Model Name</a:t>
            </a:r>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 slips past </a:t>
            </a:r>
            <a:pPr algn="l" indent="0" marL="0">
              <a:lnSpc>
                <a:spcPts val="2775"/>
              </a:lnSpc>
              <a:buNone/>
            </a:pPr>
            <a:r>
              <a:rPr lang="en-US" sz="1517" b="1" dirty="0">
                <a:solidFill>
                  <a:srgbClr val="09090B"/>
                </a:solidFill>
                <a:latin typeface="Fira Code" pitchFamily="34" charset="0"/>
                <a:ea typeface="Fira Code" pitchFamily="34" charset="-122"/>
                <a:cs typeface="Fira Code" pitchFamily="34" charset="-120"/>
              </a:rPr>
              <a:t>grep</a:t>
            </a:r>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 Add a pattern, or read </a:t>
            </a:r>
            <a:pPr algn="l" indent="0" marL="0">
              <a:lnSpc>
                <a:spcPts val="2775"/>
              </a:lnSpc>
              <a:buNone/>
            </a:pPr>
            <a:r>
              <a:rPr lang="en-US" sz="1517" b="1" dirty="0">
                <a:solidFill>
                  <a:srgbClr val="09090B"/>
                </a:solidFill>
                <a:latin typeface="Fira Code" pitchFamily="34" charset="0"/>
                <a:ea typeface="Fira Code" pitchFamily="34" charset="-122"/>
                <a:cs typeface="Fira Code" pitchFamily="34" charset="-120"/>
              </a:rPr>
              <a:t>exiftool -s</a:t>
            </a:r>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 names.</a:t>
            </a:r>
            <a:endParaRPr lang="en-US" sz="1851" dirty="0"/>
          </a:p>
        </p:txBody>
      </p:sp>
      <p:sp>
        <p:nvSpPr>
          <p:cNvPr id="27" name="Shape 22"/>
          <p:cNvSpPr/>
          <p:nvPr/>
        </p:nvSpPr>
        <p:spPr>
          <a:xfrm>
            <a:off x="8134351" y="2680295"/>
            <a:ext cx="7397751" cy="2667000"/>
          </a:xfrm>
          <a:prstGeom prst="roundRect">
            <a:avLst>
              <a:gd name="adj" fmla="val 6667"/>
            </a:avLst>
          </a:prstGeom>
          <a:solidFill>
            <a:srgbClr val="FDFFFE"/>
          </a:solidFill>
          <a:ln/>
        </p:spPr>
      </p:sp>
      <p:sp>
        <p:nvSpPr>
          <p:cNvPr id="28" name="Text 23"/>
          <p:cNvSpPr txBox="1"/>
          <p:nvPr/>
        </p:nvSpPr>
        <p:spPr>
          <a:xfrm>
            <a:off x="8489949" y="3023195"/>
            <a:ext cx="746919" cy="203200"/>
          </a:xfrm>
          <a:prstGeom prst="rect">
            <a:avLst/>
          </a:prstGeom>
          <a:noFill/>
          <a:ln/>
        </p:spPr>
        <p:txBody>
          <a:bodyPr wrap="none" lIns="0" tIns="0" rIns="0" bIns="0" rtlCol="0" anchor="t"/>
          <a:lstStyle/>
          <a:p>
            <a:pPr algn="l" indent="0" marL="0">
              <a:buNone/>
            </a:pPr>
            <a:r>
              <a:rPr lang="en-US" sz="1200" spc="216" kern="0" dirty="0">
                <a:solidFill>
                  <a:srgbClr val="71717B"/>
                </a:solidFill>
                <a:latin typeface="Fira Code" pitchFamily="34" charset="0"/>
                <a:ea typeface="Fira Code" pitchFamily="34" charset="-122"/>
                <a:cs typeface="Fira Code" pitchFamily="34" charset="-120"/>
              </a:rPr>
              <a:t>SCOPE</a:t>
            </a:r>
            <a:endParaRPr lang="en-US" sz="1200" dirty="0"/>
          </a:p>
        </p:txBody>
      </p:sp>
      <p:sp>
        <p:nvSpPr>
          <p:cNvPr id="29" name="Text 24"/>
          <p:cNvSpPr txBox="1"/>
          <p:nvPr/>
        </p:nvSpPr>
        <p:spPr>
          <a:xfrm>
            <a:off x="8489949" y="3322836"/>
            <a:ext cx="2371527" cy="381000"/>
          </a:xfrm>
          <a:prstGeom prst="rect">
            <a:avLst/>
          </a:prstGeom>
          <a:noFill/>
          <a:ln/>
        </p:spPr>
        <p:txBody>
          <a:bodyPr wrap="none" lIns="0" tIns="0" rIns="0" bIns="0" rtlCol="0" anchor="t"/>
          <a:lstStyle/>
          <a:p>
            <a:pPr algn="l" indent="0" marL="0">
              <a:buNone/>
            </a:pPr>
            <a:r>
              <a:rPr lang="en-US" sz="2500" b="1" spc="-63" kern="0" dirty="0">
                <a:solidFill>
                  <a:srgbClr val="09090B"/>
                </a:solidFill>
                <a:latin typeface="Bricolage Grotesque" pitchFamily="34" charset="0"/>
                <a:ea typeface="Bricolage Grotesque" pitchFamily="34" charset="-122"/>
                <a:cs typeface="Bricolage Grotesque" pitchFamily="34" charset="-120"/>
              </a:rPr>
              <a:t>One folder level</a:t>
            </a:r>
            <a:endParaRPr lang="en-US" sz="2500" dirty="0"/>
          </a:p>
        </p:txBody>
      </p:sp>
      <p:sp>
        <p:nvSpPr>
          <p:cNvPr id="30" name="Shape 25"/>
          <p:cNvSpPr/>
          <p:nvPr/>
        </p:nvSpPr>
        <p:spPr>
          <a:xfrm>
            <a:off x="8836819" y="3833812"/>
            <a:ext cx="365919" cy="311547"/>
          </a:xfrm>
          <a:prstGeom prst="roundRect">
            <a:avLst>
              <a:gd name="adj" fmla="val 24459"/>
            </a:avLst>
          </a:prstGeom>
          <a:solidFill>
            <a:srgbClr val="F4F4F5"/>
          </a:solidFill>
          <a:ln/>
        </p:spPr>
      </p:sp>
      <p:sp>
        <p:nvSpPr>
          <p:cNvPr id="31" name="Text 26"/>
          <p:cNvSpPr txBox="1"/>
          <p:nvPr/>
        </p:nvSpPr>
        <p:spPr>
          <a:xfrm>
            <a:off x="8489949" y="3799085"/>
            <a:ext cx="6369051" cy="682625"/>
          </a:xfrm>
          <a:prstGeom prst="rect">
            <a:avLst/>
          </a:prstGeom>
          <a:noFill/>
          <a:ln/>
        </p:spPr>
        <p:txBody>
          <a:bodyPr wrap="square" lIns="0" tIns="0" rIns="0" bIns="0" rtlCol="0" anchor="t"/>
          <a:lstStyle/>
          <a:p>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No </a:t>
            </a:r>
            <a:pPr algn="l" indent="0" marL="0">
              <a:lnSpc>
                <a:spcPts val="2775"/>
              </a:lnSpc>
              <a:buNone/>
            </a:pPr>
            <a:r>
              <a:rPr lang="en-US" sz="1517" b="1" dirty="0">
                <a:solidFill>
                  <a:srgbClr val="09090B"/>
                </a:solidFill>
                <a:latin typeface="Fira Code" pitchFamily="34" charset="0"/>
                <a:ea typeface="Fira Code" pitchFamily="34" charset="-122"/>
                <a:cs typeface="Fira Code" pitchFamily="34" charset="-120"/>
              </a:rPr>
              <a:t>**</a:t>
            </a:r>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 globstar needs bash 4, and macOS ships 3.2. The script runs on both.</a:t>
            </a:r>
            <a:endParaRPr lang="en-US" sz="1851" dirty="0"/>
          </a:p>
        </p:txBody>
      </p:sp>
      <p:sp>
        <p:nvSpPr>
          <p:cNvPr id="32" name="Shape 27"/>
          <p:cNvSpPr/>
          <p:nvPr/>
        </p:nvSpPr>
        <p:spPr>
          <a:xfrm>
            <a:off x="723900" y="5359995"/>
            <a:ext cx="7397751" cy="2978547"/>
          </a:xfrm>
          <a:prstGeom prst="roundRect">
            <a:avLst>
              <a:gd name="adj" fmla="val 5969"/>
            </a:avLst>
          </a:prstGeom>
          <a:solidFill>
            <a:srgbClr val="FDFFFE"/>
          </a:solidFill>
          <a:ln/>
        </p:spPr>
      </p:sp>
      <p:sp>
        <p:nvSpPr>
          <p:cNvPr id="33" name="Text 28"/>
          <p:cNvSpPr txBox="1"/>
          <p:nvPr/>
        </p:nvSpPr>
        <p:spPr>
          <a:xfrm>
            <a:off x="1422400" y="5702895"/>
            <a:ext cx="1935560" cy="203200"/>
          </a:xfrm>
          <a:prstGeom prst="rect">
            <a:avLst/>
          </a:prstGeom>
          <a:noFill/>
          <a:ln/>
        </p:spPr>
        <p:txBody>
          <a:bodyPr wrap="none" lIns="0" tIns="0" rIns="0" bIns="0" rtlCol="0" anchor="t"/>
          <a:lstStyle/>
          <a:p>
            <a:pPr algn="l" indent="0" marL="0">
              <a:buNone/>
            </a:pPr>
            <a:r>
              <a:rPr lang="en-US" sz="1200" spc="216" kern="0" dirty="0">
                <a:solidFill>
                  <a:srgbClr val="71717B"/>
                </a:solidFill>
                <a:latin typeface="Fira Code" pitchFamily="34" charset="0"/>
                <a:ea typeface="Fira Code" pitchFamily="34" charset="-122"/>
                <a:cs typeface="Fira Code" pitchFamily="34" charset="-120"/>
              </a:rPr>
              <a:t>EXIFTOOL CAVEAT</a:t>
            </a:r>
            <a:endParaRPr lang="en-US" sz="1200" dirty="0"/>
          </a:p>
        </p:txBody>
      </p:sp>
      <p:sp>
        <p:nvSpPr>
          <p:cNvPr id="34" name="Text 29"/>
          <p:cNvSpPr txBox="1"/>
          <p:nvPr/>
        </p:nvSpPr>
        <p:spPr>
          <a:xfrm>
            <a:off x="1422400" y="6002536"/>
            <a:ext cx="3009701" cy="381000"/>
          </a:xfrm>
          <a:prstGeom prst="rect">
            <a:avLst/>
          </a:prstGeom>
          <a:noFill/>
          <a:ln/>
        </p:spPr>
        <p:txBody>
          <a:bodyPr wrap="none" lIns="0" tIns="0" rIns="0" bIns="0" rtlCol="0" anchor="t"/>
          <a:lstStyle/>
          <a:p>
            <a:pPr algn="l" indent="0" marL="0">
              <a:buNone/>
            </a:pPr>
            <a:r>
              <a:rPr lang="en-US" sz="2500" b="1" spc="-63" kern="0" dirty="0">
                <a:solidFill>
                  <a:srgbClr val="09090B"/>
                </a:solidFill>
                <a:latin typeface="Bricolage Grotesque" pitchFamily="34" charset="0"/>
                <a:ea typeface="Bricolage Grotesque" pitchFamily="34" charset="-122"/>
                <a:cs typeface="Bricolage Grotesque" pitchFamily="34" charset="-120"/>
              </a:rPr>
              <a:t>The wipe is not total</a:t>
            </a:r>
            <a:endParaRPr lang="en-US" sz="2500" dirty="0"/>
          </a:p>
        </p:txBody>
      </p:sp>
      <p:sp>
        <p:nvSpPr>
          <p:cNvPr id="35" name="Shape 30"/>
          <p:cNvSpPr/>
          <p:nvPr/>
        </p:nvSpPr>
        <p:spPr>
          <a:xfrm>
            <a:off x="2798763" y="6865937"/>
            <a:ext cx="712589" cy="311547"/>
          </a:xfrm>
          <a:prstGeom prst="roundRect">
            <a:avLst>
              <a:gd name="adj" fmla="val 24459"/>
            </a:avLst>
          </a:prstGeom>
          <a:solidFill>
            <a:srgbClr val="F4F4F5"/>
          </a:solidFill>
          <a:ln/>
        </p:spPr>
      </p:sp>
      <p:sp>
        <p:nvSpPr>
          <p:cNvPr id="36" name="Text 31"/>
          <p:cNvSpPr txBox="1"/>
          <p:nvPr/>
        </p:nvSpPr>
        <p:spPr>
          <a:xfrm>
            <a:off x="1422400" y="6478785"/>
            <a:ext cx="6369051" cy="1035049"/>
          </a:xfrm>
          <a:prstGeom prst="rect">
            <a:avLst/>
          </a:prstGeom>
          <a:noFill/>
          <a:ln/>
        </p:spPr>
        <p:txBody>
          <a:bodyPr wrap="square" lIns="0" tIns="0" rIns="0" bIns="0" rtlCol="0" anchor="t"/>
          <a:lstStyle/>
          <a:p>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PDF edits are incremental, so old metadata stays recoverable. </a:t>
            </a:r>
            <a:pPr algn="l" indent="0" marL="0">
              <a:lnSpc>
                <a:spcPts val="2775"/>
              </a:lnSpc>
              <a:buNone/>
            </a:pPr>
            <a:r>
              <a:rPr lang="en-US" sz="1517" b="1" dirty="0">
                <a:solidFill>
                  <a:srgbClr val="09090B"/>
                </a:solidFill>
                <a:latin typeface="Fira Code" pitchFamily="34" charset="0"/>
                <a:ea typeface="Fira Code" pitchFamily="34" charset="-122"/>
                <a:cs typeface="Fira Code" pitchFamily="34" charset="-120"/>
              </a:rPr>
              <a:t>-all=</a:t>
            </a:r>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 also drops orientation and colour profile on JPEGs.</a:t>
            </a:r>
            <a:endParaRPr lang="en-US" sz="1851" dirty="0"/>
          </a:p>
        </p:txBody>
      </p:sp>
      <p:sp>
        <p:nvSpPr>
          <p:cNvPr id="37" name="Text 32"/>
          <p:cNvSpPr txBox="1"/>
          <p:nvPr/>
        </p:nvSpPr>
        <p:spPr>
          <a:xfrm>
            <a:off x="1422400" y="7726561"/>
            <a:ext cx="256779" cy="215900"/>
          </a:xfrm>
          <a:prstGeom prst="rect">
            <a:avLst/>
          </a:prstGeom>
          <a:noFill/>
          <a:ln/>
        </p:spPr>
        <p:txBody>
          <a:bodyPr wrap="none" lIns="0" tIns="0" rIns="0" bIns="0" rtlCol="0" anchor="t"/>
          <a:lstStyle/>
          <a:p>
            <a:pPr algn="l" indent="0" marL="0">
              <a:buNone/>
            </a:pPr>
            <a:r>
              <a:rPr lang="en-US" sz="1300" u="none" spc="39" kern="0" dirty="0">
                <a:solidFill>
                  <a:srgbClr val="006630"/>
                </a:solidFill>
                <a:latin typeface="Fira Code" pitchFamily="34" charset="0"/>
                <a:ea typeface="Fira Code" pitchFamily="34" charset="-122"/>
                <a:cs typeface="Fira Code" pitchFamily="34" charset="-120"/>
                <a:hlinkClick r:id="rId4" invalidUrl="" action="" tgtFrame="" tooltip="" history="1" highlightClick="0" endSnd="0">
                  <a:extLst>
                    <a:ext uri="{A12FA001-AC4F-418D-AE19-62706E023703}">
                      <ahyp:hlinkClr xmlns:ahyp="http://schemas.microsoft.com/office/drawing/2018/hyperlinkcolor" val="tx"/>
                    </a:ext>
                  </a:extLst>
                </a:hlinkClick>
              </a:rPr>
              <a:t>↗</a:t>
            </a:r>
            <a:endParaRPr lang="en-US" sz="1300" dirty="0"/>
          </a:p>
        </p:txBody>
      </p:sp>
      <p:sp>
        <p:nvSpPr>
          <p:cNvPr id="38" name="Text 33"/>
          <p:cNvSpPr txBox="1"/>
          <p:nvPr/>
        </p:nvSpPr>
        <p:spPr>
          <a:xfrm>
            <a:off x="1609328" y="7726561"/>
            <a:ext cx="1504553" cy="215900"/>
          </a:xfrm>
          <a:prstGeom prst="rect">
            <a:avLst/>
          </a:prstGeom>
          <a:noFill/>
          <a:ln/>
        </p:spPr>
        <p:txBody>
          <a:bodyPr wrap="none" lIns="0" tIns="0" rIns="0" bIns="0" rtlCol="0" anchor="t"/>
          <a:lstStyle/>
          <a:p>
            <a:pPr algn="l" indent="0" marL="0">
              <a:buNone/>
            </a:pPr>
            <a:r>
              <a:rPr lang="en-US" sz="1300" u="none" spc="39" kern="0" dirty="0">
                <a:solidFill>
                  <a:srgbClr val="71717B"/>
                </a:solidFill>
                <a:latin typeface="Fira Code" pitchFamily="34" charset="0"/>
                <a:ea typeface="Fira Code" pitchFamily="34" charset="-122"/>
                <a:cs typeface="Fira Code" pitchFamily="34" charset="-120"/>
                <a:hlinkClick r:id="rId5" invalidUrl="" action="" tgtFrame="" tooltip="" history="1" highlightClick="0" endSnd="0">
                  <a:extLst>
                    <a:ext uri="{A12FA001-AC4F-418D-AE19-62706E023703}">
                      <ahyp:hlinkClr xmlns:ahyp="http://schemas.microsoft.com/office/drawing/2018/hyperlinkcolor" val="tx"/>
                    </a:ext>
                  </a:extLst>
                </a:hlinkClick>
              </a:rPr>
              <a:t>ExifTool docs</a:t>
            </a:r>
            <a:endParaRPr lang="en-US" sz="1300" dirty="0"/>
          </a:p>
        </p:txBody>
      </p:sp>
      <p:sp>
        <p:nvSpPr>
          <p:cNvPr id="39" name="Shape 34"/>
          <p:cNvSpPr/>
          <p:nvPr/>
        </p:nvSpPr>
        <p:spPr>
          <a:xfrm>
            <a:off x="8134351" y="5359995"/>
            <a:ext cx="7397751" cy="2978547"/>
          </a:xfrm>
          <a:prstGeom prst="roundRect">
            <a:avLst>
              <a:gd name="adj" fmla="val 5969"/>
            </a:avLst>
          </a:prstGeom>
          <a:solidFill>
            <a:srgbClr val="FDFFFE"/>
          </a:solidFill>
          <a:ln/>
        </p:spPr>
      </p:sp>
      <p:sp>
        <p:nvSpPr>
          <p:cNvPr id="40" name="Text 35"/>
          <p:cNvSpPr txBox="1"/>
          <p:nvPr/>
        </p:nvSpPr>
        <p:spPr>
          <a:xfrm>
            <a:off x="8489949" y="5702895"/>
            <a:ext cx="1460103" cy="203200"/>
          </a:xfrm>
          <a:prstGeom prst="rect">
            <a:avLst/>
          </a:prstGeom>
          <a:noFill/>
          <a:ln/>
        </p:spPr>
        <p:txBody>
          <a:bodyPr wrap="none" lIns="0" tIns="0" rIns="0" bIns="0" rtlCol="0" anchor="t"/>
          <a:lstStyle/>
          <a:p>
            <a:pPr algn="l" indent="0" marL="0">
              <a:buNone/>
            </a:pPr>
            <a:r>
              <a:rPr lang="en-US" sz="1200" spc="216" kern="0" dirty="0">
                <a:solidFill>
                  <a:srgbClr val="71717B"/>
                </a:solidFill>
                <a:latin typeface="Fira Code" pitchFamily="34" charset="0"/>
                <a:ea typeface="Fira Code" pitchFamily="34" charset="-122"/>
                <a:cs typeface="Fira Code" pitchFamily="34" charset="-120"/>
              </a:rPr>
              <a:t>PARSER RISK</a:t>
            </a:r>
            <a:endParaRPr lang="en-US" sz="1200" dirty="0"/>
          </a:p>
        </p:txBody>
      </p:sp>
      <p:sp>
        <p:nvSpPr>
          <p:cNvPr id="41" name="Text 36"/>
          <p:cNvSpPr txBox="1"/>
          <p:nvPr/>
        </p:nvSpPr>
        <p:spPr>
          <a:xfrm>
            <a:off x="8489949" y="6002536"/>
            <a:ext cx="4371975" cy="381000"/>
          </a:xfrm>
          <a:prstGeom prst="rect">
            <a:avLst/>
          </a:prstGeom>
          <a:noFill/>
          <a:ln/>
        </p:spPr>
        <p:txBody>
          <a:bodyPr wrap="none" lIns="0" tIns="0" rIns="0" bIns="0" rtlCol="0" anchor="t"/>
          <a:lstStyle/>
          <a:p>
            <a:pPr algn="l" indent="0" marL="0">
              <a:buNone/>
            </a:pPr>
            <a:r>
              <a:rPr lang="en-US" sz="2500" b="1" spc="-63" kern="0" dirty="0">
                <a:solidFill>
                  <a:srgbClr val="09090B"/>
                </a:solidFill>
                <a:latin typeface="Bricolage Grotesque" pitchFamily="34" charset="0"/>
                <a:ea typeface="Bricolage Grotesque" pitchFamily="34" charset="-122"/>
                <a:cs typeface="Bricolage Grotesque" pitchFamily="34" charset="-120"/>
              </a:rPr>
              <a:t>The scanner is attack surface</a:t>
            </a:r>
            <a:endParaRPr lang="en-US" sz="2500" dirty="0"/>
          </a:p>
        </p:txBody>
      </p:sp>
      <p:sp>
        <p:nvSpPr>
          <p:cNvPr id="42" name="Text 37"/>
          <p:cNvSpPr txBox="1"/>
          <p:nvPr/>
        </p:nvSpPr>
        <p:spPr>
          <a:xfrm>
            <a:off x="8489949" y="6478785"/>
            <a:ext cx="6369051" cy="1035049"/>
          </a:xfrm>
          <a:prstGeom prst="rect">
            <a:avLst/>
          </a:prstGeom>
          <a:noFill/>
          <a:ln/>
        </p:spPr>
        <p:txBody>
          <a:bodyPr wrap="square" lIns="0" tIns="0" rIns="0" bIns="0" rtlCol="0" anchor="t"/>
          <a:lstStyle/>
          <a:p>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ExifTool had RCE via DjVu (CVE-2021-22204, before 12.24) and filename injection (CVE-2022-23935, before 12.38). Stay patched.</a:t>
            </a:r>
            <a:endParaRPr lang="en-US" sz="1851" dirty="0"/>
          </a:p>
        </p:txBody>
      </p:sp>
      <p:sp>
        <p:nvSpPr>
          <p:cNvPr id="43" name="Text 38"/>
          <p:cNvSpPr txBox="1"/>
          <p:nvPr/>
        </p:nvSpPr>
        <p:spPr>
          <a:xfrm>
            <a:off x="8489949" y="7726561"/>
            <a:ext cx="256779" cy="215900"/>
          </a:xfrm>
          <a:prstGeom prst="rect">
            <a:avLst/>
          </a:prstGeom>
          <a:noFill/>
          <a:ln/>
        </p:spPr>
        <p:txBody>
          <a:bodyPr wrap="none" lIns="0" tIns="0" rIns="0" bIns="0" rtlCol="0" anchor="t"/>
          <a:lstStyle/>
          <a:p>
            <a:pPr algn="l" indent="0" marL="0">
              <a:buNone/>
            </a:pPr>
            <a:r>
              <a:rPr lang="en-US" sz="1300" u="none" spc="39" kern="0" dirty="0">
                <a:solidFill>
                  <a:srgbClr val="006630"/>
                </a:solidFill>
                <a:latin typeface="Fira Code" pitchFamily="34" charset="0"/>
                <a:ea typeface="Fira Code" pitchFamily="34" charset="-122"/>
                <a:cs typeface="Fira Code" pitchFamily="34" charset="-120"/>
                <a:hlinkClick r:id="rId6" invalidUrl="" action="" tgtFrame="" tooltip="" history="1" highlightClick="0" endSnd="0">
                  <a:extLst>
                    <a:ext uri="{A12FA001-AC4F-418D-AE19-62706E023703}">
                      <ahyp:hlinkClr xmlns:ahyp="http://schemas.microsoft.com/office/drawing/2018/hyperlinkcolor" val="tx"/>
                    </a:ext>
                  </a:extLst>
                </a:hlinkClick>
              </a:rPr>
              <a:t>↗</a:t>
            </a:r>
            <a:endParaRPr lang="en-US" sz="1300" dirty="0"/>
          </a:p>
        </p:txBody>
      </p:sp>
      <p:sp>
        <p:nvSpPr>
          <p:cNvPr id="44" name="Text 39"/>
          <p:cNvSpPr txBox="1"/>
          <p:nvPr/>
        </p:nvSpPr>
        <p:spPr>
          <a:xfrm>
            <a:off x="8676879" y="7726561"/>
            <a:ext cx="464543" cy="215900"/>
          </a:xfrm>
          <a:prstGeom prst="rect">
            <a:avLst/>
          </a:prstGeom>
          <a:noFill/>
          <a:ln/>
        </p:spPr>
        <p:txBody>
          <a:bodyPr wrap="none" lIns="0" tIns="0" rIns="0" bIns="0" rtlCol="0" anchor="t"/>
          <a:lstStyle/>
          <a:p>
            <a:pPr algn="l" indent="0" marL="0">
              <a:buNone/>
            </a:pPr>
            <a:r>
              <a:rPr lang="en-US" sz="1300" u="none" spc="39" kern="0" dirty="0">
                <a:solidFill>
                  <a:srgbClr val="71717B"/>
                </a:solidFill>
                <a:latin typeface="Fira Code" pitchFamily="34" charset="0"/>
                <a:ea typeface="Fira Code" pitchFamily="34" charset="-122"/>
                <a:cs typeface="Fira Code" pitchFamily="34" charset="-120"/>
                <a:hlinkClick r:id="rId7" invalidUrl="" action="" tgtFrame="" tooltip="" history="1" highlightClick="0" endSnd="0">
                  <a:extLst>
                    <a:ext uri="{A12FA001-AC4F-418D-AE19-62706E023703}">
                      <ahyp:hlinkClr xmlns:ahyp="http://schemas.microsoft.com/office/drawing/2018/hyperlinkcolor" val="tx"/>
                    </a:ext>
                  </a:extLst>
                </a:hlinkClick>
              </a:rPr>
              <a:t>NVD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09 / 09</a:t>
            </a:r>
            <a:endParaRPr lang="en-US" sz="1300" dirty="0"/>
          </a:p>
        </p:txBody>
      </p:sp>
      <p:pic>
        <p:nvPicPr>
          <p:cNvPr id="12" name="Image 3" descr="Rendered as an image because of CSS svg">    </p:cNvPr>
          <p:cNvPicPr>
            <a:picLocks noChangeAspect="1"/>
          </p:cNvPicPr>
          <p:nvPr/>
        </p:nvPicPr>
        <p:blipFill>
          <a:blip r:embed="rId4"/>
          <a:stretch>
            <a:fillRect/>
          </a:stretch>
        </p:blipFill>
        <p:spPr>
          <a:xfrm>
            <a:off x="1422400" y="3803452"/>
            <a:ext cx="1689100" cy="2159000"/>
          </a:xfrm>
          <a:prstGeom prst="rect">
            <a:avLst/>
          </a:prstGeom>
        </p:spPr>
      </p:pic>
      <p:sp>
        <p:nvSpPr>
          <p:cNvPr id="13" name="Text 7"/>
          <p:cNvSpPr txBox="1"/>
          <p:nvPr/>
        </p:nvSpPr>
        <p:spPr>
          <a:xfrm>
            <a:off x="3721100" y="3735983"/>
            <a:ext cx="9028112" cy="977900"/>
          </a:xfrm>
          <a:prstGeom prst="rect">
            <a:avLst/>
          </a:prstGeom>
          <a:noFill/>
          <a:ln/>
        </p:spPr>
        <p:txBody>
          <a:bodyPr wrap="none" lIns="0" tIns="0" rIns="0" bIns="0" rtlCol="0" anchor="t"/>
          <a:lstStyle/>
          <a:p>
            <a:pPr algn="l" indent="0" marL="0">
              <a:buNone/>
            </a:pPr>
            <a:r>
              <a:rPr lang="en-US" sz="6400" b="1" spc="-224" kern="0" dirty="0">
                <a:solidFill>
                  <a:srgbClr val="09090B"/>
                </a:solidFill>
                <a:latin typeface="Bricolage Grotesque" pitchFamily="34" charset="0"/>
                <a:ea typeface="Bricolage Grotesque" pitchFamily="34" charset="-122"/>
                <a:cs typeface="Bricolage Grotesque" pitchFamily="34" charset="-120"/>
              </a:rPr>
              <a:t>Detect </a:t>
            </a:r>
            <a:pPr algn="l" indent="0" marL="0">
              <a:buNone/>
            </a:pPr>
            <a:r>
              <a:rPr lang="en-US" sz="6400" spc="-224" kern="0" dirty="0">
                <a:solidFill>
                  <a:srgbClr val="0E9254"/>
                </a:solidFill>
                <a:latin typeface="Bricolage Grotesque" pitchFamily="34" charset="0"/>
                <a:ea typeface="Bricolage Grotesque" pitchFamily="34" charset="-122"/>
                <a:cs typeface="Bricolage Grotesque" pitchFamily="34" charset="-120"/>
              </a:rPr>
              <a:t>→</a:t>
            </a:r>
            <a:pPr algn="l" indent="0" marL="0">
              <a:buNone/>
            </a:pPr>
            <a:r>
              <a:rPr lang="en-US" sz="6400" b="1" spc="-224" kern="0" dirty="0">
                <a:solidFill>
                  <a:srgbClr val="09090B"/>
                </a:solidFill>
                <a:latin typeface="Bricolage Grotesque" pitchFamily="34" charset="0"/>
                <a:ea typeface="Bricolage Grotesque" pitchFamily="34" charset="-122"/>
                <a:cs typeface="Bricolage Grotesque" pitchFamily="34" charset="-120"/>
              </a:rPr>
              <a:t> Report </a:t>
            </a:r>
            <a:pPr algn="l" indent="0" marL="0">
              <a:buNone/>
            </a:pPr>
            <a:r>
              <a:rPr lang="en-US" sz="6400" spc="-224" kern="0" dirty="0">
                <a:solidFill>
                  <a:srgbClr val="0E9254"/>
                </a:solidFill>
                <a:latin typeface="Bricolage Grotesque" pitchFamily="34" charset="0"/>
                <a:ea typeface="Bricolage Grotesque" pitchFamily="34" charset="-122"/>
                <a:cs typeface="Bricolage Grotesque" pitchFamily="34" charset="-120"/>
              </a:rPr>
              <a:t>→</a:t>
            </a:r>
            <a:pPr algn="l" indent="0" marL="0">
              <a:buNone/>
            </a:pPr>
            <a:r>
              <a:rPr lang="en-US" sz="6400" b="1" spc="-224" kern="0" dirty="0">
                <a:solidFill>
                  <a:srgbClr val="09090B"/>
                </a:solidFill>
                <a:latin typeface="Bricolage Grotesque" pitchFamily="34" charset="0"/>
                <a:ea typeface="Bricolage Grotesque" pitchFamily="34" charset="-122"/>
                <a:cs typeface="Bricolage Grotesque" pitchFamily="34" charset="-120"/>
              </a:rPr>
              <a:t> Scrub</a:t>
            </a:r>
            <a:endParaRPr lang="en-US" sz="6400" dirty="0"/>
          </a:p>
        </p:txBody>
      </p:sp>
      <p:sp>
        <p:nvSpPr>
          <p:cNvPr id="14" name="Text 8"/>
          <p:cNvSpPr txBox="1"/>
          <p:nvPr/>
        </p:nvSpPr>
        <p:spPr>
          <a:xfrm>
            <a:off x="3721100" y="4922044"/>
            <a:ext cx="8605837" cy="457200"/>
          </a:xfrm>
          <a:prstGeom prst="rect">
            <a:avLst/>
          </a:prstGeom>
          <a:noFill/>
          <a:ln/>
        </p:spPr>
        <p:txBody>
          <a:bodyPr wrap="none" lIns="0" tIns="0" rIns="0" bIns="0" rtlCol="0" anchor="t"/>
          <a:lstStyle/>
          <a:p>
            <a:pPr algn="l" indent="0" marL="0">
              <a:buNone/>
            </a:pPr>
            <a:r>
              <a:rPr lang="en-US" sz="2600" dirty="0">
                <a:solidFill>
                  <a:srgbClr val="71717B"/>
                </a:solidFill>
                <a:latin typeface="Manrope" pitchFamily="34" charset="0"/>
                <a:ea typeface="Manrope" pitchFamily="34" charset="-122"/>
                <a:cs typeface="Manrope" pitchFamily="34" charset="-120"/>
              </a:rPr>
              <a:t>Share the scrubbed copy, never the original. </a:t>
            </a:r>
            <a:pPr algn="l" indent="0" marL="0">
              <a:buNone/>
            </a:pPr>
            <a:r>
              <a:rPr lang="en-US" sz="2600" dirty="0">
                <a:solidFill>
                  <a:srgbClr val="71717B"/>
                </a:solidFill>
                <a:latin typeface="Manrope" pitchFamily="34" charset="0"/>
                <a:ea typeface="Manrope" pitchFamily="34" charset="-122"/>
                <a:cs typeface="Manrope" pitchFamily="34" charset="-120"/>
              </a:rPr>
              <a:t>Questions?</a:t>
            </a:r>
            <a:endParaRPr lang="en-US" sz="2600" dirty="0"/>
          </a:p>
        </p:txBody>
      </p:sp>
      <p:sp>
        <p:nvSpPr>
          <p:cNvPr id="15" name="Text 9"/>
          <p:cNvSpPr txBox="1"/>
          <p:nvPr/>
        </p:nvSpPr>
        <p:spPr>
          <a:xfrm>
            <a:off x="3721100" y="5696744"/>
            <a:ext cx="2690019" cy="254000"/>
          </a:xfrm>
          <a:prstGeom prst="rect">
            <a:avLst/>
          </a:prstGeom>
          <a:noFill/>
          <a:ln/>
        </p:spPr>
        <p:txBody>
          <a:bodyPr wrap="none" lIns="0" tIns="0" rIns="0" bIns="0" rtlCol="0" anchor="t"/>
          <a:lstStyle/>
          <a:p>
            <a:pPr algn="l" indent="0" marL="0">
              <a:buNone/>
            </a:pPr>
            <a:r>
              <a:rPr lang="en-US" sz="1500" spc="211" kern="0" dirty="0">
                <a:solidFill>
                  <a:srgbClr val="71717B"/>
                </a:solidFill>
                <a:latin typeface="Fira Code" pitchFamily="34" charset="0"/>
                <a:ea typeface="Fira Code" pitchFamily="34" charset="-122"/>
                <a:cs typeface="Fira Code" pitchFamily="34" charset="-120"/>
              </a:rPr>
              <a:t>ANISHSHOBITHPS.COM</a:t>
            </a:r>
            <a:endParaRPr lang="en-US" sz="1500" dirty="0"/>
          </a:p>
        </p:txBody>
      </p:sp>
      <p:sp>
        <p:nvSpPr>
          <p:cNvPr id="16" name="Text 10"/>
          <p:cNvSpPr txBox="1"/>
          <p:nvPr/>
        </p:nvSpPr>
        <p:spPr>
          <a:xfrm>
            <a:off x="6958608" y="5696744"/>
            <a:ext cx="3676651" cy="254000"/>
          </a:xfrm>
          <a:prstGeom prst="rect">
            <a:avLst/>
          </a:prstGeom>
          <a:noFill/>
          <a:ln/>
        </p:spPr>
        <p:txBody>
          <a:bodyPr wrap="none" lIns="0" tIns="0" rIns="0" bIns="0" rtlCol="0" anchor="t"/>
          <a:lstStyle/>
          <a:p>
            <a:pPr algn="l" indent="0" marL="0">
              <a:buNone/>
            </a:pPr>
            <a:r>
              <a:rPr lang="en-US" sz="1500" spc="211" kern="0" dirty="0">
                <a:solidFill>
                  <a:srgbClr val="71717B"/>
                </a:solidFill>
                <a:latin typeface="Fira Code" pitchFamily="34" charset="0"/>
                <a:ea typeface="Fira Code" pitchFamily="34" charset="-122"/>
                <a:cs typeface="Fira Code" pitchFamily="34" charset="-120"/>
              </a:rPr>
              <a:t>GITHUB.COM/ANISHSHOBITHPS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8467" cap="flat" cmpd="sng" algn="ctr">
          <a:solidFill>
            <a:schemeClr val="phClr"/>
          </a:solidFill>
          <a:prstDash val="solid"/>
          <a:miter lim="800000"/>
        </a:ln>
        <a:ln w="16933"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76200" dist="2540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exifleak</dc:title>
  <dc:subject>exifleak: a modular Bash scanner for EXIF metadata leaks.
Built on the anishshobithps template (the look of anishshobithps.com).
</dc:subject>
  <dc:creator>Anish Shobith P S</dc:creator>
  <cp:lastModifiedBy>Anish Shobith P S</cp:lastModifiedBy>
  <cp:revision>1</cp:revision>
  <dcterms:created xsi:type="dcterms:W3CDTF">2026-10-15T20:43:21Z</dcterms:created>
  <dcterms:modified xsi:type="dcterms:W3CDTF">2026-10-15T20:43:21Z</dcterms:modified>
</cp:coreProperties>
</file>