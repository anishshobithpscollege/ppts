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5143500" cy="9144000"/>
  <p:defaultTextStyle>
    <a:lvl1pPr marL="0" algn="l" defTabSz="1219200" rtl="0" eaLnBrk="1" latinLnBrk="0" hangingPunct="1">
      <a:defRPr sz="2400" kern="1600">
        <a:solidFill>
          <a:schemeClr val="tx1"/>
        </a:solidFill>
        <a:latin typeface="+mn-lt"/>
        <a:ea typeface="+mn-ea"/>
        <a:cs typeface="+mn-cs"/>
      </a:defRPr>
    </a:lvl1pPr>
    <a:lvl2pPr marL="609600" algn="l" defTabSz="1219200" rtl="0" eaLnBrk="1" latinLnBrk="0" hangingPunct="1">
      <a:defRPr sz="2400" kern="1600">
        <a:solidFill>
          <a:schemeClr val="tx1"/>
        </a:solidFill>
        <a:latin typeface="+mn-lt"/>
        <a:ea typeface="+mn-ea"/>
        <a:cs typeface="+mn-cs"/>
      </a:defRPr>
    </a:lvl2pPr>
    <a:lvl3pPr marL="1219200" algn="l" defTabSz="1219200" rtl="0" eaLnBrk="1" latinLnBrk="0" hangingPunct="1">
      <a:defRPr sz="2400" kern="1600">
        <a:solidFill>
          <a:schemeClr val="tx1"/>
        </a:solidFill>
        <a:latin typeface="+mn-lt"/>
        <a:ea typeface="+mn-ea"/>
        <a:cs typeface="+mn-cs"/>
      </a:defRPr>
    </a:lvl3pPr>
    <a:lvl4pPr marL="1828800" algn="l" defTabSz="1219200" rtl="0" eaLnBrk="1" latinLnBrk="0" hangingPunct="1">
      <a:defRPr sz="2400" kern="1600">
        <a:solidFill>
          <a:schemeClr val="tx1"/>
        </a:solidFill>
        <a:latin typeface="+mn-lt"/>
        <a:ea typeface="+mn-ea"/>
        <a:cs typeface="+mn-cs"/>
      </a:defRPr>
    </a:lvl4pPr>
    <a:lvl5pPr marL="2438400" algn="l" defTabSz="1219200" rtl="0" eaLnBrk="1" latinLnBrk="0" hangingPunct="1">
      <a:defRPr sz="2400" kern="1600">
        <a:solidFill>
          <a:schemeClr val="tx1"/>
        </a:solidFill>
        <a:latin typeface="+mn-lt"/>
        <a:ea typeface="+mn-ea"/>
        <a:cs typeface="+mn-cs"/>
      </a:defRPr>
    </a:lvl5pPr>
    <a:lvl6pPr marL="3048000" algn="l" defTabSz="1219200" rtl="0" eaLnBrk="1" latinLnBrk="0" hangingPunct="1">
      <a:defRPr sz="2400" kern="1600">
        <a:solidFill>
          <a:schemeClr val="tx1"/>
        </a:solidFill>
        <a:latin typeface="+mn-lt"/>
        <a:ea typeface="+mn-ea"/>
        <a:cs typeface="+mn-cs"/>
      </a:defRPr>
    </a:lvl6pPr>
    <a:lvl7pPr marL="3657600" algn="l" defTabSz="1219200" rtl="0" eaLnBrk="1" latinLnBrk="0" hangingPunct="1">
      <a:defRPr sz="2400" kern="1600">
        <a:solidFill>
          <a:schemeClr val="tx1"/>
        </a:solidFill>
        <a:latin typeface="+mn-lt"/>
        <a:ea typeface="+mn-ea"/>
        <a:cs typeface="+mn-cs"/>
      </a:defRPr>
    </a:lvl7pPr>
    <a:lvl8pPr marL="4267200" algn="l" defTabSz="1219200" rtl="0" eaLnBrk="1" latinLnBrk="0" hangingPunct="1">
      <a:defRPr sz="2400" kern="1600">
        <a:solidFill>
          <a:schemeClr val="tx1"/>
        </a:solidFill>
        <a:latin typeface="+mn-lt"/>
        <a:ea typeface="+mn-ea"/>
        <a:cs typeface="+mn-cs"/>
      </a:defRPr>
    </a:lvl8pPr>
    <a:lvl9pPr marL="4876800" algn="l" defTabSz="1219200" rtl="0" eaLnBrk="1" latinLnBrk="0" hangingPunct="1">
      <a:defRPr sz="2400" kern="16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0:25 (ends 0:25) · Source: RFC 10008
SAY: Good morning. My seminar is about the HTTP QUERY method. The IETF published it as RFC 10008 in June 2026. First, I show how HTTP methods work. Then I show what QUERY changes. Most of the time is about security and deployment.
NEXT → The outline.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0:20 (ends 0:45)
SAY: This is the seminar format. The description is the main part. It shows what QUERY is and how clients and servers use it. It also shows what QUERY changes for caches, browsers, signatures and deployment.
NEXT → What an HTTP request contains.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1:35) · Sources: RFC 9110 §9.1, §9.3.1
SAY: This is a full GET exchange. Item one is the method and the target URI. The query, category=laptop, is part of the URI. Item two is the headers: here, the format and a bearer token. Item three is the status line with the result. Item four is the response content.
The request itself has no content. RFC 9110 says that content in a GET request has no defined meaning. Thus "add a body to GET" is not a good solution.
The box at the bottom is the main idea. RFC 9110 calls the method the primary source of request semantics. Each hop reads it to know what the client wants.
NEXT → The two properties of a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0:40 (ends 2:15) · Sources: RFC 9110 §9.2.1, §9.2.2
SAY: Two properties of a method are important for this talk. The table shows them. A safe method does not ask for a change of state. Thus a cache, a prefetcher or a crawler can send it with no risk. An idempotent method has the same intended effect when you send it again. Thus a client can send it again after a connection fails. POST and PATCH are neither safe nor idempotent. A proxy must not send them again automatically.
CLARIFY: Method names are case-sensitive (RFC 9110 §9.1). This is important later in the talk.
NEXT → Where the query goes in a GET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0:35 (ends 2:50) · Sources: RFC 3986 §3, §3.4, §3.5; RFC 10008 §1.1
SAY: A URI has five parts. The query comes after the question mark. Together with the path, it identifies a resource. The fragment stays in the browser. The browser does not send it.
The box on the right is important for the rest of the talk. The query component of a URI and the QUERY method only share a word. The RFC calls the input of a QUERY request the "query content".
NEXT → What happens when the query in the URI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3:35) · Sources: RFC 9110 §4.1, §15.5.15; RFC 10008 §1
SAY: Query parameters are good for small inputs. On the left is the same search with more filters: brands, prices, memory, sort, page, and a JSON filter. The JSON filter has percent-encoding. The server replies 414 URI Too Long.
The list on the right gives the facts. HTTP has no single maximum length. RFC 9110 only recommends at least 8000 octets. RFC 10008 gives the real problem: a request goes through many hops, and the client cannot know their limits. Encoding also adds length. In this example, 30 characters of JSON become 54.
NEXT → A long URI is also a security problem, because many systems record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1:05 (ends 4:40) · Sources: RFC 9110 §17.9; RFC 10008 §4; W3C Referrer Policy
SAY: An administrator searches for users by email. The email is in the query component. A normal production path records it at each hop. The browser keeps it in history. The CDN, the WAF, the reverse proxy and the application write it to their logs. At the end, a SIEM indexes and keeps it.
The red line is a real access-log line in the default "combined" format of nginx. It includes the email. The green line is the same search, sent as QUERY. The request line has only the path.
RFC 9110 says it clearly: URIs are for sharing, not for secrets. The Referer header also sends the full URI on the next same-origin request.
But the right card is equally important. A body has less exposure, not zero exposure. Systems can log and examine bodies too. "More likely to be logged" does not mean "always".
CLARIFY: Cross-origin, browsers now send only the origin in Referer by default (strict-origin-when-cross-origin). Same-origin requests still get the full URL.
NEXT → So developers move the query out of the URI, and they find a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0:55 (ends 5:35) · Sources: RFC 9110 §9.2.1, §9.3.3, §17.9; RFC 10008 §2
SAY: This grid shows the open issue. The columns show where the query input is: in the URI or in the content. The rows show what the method promises. GET is at the top left. POST is at the bottom right. The bottom left is bad practice: an action behind a safe method. RFC 9110 says that the owner must disallow it.
The top right was empty. HTTP had no standard method for "a safe, idempotent query with the input in the body". RFC 9110 itself admits this in section 17.9. The quote is on the right.
[click] QUERY fills exactly this cell. It does not replace the other methods. If the query fits in a URI, use GET. If the request changes data, use POST.
NEXT → This gap gives the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0:55 (ends 5:35) · Sources: RFC 9110 §9.2.1, §9.3.3, §17.9; RFC 10008 §2
SAY: This grid shows the open issue. The columns show where the query input is: in the URI or in the content. The rows show what the method promises. GET is at the top left. POST is at the bottom right. The bottom left is bad practice: an action behind a safe method. RFC 9110 says that the owner must disallow it.
The top right was empty. HTTP had no standard method for "a safe, idempotent query with the input in the body". RFC 9110 itself admits this in section 17.9. The quote is on the right.
[click] QUERY fills exactly this cell. It does not replace the other methods. If the query fits in a URI, use GET. If the request changes data, use POST.
NEXT → This gap gives the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0:25 (ends 6:00)
SAY: My objectives come from that gap. First, the basics of HTTP methods and URIs. Then the main part: what RFC 10008 specifies, with client and server code that I ran. The security objective is the most important one. Then the literature, and a recommendation.
NEXT → The literature review. First, the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6:45) · Sources: RFC 10008; RFC 9110; RFC 9205
SAY: The primary sources are three standards. RFC 10008 defines QUERY. A request must have a Content-Type. Caches can keep the responses, but the cache key must include the content. There is a new header, Accept-Query. And browsers must send a CORS preflight.
RFC 9110 defines the meaning of the methods that I used in the introduction. It also admits that POST for a query is a compromise. RFC 9205 is the best-practice guide of the IETF for HTTP APIs. It says that GET queries can become too long, and that POST queries lose caching and links.
CLARIFY: "Dataset" is a column of the template. For a standard, it gives the type of document. RFC 9421 (signatures) and the other standards are in the references.
NEXT → The peer-reviewed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0:55 (ends 7:40) · Sources: Nguyen et al. 2019; Mirheidari et al. 2020; Jabiyev et al. 2021; Chen et al. 2018
SAY: I found no peer-reviewed work on RFC 10008 itself. This is normal for a standard from June 2026. Thus these four studies examine the mechanisms that QUERY uses. All four are from top security venues.
Nguyen and colleagues found cache-poisoned denial of service: one proxy and five CDNs kept an error page and sent it to all users. Mirheidari and colleagues found web cache deception on high-profile sites. Caches leaked private data and tokens. The lesson of both papers: when the cache and the origin disagree, the attacker wins.
T-Reqs found request smuggling between pairs of servers. A new method with a body is new input for these bugs. And Chen and colleagues found that CORS is often configured incorrectly. Every cross-origin QUERY uses CORS.
CLARIFY: Starov et al. (PII leaks through Referer), Cha et al. and Hartig &amp; Pérez (GraphQL query cost) are in the references.
NEXT → The description. First, what QUERY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0:30 (ends 8:10) · Sources: RFC 10008 §1
SAY: These three requests come from the introduction of the RFC. GET puts q, limit and sort in the URI. The usual workaround is POST: the same parameters as form-encoded content. But POST does not tell a cache, a proxy or a client that this request is a harmless read. QUERY keeps exactly the POST content. It changes only the method.
NEXT → The RFC's own comparison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0:35 (ends 8:45) · Sources: RFC 10008 §1 (Table 1), §5.1
SAY: This is Table 1 of RFC 10008. QUERY is safe and idempotent, the same as GET. Thus caches and automatic retries can work. A QUERY has a URI for the query only if the server gives one in Location. Caches can keep its responses for later QUERY requests. POST responses are different: a cache can use them only for a later GET. And QUERY expects content, the same as POST.
CLARIFY: "Potentially no" is the wording of the RFC. One POST endpoint can be harmless, but the method promises nothing.
NEXT → A full QUERY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0:40 (ends 9:25) · Sources: RFC 10008 §2, §2.1, Appendix A.1, A.6
SAY: This is the example from the RFC. Item one is QUERY and the target, /contacts. The target resource sets the scope of the query.
Item two is Content-Type. If it is missing, or if it does not agree with the content, the server must reject the request. The server must not guess the type from the content.
Item three is the query content. Here it is form-encoded: select these fields, limit ten, and find emails at example. Other examples in the RFC use JSON, SQL, JSONPath and XSLT.
NEXT → The response, and the two URIs that it can give.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0:55 (ends 10:20) · Sources: RFC 10008 §2.3–2.6, §4, Appendix A.4
SAY: Now the response. Item one, Content-Location, points to a stored copy of this result. Item two, Location, points to a stored version of the query itself. A later plain GET to that URI runs the query again, with no body. Thus QUERY gets back the main advantage of GET: an important resource gets a URI.
Redirects 301, 302, 307 and 308 keep the QUERY method. The old browser rule that changes POST to GET does not apply. 303 tells the client to change to GET. Conditional requests work as for GET, so 304 is possible.
The red box is from the security section. If the query is sensitive, these new URIs should not contain it. If they do, the data goes back into the logs.
NEXT → How to send a QUERY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11:10) · Sources: RFC 10008 §3, Appendix A.2, A.3; RFC 9110 §9.1; WHATWG Fetch (method normalize); tested on macOS, Node 24.18, curl 8.7.1, 17 Oct 2026
SAY: A client does not have to use new software. curl sends any method with -X. On the left is the command and its real output from the server on the next slide. The output is 200, a Location for the stored query, and the matching contact.
fetch() works in the browser and in Node. The real output from the same server is below it. The red box is a trap. Method names are case-sensitive, and fetch changes only the six classic names to upper case. If you write 'query' in lower case, fetch sends lower-case "query". When I did this, the Node server replied 400.
CLARIFY: Python also works: urllib.request.Request(url, method="QUERY", data=..., headers=...). The study guide has it.
NEXT → The server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12:00) · Sources: RFC 10008 §2, §2.1, §2.2, §2.4, Appendix A.2
SAY: This is the server that I used to test the clients. It is plain Node, with no framework. Lines 15 to 20 route the request. OPTIONS replies with Allow and Accept-Query. A GET to a stored-query URI runs that query again. Any other method gets 405 with Allow.
The highlighted lines are section 2.1 of the RFC, in code. There are four checks: Content-Type missing, Content-Type not supported, content that is not valid JSON, and a valid query that the server cannot run. The next slide gives the status codes.
Then the server keeps the query and returns its URI in Location. This is the "equivalent resource" of section 2.2.
CLARIFY: readBody limits the body to 16 KiB. search limits the results to 100. A safe method must also have limits. A body that is too large gets 400 here; 413 is a better status, and the study guide shows the change.
NEXT → The status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12:45) · Sources: RFC 10008 §2.1, Appendix A.2; RFC 9110 §9.1, §15.5.6; tested with curl 8.7.1, 17 Oct 2026
SAY: This table is the summary of the status codes. I tested the first six rows with curl against the server. A missing Content-Type gives 400. An unsupported type gives 415, with Accept-Query to tell the client the supported types. Content that does not agree with its type gives 400. The server must not guess the type. A valid query that the server cannot run gives 422.
The last two rows are from the RFCs only. My server does not check Accept. And for a method name that it does not know, Node replies 400, not 501.
NEXT → Safe does not mean secure.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(ends 13:45) · Sources: RFC 9110 §9.2.1, §9.2.2; Cha et al. 2020; Hartig &amp; Pérez 2018
SAY: This is the most important security point of the talk. Safe and idempotent describe what the client intends. They do not protect the server. The quote at the top is from RFC 9110.
The code is a user search for administrators. The red line puts the query content directly into the SQL text. This is classic injection, and the move from the URI to the body changes nothing. The green lines send the value as a parameter, with a timeout.
The highlighted lines are two more defences. Line 3 checks authorization, because a search of users by email is sensitive. Line 5 limits the results, because a safe query can still be expensive.
The list on the right is the summary. Note the last item: clients repeat idempotent requests by design, so rate limits are still necessary.
NEXT → Caches bring their own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1:10 (ends 14:55) · Sources: RFC 10008 §2.7, §4, Appendix A.5; RFC 9111 §2; Nguyen et al. 2019; Mirheidari et al. 2020
SAY: Caches can keep QUERY responses. This is an advantage, and also the largest new attack surface. RFC 10008 says that the cache key must include the request content and its metadata, for example Content-Type. Thus a cache must read the full body before it can find the key.
The code shows the problem, and it runs. It has two normalisers. "canonical" sorts the keys. This is allowed, because the meaning does not change. "lossy" keeps only the fields that the cache knows, so "role" is lost. The output is at the top right. canonical gives two keys. lossy gives one key for an admin query and a user query. Thus a normal user can get the admin results. This is a data leak.
The rules on the right: normalisation is allowed, but a wrong one gives wrong responses. And the cache papers show that attackers use any disagreement between the cache and the origin.
CLARIFY: I do not say that a specific CDN does this. QUERY caching is new code, and new code has these bugs. A server can also send Location. Then clients use a plain GET, and caches handle GET well.
NEXT → Browsers, and CORS.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0:55 (ends 15:50) · Sources: WHATWG Fetch (methods, CORS protocol); WHATWG HTML (form method); RFC 10008 §4; Chen et al. 2018
SAY: JavaScript on app.example wants to send QUERY to api.example. First, the browser sends this OPTIONS request. Line 4 asks: is QUERY allowed from this origin? The browser must ask, because only GET, HEAD and POST are CORS-safelisted methods. The server allows QUERY on line 9, and the browser keeps that answer for Max-Age seconds.
Line 11 is easy to miss. JavaScript cannot read Location unless the server exposes it.
The security result: forms send only GET or POST, and the no-cors mode rejects other methods. Thus a malicious page cannot send QUERY to your API without your permission. This is stronger than POST. But Chen and colleagues found that CORS is often configured incorrectly. A permissive policy with credentials can still leak QUERY results.
NEXT → Integrity between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 (ends 16:50) · Sources: RFC 9421 §1, §2.2.7, §7.2.8, §7.5.8; RFC 9530
SAY: RFC 9421 lets one service sign parts of a request, so that another service can find any change. Line 5 lists the signed parts: the method, the target URI, the content type and the content digest. Line 4 is a real Content-Digest: the SHA-256 of the body below it.
The table shows the trap. For a GET, a signature on @query protects the search terms. A QUERY has no URI query, so @query is only a question mark. A GET signing policy, copied with no change, covers everything except the query. Thus sign Content-Digest, and the receiver must calculate it again over the bytes that it got. Section 7.5.8 also warns about frameworks that merge URI and form parameters. And a signature gives integrity, not authorization.
NEXT → All the layers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0:55 (ends 17:45) · Sources: RFC 10008 §2.1, §2.7, §4; Fetch; RFC 9112 §6; RFC 9110 §9.1; Jabiyev et al. 2021; OWASP WSTG-CONF-06; OpenAPI 3.2.0
SAY: An RFC is one thing. A working production path is a different thing. Read this table from top to bottom, as the request moves. The browser must send the preflight and use the upper-case name. The cache must put the content in the key. The WAF must allow QUERY and examine its body as a POST body. If not, an attacker changes the method to avoid the rules. OWASP tests exactly this. Load balancers and proxies must forward QUERY and frame the body in the same way. If not, you get 405, 501 or request smuggling. The application must have a strict Content-Type, authorization, validation and cost limits. The database must use parameterised queries. And the log parsers must know the method. OpenAPI 3.2 already has a "query" operation.
NOTICE: Little of this is new. The new part is that every layer must know QUERY and treat its body correctly. One hop with no support breaks it. One hop that lets it through without the POST controls makes it a bypass.
NEXT →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(ends 18:30)
SAY: To conclude, no method wins. Use GET when the query fits in a URI and links and mature caches are important. Use QUERY when the operation is really a safe query with large or structured input, and all hops support it. Use POST when the operation is not safe.
Two points to remember. QUERY does not replace the other methods. It fills one gap. And the method alone gives no security. Its value depends on how each layer implements it. Thus security teams must be part of the adoption from the start.
NEXT → References,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presented. Titles link to the official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presented. DOIs and page ranges verified against Crossref; USENIX papers link to the official proceedings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Q&amp;A (2–3 min)
Possible questions and short answers:
• "Why not send a body with GET?" RFC 9110 §9.3.1: content in a GET request has no defined meaning, and some implementations reject it. This gives a risk of request smuggling. RFC 9205 §4.5.1 says the same about generic HTTP software.
• "Why a new method, and not SEARCH, REPORT or PROPFIND?" RFC 10008 Appendix B: those come from WebDAV, and they use a generic XML media type. "QUERY" also maps to the query component of the URI. Early drafts used SEARCH.
• "Is QUERY more secure than GET?" Not by itself. It keeps the input out of URIs. But systems can log bodies, the cache key becomes more difficult, and every hop must support it.
• "Can browsers send it?" Yes, with fetch(). A cross-origin request always has a preflight. HTML forms cannot send it.
• "Does QUERY help against CSRF?" It is safe, so it must not change state. A cross-site page cannot send it without a preflight. But a permissive CORS policy can still leak the results.
• "Did you run the code?" Yes: server.mjs, curl, fetch and Python urllib on Node 24.18, curl 8.7.1 and Python 3.14, on 17 Oct 2026. The cache-key output is from a real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1219200" rtl="0" eaLnBrk="1" latinLnBrk="0" hangingPunct="1">
        <a:spcBef>
          <a:spcPct val="0"/>
        </a:spcBef>
        <a:buNone/>
        <a:defRPr sz="5867" kern="16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itchFamily="34" charset="0"/>
        <a:buChar char="•"/>
        <a:defRPr sz="4267" kern="1600">
          <a:solidFill>
            <a:schemeClr val="tx1"/>
          </a:solidFill>
          <a:latin typeface="+mn-lt"/>
          <a:ea typeface="+mn-ea"/>
          <a:cs typeface="+mn-cs"/>
        </a:defRPr>
      </a:lvl1pPr>
      <a:lvl2pPr marL="990600" indent="-381000" algn="l" defTabSz="1219200" rtl="0" eaLnBrk="1" latinLnBrk="0" hangingPunct="1">
        <a:spcBef>
          <a:spcPct val="20000"/>
        </a:spcBef>
        <a:buFont typeface="Arial" pitchFamily="34" charset="0"/>
        <a:buChar char="–"/>
        <a:defRPr sz="3733" kern="1600">
          <a:solidFill>
            <a:schemeClr val="tx1"/>
          </a:solidFill>
          <a:latin typeface="+mn-lt"/>
          <a:ea typeface="+mn-ea"/>
          <a:cs typeface="+mn-cs"/>
        </a:defRPr>
      </a:lvl2pPr>
      <a:lvl3pPr marL="1524000" indent="-304800" algn="l" defTabSz="1219200" rtl="0" eaLnBrk="1" latinLnBrk="0" hangingPunct="1">
        <a:spcBef>
          <a:spcPct val="20000"/>
        </a:spcBef>
        <a:buFont typeface="Arial" pitchFamily="34" charset="0"/>
        <a:buChar char="•"/>
        <a:defRPr sz="3200" kern="1600">
          <a:solidFill>
            <a:schemeClr val="tx1"/>
          </a:solidFill>
          <a:latin typeface="+mn-lt"/>
          <a:ea typeface="+mn-ea"/>
          <a:cs typeface="+mn-cs"/>
        </a:defRPr>
      </a:lvl3pPr>
      <a:lvl4pPr marL="21336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4pPr>
      <a:lvl5pPr marL="27432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5pPr>
      <a:lvl6pPr marL="33528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6pPr>
      <a:lvl7pPr marL="39624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7pPr>
      <a:lvl8pPr marL="45720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8pPr>
      <a:lvl9pPr marL="51816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9pPr>
    </p:bodyStyle>
    <p:otherStyle>
      <a:defPPr>
        <a:defRPr lang="en-US"/>
      </a:defPPr>
      <a:lvl1pPr marL="0" algn="l" defTabSz="1219200" rtl="0" eaLnBrk="1" latinLnBrk="0" hangingPunct="1">
        <a:defRPr sz="2400" kern="1600">
          <a:solidFill>
            <a:schemeClr val="tx1"/>
          </a:solidFill>
          <a:latin typeface="+mn-lt"/>
          <a:ea typeface="+mn-ea"/>
          <a:cs typeface="+mn-cs"/>
        </a:defRPr>
      </a:lvl1pPr>
      <a:lvl2pPr marL="609600" algn="l" defTabSz="1219200" rtl="0" eaLnBrk="1" latinLnBrk="0" hangingPunct="1">
        <a:defRPr sz="2400" kern="1600">
          <a:solidFill>
            <a:schemeClr val="tx1"/>
          </a:solidFill>
          <a:latin typeface="+mn-lt"/>
          <a:ea typeface="+mn-ea"/>
          <a:cs typeface="+mn-cs"/>
        </a:defRPr>
      </a:lvl2pPr>
      <a:lvl3pPr marL="1219200" algn="l" defTabSz="1219200" rtl="0" eaLnBrk="1" latinLnBrk="0" hangingPunct="1">
        <a:defRPr sz="2400" kern="1600">
          <a:solidFill>
            <a:schemeClr val="tx1"/>
          </a:solidFill>
          <a:latin typeface="+mn-lt"/>
          <a:ea typeface="+mn-ea"/>
          <a:cs typeface="+mn-cs"/>
        </a:defRPr>
      </a:lvl3pPr>
      <a:lvl4pPr marL="1828800" algn="l" defTabSz="1219200" rtl="0" eaLnBrk="1" latinLnBrk="0" hangingPunct="1">
        <a:defRPr sz="2400" kern="1600">
          <a:solidFill>
            <a:schemeClr val="tx1"/>
          </a:solidFill>
          <a:latin typeface="+mn-lt"/>
          <a:ea typeface="+mn-ea"/>
          <a:cs typeface="+mn-cs"/>
        </a:defRPr>
      </a:lvl4pPr>
      <a:lvl5pPr marL="2438400" algn="l" defTabSz="1219200" rtl="0" eaLnBrk="1" latinLnBrk="0" hangingPunct="1">
        <a:defRPr sz="2400" kern="1600">
          <a:solidFill>
            <a:schemeClr val="tx1"/>
          </a:solidFill>
          <a:latin typeface="+mn-lt"/>
          <a:ea typeface="+mn-ea"/>
          <a:cs typeface="+mn-cs"/>
        </a:defRPr>
      </a:lvl5pPr>
      <a:lvl6pPr marL="3048000" algn="l" defTabSz="1219200" rtl="0" eaLnBrk="1" latinLnBrk="0" hangingPunct="1">
        <a:defRPr sz="2400" kern="1600">
          <a:solidFill>
            <a:schemeClr val="tx1"/>
          </a:solidFill>
          <a:latin typeface="+mn-lt"/>
          <a:ea typeface="+mn-ea"/>
          <a:cs typeface="+mn-cs"/>
        </a:defRPr>
      </a:lvl6pPr>
      <a:lvl7pPr marL="3657600" algn="l" defTabSz="1219200" rtl="0" eaLnBrk="1" latinLnBrk="0" hangingPunct="1">
        <a:defRPr sz="2400" kern="1600">
          <a:solidFill>
            <a:schemeClr val="tx1"/>
          </a:solidFill>
          <a:latin typeface="+mn-lt"/>
          <a:ea typeface="+mn-ea"/>
          <a:cs typeface="+mn-cs"/>
        </a:defRPr>
      </a:lvl7pPr>
      <a:lvl8pPr marL="4267200" algn="l" defTabSz="1219200" rtl="0" eaLnBrk="1" latinLnBrk="0" hangingPunct="1">
        <a:defRPr sz="2400" kern="1600">
          <a:solidFill>
            <a:schemeClr val="tx1"/>
          </a:solidFill>
          <a:latin typeface="+mn-lt"/>
          <a:ea typeface="+mn-ea"/>
          <a:cs typeface="+mn-cs"/>
        </a:defRPr>
      </a:lvl8pPr>
      <a:lvl9pPr marL="4876800" algn="l" defTabSz="1219200" rtl="0" eaLnBrk="1" latinLnBrk="0" hangingPunct="1">
        <a:defRPr sz="2400" kern="16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6" Type="http://schemas.openxmlformats.org/officeDocument/2006/relationships/hyperlink" Target="https://www.rfc-editor.org/rfc/rfc9110.html#section-9.3.1" TargetMode="External"/><Relationship Id="rId7" Type="http://schemas.openxmlformats.org/officeDocument/2006/relationships/hyperlink" Target="https://www.rfc-editor.org/rfc/rfc9110.html#section-9.1" TargetMode="External"/><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www.rfc-editor.org/rfc/rfc9110.html#section-9.2.1" TargetMode="External"/><Relationship Id="rId3" Type="http://schemas.openxmlformats.org/officeDocument/2006/relationships/hyperlink" Target="https://www.rfc-editor.org/rfc/rfc9110.html#section-9.2.2" TargetMode="External"/><Relationship Id="rId4" Type="http://schemas.openxmlformats.org/officeDocument/2006/relationships/hyperlink" Target="https://www.rfc-editor.org/rfc/rfc9110.html#section-9.2.2" TargetMode="External"/><Relationship Id="rId1" Type="http://schemas.openxmlformats.org/officeDocument/2006/relationships/image" Target="../media/image-4-1.jpe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7" Type="http://schemas.openxmlformats.org/officeDocument/2006/relationships/hyperlink" Target="https://www.rfc-editor.org/rfc/rfc3986.html#section-3.4" TargetMode="External"/><Relationship Id="rId8" Type="http://schemas.openxmlformats.org/officeDocument/2006/relationships/hyperlink" Target="https://www.rfc-editor.org/rfc/rfc3986.html#section-3.5" TargetMode="External"/><Relationship Id="rId9" Type="http://schemas.openxmlformats.org/officeDocument/2006/relationships/hyperlink" Target="https://www.rfc-editor.org/rfc/rfc10008.html#section-1.1" TargetMode="External"/><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www.rfc-editor.org/rfc/rfc9110.html#section-4.1" TargetMode="External"/><Relationship Id="rId3" Type="http://schemas.openxmlformats.org/officeDocument/2006/relationships/hyperlink" Target="https://www.rfc-editor.org/rfc/rfc10008.html#section-1" TargetMode="External"/><Relationship Id="rId4" Type="http://schemas.openxmlformats.org/officeDocument/2006/relationships/hyperlink" Target="https://www.rfc-editor.org/rfc/rfc9110.html#section-15.5.15" TargetMode="External"/><Relationship Id="rId5" Type="http://schemas.openxmlformats.org/officeDocument/2006/relationships/hyperlink" Target="https://www.rfc-editor.org/rfc/rfc10008.html#section-1" TargetMode="External"/><Relationship Id="rId1" Type="http://schemas.openxmlformats.org/officeDocument/2006/relationships/image" Target="../media/image-6-1.jpe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7" Type="http://schemas.openxmlformats.org/officeDocument/2006/relationships/hyperlink" Target="https://www.rfc-editor.org/rfc/rfc9110.html#section-17.9" TargetMode="External"/><Relationship Id="rId8" Type="http://schemas.openxmlformats.org/officeDocument/2006/relationships/hyperlink" Target="https://www.rfc-editor.org/rfc/rfc10008.html#section-4" TargetMode="External"/><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www.rfc-editor.org/rfc/rfc9110.html#section-9.2.1" TargetMode="External"/><Relationship Id="rId3" Type="http://schemas.openxmlformats.org/officeDocument/2006/relationships/hyperlink" Target="https://www.rfc-editor.org/rfc/rfc9110.html#section-9.3.3" TargetMode="External"/><Relationship Id="rId4" Type="http://schemas.openxmlformats.org/officeDocument/2006/relationships/hyperlink" Target="https://www.rfc-editor.org/rfc/rfc9110.html#section-17.9" TargetMode="External"/><Relationship Id="rId1" Type="http://schemas.openxmlformats.org/officeDocument/2006/relationships/image" Target="../media/image-8-1.jpe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www.rfc-editor.org/rfc/rfc10008.html#section-2" TargetMode="External"/><Relationship Id="rId3" Type="http://schemas.openxmlformats.org/officeDocument/2006/relationships/hyperlink" Target="https://www.rfc-editor.org/rfc/rfc9110.html#section-9.2.1" TargetMode="External"/><Relationship Id="rId4" Type="http://schemas.openxmlformats.org/officeDocument/2006/relationships/hyperlink" Target="https://www.rfc-editor.org/rfc/rfc9110.html#section-9.3.3" TargetMode="External"/><Relationship Id="rId5" Type="http://schemas.openxmlformats.org/officeDocument/2006/relationships/hyperlink" Target="https://www.rfc-editor.org/rfc/rfc9110.html#section-17.9" TargetMode="External"/><Relationship Id="rId1" Type="http://schemas.openxmlformats.org/officeDocument/2006/relationships/image" Target="../media/image-9-1.jpe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www.rfc-editor.org/rfc/rfc10008.html" TargetMode="External"/><Relationship Id="rId3" Type="http://schemas.openxmlformats.org/officeDocument/2006/relationships/hyperlink" Target="https://www.rfc-editor.org/rfc/rfc9110.html" TargetMode="External"/><Relationship Id="rId4" Type="http://schemas.openxmlformats.org/officeDocument/2006/relationships/hyperlink" Target="https://www.rfc-editor.org/rfc/rfc9205.html" TargetMode="External"/><Relationship Id="rId1" Type="http://schemas.openxmlformats.org/officeDocument/2006/relationships/image" Target="../media/image-11-1.jpe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doi.org/10.1145/3319535.3354215" TargetMode="External"/><Relationship Id="rId3" Type="http://schemas.openxmlformats.org/officeDocument/2006/relationships/hyperlink" Target="https://www.usenix.org/conference/usenixsecurity20/presentation/mirheidari" TargetMode="External"/><Relationship Id="rId4" Type="http://schemas.openxmlformats.org/officeDocument/2006/relationships/hyperlink" Target="https://doi.org/10.1145/3460120.3485384" TargetMode="External"/><Relationship Id="rId5" Type="http://schemas.openxmlformats.org/officeDocument/2006/relationships/hyperlink" Target="https://www.usenix.org/conference/usenixsecurity18/presentation/chen-jianjun" TargetMode="External"/><Relationship Id="rId1" Type="http://schemas.openxmlformats.org/officeDocument/2006/relationships/image" Target="../media/image-12-1.jpe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www.rfc-editor.org/rfc/rfc10008.html#section-5.1" TargetMode="External"/><Relationship Id="rId1" Type="http://schemas.openxmlformats.org/officeDocument/2006/relationships/image" Target="../media/image-14-1.jpe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hyperlink" Target="https://www.rfc-editor.org/rfc/rfc10008.html#section-2" TargetMode="External"/><Relationship Id="rId5" Type="http://schemas.openxmlformats.org/officeDocument/2006/relationships/hyperlink" Target="https://www.rfc-editor.org/rfc/rfc10008.html#section-2.1" TargetMode="External"/><Relationship Id="rId1" Type="http://schemas.openxmlformats.org/officeDocument/2006/relationships/image" Target="../media/image-15-1.jpeg"/><Relationship Id="rId2" Type="http://schemas.openxmlformats.org/officeDocument/2006/relationships/image" Target="../media/image-15-2.png"/><Relationship Id="rId4" Type="http://schemas.openxmlformats.org/officeDocument/2006/relationships/image" Target="../media/image-15-3.png"/><Relationship Id="rId6" Type="http://schemas.openxmlformats.org/officeDocument/2006/relationships/image" Target="../media/image-15-4.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www.rfc-editor.org/rfc/rfc10008.html#section-4" TargetMode="External"/><Relationship Id="rId4" Type="http://schemas.openxmlformats.org/officeDocument/2006/relationships/hyperlink" Target="https://www.rfc-editor.org/rfc/rfc10008.html#section-2.3" TargetMode="External"/><Relationship Id="rId6" Type="http://schemas.openxmlformats.org/officeDocument/2006/relationships/hyperlink" Target="https://www.rfc-editor.org/rfc/rfc10008.html#section-2.4" TargetMode="External"/><Relationship Id="rId8" Type="http://schemas.openxmlformats.org/officeDocument/2006/relationships/hyperlink" Target="https://www.rfc-editor.org/rfc/rfc10008.html#section-2.5" TargetMode="External"/><Relationship Id="rId10" Type="http://schemas.openxmlformats.org/officeDocument/2006/relationships/hyperlink" Target="https://www.rfc-editor.org/rfc/rfc10008.html#section-2.6" TargetMode="External"/><Relationship Id="rId1" Type="http://schemas.openxmlformats.org/officeDocument/2006/relationships/image" Target="../media/image-16-1.jpeg"/><Relationship Id="rId3" Type="http://schemas.openxmlformats.org/officeDocument/2006/relationships/image" Target="../media/image-16-2.png"/><Relationship Id="rId5" Type="http://schemas.openxmlformats.org/officeDocument/2006/relationships/image" Target="../media/image-16-3.png"/><Relationship Id="rId7" Type="http://schemas.openxmlformats.org/officeDocument/2006/relationships/image" Target="../media/image-16-4.png"/><Relationship Id="rId9" Type="http://schemas.openxmlformats.org/officeDocument/2006/relationships/image" Target="../media/image-16-5.png"/><Relationship Id="rId11" Type="http://schemas.openxmlformats.org/officeDocument/2006/relationships/slideLayout" Target="../slideLayouts/slideLayout1.xml"/><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hyperlink" Target="https://fetch.spec.whatwg.org/#concept-method-normalize" TargetMode="External"/><Relationship Id="rId1" Type="http://schemas.openxmlformats.org/officeDocument/2006/relationships/image" Target="../media/image-17-1.jpe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hyperlink" Target="https://www.rfc-editor.org/rfc/rfc10008.html#section-2.1" TargetMode="External"/><Relationship Id="rId1" Type="http://schemas.openxmlformats.org/officeDocument/2006/relationships/image" Target="../media/image-18-1.jpe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hyperlink" Target="https://www.rfc-editor.org/rfc/rfc10008.html#appendix-A.2" TargetMode="External"/><Relationship Id="rId3" Type="http://schemas.openxmlformats.org/officeDocument/2006/relationships/hyperlink" Target="https://www.rfc-editor.org/rfc/rfc10008.html#section-2.1" TargetMode="External"/><Relationship Id="rId4" Type="http://schemas.openxmlformats.org/officeDocument/2006/relationships/hyperlink" Target="https://www.rfc-editor.org/rfc/rfc10008.html#section-2.1" TargetMode="External"/><Relationship Id="rId5" Type="http://schemas.openxmlformats.org/officeDocument/2006/relationships/hyperlink" Target="https://www.rfc-editor.org/rfc/rfc10008.html#section-2.1" TargetMode="External"/><Relationship Id="rId6" Type="http://schemas.openxmlformats.org/officeDocument/2006/relationships/hyperlink" Target="https://www.rfc-editor.org/rfc/rfc10008.html#section-2.1" TargetMode="External"/><Relationship Id="rId7" Type="http://schemas.openxmlformats.org/officeDocument/2006/relationships/hyperlink" Target="https://www.rfc-editor.org/rfc/rfc9110.html#section-15.5.6" TargetMode="External"/><Relationship Id="rId8" Type="http://schemas.openxmlformats.org/officeDocument/2006/relationships/hyperlink" Target="https://www.rfc-editor.org/rfc/rfc10008.html#section-2.1" TargetMode="External"/><Relationship Id="rId9" Type="http://schemas.openxmlformats.org/officeDocument/2006/relationships/hyperlink" Target="https://www.rfc-editor.org/rfc/rfc9110.html#section-9.1" TargetMode="External"/><Relationship Id="rId1" Type="http://schemas.openxmlformats.org/officeDocument/2006/relationships/image" Target="../media/image-19-1.jpeg"/><Relationship Id="rId10" Type="http://schemas.openxmlformats.org/officeDocument/2006/relationships/slideLayout" Target="../slideLayouts/slideLayout1.xml"/><Relationship Id="rId11"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hyperlink" Target="https://www.rfc-editor.org/rfc/rfc9110.html#section-9.2.1" TargetMode="External"/><Relationship Id="rId3" Type="http://schemas.openxmlformats.org/officeDocument/2006/relationships/hyperlink" Target="https://doi.org/10.1145/3368089.3409670" TargetMode="External"/><Relationship Id="rId1" Type="http://schemas.openxmlformats.org/officeDocument/2006/relationships/image" Target="../media/image-20-1.jpe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hyperlink" Target="https://www.rfc-editor.org/rfc/rfc10008.html#section-2.7" TargetMode="External"/><Relationship Id="rId3" Type="http://schemas.openxmlformats.org/officeDocument/2006/relationships/hyperlink" Target="https://www.rfc-editor.org/rfc/rfc10008.html#section-4" TargetMode="External"/><Relationship Id="rId4" Type="http://schemas.openxmlformats.org/officeDocument/2006/relationships/hyperlink" Target="https://www.rfc-editor.org/rfc/rfc9111.html#section-2" TargetMode="External"/><Relationship Id="rId5" Type="http://schemas.openxmlformats.org/officeDocument/2006/relationships/hyperlink" Target="https://doi.org/10.1145/3319535.3354215" TargetMode="External"/><Relationship Id="rId6" Type="http://schemas.openxmlformats.org/officeDocument/2006/relationships/hyperlink" Target="https://www.usenix.org/conference/usenixsecurity20/presentation/mirheidari" TargetMode="External"/><Relationship Id="rId1" Type="http://schemas.openxmlformats.org/officeDocument/2006/relationships/image" Target="../media/image-21-1.jpe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hyperlink" Target="https://fetch.spec.whatwg.org/#methods" TargetMode="External"/><Relationship Id="rId3" Type="http://schemas.openxmlformats.org/officeDocument/2006/relationships/hyperlink" Target="https://www.rfc-editor.org/rfc/rfc10008.html#section-4" TargetMode="External"/><Relationship Id="rId4" Type="http://schemas.openxmlformats.org/officeDocument/2006/relationships/hyperlink" Target="https://www.usenix.org/conference/usenixsecurity18/presentation/chen-jianjun" TargetMode="External"/><Relationship Id="rId1" Type="http://schemas.openxmlformats.org/officeDocument/2006/relationships/image" Target="../media/image-22-1.jpe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hyperlink" Target="https://www.rfc-editor.org/rfc/rfc9421.html#section-2.2.7" TargetMode="External"/><Relationship Id="rId3" Type="http://schemas.openxmlformats.org/officeDocument/2006/relationships/hyperlink" Target="https://www.rfc-editor.org/rfc/rfc9530.html" TargetMode="External"/><Relationship Id="rId4" Type="http://schemas.openxmlformats.org/officeDocument/2006/relationships/hyperlink" Target="https://www.rfc-editor.org/rfc/rfc9421.html#section-7.2.8" TargetMode="External"/><Relationship Id="rId5" Type="http://schemas.openxmlformats.org/officeDocument/2006/relationships/hyperlink" Target="https://www.rfc-editor.org/rfc/rfc9421.html#section-7.5.8" TargetMode="External"/><Relationship Id="rId1" Type="http://schemas.openxmlformats.org/officeDocument/2006/relationships/image" Target="../media/image-23-1.jpe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2" Type="http://schemas.openxmlformats.org/officeDocument/2006/relationships/hyperlink" Target="https://owasp.org/www-project-web-security-testing-guide/stable/4-Web_Application_Security_Testing/02-Configuration_and_Deployment_Management_Testing/06-Test_HTTP_Methods" TargetMode="External"/><Relationship Id="rId3" Type="http://schemas.openxmlformats.org/officeDocument/2006/relationships/hyperlink" Target="https://doi.org/10.1145/3460120.3485384" TargetMode="External"/><Relationship Id="rId4" Type="http://schemas.openxmlformats.org/officeDocument/2006/relationships/hyperlink" Target="https://spec.openapis.org/oas/v3.2.0.html" TargetMode="External"/><Relationship Id="rId1" Type="http://schemas.openxmlformats.org/officeDocument/2006/relationships/image" Target="../media/image-24-1.jpe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2" Type="http://schemas.openxmlformats.org/officeDocument/2006/relationships/hyperlink" Target="https://www.rfc-editor.org/rfc/rfc10008.html" TargetMode="External"/><Relationship Id="rId3" Type="http://schemas.openxmlformats.org/officeDocument/2006/relationships/hyperlink" Target="https://www.rfc-editor.org/rfc/rfc9110.html" TargetMode="External"/><Relationship Id="rId4" Type="http://schemas.openxmlformats.org/officeDocument/2006/relationships/hyperlink" Target="https://www.rfc-editor.org/rfc/rfc9111.html" TargetMode="External"/><Relationship Id="rId5" Type="http://schemas.openxmlformats.org/officeDocument/2006/relationships/hyperlink" Target="https://www.rfc-editor.org/rfc/rfc9112.html" TargetMode="External"/><Relationship Id="rId6" Type="http://schemas.openxmlformats.org/officeDocument/2006/relationships/hyperlink" Target="https://www.rfc-editor.org/rfc/rfc3986.html" TargetMode="External"/><Relationship Id="rId7" Type="http://schemas.openxmlformats.org/officeDocument/2006/relationships/hyperlink" Target="https://www.rfc-editor.org/rfc/rfc9205.html" TargetMode="External"/><Relationship Id="rId8" Type="http://schemas.openxmlformats.org/officeDocument/2006/relationships/hyperlink" Target="https://www.rfc-editor.org/rfc/rfc9421.html" TargetMode="External"/><Relationship Id="rId9" Type="http://schemas.openxmlformats.org/officeDocument/2006/relationships/hyperlink" Target="https://www.rfc-editor.org/rfc/rfc9530.html" TargetMode="External"/><Relationship Id="rId10" Type="http://schemas.openxmlformats.org/officeDocument/2006/relationships/hyperlink" Target="https://fetch.spec.whatwg.org/" TargetMode="External"/><Relationship Id="rId11" Type="http://schemas.openxmlformats.org/officeDocument/2006/relationships/hyperlink" Target="https://html.spec.whatwg.org/" TargetMode="External"/><Relationship Id="rId12" Type="http://schemas.openxmlformats.org/officeDocument/2006/relationships/hyperlink" Target="https://www.w3.org/TR/referrer-policy/" TargetMode="External"/><Relationship Id="rId13" Type="http://schemas.openxmlformats.org/officeDocument/2006/relationships/hyperlink" Target="https://www.iana.org/assignments/http-methods/" TargetMode="External"/><Relationship Id="rId14" Type="http://schemas.openxmlformats.org/officeDocument/2006/relationships/hyperlink" Target="https://spec.openapis.org/oas/v3.2.0.html" TargetMode="External"/><Relationship Id="rId15" Type="http://schemas.openxmlformats.org/officeDocument/2006/relationships/hyperlink" Target="https://owasp.org/www-project-web-security-testing-guide/stable/4-Web_Application_Security_Testing/02-Configuration_and_Deployment_Management_Testing/06-Test_HTTP_Methods" TargetMode="External"/><Relationship Id="rId16" Type="http://schemas.openxmlformats.org/officeDocument/2006/relationships/hyperlink" Target="https://developer.mozilla.org/en-US/docs/Web/HTTP/Guides/CORS" TargetMode="External"/><Relationship Id="rId1" Type="http://schemas.openxmlformats.org/officeDocument/2006/relationships/image" Target="../media/image-26-1.jpeg"/><Relationship Id="rId17" Type="http://schemas.openxmlformats.org/officeDocument/2006/relationships/slideLayout" Target="../slideLayouts/slideLayout1.xml"/><Relationship Id="rId1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hyperlink" Target="https://doi.org/10.1515/popets-2015-0028" TargetMode="External"/><Relationship Id="rId3" Type="http://schemas.openxmlformats.org/officeDocument/2006/relationships/hyperlink" Target="https://doi.org/10.1145/3319535.3354215" TargetMode="External"/><Relationship Id="rId4" Type="http://schemas.openxmlformats.org/officeDocument/2006/relationships/hyperlink" Target="https://www.usenix.org/conference/usenixsecurity20/presentation/mirheidari" TargetMode="External"/><Relationship Id="rId5" Type="http://schemas.openxmlformats.org/officeDocument/2006/relationships/hyperlink" Target="https://doi.org/10.1145/3460120.3485384" TargetMode="External"/><Relationship Id="rId6" Type="http://schemas.openxmlformats.org/officeDocument/2006/relationships/hyperlink" Target="https://www.usenix.org/conference/usenixsecurity18/presentation/chen-jianjun" TargetMode="External"/><Relationship Id="rId7" Type="http://schemas.openxmlformats.org/officeDocument/2006/relationships/hyperlink" Target="https://doi.org/10.1145/3368089.3409670" TargetMode="External"/><Relationship Id="rId8" Type="http://schemas.openxmlformats.org/officeDocument/2006/relationships/hyperlink" Target="https://doi.org/10.1145/3178876.3186014" TargetMode="External"/><Relationship Id="rId9" Type="http://schemas.openxmlformats.org/officeDocument/2006/relationships/hyperlink" Target="https://doi.org/10.1145/2976749.2978394" TargetMode="External"/><Relationship Id="rId1" Type="http://schemas.openxmlformats.org/officeDocument/2006/relationships/image" Target="../media/image-27-1.jpeg"/><Relationship Id="rId10" Type="http://schemas.openxmlformats.org/officeDocument/2006/relationships/slideLayout" Target="../slideLayouts/slideLayout1.xml"/><Relationship Id="rId11"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a:t>
            </a:r>
            <a:endParaRPr lang="en-US" sz="1400" dirty="0"/>
          </a:p>
        </p:txBody>
      </p:sp>
      <p:sp>
        <p:nvSpPr>
          <p:cNvPr id="8" name="Text 5"/>
          <p:cNvSpPr txBox="1"/>
          <p:nvPr/>
        </p:nvSpPr>
        <p:spPr>
          <a:xfrm>
            <a:off x="9451975" y="186333"/>
            <a:ext cx="2801144"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Technical Seminar</a:t>
            </a:r>
            <a:endParaRPr lang="en-US" sz="2800" dirty="0"/>
          </a:p>
        </p:txBody>
      </p:sp>
      <p:sp>
        <p:nvSpPr>
          <p:cNvPr id="9" name="Text 6"/>
          <p:cNvSpPr txBox="1"/>
          <p:nvPr/>
        </p:nvSpPr>
        <p:spPr>
          <a:xfrm>
            <a:off x="4501157" y="788392"/>
            <a:ext cx="3392884" cy="444500"/>
          </a:xfrm>
          <a:prstGeom prst="rect">
            <a:avLst/>
          </a:prstGeom>
          <a:noFill/>
          <a:ln/>
        </p:spPr>
        <p:txBody>
          <a:bodyPr wrap="none" lIns="0" tIns="0" rIns="0" bIns="0" rtlCol="0" anchor="t"/>
          <a:lstStyle/>
          <a:p>
            <a:pPr algn="ctr" indent="0" marL="0">
              <a:buNone/>
            </a:pPr>
            <a:r>
              <a:rPr lang="en-US" sz="2800" b="1" dirty="0">
                <a:solidFill>
                  <a:srgbClr val="000000"/>
                </a:solidFill>
                <a:latin typeface="Calibri" pitchFamily="34" charset="0"/>
                <a:ea typeface="Calibri" pitchFamily="34" charset="-122"/>
                <a:cs typeface="Calibri" pitchFamily="34" charset="-120"/>
              </a:rPr>
              <a:t>HTTP QUERY Method:</a:t>
            </a:r>
            <a:endParaRPr lang="en-US" sz="2800" dirty="0"/>
          </a:p>
        </p:txBody>
      </p:sp>
      <p:sp>
        <p:nvSpPr>
          <p:cNvPr id="10" name="Text 7"/>
          <p:cNvSpPr txBox="1"/>
          <p:nvPr/>
        </p:nvSpPr>
        <p:spPr>
          <a:xfrm>
            <a:off x="2462808" y="1215033"/>
            <a:ext cx="7469385" cy="444500"/>
          </a:xfrm>
          <a:prstGeom prst="rect">
            <a:avLst/>
          </a:prstGeom>
          <a:noFill/>
          <a:ln/>
        </p:spPr>
        <p:txBody>
          <a:bodyPr wrap="none" lIns="0" tIns="0" rIns="0" bIns="0" rtlCol="0" anchor="t"/>
          <a:lstStyle/>
          <a:p>
            <a:pPr algn="ctr" indent="0" marL="0">
              <a:buNone/>
            </a:pPr>
            <a:r>
              <a:rPr lang="en-US" sz="2800" b="1" dirty="0">
                <a:solidFill>
                  <a:srgbClr val="000000"/>
                </a:solidFill>
                <a:latin typeface="Calibri" pitchFamily="34" charset="0"/>
                <a:ea typeface="Calibri" pitchFamily="34" charset="-122"/>
                <a:cs typeface="Calibri" pitchFamily="34" charset="-120"/>
              </a:rPr>
              <a:t>A Security-Focused Literature Survey and Analysis</a:t>
            </a:r>
            <a:endParaRPr lang="en-US" sz="2800" dirty="0"/>
          </a:p>
        </p:txBody>
      </p:sp>
      <p:sp>
        <p:nvSpPr>
          <p:cNvPr id="11" name="Text 8"/>
          <p:cNvSpPr txBox="1"/>
          <p:nvPr/>
        </p:nvSpPr>
        <p:spPr>
          <a:xfrm>
            <a:off x="6012061" y="2342753"/>
            <a:ext cx="371079" cy="279400"/>
          </a:xfrm>
          <a:prstGeom prst="rect">
            <a:avLst/>
          </a:prstGeom>
          <a:noFill/>
          <a:ln/>
        </p:spPr>
        <p:txBody>
          <a:bodyPr wrap="none" lIns="0" tIns="0" rIns="0" bIns="0" rtlCol="0" anchor="t"/>
          <a:lstStyle/>
          <a:p>
            <a:pPr algn="ctr" indent="0" marL="0">
              <a:buNone/>
            </a:pPr>
            <a:r>
              <a:rPr lang="en-US" sz="1800" i="1" dirty="0">
                <a:solidFill>
                  <a:srgbClr val="000000"/>
                </a:solidFill>
                <a:latin typeface="Calibri" pitchFamily="34" charset="0"/>
                <a:ea typeface="Calibri" pitchFamily="34" charset="-122"/>
                <a:cs typeface="Calibri" pitchFamily="34" charset="-120"/>
              </a:rPr>
              <a:t>by</a:t>
            </a:r>
            <a:endParaRPr lang="en-US" sz="1800" dirty="0"/>
          </a:p>
        </p:txBody>
      </p:sp>
      <p:sp>
        <p:nvSpPr>
          <p:cNvPr id="12" name="Text 9"/>
          <p:cNvSpPr txBox="1"/>
          <p:nvPr/>
        </p:nvSpPr>
        <p:spPr>
          <a:xfrm>
            <a:off x="5346700" y="2721173"/>
            <a:ext cx="1701601" cy="254000"/>
          </a:xfrm>
          <a:prstGeom prst="rect">
            <a:avLst/>
          </a:prstGeom>
          <a:noFill/>
          <a:ln/>
        </p:spPr>
        <p:txBody>
          <a:bodyPr wrap="none" lIns="0" tIns="0" rIns="0" bIns="0" rtlCol="0" anchor="t"/>
          <a:lstStyle/>
          <a:p>
            <a:pPr algn="ctr" indent="0" marL="0">
              <a:buNone/>
            </a:pPr>
            <a:r>
              <a:rPr lang="en-US" sz="1800" b="1" dirty="0">
                <a:solidFill>
                  <a:srgbClr val="993300"/>
                </a:solidFill>
                <a:latin typeface="Arial" pitchFamily="34" charset="0"/>
                <a:ea typeface="Arial" pitchFamily="34" charset="-122"/>
                <a:cs typeface="Arial" pitchFamily="34" charset="-120"/>
              </a:rPr>
              <a:t>Anish Shobith</a:t>
            </a:r>
            <a:endParaRPr lang="en-US" sz="1800" dirty="0"/>
          </a:p>
        </p:txBody>
      </p:sp>
      <p:sp>
        <p:nvSpPr>
          <p:cNvPr id="13" name="Text 10"/>
          <p:cNvSpPr txBox="1"/>
          <p:nvPr/>
        </p:nvSpPr>
        <p:spPr>
          <a:xfrm>
            <a:off x="5159772" y="3006924"/>
            <a:ext cx="2075656" cy="279400"/>
          </a:xfrm>
          <a:prstGeom prst="rect">
            <a:avLst/>
          </a:prstGeom>
          <a:noFill/>
          <a:ln/>
        </p:spPr>
        <p:txBody>
          <a:bodyPr wrap="non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Registration Number</a:t>
            </a:r>
            <a:endParaRPr lang="en-US" sz="1800" dirty="0"/>
          </a:p>
        </p:txBody>
      </p:sp>
      <p:sp>
        <p:nvSpPr>
          <p:cNvPr id="14" name="Text 11"/>
          <p:cNvSpPr txBox="1"/>
          <p:nvPr/>
        </p:nvSpPr>
        <p:spPr>
          <a:xfrm>
            <a:off x="5240933" y="3356173"/>
            <a:ext cx="1913335" cy="279400"/>
          </a:xfrm>
          <a:prstGeom prst="rect">
            <a:avLst/>
          </a:prstGeom>
          <a:noFill/>
          <a:ln/>
        </p:spPr>
        <p:txBody>
          <a:bodyPr wrap="non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M.E. CyberSecurity</a:t>
            </a:r>
            <a:endParaRPr lang="en-US" sz="1800" dirty="0"/>
          </a:p>
        </p:txBody>
      </p:sp>
      <p:sp>
        <p:nvSpPr>
          <p:cNvPr id="15" name="Text 12"/>
          <p:cNvSpPr txBox="1"/>
          <p:nvPr/>
        </p:nvSpPr>
        <p:spPr>
          <a:xfrm>
            <a:off x="4950619" y="3851871"/>
            <a:ext cx="2493963" cy="304800"/>
          </a:xfrm>
          <a:prstGeom prst="rect">
            <a:avLst/>
          </a:prstGeom>
          <a:noFill/>
          <a:ln/>
        </p:spPr>
        <p:txBody>
          <a:bodyPr wrap="none" lIns="0" tIns="0" rIns="0" bIns="0" rtlCol="0" anchor="t"/>
          <a:lstStyle/>
          <a:p>
            <a:pPr algn="ctr" indent="0" marL="0">
              <a:buNone/>
            </a:pPr>
            <a:r>
              <a:rPr lang="en-US" sz="2000" b="1" i="1" dirty="0">
                <a:solidFill>
                  <a:srgbClr val="000000"/>
                </a:solidFill>
                <a:latin typeface="Calibri" pitchFamily="34" charset="0"/>
                <a:ea typeface="Calibri" pitchFamily="34" charset="-122"/>
                <a:cs typeface="Calibri" pitchFamily="34" charset="-120"/>
              </a:rPr>
              <a:t>Under the guidance of</a:t>
            </a:r>
            <a:endParaRPr lang="en-US" sz="2000" dirty="0"/>
          </a:p>
        </p:txBody>
      </p:sp>
      <p:sp>
        <p:nvSpPr>
          <p:cNvPr id="16" name="Text 13"/>
          <p:cNvSpPr txBox="1"/>
          <p:nvPr/>
        </p:nvSpPr>
        <p:spPr>
          <a:xfrm>
            <a:off x="497681" y="4316611"/>
            <a:ext cx="1959173" cy="304800"/>
          </a:xfrm>
          <a:prstGeom prst="rect">
            <a:avLst/>
          </a:prstGeom>
          <a:noFill/>
          <a:ln/>
        </p:spPr>
        <p:txBody>
          <a:bodyPr wrap="none" lIns="0" tIns="0" rIns="0" bIns="0" rtlCol="0" anchor="t"/>
          <a:lstStyle/>
          <a:p>
            <a:pPr algn="l" indent="0" marL="0">
              <a:buNone/>
            </a:pPr>
            <a:r>
              <a:rPr lang="en-US" sz="2000" b="1" dirty="0">
                <a:solidFill>
                  <a:srgbClr val="993300"/>
                </a:solidFill>
                <a:latin typeface="Calibri" pitchFamily="34" charset="0"/>
                <a:ea typeface="Calibri" pitchFamily="34" charset="-122"/>
                <a:cs typeface="Calibri" pitchFamily="34" charset="-120"/>
              </a:rPr>
              <a:t>Panel Member 1:</a:t>
            </a:r>
            <a:endParaRPr lang="en-US" sz="2000" dirty="0"/>
          </a:p>
        </p:txBody>
      </p:sp>
      <p:sp>
        <p:nvSpPr>
          <p:cNvPr id="17" name="Text 14"/>
          <p:cNvSpPr txBox="1"/>
          <p:nvPr/>
        </p:nvSpPr>
        <p:spPr>
          <a:xfrm>
            <a:off x="497681" y="4665861"/>
            <a:ext cx="779661" cy="304800"/>
          </a:xfrm>
          <a:prstGeom prst="rect">
            <a:avLst/>
          </a:prstGeom>
          <a:noFill/>
          <a:ln/>
        </p:spPr>
        <p:txBody>
          <a:bodyPr wrap="none" lIns="0" tIns="0" rIns="0" bIns="0" rtlCol="0" anchor="t"/>
          <a:lstStyle/>
          <a:p>
            <a:pPr algn="l" indent="0" marL="0">
              <a:buNone/>
            </a:pPr>
            <a:r>
              <a:rPr lang="en-US" sz="2000" b="1" dirty="0">
                <a:solidFill>
                  <a:srgbClr val="993300"/>
                </a:solidFill>
                <a:latin typeface="Calibri" pitchFamily="34" charset="0"/>
                <a:ea typeface="Calibri" pitchFamily="34" charset="-122"/>
                <a:cs typeface="Calibri" pitchFamily="34" charset="-120"/>
              </a:rPr>
              <a:t>Name</a:t>
            </a:r>
            <a:endParaRPr lang="en-US" sz="2000" dirty="0"/>
          </a:p>
        </p:txBody>
      </p:sp>
      <p:sp>
        <p:nvSpPr>
          <p:cNvPr id="18" name="Text 15"/>
          <p:cNvSpPr txBox="1"/>
          <p:nvPr/>
        </p:nvSpPr>
        <p:spPr>
          <a:xfrm>
            <a:off x="497681" y="5030391"/>
            <a:ext cx="1373981"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Designation</a:t>
            </a:r>
            <a:endParaRPr lang="en-US" sz="2000" dirty="0"/>
          </a:p>
        </p:txBody>
      </p:sp>
      <p:sp>
        <p:nvSpPr>
          <p:cNvPr id="19" name="Text 16"/>
          <p:cNvSpPr txBox="1"/>
          <p:nvPr/>
        </p:nvSpPr>
        <p:spPr>
          <a:xfrm>
            <a:off x="497681" y="5378449"/>
            <a:ext cx="4218384"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Manipal School of Information Sciences</a:t>
            </a:r>
            <a:endParaRPr lang="en-US" sz="2000" dirty="0"/>
          </a:p>
        </p:txBody>
      </p:sp>
      <p:sp>
        <p:nvSpPr>
          <p:cNvPr id="20" name="Text 17"/>
          <p:cNvSpPr txBox="1"/>
          <p:nvPr/>
        </p:nvSpPr>
        <p:spPr>
          <a:xfrm>
            <a:off x="497681" y="5844381"/>
            <a:ext cx="1763712"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MAHE, Manipal</a:t>
            </a:r>
            <a:endParaRPr lang="en-US" sz="2000" dirty="0"/>
          </a:p>
        </p:txBody>
      </p:sp>
      <p:sp>
        <p:nvSpPr>
          <p:cNvPr id="21" name="Text 18"/>
          <p:cNvSpPr txBox="1"/>
          <p:nvPr/>
        </p:nvSpPr>
        <p:spPr>
          <a:xfrm>
            <a:off x="6187281" y="4316611"/>
            <a:ext cx="1959173" cy="304800"/>
          </a:xfrm>
          <a:prstGeom prst="rect">
            <a:avLst/>
          </a:prstGeom>
          <a:noFill/>
          <a:ln/>
        </p:spPr>
        <p:txBody>
          <a:bodyPr wrap="none" lIns="0" tIns="0" rIns="0" bIns="0" rtlCol="0" anchor="t"/>
          <a:lstStyle/>
          <a:p>
            <a:pPr algn="l" indent="0" marL="0">
              <a:buNone/>
            </a:pPr>
            <a:r>
              <a:rPr lang="en-US" sz="2000" b="1" dirty="0">
                <a:solidFill>
                  <a:srgbClr val="993300"/>
                </a:solidFill>
                <a:latin typeface="Calibri" pitchFamily="34" charset="0"/>
                <a:ea typeface="Calibri" pitchFamily="34" charset="-122"/>
                <a:cs typeface="Calibri" pitchFamily="34" charset="-120"/>
              </a:rPr>
              <a:t>Panel Member 2:</a:t>
            </a:r>
            <a:endParaRPr lang="en-US" sz="2000" dirty="0"/>
          </a:p>
        </p:txBody>
      </p:sp>
      <p:sp>
        <p:nvSpPr>
          <p:cNvPr id="22" name="Text 19"/>
          <p:cNvSpPr txBox="1"/>
          <p:nvPr/>
        </p:nvSpPr>
        <p:spPr>
          <a:xfrm>
            <a:off x="6187281" y="4665861"/>
            <a:ext cx="779661" cy="304800"/>
          </a:xfrm>
          <a:prstGeom prst="rect">
            <a:avLst/>
          </a:prstGeom>
          <a:noFill/>
          <a:ln/>
        </p:spPr>
        <p:txBody>
          <a:bodyPr wrap="none" lIns="0" tIns="0" rIns="0" bIns="0" rtlCol="0" anchor="t"/>
          <a:lstStyle/>
          <a:p>
            <a:pPr algn="l" indent="0" marL="0">
              <a:buNone/>
            </a:pPr>
            <a:r>
              <a:rPr lang="en-US" sz="2000" b="1" dirty="0">
                <a:solidFill>
                  <a:srgbClr val="993300"/>
                </a:solidFill>
                <a:latin typeface="Calibri" pitchFamily="34" charset="0"/>
                <a:ea typeface="Calibri" pitchFamily="34" charset="-122"/>
                <a:cs typeface="Calibri" pitchFamily="34" charset="-120"/>
              </a:rPr>
              <a:t>Name</a:t>
            </a:r>
            <a:endParaRPr lang="en-US" sz="2000" dirty="0"/>
          </a:p>
        </p:txBody>
      </p:sp>
      <p:sp>
        <p:nvSpPr>
          <p:cNvPr id="23" name="Text 20"/>
          <p:cNvSpPr txBox="1"/>
          <p:nvPr/>
        </p:nvSpPr>
        <p:spPr>
          <a:xfrm>
            <a:off x="6187281" y="5030391"/>
            <a:ext cx="1373981"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Designation</a:t>
            </a:r>
            <a:endParaRPr lang="en-US" sz="2000" dirty="0"/>
          </a:p>
        </p:txBody>
      </p:sp>
      <p:sp>
        <p:nvSpPr>
          <p:cNvPr id="24" name="Text 21"/>
          <p:cNvSpPr txBox="1"/>
          <p:nvPr/>
        </p:nvSpPr>
        <p:spPr>
          <a:xfrm>
            <a:off x="6187281" y="5378449"/>
            <a:ext cx="4218384"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Manipal School of Information Sciences</a:t>
            </a:r>
            <a:endParaRPr lang="en-US" sz="2000" dirty="0"/>
          </a:p>
        </p:txBody>
      </p:sp>
      <p:sp>
        <p:nvSpPr>
          <p:cNvPr id="25" name="Text 22"/>
          <p:cNvSpPr txBox="1"/>
          <p:nvPr/>
        </p:nvSpPr>
        <p:spPr>
          <a:xfrm>
            <a:off x="6187281" y="5844381"/>
            <a:ext cx="1763712"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MAHE, Manipal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a:t>
            </a:r>
            <a:endParaRPr lang="en-US" sz="1400" dirty="0"/>
          </a:p>
        </p:txBody>
      </p:sp>
      <p:sp>
        <p:nvSpPr>
          <p:cNvPr id="8" name="Text 5"/>
          <p:cNvSpPr txBox="1"/>
          <p:nvPr/>
        </p:nvSpPr>
        <p:spPr>
          <a:xfrm>
            <a:off x="8165307" y="102195"/>
            <a:ext cx="4087812"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Presentation Outline</a:t>
            </a:r>
            <a:endParaRPr lang="en-US" sz="3600" dirty="0"/>
          </a:p>
        </p:txBody>
      </p:sp>
      <p:sp>
        <p:nvSpPr>
          <p:cNvPr id="9" name="Text 6"/>
          <p:cNvSpPr txBox="1"/>
          <p:nvPr/>
        </p:nvSpPr>
        <p:spPr>
          <a:xfrm>
            <a:off x="497681" y="825500"/>
            <a:ext cx="7747992"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1.</a:t>
            </a:r>
            <a:pPr algn="l" indent="0" marL="0">
              <a:buNone/>
            </a:pPr>
            <a:r>
              <a:rPr lang="en-US" sz="2000" dirty="0">
                <a:solidFill>
                  <a:srgbClr val="000000"/>
                </a:solidFill>
                <a:latin typeface="Calibri" pitchFamily="34" charset="0"/>
                <a:ea typeface="Calibri" pitchFamily="34" charset="-122"/>
                <a:cs typeface="Calibri" pitchFamily="34" charset="-120"/>
              </a:rPr>
              <a:t>Introduction: HTTP methods, URIs and the gap between GET and POST</a:t>
            </a:r>
            <a:endParaRPr lang="en-US" sz="2000" dirty="0"/>
          </a:p>
        </p:txBody>
      </p:sp>
      <p:sp>
        <p:nvSpPr>
          <p:cNvPr id="10" name="Text 7"/>
          <p:cNvSpPr txBox="1"/>
          <p:nvPr/>
        </p:nvSpPr>
        <p:spPr>
          <a:xfrm>
            <a:off x="497681" y="1282501"/>
            <a:ext cx="1571029"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2.</a:t>
            </a:r>
            <a:pPr algn="l" indent="0" marL="0">
              <a:buNone/>
            </a:pPr>
            <a:r>
              <a:rPr lang="en-US" sz="2000" dirty="0">
                <a:solidFill>
                  <a:srgbClr val="000000"/>
                </a:solidFill>
                <a:latin typeface="Calibri" pitchFamily="34" charset="0"/>
                <a:ea typeface="Calibri" pitchFamily="34" charset="-122"/>
                <a:cs typeface="Calibri" pitchFamily="34" charset="-120"/>
              </a:rPr>
              <a:t>Objectives</a:t>
            </a:r>
            <a:endParaRPr lang="en-US" sz="2000" dirty="0"/>
          </a:p>
        </p:txBody>
      </p:sp>
      <p:sp>
        <p:nvSpPr>
          <p:cNvPr id="11" name="Text 8"/>
          <p:cNvSpPr txBox="1"/>
          <p:nvPr/>
        </p:nvSpPr>
        <p:spPr>
          <a:xfrm>
            <a:off x="497681" y="1739701"/>
            <a:ext cx="4665464"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3.</a:t>
            </a:r>
            <a:pPr algn="l" indent="0" marL="0">
              <a:buNone/>
            </a:pPr>
            <a:r>
              <a:rPr lang="en-US" sz="2000" dirty="0">
                <a:solidFill>
                  <a:srgbClr val="000000"/>
                </a:solidFill>
                <a:latin typeface="Calibri" pitchFamily="34" charset="0"/>
                <a:ea typeface="Calibri" pitchFamily="34" charset="-122"/>
                <a:cs typeface="Calibri" pitchFamily="34" charset="-120"/>
              </a:rPr>
              <a:t>Literature Review: standards and studies</a:t>
            </a:r>
            <a:endParaRPr lang="en-US" sz="2000" dirty="0"/>
          </a:p>
        </p:txBody>
      </p:sp>
      <p:sp>
        <p:nvSpPr>
          <p:cNvPr id="12" name="Text 9"/>
          <p:cNvSpPr txBox="1"/>
          <p:nvPr/>
        </p:nvSpPr>
        <p:spPr>
          <a:xfrm>
            <a:off x="497681" y="2196901"/>
            <a:ext cx="5724525"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4.</a:t>
            </a:r>
            <a:pPr algn="l" indent="0" marL="0">
              <a:buNone/>
            </a:pPr>
            <a:r>
              <a:rPr lang="en-US" sz="2000" dirty="0">
                <a:solidFill>
                  <a:srgbClr val="000000"/>
                </a:solidFill>
                <a:latin typeface="Calibri" pitchFamily="34" charset="0"/>
                <a:ea typeface="Calibri" pitchFamily="34" charset="-122"/>
                <a:cs typeface="Calibri" pitchFamily="34" charset="-120"/>
              </a:rPr>
              <a:t>Description: the QUERY method, code and security</a:t>
            </a:r>
            <a:endParaRPr lang="en-US" sz="2000" dirty="0"/>
          </a:p>
        </p:txBody>
      </p:sp>
      <p:sp>
        <p:nvSpPr>
          <p:cNvPr id="13" name="Text 10"/>
          <p:cNvSpPr txBox="1"/>
          <p:nvPr/>
        </p:nvSpPr>
        <p:spPr>
          <a:xfrm>
            <a:off x="497681" y="2654101"/>
            <a:ext cx="1622425"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5.</a:t>
            </a:r>
            <a:pPr algn="l" indent="0" marL="0">
              <a:buNone/>
            </a:pPr>
            <a:r>
              <a:rPr lang="en-US" sz="2000" dirty="0">
                <a:solidFill>
                  <a:srgbClr val="000000"/>
                </a:solidFill>
                <a:latin typeface="Calibri" pitchFamily="34" charset="0"/>
                <a:ea typeface="Calibri" pitchFamily="34" charset="-122"/>
                <a:cs typeface="Calibri" pitchFamily="34" charset="-120"/>
              </a:rPr>
              <a:t>Conclusion</a:t>
            </a:r>
            <a:endParaRPr lang="en-US" sz="2000" dirty="0"/>
          </a:p>
        </p:txBody>
      </p:sp>
      <p:sp>
        <p:nvSpPr>
          <p:cNvPr id="14" name="Text 11"/>
          <p:cNvSpPr txBox="1"/>
          <p:nvPr/>
        </p:nvSpPr>
        <p:spPr>
          <a:xfrm>
            <a:off x="497681" y="3111301"/>
            <a:ext cx="1285875"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References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3</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4393803"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An HTTP request and its response</a:t>
            </a:r>
            <a:endParaRPr lang="en-US" sz="2400" dirty="0"/>
          </a:p>
        </p:txBody>
      </p:sp>
      <p:sp>
        <p:nvSpPr>
          <p:cNvPr id="10" name="Shape 7"/>
          <p:cNvSpPr/>
          <p:nvPr/>
        </p:nvSpPr>
        <p:spPr>
          <a:xfrm>
            <a:off x="294481" y="1513681"/>
            <a:ext cx="6472237" cy="4191000"/>
          </a:xfrm>
          <a:prstGeom prst="rect">
            <a:avLst/>
          </a:prstGeom>
          <a:noFill/>
          <a:ln w="12700">
            <a:solidFill>
              <a:srgbClr val="333399"/>
            </a:solidFill>
            <a:prstDash val="solid"/>
          </a:ln>
        </p:spPr>
      </p:sp>
      <p:sp>
        <p:nvSpPr>
          <p:cNvPr id="11" name="Text 8"/>
          <p:cNvSpPr txBox="1"/>
          <p:nvPr/>
        </p:nvSpPr>
        <p:spPr>
          <a:xfrm>
            <a:off x="459581" y="1691481"/>
            <a:ext cx="1966317"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a GET exchange</a:t>
            </a:r>
            <a:endParaRPr lang="en-US" sz="1700" dirty="0"/>
          </a:p>
        </p:txBody>
      </p:sp>
      <p:sp>
        <p:nvSpPr>
          <p:cNvPr id="12" name="Shape 9"/>
          <p:cNvSpPr/>
          <p:nvPr/>
        </p:nvSpPr>
        <p:spPr>
          <a:xfrm>
            <a:off x="5535612" y="2094508"/>
            <a:ext cx="209748" cy="209748"/>
          </a:xfrm>
          <a:prstGeom prst="roundRect">
            <a:avLst>
              <a:gd name="adj" fmla="val 50000"/>
            </a:avLst>
          </a:prstGeom>
          <a:solidFill>
            <a:srgbClr val="CC6600"/>
          </a:solidFill>
          <a:ln/>
        </p:spPr>
      </p:sp>
      <p:sp>
        <p:nvSpPr>
          <p:cNvPr id="13" name="Text 10"/>
          <p:cNvSpPr txBox="1"/>
          <p:nvPr/>
        </p:nvSpPr>
        <p:spPr>
          <a:xfrm>
            <a:off x="5600899" y="2096293"/>
            <a:ext cx="231379" cy="190500"/>
          </a:xfrm>
          <a:prstGeom prst="rect">
            <a:avLst/>
          </a:prstGeom>
          <a:noFill/>
          <a:ln/>
        </p:spPr>
        <p:txBody>
          <a:bodyPr wrap="none" lIns="0" tIns="0" rIns="0" bIns="0" rtlCol="0" anchor="t"/>
          <a:lstStyle/>
          <a:p>
            <a:pPr algn="l" indent="0" marL="0">
              <a:buNone/>
            </a:pPr>
            <a:r>
              <a:rPr lang="en-US" sz="1224" dirty="0">
                <a:solidFill>
                  <a:srgbClr val="FFFFFF"/>
                </a:solidFill>
                <a:latin typeface="Calibri" pitchFamily="34" charset="0"/>
                <a:ea typeface="Calibri" pitchFamily="34" charset="-122"/>
                <a:cs typeface="Calibri" pitchFamily="34" charset="-120"/>
              </a:rPr>
              <a:t>1</a:t>
            </a:r>
            <a:endParaRPr lang="en-US" sz="1224" dirty="0"/>
          </a:p>
        </p:txBody>
      </p:sp>
      <p:sp>
        <p:nvSpPr>
          <p:cNvPr id="14" name="Text 11"/>
          <p:cNvSpPr txBox="1"/>
          <p:nvPr/>
        </p:nvSpPr>
        <p:spPr>
          <a:xfrm>
            <a:off x="459581" y="2086372"/>
            <a:ext cx="5076031" cy="241300"/>
          </a:xfrm>
          <a:prstGeom prst="rect">
            <a:avLst/>
          </a:prstGeom>
          <a:noFill/>
          <a:ln/>
        </p:spPr>
        <p:txBody>
          <a:bodyPr wrap="none" lIns="0" tIns="0" rIns="0" bIns="0" rtlCol="0" anchor="t"/>
          <a:lstStyle/>
          <a:p>
            <a:pPr algn="l" indent="0" marL="0">
              <a:buNone/>
            </a:pPr>
            <a:r>
              <a:rPr lang="en-US" sz="1700" b="1" dirty="0">
                <a:solidFill>
                  <a:srgbClr val="333399"/>
                </a:solidFill>
                <a:latin typeface="Courier New" pitchFamily="34" charset="0"/>
                <a:ea typeface="Courier New" pitchFamily="34" charset="-122"/>
                <a:cs typeface="Courier New" pitchFamily="34" charset="-120"/>
              </a:rPr>
              <a:t>GET</a:t>
            </a:r>
            <a:pPr algn="l" indent="0" marL="0">
              <a:buNone/>
            </a:pPr>
            <a:r>
              <a:rPr lang="en-US" sz="1700" b="1" dirty="0">
                <a:solidFill>
                  <a:srgbClr val="000000"/>
                </a:solidFill>
                <a:latin typeface="Courier New" pitchFamily="34" charset="0"/>
                <a:ea typeface="Courier New" pitchFamily="34" charset="-122"/>
                <a:cs typeface="Courier New" pitchFamily="34" charset="-120"/>
              </a:rPr>
              <a:t> /products?category=laptop </a:t>
            </a:r>
            <a:pPr algn="l" indent="0" marL="0">
              <a:buNone/>
            </a:pPr>
            <a:r>
              <a:rPr lang="en-US" sz="1700" b="1" dirty="0">
                <a:solidFill>
                  <a:srgbClr val="333399"/>
                </a:solidFill>
                <a:latin typeface="Courier New" pitchFamily="34" charset="0"/>
                <a:ea typeface="Courier New" pitchFamily="34" charset="-122"/>
                <a:cs typeface="Courier New" pitchFamily="34" charset="-120"/>
              </a:rPr>
              <a:t>HTTP</a:t>
            </a:r>
            <a:pPr algn="l" indent="0" marL="0">
              <a:buNone/>
            </a:pPr>
            <a:r>
              <a:rPr lang="en-US" sz="1700" b="1" dirty="0">
                <a:solidFill>
                  <a:srgbClr val="000000"/>
                </a:solidFill>
                <a:latin typeface="Courier New" pitchFamily="34" charset="0"/>
                <a:ea typeface="Courier New" pitchFamily="34" charset="-122"/>
                <a:cs typeface="Courier New" pitchFamily="34" charset="-120"/>
              </a:rPr>
              <a:t>/</a:t>
            </a:r>
            <a:pPr algn="l" indent="0" marL="0">
              <a:buNone/>
            </a:pPr>
            <a:r>
              <a:rPr lang="en-US" sz="1700" b="1" dirty="0">
                <a:solidFill>
                  <a:srgbClr val="CC6600"/>
                </a:solidFill>
                <a:latin typeface="Courier New" pitchFamily="34" charset="0"/>
                <a:ea typeface="Courier New" pitchFamily="34" charset="-122"/>
                <a:cs typeface="Courier New" pitchFamily="34" charset="-120"/>
              </a:rPr>
              <a:t>1.1</a:t>
            </a:r>
            <a:endParaRPr lang="en-US" sz="1700" dirty="0"/>
          </a:p>
        </p:txBody>
      </p:sp>
      <p:sp>
        <p:nvSpPr>
          <p:cNvPr id="15" name="Text 12"/>
          <p:cNvSpPr txBox="1"/>
          <p:nvPr/>
        </p:nvSpPr>
        <p:spPr>
          <a:xfrm>
            <a:off x="459581" y="2383235"/>
            <a:ext cx="2484636" cy="241300"/>
          </a:xfrm>
          <a:prstGeom prst="rect">
            <a:avLst/>
          </a:prstGeom>
          <a:noFill/>
          <a:ln/>
        </p:spPr>
        <p:txBody>
          <a:bodyPr wrap="none" lIns="0" tIns="0" rIns="0" bIns="0" rtlCol="0" anchor="t"/>
          <a:lstStyle/>
          <a:p>
            <a:pPr algn="l" indent="0" marL="0">
              <a:buNone/>
            </a:pPr>
            <a:r>
              <a:rPr lang="en-US" sz="1700" b="1" dirty="0">
                <a:solidFill>
                  <a:srgbClr val="993300"/>
                </a:solidFill>
                <a:latin typeface="Courier New" pitchFamily="34" charset="0"/>
                <a:ea typeface="Courier New" pitchFamily="34" charset="-122"/>
                <a:cs typeface="Courier New" pitchFamily="34" charset="-120"/>
              </a:rPr>
              <a:t>Host</a:t>
            </a:r>
            <a:pPr algn="l" indent="0" marL="0">
              <a:buNone/>
            </a:pPr>
            <a:r>
              <a:rPr lang="en-US" sz="1700" b="1" dirty="0">
                <a:solidFill>
                  <a:srgbClr val="333399"/>
                </a:solidFill>
                <a:latin typeface="Courier New" pitchFamily="34" charset="0"/>
                <a:ea typeface="Courier New" pitchFamily="34" charset="-122"/>
                <a:cs typeface="Courier New" pitchFamily="34" charset="-120"/>
              </a:rPr>
              <a:t>:</a:t>
            </a:r>
            <a:pPr algn="l" indent="0" marL="0">
              <a:buNone/>
            </a:pPr>
            <a:r>
              <a:rPr lang="en-US" sz="1700" b="1" dirty="0">
                <a:solidFill>
                  <a:srgbClr val="000000"/>
                </a:solidFill>
                <a:latin typeface="Courier New" pitchFamily="34" charset="0"/>
                <a:ea typeface="Courier New" pitchFamily="34" charset="-122"/>
                <a:cs typeface="Courier New" pitchFamily="34" charset="-120"/>
              </a:rPr>
              <a:t> </a:t>
            </a:r>
            <a:pPr algn="l" indent="0" marL="0">
              <a:buNone/>
            </a:pPr>
            <a:r>
              <a:rPr lang="en-US" sz="1700" b="1" dirty="0">
                <a:solidFill>
                  <a:srgbClr val="993300"/>
                </a:solidFill>
                <a:latin typeface="Courier New" pitchFamily="34" charset="0"/>
                <a:ea typeface="Courier New" pitchFamily="34" charset="-122"/>
                <a:cs typeface="Courier New" pitchFamily="34" charset="-120"/>
              </a:rPr>
              <a:t>shop.example</a:t>
            </a:r>
            <a:endParaRPr lang="en-US" sz="1700" dirty="0"/>
          </a:p>
        </p:txBody>
      </p:sp>
      <p:sp>
        <p:nvSpPr>
          <p:cNvPr id="16" name="Text 13"/>
          <p:cNvSpPr txBox="1"/>
          <p:nvPr/>
        </p:nvSpPr>
        <p:spPr>
          <a:xfrm>
            <a:off x="459581" y="2680097"/>
            <a:ext cx="3262115" cy="241300"/>
          </a:xfrm>
          <a:prstGeom prst="rect">
            <a:avLst/>
          </a:prstGeom>
          <a:noFill/>
          <a:ln/>
        </p:spPr>
        <p:txBody>
          <a:bodyPr wrap="none" lIns="0" tIns="0" rIns="0" bIns="0" rtlCol="0" anchor="t"/>
          <a:lstStyle/>
          <a:p>
            <a:pPr algn="l" indent="0" marL="0">
              <a:buNone/>
            </a:pPr>
            <a:r>
              <a:rPr lang="en-US" sz="1700" b="1" dirty="0">
                <a:solidFill>
                  <a:srgbClr val="993300"/>
                </a:solidFill>
                <a:latin typeface="Courier New" pitchFamily="34" charset="0"/>
                <a:ea typeface="Courier New" pitchFamily="34" charset="-122"/>
                <a:cs typeface="Courier New" pitchFamily="34" charset="-120"/>
              </a:rPr>
              <a:t>Accept</a:t>
            </a:r>
            <a:pPr algn="l" indent="0" marL="0">
              <a:buNone/>
            </a:pPr>
            <a:r>
              <a:rPr lang="en-US" sz="1700" b="1" dirty="0">
                <a:solidFill>
                  <a:srgbClr val="333399"/>
                </a:solidFill>
                <a:latin typeface="Courier New" pitchFamily="34" charset="0"/>
                <a:ea typeface="Courier New" pitchFamily="34" charset="-122"/>
                <a:cs typeface="Courier New" pitchFamily="34" charset="-120"/>
              </a:rPr>
              <a:t>:</a:t>
            </a:r>
            <a:pPr algn="l" indent="0" marL="0">
              <a:buNone/>
            </a:pPr>
            <a:r>
              <a:rPr lang="en-US" sz="1700" b="1" dirty="0">
                <a:solidFill>
                  <a:srgbClr val="000000"/>
                </a:solidFill>
                <a:latin typeface="Courier New" pitchFamily="34" charset="0"/>
                <a:ea typeface="Courier New" pitchFamily="34" charset="-122"/>
                <a:cs typeface="Courier New" pitchFamily="34" charset="-120"/>
              </a:rPr>
              <a:t> </a:t>
            </a:r>
            <a:pPr algn="l" indent="0" marL="0">
              <a:buNone/>
            </a:pPr>
            <a:r>
              <a:rPr lang="en-US" sz="1700" b="1" dirty="0">
                <a:solidFill>
                  <a:srgbClr val="993300"/>
                </a:solidFill>
                <a:latin typeface="Courier New" pitchFamily="34" charset="0"/>
                <a:ea typeface="Courier New" pitchFamily="34" charset="-122"/>
                <a:cs typeface="Courier New" pitchFamily="34" charset="-120"/>
              </a:rPr>
              <a:t>application/json</a:t>
            </a:r>
            <a:endParaRPr lang="en-US" sz="1700" dirty="0"/>
          </a:p>
        </p:txBody>
      </p:sp>
      <p:sp>
        <p:nvSpPr>
          <p:cNvPr id="17" name="Shape 14"/>
          <p:cNvSpPr/>
          <p:nvPr/>
        </p:nvSpPr>
        <p:spPr>
          <a:xfrm>
            <a:off x="6183312" y="2985095"/>
            <a:ext cx="209748" cy="209748"/>
          </a:xfrm>
          <a:prstGeom prst="roundRect">
            <a:avLst>
              <a:gd name="adj" fmla="val 50000"/>
            </a:avLst>
          </a:prstGeom>
          <a:solidFill>
            <a:srgbClr val="CC6600"/>
          </a:solidFill>
          <a:ln/>
        </p:spPr>
      </p:sp>
      <p:sp>
        <p:nvSpPr>
          <p:cNvPr id="18" name="Text 15"/>
          <p:cNvSpPr txBox="1"/>
          <p:nvPr/>
        </p:nvSpPr>
        <p:spPr>
          <a:xfrm>
            <a:off x="6248599" y="2986881"/>
            <a:ext cx="231379" cy="190500"/>
          </a:xfrm>
          <a:prstGeom prst="rect">
            <a:avLst/>
          </a:prstGeom>
          <a:noFill/>
          <a:ln/>
        </p:spPr>
        <p:txBody>
          <a:bodyPr wrap="none" lIns="0" tIns="0" rIns="0" bIns="0" rtlCol="0" anchor="t"/>
          <a:lstStyle/>
          <a:p>
            <a:pPr algn="l" indent="0" marL="0">
              <a:buNone/>
            </a:pPr>
            <a:r>
              <a:rPr lang="en-US" sz="1224" dirty="0">
                <a:solidFill>
                  <a:srgbClr val="FFFFFF"/>
                </a:solidFill>
                <a:latin typeface="Calibri" pitchFamily="34" charset="0"/>
                <a:ea typeface="Calibri" pitchFamily="34" charset="-122"/>
                <a:cs typeface="Calibri" pitchFamily="34" charset="-120"/>
              </a:rPr>
              <a:t>2</a:t>
            </a:r>
            <a:endParaRPr lang="en-US" sz="1224" dirty="0"/>
          </a:p>
        </p:txBody>
      </p:sp>
      <p:sp>
        <p:nvSpPr>
          <p:cNvPr id="19" name="Text 16"/>
          <p:cNvSpPr txBox="1"/>
          <p:nvPr/>
        </p:nvSpPr>
        <p:spPr>
          <a:xfrm>
            <a:off x="459581" y="2976960"/>
            <a:ext cx="5723731" cy="241300"/>
          </a:xfrm>
          <a:prstGeom prst="rect">
            <a:avLst/>
          </a:prstGeom>
          <a:noFill/>
          <a:ln/>
        </p:spPr>
        <p:txBody>
          <a:bodyPr wrap="none" lIns="0" tIns="0" rIns="0" bIns="0" rtlCol="0" anchor="t"/>
          <a:lstStyle/>
          <a:p>
            <a:pPr algn="l" indent="0" marL="0">
              <a:buNone/>
            </a:pPr>
            <a:r>
              <a:rPr lang="en-US" sz="1700" b="1" dirty="0">
                <a:solidFill>
                  <a:srgbClr val="993300"/>
                </a:solidFill>
                <a:latin typeface="Courier New" pitchFamily="34" charset="0"/>
                <a:ea typeface="Courier New" pitchFamily="34" charset="-122"/>
                <a:cs typeface="Courier New" pitchFamily="34" charset="-120"/>
              </a:rPr>
              <a:t>Authorization</a:t>
            </a:r>
            <a:pPr algn="l" indent="0" marL="0">
              <a:buNone/>
            </a:pPr>
            <a:r>
              <a:rPr lang="en-US" sz="1700" b="1" dirty="0">
                <a:solidFill>
                  <a:srgbClr val="333399"/>
                </a:solidFill>
                <a:latin typeface="Courier New" pitchFamily="34" charset="0"/>
                <a:ea typeface="Courier New" pitchFamily="34" charset="-122"/>
                <a:cs typeface="Courier New" pitchFamily="34" charset="-120"/>
              </a:rPr>
              <a:t>:</a:t>
            </a:r>
            <a:pPr algn="l" indent="0" marL="0">
              <a:buNone/>
            </a:pPr>
            <a:r>
              <a:rPr lang="en-US" sz="1700" b="1" dirty="0">
                <a:solidFill>
                  <a:srgbClr val="000000"/>
                </a:solidFill>
                <a:latin typeface="Courier New" pitchFamily="34" charset="0"/>
                <a:ea typeface="Courier New" pitchFamily="34" charset="-122"/>
                <a:cs typeface="Courier New" pitchFamily="34" charset="-120"/>
              </a:rPr>
              <a:t> </a:t>
            </a:r>
            <a:pPr algn="l" indent="0" marL="0">
              <a:buNone/>
            </a:pPr>
            <a:r>
              <a:rPr lang="en-US" sz="1700" b="1" dirty="0">
                <a:solidFill>
                  <a:srgbClr val="993300"/>
                </a:solidFill>
                <a:latin typeface="Courier New" pitchFamily="34" charset="0"/>
                <a:ea typeface="Courier New" pitchFamily="34" charset="-122"/>
                <a:cs typeface="Courier New" pitchFamily="34" charset="-120"/>
              </a:rPr>
              <a:t>Bearer eyJhbGciOiJFUzI1NiJ9…</a:t>
            </a:r>
            <a:endParaRPr lang="en-US" sz="1700" dirty="0"/>
          </a:p>
        </p:txBody>
      </p:sp>
      <p:sp>
        <p:nvSpPr>
          <p:cNvPr id="20" name="Shape 17"/>
          <p:cNvSpPr/>
          <p:nvPr/>
        </p:nvSpPr>
        <p:spPr>
          <a:xfrm>
            <a:off x="2555676" y="3578820"/>
            <a:ext cx="209748" cy="209748"/>
          </a:xfrm>
          <a:prstGeom prst="roundRect">
            <a:avLst>
              <a:gd name="adj" fmla="val 50000"/>
            </a:avLst>
          </a:prstGeom>
          <a:solidFill>
            <a:srgbClr val="CC6600"/>
          </a:solidFill>
          <a:ln/>
        </p:spPr>
      </p:sp>
      <p:sp>
        <p:nvSpPr>
          <p:cNvPr id="21" name="Text 18"/>
          <p:cNvSpPr txBox="1"/>
          <p:nvPr/>
        </p:nvSpPr>
        <p:spPr>
          <a:xfrm>
            <a:off x="2620963" y="3580607"/>
            <a:ext cx="231379" cy="190500"/>
          </a:xfrm>
          <a:prstGeom prst="rect">
            <a:avLst/>
          </a:prstGeom>
          <a:noFill/>
          <a:ln/>
        </p:spPr>
        <p:txBody>
          <a:bodyPr wrap="none" lIns="0" tIns="0" rIns="0" bIns="0" rtlCol="0" anchor="t"/>
          <a:lstStyle/>
          <a:p>
            <a:pPr algn="l" indent="0" marL="0">
              <a:buNone/>
            </a:pPr>
            <a:r>
              <a:rPr lang="en-US" sz="1224" dirty="0">
                <a:solidFill>
                  <a:srgbClr val="FFFFFF"/>
                </a:solidFill>
                <a:latin typeface="Calibri" pitchFamily="34" charset="0"/>
                <a:ea typeface="Calibri" pitchFamily="34" charset="-122"/>
                <a:cs typeface="Calibri" pitchFamily="34" charset="-120"/>
              </a:rPr>
              <a:t>3</a:t>
            </a:r>
            <a:endParaRPr lang="en-US" sz="1224" dirty="0"/>
          </a:p>
        </p:txBody>
      </p:sp>
      <p:sp>
        <p:nvSpPr>
          <p:cNvPr id="22" name="Text 19"/>
          <p:cNvSpPr txBox="1"/>
          <p:nvPr/>
        </p:nvSpPr>
        <p:spPr>
          <a:xfrm>
            <a:off x="459581" y="3570684"/>
            <a:ext cx="2096095" cy="241300"/>
          </a:xfrm>
          <a:prstGeom prst="rect">
            <a:avLst/>
          </a:prstGeom>
          <a:noFill/>
          <a:ln/>
        </p:spPr>
        <p:txBody>
          <a:bodyPr wrap="none" lIns="0" tIns="0" rIns="0" bIns="0" rtlCol="0" anchor="t"/>
          <a:lstStyle/>
          <a:p>
            <a:pPr algn="l" indent="0" marL="0">
              <a:buNone/>
            </a:pPr>
            <a:r>
              <a:rPr lang="en-US" sz="1700" b="1" dirty="0">
                <a:solidFill>
                  <a:srgbClr val="333399"/>
                </a:solidFill>
                <a:latin typeface="Courier New" pitchFamily="34" charset="0"/>
                <a:ea typeface="Courier New" pitchFamily="34" charset="-122"/>
                <a:cs typeface="Courier New" pitchFamily="34" charset="-120"/>
              </a:rPr>
              <a:t>HTTP</a:t>
            </a:r>
            <a:pPr algn="l" indent="0" marL="0">
              <a:buNone/>
            </a:pPr>
            <a:r>
              <a:rPr lang="en-US" sz="1700" b="1" dirty="0">
                <a:solidFill>
                  <a:srgbClr val="000000"/>
                </a:solidFill>
                <a:latin typeface="Courier New" pitchFamily="34" charset="0"/>
                <a:ea typeface="Courier New" pitchFamily="34" charset="-122"/>
                <a:cs typeface="Courier New" pitchFamily="34" charset="-120"/>
              </a:rPr>
              <a:t>/</a:t>
            </a:r>
            <a:pPr algn="l" indent="0" marL="0">
              <a:buNone/>
            </a:pPr>
            <a:r>
              <a:rPr lang="en-US" sz="1700" b="1" dirty="0">
                <a:solidFill>
                  <a:srgbClr val="CC6600"/>
                </a:solidFill>
                <a:latin typeface="Courier New" pitchFamily="34" charset="0"/>
                <a:ea typeface="Courier New" pitchFamily="34" charset="-122"/>
                <a:cs typeface="Courier New" pitchFamily="34" charset="-120"/>
              </a:rPr>
              <a:t>1.1</a:t>
            </a:r>
            <a:pPr algn="l" indent="0" marL="0">
              <a:buNone/>
            </a:pPr>
            <a:r>
              <a:rPr lang="en-US" sz="1700" b="1" dirty="0">
                <a:solidFill>
                  <a:srgbClr val="000000"/>
                </a:solidFill>
                <a:latin typeface="Courier New" pitchFamily="34" charset="0"/>
                <a:ea typeface="Courier New" pitchFamily="34" charset="-122"/>
                <a:cs typeface="Courier New" pitchFamily="34" charset="-120"/>
              </a:rPr>
              <a:t> </a:t>
            </a:r>
            <a:pPr algn="l" indent="0" marL="0">
              <a:buNone/>
            </a:pPr>
            <a:r>
              <a:rPr lang="en-US" sz="1700" b="1" dirty="0">
                <a:solidFill>
                  <a:srgbClr val="CC6600"/>
                </a:solidFill>
                <a:latin typeface="Courier New" pitchFamily="34" charset="0"/>
                <a:ea typeface="Courier New" pitchFamily="34" charset="-122"/>
                <a:cs typeface="Courier New" pitchFamily="34" charset="-120"/>
              </a:rPr>
              <a:t>200</a:t>
            </a:r>
            <a:pPr algn="l" indent="0" marL="0">
              <a:buNone/>
            </a:pPr>
            <a:r>
              <a:rPr lang="en-US" sz="1700" b="1" dirty="0">
                <a:solidFill>
                  <a:srgbClr val="000000"/>
                </a:solidFill>
                <a:latin typeface="Courier New" pitchFamily="34" charset="0"/>
                <a:ea typeface="Courier New" pitchFamily="34" charset="-122"/>
                <a:cs typeface="Courier New" pitchFamily="34" charset="-120"/>
              </a:rPr>
              <a:t> </a:t>
            </a:r>
            <a:pPr algn="l" indent="0" marL="0">
              <a:buNone/>
            </a:pPr>
            <a:r>
              <a:rPr lang="en-US" sz="1700" b="1" dirty="0">
                <a:solidFill>
                  <a:srgbClr val="993300"/>
                </a:solidFill>
                <a:latin typeface="Courier New" pitchFamily="34" charset="0"/>
                <a:ea typeface="Courier New" pitchFamily="34" charset="-122"/>
                <a:cs typeface="Courier New" pitchFamily="34" charset="-120"/>
              </a:rPr>
              <a:t>OK</a:t>
            </a:r>
            <a:endParaRPr lang="en-US" sz="1700" dirty="0"/>
          </a:p>
        </p:txBody>
      </p:sp>
      <p:sp>
        <p:nvSpPr>
          <p:cNvPr id="23" name="Text 20"/>
          <p:cNvSpPr txBox="1"/>
          <p:nvPr/>
        </p:nvSpPr>
        <p:spPr>
          <a:xfrm>
            <a:off x="459581" y="3867547"/>
            <a:ext cx="4039393" cy="241300"/>
          </a:xfrm>
          <a:prstGeom prst="rect">
            <a:avLst/>
          </a:prstGeom>
          <a:noFill/>
          <a:ln/>
        </p:spPr>
        <p:txBody>
          <a:bodyPr wrap="none" lIns="0" tIns="0" rIns="0" bIns="0" rtlCol="0" anchor="t"/>
          <a:lstStyle/>
          <a:p>
            <a:pPr algn="l" indent="0" marL="0">
              <a:buNone/>
            </a:pPr>
            <a:r>
              <a:rPr lang="en-US" sz="1700" b="1" dirty="0">
                <a:solidFill>
                  <a:srgbClr val="993300"/>
                </a:solidFill>
                <a:latin typeface="Courier New" pitchFamily="34" charset="0"/>
                <a:ea typeface="Courier New" pitchFamily="34" charset="-122"/>
                <a:cs typeface="Courier New" pitchFamily="34" charset="-120"/>
              </a:rPr>
              <a:t>Content-Type</a:t>
            </a:r>
            <a:pPr algn="l" indent="0" marL="0">
              <a:buNone/>
            </a:pPr>
            <a:r>
              <a:rPr lang="en-US" sz="1700" b="1" dirty="0">
                <a:solidFill>
                  <a:srgbClr val="333399"/>
                </a:solidFill>
                <a:latin typeface="Courier New" pitchFamily="34" charset="0"/>
                <a:ea typeface="Courier New" pitchFamily="34" charset="-122"/>
                <a:cs typeface="Courier New" pitchFamily="34" charset="-120"/>
              </a:rPr>
              <a:t>:</a:t>
            </a:r>
            <a:pPr algn="l" indent="0" marL="0">
              <a:buNone/>
            </a:pPr>
            <a:r>
              <a:rPr lang="en-US" sz="1700" b="1" dirty="0">
                <a:solidFill>
                  <a:srgbClr val="000000"/>
                </a:solidFill>
                <a:latin typeface="Courier New" pitchFamily="34" charset="0"/>
                <a:ea typeface="Courier New" pitchFamily="34" charset="-122"/>
                <a:cs typeface="Courier New" pitchFamily="34" charset="-120"/>
              </a:rPr>
              <a:t> </a:t>
            </a:r>
            <a:pPr algn="l" indent="0" marL="0">
              <a:buNone/>
            </a:pPr>
            <a:r>
              <a:rPr lang="en-US" sz="1700" b="1" dirty="0">
                <a:solidFill>
                  <a:srgbClr val="993300"/>
                </a:solidFill>
                <a:latin typeface="Courier New" pitchFamily="34" charset="0"/>
                <a:ea typeface="Courier New" pitchFamily="34" charset="-122"/>
                <a:cs typeface="Courier New" pitchFamily="34" charset="-120"/>
              </a:rPr>
              <a:t>application/json</a:t>
            </a:r>
            <a:endParaRPr lang="en-US" sz="1700" dirty="0"/>
          </a:p>
        </p:txBody>
      </p:sp>
      <p:sp>
        <p:nvSpPr>
          <p:cNvPr id="24" name="Text 21"/>
          <p:cNvSpPr txBox="1"/>
          <p:nvPr/>
        </p:nvSpPr>
        <p:spPr>
          <a:xfrm>
            <a:off x="459581" y="4164409"/>
            <a:ext cx="3391693" cy="241300"/>
          </a:xfrm>
          <a:prstGeom prst="rect">
            <a:avLst/>
          </a:prstGeom>
          <a:noFill/>
          <a:ln/>
        </p:spPr>
        <p:txBody>
          <a:bodyPr wrap="none" lIns="0" tIns="0" rIns="0" bIns="0" rtlCol="0" anchor="t"/>
          <a:lstStyle/>
          <a:p>
            <a:pPr algn="l" indent="0" marL="0">
              <a:buNone/>
            </a:pPr>
            <a:r>
              <a:rPr lang="en-US" sz="1700" b="1" dirty="0">
                <a:solidFill>
                  <a:srgbClr val="993300"/>
                </a:solidFill>
                <a:latin typeface="Courier New" pitchFamily="34" charset="0"/>
                <a:ea typeface="Courier New" pitchFamily="34" charset="-122"/>
                <a:cs typeface="Courier New" pitchFamily="34" charset="-120"/>
              </a:rPr>
              <a:t>Cache-Control</a:t>
            </a:r>
            <a:pPr algn="l" indent="0" marL="0">
              <a:buNone/>
            </a:pPr>
            <a:r>
              <a:rPr lang="en-US" sz="1700" b="1" dirty="0">
                <a:solidFill>
                  <a:srgbClr val="333399"/>
                </a:solidFill>
                <a:latin typeface="Courier New" pitchFamily="34" charset="0"/>
                <a:ea typeface="Courier New" pitchFamily="34" charset="-122"/>
                <a:cs typeface="Courier New" pitchFamily="34" charset="-120"/>
              </a:rPr>
              <a:t>:</a:t>
            </a:r>
            <a:pPr algn="l" indent="0" marL="0">
              <a:buNone/>
            </a:pPr>
            <a:r>
              <a:rPr lang="en-US" sz="1700" b="1" dirty="0">
                <a:solidFill>
                  <a:srgbClr val="000000"/>
                </a:solidFill>
                <a:latin typeface="Courier New" pitchFamily="34" charset="0"/>
                <a:ea typeface="Courier New" pitchFamily="34" charset="-122"/>
                <a:cs typeface="Courier New" pitchFamily="34" charset="-120"/>
              </a:rPr>
              <a:t> </a:t>
            </a:r>
            <a:pPr algn="l" indent="0" marL="0">
              <a:buNone/>
            </a:pPr>
            <a:r>
              <a:rPr lang="en-US" sz="1700" b="1" dirty="0">
                <a:solidFill>
                  <a:srgbClr val="993300"/>
                </a:solidFill>
                <a:latin typeface="Courier New" pitchFamily="34" charset="0"/>
                <a:ea typeface="Courier New" pitchFamily="34" charset="-122"/>
                <a:cs typeface="Courier New" pitchFamily="34" charset="-120"/>
              </a:rPr>
              <a:t>max-age=60</a:t>
            </a:r>
            <a:endParaRPr lang="en-US" sz="1700" dirty="0"/>
          </a:p>
        </p:txBody>
      </p:sp>
      <p:sp>
        <p:nvSpPr>
          <p:cNvPr id="25" name="Shape 22"/>
          <p:cNvSpPr/>
          <p:nvPr/>
        </p:nvSpPr>
        <p:spPr>
          <a:xfrm>
            <a:off x="7479507" y="4766271"/>
            <a:ext cx="209748" cy="209748"/>
          </a:xfrm>
          <a:prstGeom prst="roundRect">
            <a:avLst>
              <a:gd name="adj" fmla="val 50000"/>
            </a:avLst>
          </a:prstGeom>
          <a:solidFill>
            <a:srgbClr val="CC6600"/>
          </a:solidFill>
          <a:ln/>
        </p:spPr>
      </p:sp>
      <p:sp>
        <p:nvSpPr>
          <p:cNvPr id="26" name="Text 23"/>
          <p:cNvSpPr txBox="1"/>
          <p:nvPr/>
        </p:nvSpPr>
        <p:spPr>
          <a:xfrm>
            <a:off x="7544792" y="4768056"/>
            <a:ext cx="231379" cy="190500"/>
          </a:xfrm>
          <a:prstGeom prst="rect">
            <a:avLst/>
          </a:prstGeom>
          <a:noFill/>
          <a:ln/>
        </p:spPr>
        <p:txBody>
          <a:bodyPr wrap="none" lIns="0" tIns="0" rIns="0" bIns="0" rtlCol="0" anchor="t"/>
          <a:lstStyle/>
          <a:p>
            <a:pPr algn="l" indent="0" marL="0">
              <a:buNone/>
            </a:pPr>
            <a:r>
              <a:rPr lang="en-US" sz="1224" dirty="0">
                <a:solidFill>
                  <a:srgbClr val="FFFFFF"/>
                </a:solidFill>
                <a:latin typeface="Calibri" pitchFamily="34" charset="0"/>
                <a:ea typeface="Calibri" pitchFamily="34" charset="-122"/>
                <a:cs typeface="Calibri" pitchFamily="34" charset="-120"/>
              </a:rPr>
              <a:t>4</a:t>
            </a:r>
            <a:endParaRPr lang="en-US" sz="1224" dirty="0"/>
          </a:p>
        </p:txBody>
      </p:sp>
      <p:sp>
        <p:nvSpPr>
          <p:cNvPr id="27" name="Text 24"/>
          <p:cNvSpPr txBox="1"/>
          <p:nvPr/>
        </p:nvSpPr>
        <p:spPr>
          <a:xfrm>
            <a:off x="459581" y="4758135"/>
            <a:ext cx="7019925"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 </a:t>
            </a:r>
            <a:pPr algn="l" indent="0" marL="0">
              <a:buNone/>
            </a:pPr>
            <a:r>
              <a:rPr lang="en-US" sz="1700" b="1" dirty="0">
                <a:solidFill>
                  <a:srgbClr val="333399"/>
                </a:solidFill>
                <a:latin typeface="Courier New" pitchFamily="34" charset="0"/>
                <a:ea typeface="Courier New" pitchFamily="34" charset="-122"/>
                <a:cs typeface="Courier New" pitchFamily="34" charset="-120"/>
              </a:rPr>
              <a:t>"results"</a:t>
            </a:r>
            <a:pPr algn="l" indent="0" marL="0">
              <a:buNone/>
            </a:pPr>
            <a:r>
              <a:rPr lang="en-US" sz="1700" b="1" dirty="0">
                <a:solidFill>
                  <a:srgbClr val="000000"/>
                </a:solidFill>
                <a:latin typeface="Courier New" pitchFamily="34" charset="0"/>
                <a:ea typeface="Courier New" pitchFamily="34" charset="-122"/>
                <a:cs typeface="Courier New" pitchFamily="34" charset="-120"/>
              </a:rPr>
              <a:t>:</a:t>
            </a:r>
            <a:pPr algn="l" indent="0" marL="0">
              <a:buNone/>
            </a:pPr>
            <a:r>
              <a:rPr lang="en-US" sz="1700" b="1" dirty="0">
                <a:solidFill>
                  <a:srgbClr val="000000"/>
                </a:solidFill>
                <a:latin typeface="Courier New" pitchFamily="34" charset="0"/>
                <a:ea typeface="Courier New" pitchFamily="34" charset="-122"/>
                <a:cs typeface="Courier New" pitchFamily="34" charset="-120"/>
              </a:rPr>
              <a:t> [ { </a:t>
            </a:r>
            <a:pPr algn="l" indent="0" marL="0">
              <a:buNone/>
            </a:pPr>
            <a:r>
              <a:rPr lang="en-US" sz="1700" b="1" dirty="0">
                <a:solidFill>
                  <a:srgbClr val="333399"/>
                </a:solidFill>
                <a:latin typeface="Courier New" pitchFamily="34" charset="0"/>
                <a:ea typeface="Courier New" pitchFamily="34" charset="-122"/>
                <a:cs typeface="Courier New" pitchFamily="34" charset="-120"/>
              </a:rPr>
              <a:t>"id"</a:t>
            </a:r>
            <a:pPr algn="l" indent="0" marL="0">
              <a:buNone/>
            </a:pPr>
            <a:r>
              <a:rPr lang="en-US" sz="1700" b="1" dirty="0">
                <a:solidFill>
                  <a:srgbClr val="000000"/>
                </a:solidFill>
                <a:latin typeface="Courier New" pitchFamily="34" charset="0"/>
                <a:ea typeface="Courier New" pitchFamily="34" charset="-122"/>
                <a:cs typeface="Courier New" pitchFamily="34" charset="-120"/>
              </a:rPr>
              <a:t>:</a:t>
            </a:r>
            <a:pPr algn="l" indent="0" marL="0">
              <a:buNone/>
            </a:pPr>
            <a:r>
              <a:rPr lang="en-US" sz="1700" b="1" dirty="0">
                <a:solidFill>
                  <a:srgbClr val="000000"/>
                </a:solidFill>
                <a:latin typeface="Courier New" pitchFamily="34" charset="0"/>
                <a:ea typeface="Courier New" pitchFamily="34" charset="-122"/>
                <a:cs typeface="Courier New" pitchFamily="34" charset="-120"/>
              </a:rPr>
              <a:t> </a:t>
            </a:r>
            <a:pPr algn="l" indent="0" marL="0">
              <a:buNone/>
            </a:pPr>
            <a:r>
              <a:rPr lang="en-US" sz="1700" b="1" dirty="0">
                <a:solidFill>
                  <a:srgbClr val="CC6600"/>
                </a:solidFill>
                <a:latin typeface="Courier New" pitchFamily="34" charset="0"/>
                <a:ea typeface="Courier New" pitchFamily="34" charset="-122"/>
                <a:cs typeface="Courier New" pitchFamily="34" charset="-120"/>
              </a:rPr>
              <a:t>7</a:t>
            </a:r>
            <a:pPr algn="l" indent="0" marL="0">
              <a:buNone/>
            </a:pPr>
            <a:r>
              <a:rPr lang="en-US" sz="1700" b="1" dirty="0">
                <a:solidFill>
                  <a:srgbClr val="000000"/>
                </a:solidFill>
                <a:latin typeface="Courier New" pitchFamily="34" charset="0"/>
                <a:ea typeface="Courier New" pitchFamily="34" charset="-122"/>
                <a:cs typeface="Courier New" pitchFamily="34" charset="-120"/>
              </a:rPr>
              <a:t>,</a:t>
            </a:r>
            <a:pPr algn="l" indent="0" marL="0">
              <a:buNone/>
            </a:pPr>
            <a:r>
              <a:rPr lang="en-US" sz="1700" b="1" dirty="0">
                <a:solidFill>
                  <a:srgbClr val="000000"/>
                </a:solidFill>
                <a:latin typeface="Courier New" pitchFamily="34" charset="0"/>
                <a:ea typeface="Courier New" pitchFamily="34" charset="-122"/>
                <a:cs typeface="Courier New" pitchFamily="34" charset="-120"/>
              </a:rPr>
              <a:t> </a:t>
            </a:r>
            <a:pPr algn="l" indent="0" marL="0">
              <a:buNone/>
            </a:pPr>
            <a:r>
              <a:rPr lang="en-US" sz="1700" b="1" dirty="0">
                <a:solidFill>
                  <a:srgbClr val="333399"/>
                </a:solidFill>
                <a:latin typeface="Courier New" pitchFamily="34" charset="0"/>
                <a:ea typeface="Courier New" pitchFamily="34" charset="-122"/>
                <a:cs typeface="Courier New" pitchFamily="34" charset="-120"/>
              </a:rPr>
              <a:t>"name"</a:t>
            </a:r>
            <a:pPr algn="l" indent="0" marL="0">
              <a:buNone/>
            </a:pPr>
            <a:r>
              <a:rPr lang="en-US" sz="1700" b="1" dirty="0">
                <a:solidFill>
                  <a:srgbClr val="000000"/>
                </a:solidFill>
                <a:latin typeface="Courier New" pitchFamily="34" charset="0"/>
                <a:ea typeface="Courier New" pitchFamily="34" charset="-122"/>
                <a:cs typeface="Courier New" pitchFamily="34" charset="-120"/>
              </a:rPr>
              <a:t>:</a:t>
            </a:r>
            <a:pPr algn="l" indent="0" marL="0">
              <a:buNone/>
            </a:pPr>
            <a:r>
              <a:rPr lang="en-US" sz="1700" b="1" dirty="0">
                <a:solidFill>
                  <a:srgbClr val="000000"/>
                </a:solidFill>
                <a:latin typeface="Courier New" pitchFamily="34" charset="0"/>
                <a:ea typeface="Courier New" pitchFamily="34" charset="-122"/>
                <a:cs typeface="Courier New" pitchFamily="34" charset="-120"/>
              </a:rPr>
              <a:t> </a:t>
            </a:r>
            <a:pPr algn="l" indent="0" marL="0">
              <a:buNone/>
            </a:pPr>
            <a:r>
              <a:rPr lang="en-US" sz="1700" b="1" dirty="0">
                <a:solidFill>
                  <a:srgbClr val="993300"/>
                </a:solidFill>
                <a:latin typeface="Courier New" pitchFamily="34" charset="0"/>
                <a:ea typeface="Courier New" pitchFamily="34" charset="-122"/>
                <a:cs typeface="Courier New" pitchFamily="34" charset="-120"/>
              </a:rPr>
              <a:t>"ThinkPad X1"</a:t>
            </a:r>
            <a:pPr algn="l" indent="0" marL="0">
              <a:buNone/>
            </a:pPr>
            <a:r>
              <a:rPr lang="en-US" sz="1700" b="1" dirty="0">
                <a:solidFill>
                  <a:srgbClr val="000000"/>
                </a:solidFill>
                <a:latin typeface="Courier New" pitchFamily="34" charset="0"/>
                <a:ea typeface="Courier New" pitchFamily="34" charset="-122"/>
                <a:cs typeface="Courier New" pitchFamily="34" charset="-120"/>
              </a:rPr>
              <a:t> } ] }</a:t>
            </a:r>
            <a:endParaRPr lang="en-US" sz="1700" dirty="0"/>
          </a:p>
        </p:txBody>
      </p:sp>
      <p:pic>
        <p:nvPicPr>
          <p:cNvPr id="28" name="Image 1" descr="Rendered as an image because of CSS transform">    </p:cNvPr>
          <p:cNvPicPr>
            <a:picLocks noChangeAspect="1"/>
          </p:cNvPicPr>
          <p:nvPr/>
        </p:nvPicPr>
        <p:blipFill>
          <a:blip r:embed="rId2"/>
          <a:stretch>
            <a:fillRect/>
          </a:stretch>
        </p:blipFill>
        <p:spPr>
          <a:xfrm>
            <a:off x="7071519" y="1539081"/>
            <a:ext cx="304800" cy="304800"/>
          </a:xfrm>
          <a:prstGeom prst="rect">
            <a:avLst/>
          </a:prstGeom>
        </p:spPr>
      </p:pic>
      <p:sp>
        <p:nvSpPr>
          <p:cNvPr id="29" name="Text 25"/>
          <p:cNvSpPr txBox="1"/>
          <p:nvPr/>
        </p:nvSpPr>
        <p:spPr>
          <a:xfrm>
            <a:off x="7503319" y="1526381"/>
            <a:ext cx="4419600" cy="635000"/>
          </a:xfrm>
          <a:prstGeom prst="rect">
            <a:avLst/>
          </a:prstGeom>
          <a:noFill/>
          <a:ln/>
        </p:spPr>
        <p:txBody>
          <a:bodyPr wrap="square" lIns="0" tIns="0" rIns="0" bIns="0" rtlCol="0" anchor="t"/>
          <a:lstStyle/>
          <a:p>
            <a:pPr algn="l" indent="0" marL="0">
              <a:lnSpc>
                <a:spcPts val="2600"/>
              </a:lnSpc>
              <a:buNone/>
            </a:pPr>
            <a:r>
              <a:rPr lang="en-US" sz="2000" b="1" dirty="0">
                <a:solidFill>
                  <a:srgbClr val="000000"/>
                </a:solidFill>
                <a:latin typeface="Calibri" pitchFamily="34" charset="0"/>
                <a:ea typeface="Calibri" pitchFamily="34" charset="-122"/>
                <a:cs typeface="Calibri" pitchFamily="34" charset="-120"/>
              </a:rPr>
              <a:t>Method and target URI.</a:t>
            </a:r>
            <a:pPr algn="l" indent="0" marL="0">
              <a:lnSpc>
                <a:spcPts val="2600"/>
              </a:lnSpc>
              <a:buNone/>
            </a:pPr>
            <a:r>
              <a:rPr lang="en-US" sz="2000" dirty="0">
                <a:solidFill>
                  <a:srgbClr val="000000"/>
                </a:solidFill>
                <a:latin typeface="Calibri" pitchFamily="34" charset="0"/>
                <a:ea typeface="Calibri" pitchFamily="34" charset="-122"/>
                <a:cs typeface="Calibri" pitchFamily="34" charset="-120"/>
              </a:rPr>
              <a:t> The query is in the URI.</a:t>
            </a:r>
            <a:endParaRPr lang="en-US" sz="2000" dirty="0"/>
          </a:p>
        </p:txBody>
      </p:sp>
      <p:pic>
        <p:nvPicPr>
          <p:cNvPr id="30" name="Image 2" descr="Rendered as an image because of CSS transform">    </p:cNvPr>
          <p:cNvPicPr>
            <a:picLocks noChangeAspect="1"/>
          </p:cNvPicPr>
          <p:nvPr/>
        </p:nvPicPr>
        <p:blipFill>
          <a:blip r:embed="rId3"/>
          <a:stretch>
            <a:fillRect/>
          </a:stretch>
        </p:blipFill>
        <p:spPr>
          <a:xfrm>
            <a:off x="7071519" y="2402681"/>
            <a:ext cx="304800" cy="304800"/>
          </a:xfrm>
          <a:prstGeom prst="rect">
            <a:avLst/>
          </a:prstGeom>
        </p:spPr>
      </p:pic>
      <p:sp>
        <p:nvSpPr>
          <p:cNvPr id="31" name="Text 26"/>
          <p:cNvSpPr txBox="1"/>
          <p:nvPr/>
        </p:nvSpPr>
        <p:spPr>
          <a:xfrm>
            <a:off x="7503319" y="2389981"/>
            <a:ext cx="4419600" cy="635000"/>
          </a:xfrm>
          <a:prstGeom prst="rect">
            <a:avLst/>
          </a:prstGeom>
          <a:noFill/>
          <a:ln/>
        </p:spPr>
        <p:txBody>
          <a:bodyPr wrap="square" lIns="0" tIns="0" rIns="0" bIns="0" rtlCol="0" anchor="t"/>
          <a:lstStyle/>
          <a:p>
            <a:pPr algn="l" indent="0" marL="0">
              <a:lnSpc>
                <a:spcPts val="2600"/>
              </a:lnSpc>
              <a:buNone/>
            </a:pPr>
            <a:r>
              <a:rPr lang="en-US" sz="2000" b="1" dirty="0">
                <a:solidFill>
                  <a:srgbClr val="000000"/>
                </a:solidFill>
                <a:latin typeface="Calibri" pitchFamily="34" charset="0"/>
                <a:ea typeface="Calibri" pitchFamily="34" charset="-122"/>
                <a:cs typeface="Calibri" pitchFamily="34" charset="-120"/>
              </a:rPr>
              <a:t>Headers.</a:t>
            </a:r>
            <a:pPr algn="l" indent="0" marL="0">
              <a:lnSpc>
                <a:spcPts val="2600"/>
              </a:lnSpc>
              <a:buNone/>
            </a:pPr>
            <a:r>
              <a:rPr lang="en-US" sz="2000" dirty="0">
                <a:solidFill>
                  <a:srgbClr val="000000"/>
                </a:solidFill>
                <a:latin typeface="Calibri" pitchFamily="34" charset="0"/>
                <a:ea typeface="Calibri" pitchFamily="34" charset="-122"/>
                <a:cs typeface="Calibri" pitchFamily="34" charset="-120"/>
              </a:rPr>
              <a:t> Here: the format and the credentials.</a:t>
            </a:r>
            <a:endParaRPr lang="en-US" sz="2000" dirty="0"/>
          </a:p>
        </p:txBody>
      </p:sp>
      <p:pic>
        <p:nvPicPr>
          <p:cNvPr id="32" name="Image 3" descr="Rendered as an image because of CSS transform">    </p:cNvPr>
          <p:cNvPicPr>
            <a:picLocks noChangeAspect="1"/>
          </p:cNvPicPr>
          <p:nvPr/>
        </p:nvPicPr>
        <p:blipFill>
          <a:blip r:embed="rId4"/>
          <a:stretch>
            <a:fillRect/>
          </a:stretch>
        </p:blipFill>
        <p:spPr>
          <a:xfrm>
            <a:off x="7071519" y="3266281"/>
            <a:ext cx="304800" cy="304800"/>
          </a:xfrm>
          <a:prstGeom prst="rect">
            <a:avLst/>
          </a:prstGeom>
        </p:spPr>
      </p:pic>
      <p:sp>
        <p:nvSpPr>
          <p:cNvPr id="33" name="Text 27"/>
          <p:cNvSpPr txBox="1"/>
          <p:nvPr/>
        </p:nvSpPr>
        <p:spPr>
          <a:xfrm>
            <a:off x="7503319" y="3253581"/>
            <a:ext cx="3986411" cy="304800"/>
          </a:xfrm>
          <a:prstGeom prst="rect">
            <a:avLst/>
          </a:prstGeom>
          <a:noFill/>
          <a:ln/>
        </p:spPr>
        <p:txBody>
          <a:bodyPr wrap="none" lIns="0" tIns="0" rIns="0" bIns="0" rtlCol="0" anchor="t"/>
          <a:lstStyle/>
          <a:p>
            <a:pPr algn="l" indent="0" marL="0">
              <a:buNone/>
            </a:pPr>
            <a:r>
              <a:rPr lang="en-US" sz="2000" b="1" dirty="0">
                <a:solidFill>
                  <a:srgbClr val="000000"/>
                </a:solidFill>
                <a:latin typeface="Calibri" pitchFamily="34" charset="0"/>
                <a:ea typeface="Calibri" pitchFamily="34" charset="-122"/>
                <a:cs typeface="Calibri" pitchFamily="34" charset="-120"/>
              </a:rPr>
              <a:t>Status line.</a:t>
            </a:r>
            <a:pPr algn="l" indent="0" marL="0">
              <a:buNone/>
            </a:pPr>
            <a:r>
              <a:rPr lang="en-US" sz="2000" dirty="0">
                <a:solidFill>
                  <a:srgbClr val="000000"/>
                </a:solidFill>
                <a:latin typeface="Calibri" pitchFamily="34" charset="0"/>
                <a:ea typeface="Calibri" pitchFamily="34" charset="-122"/>
                <a:cs typeface="Calibri" pitchFamily="34" charset="-120"/>
              </a:rPr>
              <a:t> The result of the request.</a:t>
            </a:r>
            <a:endParaRPr lang="en-US" sz="2000" dirty="0"/>
          </a:p>
        </p:txBody>
      </p:sp>
      <p:pic>
        <p:nvPicPr>
          <p:cNvPr id="34" name="Image 4" descr="Rendered as an image because of CSS transform">    </p:cNvPr>
          <p:cNvPicPr>
            <a:picLocks noChangeAspect="1"/>
          </p:cNvPicPr>
          <p:nvPr/>
        </p:nvPicPr>
        <p:blipFill>
          <a:blip r:embed="rId5"/>
          <a:stretch>
            <a:fillRect/>
          </a:stretch>
        </p:blipFill>
        <p:spPr>
          <a:xfrm>
            <a:off x="7071519" y="3825081"/>
            <a:ext cx="304800" cy="304800"/>
          </a:xfrm>
          <a:prstGeom prst="rect">
            <a:avLst/>
          </a:prstGeom>
        </p:spPr>
      </p:pic>
      <p:sp>
        <p:nvSpPr>
          <p:cNvPr id="35" name="Text 28"/>
          <p:cNvSpPr txBox="1"/>
          <p:nvPr/>
        </p:nvSpPr>
        <p:spPr>
          <a:xfrm>
            <a:off x="7503319" y="3812381"/>
            <a:ext cx="4419600" cy="609600"/>
          </a:xfrm>
          <a:prstGeom prst="rect">
            <a:avLst/>
          </a:prstGeom>
          <a:noFill/>
          <a:ln/>
        </p:spPr>
        <p:txBody>
          <a:bodyPr wrap="square" lIns="0" tIns="0" rIns="0" bIns="0" rtlCol="0" anchor="t"/>
          <a:lstStyle/>
          <a:p>
            <a:pPr algn="l" indent="0" marL="0">
              <a:lnSpc>
                <a:spcPts val="3300"/>
              </a:lnSpc>
              <a:buNone/>
            </a:pPr>
            <a:r>
              <a:rPr lang="en-US" sz="2000" b="1" dirty="0">
                <a:solidFill>
                  <a:srgbClr val="000000"/>
                </a:solidFill>
                <a:latin typeface="Calibri" pitchFamily="34" charset="0"/>
                <a:ea typeface="Calibri" pitchFamily="34" charset="-122"/>
                <a:cs typeface="Calibri" pitchFamily="34" charset="-120"/>
              </a:rPr>
              <a:t>Content.</a:t>
            </a:r>
            <a:pPr algn="l" indent="0" marL="0">
              <a:lnSpc>
                <a:spcPts val="3300"/>
              </a:lnSpc>
              <a:buNone/>
            </a:pPr>
            <a:r>
              <a:rPr lang="en-US" sz="2000" dirty="0">
                <a:solidFill>
                  <a:srgbClr val="000000"/>
                </a:solidFill>
                <a:latin typeface="Calibri" pitchFamily="34" charset="0"/>
                <a:ea typeface="Calibri" pitchFamily="34" charset="-122"/>
                <a:cs typeface="Calibri" pitchFamily="34" charset="-120"/>
              </a:rPr>
              <a:t> A GET request has none </a:t>
            </a:r>
            <a:pPr algn="l" indent="0" marL="0">
              <a:lnSpc>
                <a:spcPts val="3300"/>
              </a:lnSpc>
              <a:buNone/>
            </a:pPr>
            <a:r>
              <a:rPr lang="en-US" sz="1240" u="sng" dirty="0">
                <a:solidFill>
                  <a:srgbClr val="595959"/>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[RFC 9110 §9.3.1]</a:t>
            </a:r>
            <a:endParaRPr lang="en-US" sz="2000" dirty="0"/>
          </a:p>
        </p:txBody>
      </p:sp>
      <p:sp>
        <p:nvSpPr>
          <p:cNvPr id="36" name="Shape 29"/>
          <p:cNvSpPr/>
          <p:nvPr/>
        </p:nvSpPr>
        <p:spPr>
          <a:xfrm>
            <a:off x="7071519" y="4714081"/>
            <a:ext cx="4826000" cy="990600"/>
          </a:xfrm>
          <a:prstGeom prst="rect">
            <a:avLst/>
          </a:prstGeom>
          <a:solidFill>
            <a:srgbClr val="FFFFFF"/>
          </a:solidFill>
          <a:ln w="25400">
            <a:solidFill>
              <a:srgbClr val="CC6600"/>
            </a:solidFill>
            <a:prstDash val="solid"/>
          </a:ln>
        </p:spPr>
      </p:sp>
      <p:sp>
        <p:nvSpPr>
          <p:cNvPr id="37" name="Text 30"/>
          <p:cNvSpPr txBox="1"/>
          <p:nvPr/>
        </p:nvSpPr>
        <p:spPr>
          <a:xfrm>
            <a:off x="7300119" y="4879181"/>
            <a:ext cx="4394200" cy="635000"/>
          </a:xfrm>
          <a:prstGeom prst="rect">
            <a:avLst/>
          </a:prstGeom>
          <a:noFill/>
          <a:ln/>
        </p:spPr>
        <p:txBody>
          <a:bodyPr wrap="square" lIns="0" tIns="0" rIns="0" bIns="0" rtlCol="0" anchor="t"/>
          <a:lstStyle/>
          <a:p>
            <a:pPr algn="l" indent="0" marL="0">
              <a:lnSpc>
                <a:spcPts val="2800"/>
              </a:lnSpc>
              <a:buNone/>
            </a:pPr>
            <a:r>
              <a:rPr lang="en-US" sz="1800" dirty="0">
                <a:solidFill>
                  <a:srgbClr val="000000"/>
                </a:solidFill>
                <a:latin typeface="Calibri" pitchFamily="34" charset="0"/>
                <a:ea typeface="Calibri" pitchFamily="34" charset="-122"/>
                <a:cs typeface="Calibri" pitchFamily="34" charset="-120"/>
              </a:rPr>
              <a:t>The </a:t>
            </a:r>
            <a:pPr algn="l" indent="0" marL="0">
              <a:lnSpc>
                <a:spcPts val="2800"/>
              </a:lnSpc>
              <a:buNone/>
            </a:pPr>
            <a:r>
              <a:rPr lang="en-US" sz="1800" b="1" dirty="0">
                <a:solidFill>
                  <a:srgbClr val="000000"/>
                </a:solidFill>
                <a:latin typeface="Calibri" pitchFamily="34" charset="0"/>
                <a:ea typeface="Calibri" pitchFamily="34" charset="-122"/>
                <a:cs typeface="Calibri" pitchFamily="34" charset="-120"/>
              </a:rPr>
              <a:t>method</a:t>
            </a:r>
            <a:pPr algn="l" indent="0" marL="0">
              <a:lnSpc>
                <a:spcPts val="2800"/>
              </a:lnSpc>
              <a:buNone/>
            </a:pPr>
            <a:r>
              <a:rPr lang="en-US" sz="1800" dirty="0">
                <a:solidFill>
                  <a:srgbClr val="000000"/>
                </a:solidFill>
                <a:latin typeface="Calibri" pitchFamily="34" charset="0"/>
                <a:ea typeface="Calibri" pitchFamily="34" charset="-122"/>
                <a:cs typeface="Calibri" pitchFamily="34" charset="-120"/>
              </a:rPr>
              <a:t> tells each hop what the client wants to do </a:t>
            </a:r>
            <a:pPr algn="l" indent="0" marL="0">
              <a:lnSpc>
                <a:spcPts val="2800"/>
              </a:lnSpc>
              <a:buNone/>
            </a:pPr>
            <a:r>
              <a:rPr lang="en-US" sz="1116" u="sng" dirty="0">
                <a:solidFill>
                  <a:srgbClr val="595959"/>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[RFC 9110 §9.1]</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4</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3980855"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Safe and idempotent methods</a:t>
            </a:r>
            <a:endParaRPr lang="en-US" sz="2400" dirty="0"/>
          </a:p>
        </p:txBody>
      </p:sp>
      <p:sp>
        <p:nvSpPr>
          <p:cNvPr id="10" name="Shape 7"/>
          <p:cNvSpPr/>
          <p:nvPr/>
        </p:nvSpPr>
        <p:spPr>
          <a:xfrm>
            <a:off x="294481" y="2008981"/>
            <a:ext cx="5461000" cy="12700"/>
          </a:xfrm>
          <a:prstGeom prst="rect">
            <a:avLst/>
          </a:prstGeom>
          <a:solidFill>
            <a:srgbClr val="333399"/>
          </a:solidFill>
          <a:ln/>
        </p:spPr>
      </p:sp>
      <p:sp>
        <p:nvSpPr>
          <p:cNvPr id="11" name="Text 8"/>
          <p:cNvSpPr txBox="1"/>
          <p:nvPr/>
        </p:nvSpPr>
        <p:spPr>
          <a:xfrm>
            <a:off x="396081" y="1612107"/>
            <a:ext cx="1079897"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Methods</a:t>
            </a:r>
            <a:endParaRPr lang="en-US" sz="2000" dirty="0"/>
          </a:p>
        </p:txBody>
      </p:sp>
      <p:sp>
        <p:nvSpPr>
          <p:cNvPr id="12" name="Text 9"/>
          <p:cNvSpPr txBox="1"/>
          <p:nvPr/>
        </p:nvSpPr>
        <p:spPr>
          <a:xfrm>
            <a:off x="3453011" y="1612107"/>
            <a:ext cx="586979" cy="304800"/>
          </a:xfrm>
          <a:prstGeom prst="rect">
            <a:avLst/>
          </a:prstGeom>
          <a:noFill/>
          <a:ln/>
        </p:spPr>
        <p:txBody>
          <a:bodyPr wrap="none" lIns="0" tIns="0" rIns="0" bIns="0" rtlCol="0" anchor="t"/>
          <a:lstStyle/>
          <a:p>
            <a:pPr algn="ctr" indent="0" marL="0">
              <a:buNone/>
            </a:pPr>
            <a:r>
              <a:rPr lang="en-US" sz="2000" dirty="0">
                <a:solidFill>
                  <a:srgbClr val="000000"/>
                </a:solidFill>
                <a:latin typeface="Calibri" pitchFamily="34" charset="0"/>
                <a:ea typeface="Calibri" pitchFamily="34" charset="-122"/>
                <a:cs typeface="Calibri" pitchFamily="34" charset="-120"/>
              </a:rPr>
              <a:t>Safe</a:t>
            </a:r>
            <a:endParaRPr lang="en-US" sz="2000" dirty="0"/>
          </a:p>
        </p:txBody>
      </p:sp>
      <p:sp>
        <p:nvSpPr>
          <p:cNvPr id="13" name="Text 10"/>
          <p:cNvSpPr txBox="1"/>
          <p:nvPr/>
        </p:nvSpPr>
        <p:spPr>
          <a:xfrm>
            <a:off x="4249143" y="1612107"/>
            <a:ext cx="1371600" cy="304800"/>
          </a:xfrm>
          <a:prstGeom prst="rect">
            <a:avLst/>
          </a:prstGeom>
          <a:noFill/>
          <a:ln/>
        </p:spPr>
        <p:txBody>
          <a:bodyPr wrap="none" lIns="0" tIns="0" rIns="0" bIns="0" rtlCol="0" anchor="t"/>
          <a:lstStyle/>
          <a:p>
            <a:pPr algn="ctr" indent="0" marL="0">
              <a:buNone/>
            </a:pPr>
            <a:r>
              <a:rPr lang="en-US" sz="2000" dirty="0">
                <a:solidFill>
                  <a:srgbClr val="000000"/>
                </a:solidFill>
                <a:latin typeface="Calibri" pitchFamily="34" charset="0"/>
                <a:ea typeface="Calibri" pitchFamily="34" charset="-122"/>
                <a:cs typeface="Calibri" pitchFamily="34" charset="-120"/>
              </a:rPr>
              <a:t>Idem­potent</a:t>
            </a:r>
            <a:endParaRPr lang="en-US" sz="2000" dirty="0"/>
          </a:p>
        </p:txBody>
      </p:sp>
      <p:sp>
        <p:nvSpPr>
          <p:cNvPr id="14" name="Shape 11"/>
          <p:cNvSpPr/>
          <p:nvPr/>
        </p:nvSpPr>
        <p:spPr>
          <a:xfrm>
            <a:off x="294481" y="2682081"/>
            <a:ext cx="5461000" cy="12700"/>
          </a:xfrm>
          <a:prstGeom prst="rect">
            <a:avLst/>
          </a:prstGeom>
          <a:solidFill>
            <a:srgbClr val="333399"/>
          </a:solidFill>
          <a:ln/>
        </p:spPr>
      </p:sp>
      <p:sp>
        <p:nvSpPr>
          <p:cNvPr id="15" name="Shape 12"/>
          <p:cNvSpPr/>
          <p:nvPr/>
        </p:nvSpPr>
        <p:spPr>
          <a:xfrm>
            <a:off x="396081" y="2226469"/>
            <a:ext cx="571103" cy="298451"/>
          </a:xfrm>
          <a:prstGeom prst="rect">
            <a:avLst/>
          </a:prstGeom>
          <a:solidFill>
            <a:srgbClr val="333399"/>
          </a:solidFill>
          <a:ln/>
        </p:spPr>
      </p:sp>
      <p:sp>
        <p:nvSpPr>
          <p:cNvPr id="16" name="Text 13"/>
          <p:cNvSpPr txBox="1"/>
          <p:nvPr/>
        </p:nvSpPr>
        <p:spPr>
          <a:xfrm>
            <a:off x="484981" y="2251869"/>
            <a:ext cx="545703" cy="241300"/>
          </a:xfrm>
          <a:prstGeom prst="rect">
            <a:avLst/>
          </a:prstGeom>
          <a:noFill/>
          <a:ln/>
        </p:spPr>
        <p:txBody>
          <a:bodyPr wrap="none" lIns="0" tIns="0" rIns="0" bIns="0" rtlCol="0" anchor="t"/>
          <a:lstStyle/>
          <a:p>
            <a:pPr algn="l" indent="0" marL="0">
              <a:buNone/>
            </a:pPr>
            <a:r>
              <a:rPr lang="en-US" sz="1720" b="1" dirty="0">
                <a:solidFill>
                  <a:srgbClr val="FFFFFF"/>
                </a:solidFill>
                <a:latin typeface="Courier New" pitchFamily="34" charset="0"/>
                <a:ea typeface="Courier New" pitchFamily="34" charset="-122"/>
                <a:cs typeface="Courier New" pitchFamily="34" charset="-120"/>
              </a:rPr>
              <a:t>GET</a:t>
            </a:r>
            <a:endParaRPr lang="en-US" sz="1720" dirty="0"/>
          </a:p>
        </p:txBody>
      </p:sp>
      <p:sp>
        <p:nvSpPr>
          <p:cNvPr id="17" name="Shape 14"/>
          <p:cNvSpPr/>
          <p:nvPr/>
        </p:nvSpPr>
        <p:spPr>
          <a:xfrm>
            <a:off x="1017984" y="2226469"/>
            <a:ext cx="702271" cy="298451"/>
          </a:xfrm>
          <a:prstGeom prst="rect">
            <a:avLst/>
          </a:prstGeom>
          <a:noFill/>
          <a:ln w="12700">
            <a:solidFill>
              <a:srgbClr val="333399"/>
            </a:solidFill>
            <a:prstDash val="solid"/>
          </a:ln>
        </p:spPr>
      </p:sp>
      <p:sp>
        <p:nvSpPr>
          <p:cNvPr id="18" name="Text 15"/>
          <p:cNvSpPr txBox="1"/>
          <p:nvPr/>
        </p:nvSpPr>
        <p:spPr>
          <a:xfrm>
            <a:off x="1106884" y="2251869"/>
            <a:ext cx="676871" cy="241300"/>
          </a:xfrm>
          <a:prstGeom prst="rect">
            <a:avLst/>
          </a:prstGeom>
          <a:noFill/>
          <a:ln/>
        </p:spPr>
        <p:txBody>
          <a:bodyPr wrap="none" lIns="0" tIns="0" rIns="0" bIns="0" rtlCol="0" anchor="t"/>
          <a:lstStyle/>
          <a:p>
            <a:pPr algn="l" indent="0" marL="0">
              <a:buNone/>
            </a:pPr>
            <a:r>
              <a:rPr lang="en-US" sz="1720" b="1" dirty="0">
                <a:solidFill>
                  <a:srgbClr val="000000"/>
                </a:solidFill>
                <a:latin typeface="Courier New" pitchFamily="34" charset="0"/>
                <a:ea typeface="Courier New" pitchFamily="34" charset="-122"/>
                <a:cs typeface="Courier New" pitchFamily="34" charset="-120"/>
              </a:rPr>
              <a:t>HEAD</a:t>
            </a:r>
            <a:endParaRPr lang="en-US" sz="1720" dirty="0"/>
          </a:p>
        </p:txBody>
      </p:sp>
      <p:sp>
        <p:nvSpPr>
          <p:cNvPr id="19" name="Shape 16"/>
          <p:cNvSpPr/>
          <p:nvPr/>
        </p:nvSpPr>
        <p:spPr>
          <a:xfrm>
            <a:off x="1771055" y="2226469"/>
            <a:ext cx="1095573" cy="298451"/>
          </a:xfrm>
          <a:prstGeom prst="rect">
            <a:avLst/>
          </a:prstGeom>
          <a:noFill/>
          <a:ln w="12700">
            <a:solidFill>
              <a:srgbClr val="333399"/>
            </a:solidFill>
            <a:prstDash val="solid"/>
          </a:ln>
        </p:spPr>
      </p:sp>
      <p:sp>
        <p:nvSpPr>
          <p:cNvPr id="20" name="Text 17"/>
          <p:cNvSpPr txBox="1"/>
          <p:nvPr/>
        </p:nvSpPr>
        <p:spPr>
          <a:xfrm>
            <a:off x="1859955" y="2251869"/>
            <a:ext cx="1070173" cy="241300"/>
          </a:xfrm>
          <a:prstGeom prst="rect">
            <a:avLst/>
          </a:prstGeom>
          <a:noFill/>
          <a:ln/>
        </p:spPr>
        <p:txBody>
          <a:bodyPr wrap="none" lIns="0" tIns="0" rIns="0" bIns="0" rtlCol="0" anchor="t"/>
          <a:lstStyle/>
          <a:p>
            <a:pPr algn="l" indent="0" marL="0">
              <a:buNone/>
            </a:pPr>
            <a:r>
              <a:rPr lang="en-US" sz="1720" b="1" dirty="0">
                <a:solidFill>
                  <a:srgbClr val="000000"/>
                </a:solidFill>
                <a:latin typeface="Courier New" pitchFamily="34" charset="0"/>
                <a:ea typeface="Courier New" pitchFamily="34" charset="-122"/>
                <a:cs typeface="Courier New" pitchFamily="34" charset="-120"/>
              </a:rPr>
              <a:t>OPTIONS</a:t>
            </a:r>
            <a:endParaRPr lang="en-US" sz="1720" dirty="0"/>
          </a:p>
        </p:txBody>
      </p:sp>
      <p:sp>
        <p:nvSpPr>
          <p:cNvPr id="21" name="Text 18"/>
          <p:cNvSpPr txBox="1"/>
          <p:nvPr/>
        </p:nvSpPr>
        <p:spPr>
          <a:xfrm>
            <a:off x="3497064" y="2205831"/>
            <a:ext cx="499071" cy="304800"/>
          </a:xfrm>
          <a:prstGeom prst="rect">
            <a:avLst/>
          </a:prstGeom>
          <a:noFill/>
          <a:ln/>
        </p:spPr>
        <p:txBody>
          <a:bodyPr wrap="none" lIns="0" tIns="0" rIns="0" bIns="0" rtlCol="0" anchor="t"/>
          <a:lstStyle/>
          <a:p>
            <a:pPr algn="ctr" indent="0" marL="0">
              <a:buNone/>
            </a:pPr>
            <a:r>
              <a:rPr lang="en-US" sz="2000" b="1" dirty="0">
                <a:solidFill>
                  <a:srgbClr val="009999"/>
                </a:solidFill>
                <a:latin typeface="Calibri" pitchFamily="34" charset="0"/>
                <a:ea typeface="Calibri" pitchFamily="34" charset="-122"/>
                <a:cs typeface="Calibri" pitchFamily="34" charset="-120"/>
              </a:rPr>
              <a:t>yes</a:t>
            </a:r>
            <a:endParaRPr lang="en-US" sz="2000" dirty="0"/>
          </a:p>
        </p:txBody>
      </p:sp>
      <p:sp>
        <p:nvSpPr>
          <p:cNvPr id="22" name="Text 19"/>
          <p:cNvSpPr txBox="1"/>
          <p:nvPr/>
        </p:nvSpPr>
        <p:spPr>
          <a:xfrm>
            <a:off x="4685308" y="2205831"/>
            <a:ext cx="499071" cy="304800"/>
          </a:xfrm>
          <a:prstGeom prst="rect">
            <a:avLst/>
          </a:prstGeom>
          <a:noFill/>
          <a:ln/>
        </p:spPr>
        <p:txBody>
          <a:bodyPr wrap="none" lIns="0" tIns="0" rIns="0" bIns="0" rtlCol="0" anchor="t"/>
          <a:lstStyle/>
          <a:p>
            <a:pPr algn="ctr" indent="0" marL="0">
              <a:buNone/>
            </a:pPr>
            <a:r>
              <a:rPr lang="en-US" sz="2000" b="1" dirty="0">
                <a:solidFill>
                  <a:srgbClr val="009999"/>
                </a:solidFill>
                <a:latin typeface="Calibri" pitchFamily="34" charset="0"/>
                <a:ea typeface="Calibri" pitchFamily="34" charset="-122"/>
                <a:cs typeface="Calibri" pitchFamily="34" charset="-120"/>
              </a:rPr>
              <a:t>yes</a:t>
            </a:r>
            <a:endParaRPr lang="en-US" sz="2000" dirty="0"/>
          </a:p>
        </p:txBody>
      </p:sp>
      <p:sp>
        <p:nvSpPr>
          <p:cNvPr id="23" name="Shape 20"/>
          <p:cNvSpPr/>
          <p:nvPr/>
        </p:nvSpPr>
        <p:spPr>
          <a:xfrm>
            <a:off x="294481" y="3355181"/>
            <a:ext cx="5461000" cy="12700"/>
          </a:xfrm>
          <a:prstGeom prst="rect">
            <a:avLst/>
          </a:prstGeom>
          <a:solidFill>
            <a:srgbClr val="333399"/>
          </a:solidFill>
          <a:ln/>
        </p:spPr>
      </p:sp>
      <p:sp>
        <p:nvSpPr>
          <p:cNvPr id="24" name="Shape 21"/>
          <p:cNvSpPr/>
          <p:nvPr/>
        </p:nvSpPr>
        <p:spPr>
          <a:xfrm>
            <a:off x="396081" y="2899569"/>
            <a:ext cx="571103" cy="298451"/>
          </a:xfrm>
          <a:prstGeom prst="rect">
            <a:avLst/>
          </a:prstGeom>
          <a:noFill/>
          <a:ln w="12700">
            <a:solidFill>
              <a:srgbClr val="333399"/>
            </a:solidFill>
            <a:prstDash val="solid"/>
          </a:ln>
        </p:spPr>
      </p:sp>
      <p:sp>
        <p:nvSpPr>
          <p:cNvPr id="25" name="Text 22"/>
          <p:cNvSpPr txBox="1"/>
          <p:nvPr/>
        </p:nvSpPr>
        <p:spPr>
          <a:xfrm>
            <a:off x="484981" y="2924969"/>
            <a:ext cx="545703" cy="241300"/>
          </a:xfrm>
          <a:prstGeom prst="rect">
            <a:avLst/>
          </a:prstGeom>
          <a:noFill/>
          <a:ln/>
        </p:spPr>
        <p:txBody>
          <a:bodyPr wrap="none" lIns="0" tIns="0" rIns="0" bIns="0" rtlCol="0" anchor="t"/>
          <a:lstStyle/>
          <a:p>
            <a:pPr algn="l" indent="0" marL="0">
              <a:buNone/>
            </a:pPr>
            <a:r>
              <a:rPr lang="en-US" sz="1720" b="1" dirty="0">
                <a:solidFill>
                  <a:srgbClr val="000000"/>
                </a:solidFill>
                <a:latin typeface="Courier New" pitchFamily="34" charset="0"/>
                <a:ea typeface="Courier New" pitchFamily="34" charset="-122"/>
                <a:cs typeface="Courier New" pitchFamily="34" charset="-120"/>
              </a:rPr>
              <a:t>PUT</a:t>
            </a:r>
            <a:endParaRPr lang="en-US" sz="1720" dirty="0"/>
          </a:p>
        </p:txBody>
      </p:sp>
      <p:sp>
        <p:nvSpPr>
          <p:cNvPr id="26" name="Shape 23"/>
          <p:cNvSpPr/>
          <p:nvPr/>
        </p:nvSpPr>
        <p:spPr>
          <a:xfrm>
            <a:off x="1017984" y="2899569"/>
            <a:ext cx="964407" cy="298451"/>
          </a:xfrm>
          <a:prstGeom prst="rect">
            <a:avLst/>
          </a:prstGeom>
          <a:noFill/>
          <a:ln w="12700">
            <a:solidFill>
              <a:srgbClr val="333399"/>
            </a:solidFill>
            <a:prstDash val="solid"/>
          </a:ln>
        </p:spPr>
      </p:sp>
      <p:sp>
        <p:nvSpPr>
          <p:cNvPr id="27" name="Text 24"/>
          <p:cNvSpPr txBox="1"/>
          <p:nvPr/>
        </p:nvSpPr>
        <p:spPr>
          <a:xfrm>
            <a:off x="1106884" y="2924969"/>
            <a:ext cx="939007" cy="241300"/>
          </a:xfrm>
          <a:prstGeom prst="rect">
            <a:avLst/>
          </a:prstGeom>
          <a:noFill/>
          <a:ln/>
        </p:spPr>
        <p:txBody>
          <a:bodyPr wrap="none" lIns="0" tIns="0" rIns="0" bIns="0" rtlCol="0" anchor="t"/>
          <a:lstStyle/>
          <a:p>
            <a:pPr algn="l" indent="0" marL="0">
              <a:buNone/>
            </a:pPr>
            <a:r>
              <a:rPr lang="en-US" sz="1720" b="1" dirty="0">
                <a:solidFill>
                  <a:srgbClr val="000000"/>
                </a:solidFill>
                <a:latin typeface="Courier New" pitchFamily="34" charset="0"/>
                <a:ea typeface="Courier New" pitchFamily="34" charset="-122"/>
                <a:cs typeface="Courier New" pitchFamily="34" charset="-120"/>
              </a:rPr>
              <a:t>DELETE</a:t>
            </a:r>
            <a:endParaRPr lang="en-US" sz="1720" dirty="0"/>
          </a:p>
        </p:txBody>
      </p:sp>
      <p:sp>
        <p:nvSpPr>
          <p:cNvPr id="28" name="Text 25"/>
          <p:cNvSpPr txBox="1"/>
          <p:nvPr/>
        </p:nvSpPr>
        <p:spPr>
          <a:xfrm>
            <a:off x="3533973" y="2878931"/>
            <a:ext cx="425252" cy="304800"/>
          </a:xfrm>
          <a:prstGeom prst="rect">
            <a:avLst/>
          </a:prstGeom>
          <a:noFill/>
          <a:ln/>
        </p:spPr>
        <p:txBody>
          <a:bodyPr wrap="none" lIns="0" tIns="0" rIns="0" bIns="0" rtlCol="0" anchor="t"/>
          <a:lstStyle/>
          <a:p>
            <a:pPr algn="ctr" indent="0" marL="0">
              <a:buNone/>
            </a:pPr>
            <a:r>
              <a:rPr lang="en-US" sz="2000" b="1" dirty="0">
                <a:solidFill>
                  <a:srgbClr val="993300"/>
                </a:solidFill>
                <a:latin typeface="Calibri" pitchFamily="34" charset="0"/>
                <a:ea typeface="Calibri" pitchFamily="34" charset="-122"/>
                <a:cs typeface="Calibri" pitchFamily="34" charset="-120"/>
              </a:rPr>
              <a:t>no</a:t>
            </a:r>
            <a:endParaRPr lang="en-US" sz="2000" dirty="0"/>
          </a:p>
        </p:txBody>
      </p:sp>
      <p:sp>
        <p:nvSpPr>
          <p:cNvPr id="29" name="Text 26"/>
          <p:cNvSpPr txBox="1"/>
          <p:nvPr/>
        </p:nvSpPr>
        <p:spPr>
          <a:xfrm>
            <a:off x="4685308" y="2878931"/>
            <a:ext cx="499071" cy="304800"/>
          </a:xfrm>
          <a:prstGeom prst="rect">
            <a:avLst/>
          </a:prstGeom>
          <a:noFill/>
          <a:ln/>
        </p:spPr>
        <p:txBody>
          <a:bodyPr wrap="none" lIns="0" tIns="0" rIns="0" bIns="0" rtlCol="0" anchor="t"/>
          <a:lstStyle/>
          <a:p>
            <a:pPr algn="ctr" indent="0" marL="0">
              <a:buNone/>
            </a:pPr>
            <a:r>
              <a:rPr lang="en-US" sz="2000" b="1" dirty="0">
                <a:solidFill>
                  <a:srgbClr val="009999"/>
                </a:solidFill>
                <a:latin typeface="Calibri" pitchFamily="34" charset="0"/>
                <a:ea typeface="Calibri" pitchFamily="34" charset="-122"/>
                <a:cs typeface="Calibri" pitchFamily="34" charset="-120"/>
              </a:rPr>
              <a:t>yes</a:t>
            </a:r>
            <a:endParaRPr lang="en-US" sz="2000" dirty="0"/>
          </a:p>
        </p:txBody>
      </p:sp>
      <p:sp>
        <p:nvSpPr>
          <p:cNvPr id="30" name="Shape 27"/>
          <p:cNvSpPr/>
          <p:nvPr/>
        </p:nvSpPr>
        <p:spPr>
          <a:xfrm>
            <a:off x="396081" y="3572669"/>
            <a:ext cx="702271" cy="298451"/>
          </a:xfrm>
          <a:prstGeom prst="rect">
            <a:avLst/>
          </a:prstGeom>
          <a:solidFill>
            <a:srgbClr val="993300"/>
          </a:solidFill>
          <a:ln/>
        </p:spPr>
      </p:sp>
      <p:sp>
        <p:nvSpPr>
          <p:cNvPr id="31" name="Text 28"/>
          <p:cNvSpPr txBox="1"/>
          <p:nvPr/>
        </p:nvSpPr>
        <p:spPr>
          <a:xfrm>
            <a:off x="484981" y="3598069"/>
            <a:ext cx="676871" cy="241300"/>
          </a:xfrm>
          <a:prstGeom prst="rect">
            <a:avLst/>
          </a:prstGeom>
          <a:noFill/>
          <a:ln/>
        </p:spPr>
        <p:txBody>
          <a:bodyPr wrap="none" lIns="0" tIns="0" rIns="0" bIns="0" rtlCol="0" anchor="t"/>
          <a:lstStyle/>
          <a:p>
            <a:pPr algn="l" indent="0" marL="0">
              <a:buNone/>
            </a:pPr>
            <a:r>
              <a:rPr lang="en-US" sz="1720" b="1" dirty="0">
                <a:solidFill>
                  <a:srgbClr val="FFFFFF"/>
                </a:solidFill>
                <a:latin typeface="Courier New" pitchFamily="34" charset="0"/>
                <a:ea typeface="Courier New" pitchFamily="34" charset="-122"/>
                <a:cs typeface="Courier New" pitchFamily="34" charset="-120"/>
              </a:rPr>
              <a:t>POST</a:t>
            </a:r>
            <a:endParaRPr lang="en-US" sz="1720" dirty="0"/>
          </a:p>
        </p:txBody>
      </p:sp>
      <p:sp>
        <p:nvSpPr>
          <p:cNvPr id="32" name="Shape 29"/>
          <p:cNvSpPr/>
          <p:nvPr/>
        </p:nvSpPr>
        <p:spPr>
          <a:xfrm>
            <a:off x="1149152" y="3572669"/>
            <a:ext cx="833239" cy="298451"/>
          </a:xfrm>
          <a:prstGeom prst="rect">
            <a:avLst/>
          </a:prstGeom>
          <a:noFill/>
          <a:ln w="12700">
            <a:solidFill>
              <a:srgbClr val="333399"/>
            </a:solidFill>
            <a:prstDash val="solid"/>
          </a:ln>
        </p:spPr>
      </p:sp>
      <p:sp>
        <p:nvSpPr>
          <p:cNvPr id="33" name="Text 30"/>
          <p:cNvSpPr txBox="1"/>
          <p:nvPr/>
        </p:nvSpPr>
        <p:spPr>
          <a:xfrm>
            <a:off x="1238052" y="3598069"/>
            <a:ext cx="807839" cy="241300"/>
          </a:xfrm>
          <a:prstGeom prst="rect">
            <a:avLst/>
          </a:prstGeom>
          <a:noFill/>
          <a:ln/>
        </p:spPr>
        <p:txBody>
          <a:bodyPr wrap="none" lIns="0" tIns="0" rIns="0" bIns="0" rtlCol="0" anchor="t"/>
          <a:lstStyle/>
          <a:p>
            <a:pPr algn="l" indent="0" marL="0">
              <a:buNone/>
            </a:pPr>
            <a:r>
              <a:rPr lang="en-US" sz="1720" b="1" dirty="0">
                <a:solidFill>
                  <a:srgbClr val="000000"/>
                </a:solidFill>
                <a:latin typeface="Courier New" pitchFamily="34" charset="0"/>
                <a:ea typeface="Courier New" pitchFamily="34" charset="-122"/>
                <a:cs typeface="Courier New" pitchFamily="34" charset="-120"/>
              </a:rPr>
              <a:t>PATCH</a:t>
            </a:r>
            <a:endParaRPr lang="en-US" sz="1720" dirty="0"/>
          </a:p>
        </p:txBody>
      </p:sp>
      <p:sp>
        <p:nvSpPr>
          <p:cNvPr id="34" name="Text 31"/>
          <p:cNvSpPr txBox="1"/>
          <p:nvPr/>
        </p:nvSpPr>
        <p:spPr>
          <a:xfrm>
            <a:off x="3533973" y="3552031"/>
            <a:ext cx="425252" cy="304800"/>
          </a:xfrm>
          <a:prstGeom prst="rect">
            <a:avLst/>
          </a:prstGeom>
          <a:noFill/>
          <a:ln/>
        </p:spPr>
        <p:txBody>
          <a:bodyPr wrap="none" lIns="0" tIns="0" rIns="0" bIns="0" rtlCol="0" anchor="t"/>
          <a:lstStyle/>
          <a:p>
            <a:pPr algn="ctr" indent="0" marL="0">
              <a:buNone/>
            </a:pPr>
            <a:r>
              <a:rPr lang="en-US" sz="2000" b="1" dirty="0">
                <a:solidFill>
                  <a:srgbClr val="993300"/>
                </a:solidFill>
                <a:latin typeface="Calibri" pitchFamily="34" charset="0"/>
                <a:ea typeface="Calibri" pitchFamily="34" charset="-122"/>
                <a:cs typeface="Calibri" pitchFamily="34" charset="-120"/>
              </a:rPr>
              <a:t>no</a:t>
            </a:r>
            <a:endParaRPr lang="en-US" sz="2000" dirty="0"/>
          </a:p>
        </p:txBody>
      </p:sp>
      <p:sp>
        <p:nvSpPr>
          <p:cNvPr id="35" name="Text 32"/>
          <p:cNvSpPr txBox="1"/>
          <p:nvPr/>
        </p:nvSpPr>
        <p:spPr>
          <a:xfrm>
            <a:off x="4722217" y="3552031"/>
            <a:ext cx="425252" cy="304800"/>
          </a:xfrm>
          <a:prstGeom prst="rect">
            <a:avLst/>
          </a:prstGeom>
          <a:noFill/>
          <a:ln/>
        </p:spPr>
        <p:txBody>
          <a:bodyPr wrap="none" lIns="0" tIns="0" rIns="0" bIns="0" rtlCol="0" anchor="t"/>
          <a:lstStyle/>
          <a:p>
            <a:pPr algn="ctr" indent="0" marL="0">
              <a:buNone/>
            </a:pPr>
            <a:r>
              <a:rPr lang="en-US" sz="2000" b="1" dirty="0">
                <a:solidFill>
                  <a:srgbClr val="993300"/>
                </a:solidFill>
                <a:latin typeface="Calibri" pitchFamily="34" charset="0"/>
                <a:ea typeface="Calibri" pitchFamily="34" charset="-122"/>
                <a:cs typeface="Calibri" pitchFamily="34" charset="-120"/>
              </a:rPr>
              <a:t>no</a:t>
            </a:r>
            <a:endParaRPr lang="en-US" sz="2000" dirty="0"/>
          </a:p>
        </p:txBody>
      </p:sp>
      <p:sp>
        <p:nvSpPr>
          <p:cNvPr id="36" name="Text 33"/>
          <p:cNvSpPr txBox="1"/>
          <p:nvPr/>
        </p:nvSpPr>
        <p:spPr>
          <a:xfrm>
            <a:off x="6161881" y="1513681"/>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37" name="Text 34"/>
          <p:cNvSpPr txBox="1"/>
          <p:nvPr/>
        </p:nvSpPr>
        <p:spPr>
          <a:xfrm>
            <a:off x="6504781" y="1500981"/>
            <a:ext cx="5523564"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Safe</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the client does not ask for a change. Caches, prefetchers and crawlers can send it </a:t>
            </a:r>
            <a:pPr algn="l" indent="0" marL="0">
              <a:lnSpc>
                <a:spcPts val="2519"/>
              </a:lnSpc>
              <a:buNone/>
            </a:pPr>
            <a:r>
              <a:rPr lang="en-US" sz="1303" u="sng" dirty="0">
                <a:solidFill>
                  <a:srgbClr val="59595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9110 §9.2.1]</a:t>
            </a:r>
            <a:endParaRPr lang="en-US" sz="2100" dirty="0"/>
          </a:p>
        </p:txBody>
      </p:sp>
      <p:sp>
        <p:nvSpPr>
          <p:cNvPr id="38" name="Text 35"/>
          <p:cNvSpPr txBox="1"/>
          <p:nvPr/>
        </p:nvSpPr>
        <p:spPr>
          <a:xfrm>
            <a:off x="6161881" y="2331244"/>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39" name="Text 36"/>
          <p:cNvSpPr txBox="1"/>
          <p:nvPr/>
        </p:nvSpPr>
        <p:spPr>
          <a:xfrm>
            <a:off x="6504781" y="2318544"/>
            <a:ext cx="5418137" cy="931863"/>
          </a:xfrm>
          <a:prstGeom prst="rect">
            <a:avLst/>
          </a:prstGeom>
          <a:noFill/>
          <a:ln/>
        </p:spPr>
        <p:txBody>
          <a:bodyPr wrap="square" lIns="0" tIns="0" rIns="0" bIns="0" rtlCol="0" anchor="t"/>
          <a:lstStyle/>
          <a:p>
            <a:pPr algn="l" indent="0" marL="0">
              <a:lnSpc>
                <a:spcPts val="3319"/>
              </a:lnSpc>
              <a:buNone/>
            </a:pPr>
            <a:r>
              <a:rPr lang="en-US" sz="2100" b="1" dirty="0">
                <a:solidFill>
                  <a:srgbClr val="000000"/>
                </a:solidFill>
                <a:latin typeface="Calibri" pitchFamily="34" charset="0"/>
                <a:ea typeface="Calibri" pitchFamily="34" charset="-122"/>
                <a:cs typeface="Calibri" pitchFamily="34" charset="-120"/>
              </a:rPr>
              <a:t>Idempotent</a:t>
            </a:r>
            <a:pPr algn="l" indent="0" marL="0">
              <a:lnSpc>
                <a:spcPts val="3319"/>
              </a:lnSpc>
              <a:buNone/>
            </a:pPr>
            <a:r>
              <a:rPr lang="en-US" sz="2100" dirty="0">
                <a:solidFill>
                  <a:srgbClr val="000000"/>
                </a:solidFill>
                <a:latin typeface="Calibri" pitchFamily="34" charset="0"/>
                <a:ea typeface="Calibri" pitchFamily="34" charset="-122"/>
                <a:cs typeface="Calibri" pitchFamily="34" charset="-120"/>
              </a:rPr>
              <a:t>: a repeated request has the same intended effect. A client can send it again </a:t>
            </a:r>
            <a:pPr algn="l" indent="0" marL="0">
              <a:lnSpc>
                <a:spcPts val="3319"/>
              </a:lnSpc>
              <a:buNone/>
            </a:pPr>
            <a:r>
              <a:rPr lang="en-US" sz="1303" u="sng" dirty="0">
                <a:solidFill>
                  <a:srgbClr val="59595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9110 §9.2.2]</a:t>
            </a:r>
            <a:endParaRPr lang="en-US" sz="2100" dirty="0"/>
          </a:p>
        </p:txBody>
      </p:sp>
      <p:sp>
        <p:nvSpPr>
          <p:cNvPr id="40" name="Text 37"/>
          <p:cNvSpPr txBox="1"/>
          <p:nvPr/>
        </p:nvSpPr>
        <p:spPr>
          <a:xfrm>
            <a:off x="6161881" y="3468688"/>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41" name="Text 38"/>
          <p:cNvSpPr txBox="1"/>
          <p:nvPr/>
        </p:nvSpPr>
        <p:spPr>
          <a:xfrm>
            <a:off x="6504781" y="3455988"/>
            <a:ext cx="5418137"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Neither</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a proxy </a:t>
            </a:r>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must not</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send it again automatically </a:t>
            </a:r>
            <a:pPr algn="l" indent="0" marL="0">
              <a:lnSpc>
                <a:spcPts val="2519"/>
              </a:lnSpc>
              <a:buNone/>
            </a:pPr>
            <a:r>
              <a:rPr lang="en-US" sz="1303" u="sng" dirty="0">
                <a:solidFill>
                  <a:srgbClr val="59595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9110 §9.2.2]</a:t>
            </a:r>
            <a:endParaRPr lang="en-US" sz="2100" dirty="0"/>
          </a:p>
        </p:txBody>
      </p:sp>
      <p:sp>
        <p:nvSpPr>
          <p:cNvPr id="42" name="Text 39"/>
          <p:cNvSpPr txBox="1"/>
          <p:nvPr/>
        </p:nvSpPr>
        <p:spPr>
          <a:xfrm>
            <a:off x="6161881" y="4286251"/>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43" name="Text 40"/>
          <p:cNvSpPr txBox="1"/>
          <p:nvPr/>
        </p:nvSpPr>
        <p:spPr>
          <a:xfrm>
            <a:off x="6504781" y="4273549"/>
            <a:ext cx="4185245" cy="330200"/>
          </a:xfrm>
          <a:prstGeom prst="rect">
            <a:avLst/>
          </a:prstGeom>
          <a:noFill/>
          <a:ln/>
        </p:spPr>
        <p:txBody>
          <a:bodyPr wrap="none" lIns="0" tIns="0" rIns="0" bIns="0" rtlCol="0" anchor="t"/>
          <a:lstStyle/>
          <a:p>
            <a:pPr algn="l" indent="0" marL="0">
              <a:buNone/>
            </a:pPr>
            <a:r>
              <a:rPr lang="en-US" sz="2100" dirty="0">
                <a:solidFill>
                  <a:srgbClr val="000000"/>
                </a:solidFill>
                <a:latin typeface="Calibri" pitchFamily="34" charset="0"/>
                <a:ea typeface="Calibri" pitchFamily="34" charset="-122"/>
                <a:cs typeface="Calibri" pitchFamily="34" charset="-120"/>
              </a:rPr>
              <a:t>All safe methods are also idempotent</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5</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2408237"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The parts of a URI</a:t>
            </a:r>
            <a:endParaRPr lang="en-US" sz="2400" dirty="0"/>
          </a:p>
        </p:txBody>
      </p:sp>
      <p:pic>
        <p:nvPicPr>
          <p:cNvPr id="10" name="Image 1" descr="Rendered as an image because of CSS transform">    </p:cNvPr>
          <p:cNvPicPr>
            <a:picLocks noChangeAspect="1"/>
          </p:cNvPicPr>
          <p:nvPr/>
        </p:nvPicPr>
        <p:blipFill>
          <a:blip r:embed="rId2"/>
          <a:stretch>
            <a:fillRect/>
          </a:stretch>
        </p:blipFill>
        <p:spPr>
          <a:xfrm>
            <a:off x="804664" y="2339181"/>
            <a:ext cx="765969" cy="361951"/>
          </a:xfrm>
          <a:prstGeom prst="rect">
            <a:avLst/>
          </a:prstGeom>
        </p:spPr>
      </p:pic>
      <p:sp>
        <p:nvSpPr>
          <p:cNvPr id="11" name="Text 7"/>
          <p:cNvSpPr txBox="1"/>
          <p:nvPr/>
        </p:nvSpPr>
        <p:spPr>
          <a:xfrm>
            <a:off x="578048" y="1793081"/>
            <a:ext cx="1219399" cy="495300"/>
          </a:xfrm>
          <a:prstGeom prst="rect">
            <a:avLst/>
          </a:prstGeom>
          <a:noFill/>
          <a:ln/>
        </p:spPr>
        <p:txBody>
          <a:bodyPr wrap="none" lIns="0" tIns="0" rIns="0" bIns="0" rtlCol="0" anchor="ctr"/>
          <a:lstStyle/>
          <a:p>
            <a:pPr algn="ctr" indent="0" marL="0">
              <a:buNone/>
            </a:pPr>
            <a:r>
              <a:rPr lang="en-US" sz="2800" b="1" u="sng" dirty="0">
                <a:solidFill>
                  <a:srgbClr val="000000"/>
                </a:solidFill>
                <a:latin typeface="Courier New" pitchFamily="34" charset="0"/>
                <a:ea typeface="Courier New" pitchFamily="34" charset="-122"/>
                <a:cs typeface="Courier New" pitchFamily="34" charset="-120"/>
              </a:rPr>
              <a:t>https</a:t>
            </a:r>
            <a:endParaRPr lang="en-US" sz="2800" dirty="0"/>
          </a:p>
        </p:txBody>
      </p:sp>
      <p:sp>
        <p:nvSpPr>
          <p:cNvPr id="12" name="Text 8"/>
          <p:cNvSpPr txBox="1"/>
          <p:nvPr/>
        </p:nvSpPr>
        <p:spPr>
          <a:xfrm>
            <a:off x="1645047" y="1805781"/>
            <a:ext cx="792757" cy="393700"/>
          </a:xfrm>
          <a:prstGeom prst="rect">
            <a:avLst/>
          </a:prstGeom>
          <a:noFill/>
          <a:ln/>
        </p:spPr>
        <p:txBody>
          <a:bodyPr wrap="none" lIns="0" tIns="0" rIns="0" bIns="0" rtlCol="0" anchor="t"/>
          <a:lstStyle/>
          <a:p>
            <a:pPr algn="ctr" indent="0" marL="0">
              <a:buNone/>
            </a:pPr>
            <a:r>
              <a:rPr lang="en-US" sz="2800" b="1" dirty="0">
                <a:solidFill>
                  <a:srgbClr val="000000"/>
                </a:solidFill>
                <a:latin typeface="Courier New" pitchFamily="34" charset="0"/>
                <a:ea typeface="Courier New" pitchFamily="34" charset="-122"/>
                <a:cs typeface="Courier New" pitchFamily="34" charset="-120"/>
              </a:rPr>
              <a:t>://</a:t>
            </a:r>
            <a:endParaRPr lang="en-US" sz="2800" dirty="0"/>
          </a:p>
        </p:txBody>
      </p:sp>
      <p:pic>
        <p:nvPicPr>
          <p:cNvPr id="13" name="Image 2" descr="Rendered as an image because of CSS transform">    </p:cNvPr>
          <p:cNvPicPr>
            <a:picLocks noChangeAspect="1"/>
          </p:cNvPicPr>
          <p:nvPr/>
        </p:nvPicPr>
        <p:blipFill>
          <a:blip r:embed="rId3"/>
          <a:stretch>
            <a:fillRect/>
          </a:stretch>
        </p:blipFill>
        <p:spPr>
          <a:xfrm>
            <a:off x="3174603" y="2339181"/>
            <a:ext cx="934640" cy="361951"/>
          </a:xfrm>
          <a:prstGeom prst="rect">
            <a:avLst/>
          </a:prstGeom>
        </p:spPr>
      </p:pic>
      <p:sp>
        <p:nvSpPr>
          <p:cNvPr id="14" name="Text 9"/>
          <p:cNvSpPr txBox="1"/>
          <p:nvPr/>
        </p:nvSpPr>
        <p:spPr>
          <a:xfrm>
            <a:off x="2285405" y="1793081"/>
            <a:ext cx="2713236" cy="495300"/>
          </a:xfrm>
          <a:prstGeom prst="rect">
            <a:avLst/>
          </a:prstGeom>
          <a:noFill/>
          <a:ln/>
        </p:spPr>
        <p:txBody>
          <a:bodyPr wrap="none" lIns="0" tIns="0" rIns="0" bIns="0" rtlCol="0" anchor="ctr"/>
          <a:lstStyle/>
          <a:p>
            <a:pPr algn="ctr" indent="0" marL="0">
              <a:buNone/>
            </a:pPr>
            <a:r>
              <a:rPr lang="en-US" sz="2800" b="1" u="sng" dirty="0">
                <a:solidFill>
                  <a:srgbClr val="000000"/>
                </a:solidFill>
                <a:latin typeface="Courier New" pitchFamily="34" charset="0"/>
                <a:ea typeface="Courier New" pitchFamily="34" charset="-122"/>
                <a:cs typeface="Courier New" pitchFamily="34" charset="-120"/>
              </a:rPr>
              <a:t>shop.example</a:t>
            </a:r>
            <a:endParaRPr lang="en-US" sz="2800" dirty="0"/>
          </a:p>
        </p:txBody>
      </p:sp>
      <p:pic>
        <p:nvPicPr>
          <p:cNvPr id="15" name="Image 3" descr="Rendered as an image because of CSS transform">    </p:cNvPr>
          <p:cNvPicPr>
            <a:picLocks noChangeAspect="1"/>
          </p:cNvPicPr>
          <p:nvPr/>
        </p:nvPicPr>
        <p:blipFill>
          <a:blip r:embed="rId4"/>
          <a:stretch>
            <a:fillRect/>
          </a:stretch>
        </p:blipFill>
        <p:spPr>
          <a:xfrm>
            <a:off x="5439569" y="2339181"/>
            <a:ext cx="459581" cy="361951"/>
          </a:xfrm>
          <a:prstGeom prst="rect">
            <a:avLst/>
          </a:prstGeom>
        </p:spPr>
      </p:pic>
      <p:sp>
        <p:nvSpPr>
          <p:cNvPr id="16" name="Text 10"/>
          <p:cNvSpPr txBox="1"/>
          <p:nvPr/>
        </p:nvSpPr>
        <p:spPr>
          <a:xfrm>
            <a:off x="4846240" y="1793081"/>
            <a:ext cx="1646237" cy="495300"/>
          </a:xfrm>
          <a:prstGeom prst="rect">
            <a:avLst/>
          </a:prstGeom>
          <a:noFill/>
          <a:ln/>
        </p:spPr>
        <p:txBody>
          <a:bodyPr wrap="none" lIns="0" tIns="0" rIns="0" bIns="0" rtlCol="0" anchor="ctr"/>
          <a:lstStyle/>
          <a:p>
            <a:pPr algn="ctr" indent="0" marL="0">
              <a:buNone/>
            </a:pPr>
            <a:r>
              <a:rPr lang="en-US" sz="2800" b="1" u="sng" dirty="0">
                <a:solidFill>
                  <a:srgbClr val="000000"/>
                </a:solidFill>
                <a:latin typeface="Courier New" pitchFamily="34" charset="0"/>
                <a:ea typeface="Courier New" pitchFamily="34" charset="-122"/>
                <a:cs typeface="Courier New" pitchFamily="34" charset="-120"/>
              </a:rPr>
              <a:t>/search</a:t>
            </a:r>
            <a:endParaRPr lang="en-US" sz="2800" dirty="0"/>
          </a:p>
        </p:txBody>
      </p:sp>
      <p:sp>
        <p:nvSpPr>
          <p:cNvPr id="17" name="Shape 11"/>
          <p:cNvSpPr/>
          <p:nvPr/>
        </p:nvSpPr>
        <p:spPr>
          <a:xfrm>
            <a:off x="6416279" y="1793081"/>
            <a:ext cx="3414316" cy="495300"/>
          </a:xfrm>
          <a:prstGeom prst="rect">
            <a:avLst/>
          </a:prstGeom>
          <a:solidFill>
            <a:srgbClr val="BBE0E3"/>
          </a:solidFill>
          <a:ln/>
        </p:spPr>
      </p:sp>
      <p:sp>
        <p:nvSpPr>
          <p:cNvPr id="18" name="Shape 12"/>
          <p:cNvSpPr/>
          <p:nvPr/>
        </p:nvSpPr>
        <p:spPr>
          <a:xfrm>
            <a:off x="6416279" y="2237581"/>
            <a:ext cx="3414316" cy="50800"/>
          </a:xfrm>
          <a:prstGeom prst="rect">
            <a:avLst/>
          </a:prstGeom>
          <a:solidFill>
            <a:srgbClr val="CC6600"/>
          </a:solidFill>
          <a:ln/>
        </p:spPr>
      </p:sp>
      <p:pic>
        <p:nvPicPr>
          <p:cNvPr id="19" name="Image 4" descr="Rendered as an image because of CSS transform">    </p:cNvPr>
          <p:cNvPicPr>
            <a:picLocks noChangeAspect="1"/>
          </p:cNvPicPr>
          <p:nvPr/>
        </p:nvPicPr>
        <p:blipFill>
          <a:blip r:embed="rId5"/>
          <a:stretch>
            <a:fillRect/>
          </a:stretch>
        </p:blipFill>
        <p:spPr>
          <a:xfrm>
            <a:off x="7832625" y="2339181"/>
            <a:ext cx="581620" cy="361951"/>
          </a:xfrm>
          <a:prstGeom prst="rect">
            <a:avLst/>
          </a:prstGeom>
        </p:spPr>
      </p:pic>
      <p:sp>
        <p:nvSpPr>
          <p:cNvPr id="20" name="Text 13"/>
          <p:cNvSpPr txBox="1"/>
          <p:nvPr/>
        </p:nvSpPr>
        <p:spPr>
          <a:xfrm>
            <a:off x="6340079" y="1793081"/>
            <a:ext cx="3566716" cy="495300"/>
          </a:xfrm>
          <a:prstGeom prst="rect">
            <a:avLst/>
          </a:prstGeom>
          <a:noFill/>
          <a:ln/>
        </p:spPr>
        <p:txBody>
          <a:bodyPr wrap="none" lIns="0" tIns="0" rIns="0" bIns="0" rtlCol="0" anchor="ctr"/>
          <a:lstStyle/>
          <a:p>
            <a:pPr algn="ctr" indent="0" marL="0">
              <a:buNone/>
            </a:pPr>
            <a:r>
              <a:rPr lang="en-US" sz="2800" b="1" dirty="0">
                <a:solidFill>
                  <a:srgbClr val="000000"/>
                </a:solidFill>
                <a:latin typeface="Courier New" pitchFamily="34" charset="0"/>
                <a:ea typeface="Courier New" pitchFamily="34" charset="-122"/>
                <a:cs typeface="Courier New" pitchFamily="34" charset="-120"/>
              </a:rPr>
              <a:t>?q=laptop&amp;page=2</a:t>
            </a:r>
            <a:endParaRPr lang="en-US" sz="2800" dirty="0"/>
          </a:p>
        </p:txBody>
      </p:sp>
      <p:pic>
        <p:nvPicPr>
          <p:cNvPr id="21" name="Image 5" descr="Rendered as an image because of CSS transform">    </p:cNvPr>
          <p:cNvPicPr>
            <a:picLocks noChangeAspect="1"/>
          </p:cNvPicPr>
          <p:nvPr/>
        </p:nvPicPr>
        <p:blipFill>
          <a:blip r:embed="rId6"/>
          <a:stretch>
            <a:fillRect/>
          </a:stretch>
        </p:blipFill>
        <p:spPr>
          <a:xfrm>
            <a:off x="10224492" y="2339181"/>
            <a:ext cx="919163" cy="361951"/>
          </a:xfrm>
          <a:prstGeom prst="rect">
            <a:avLst/>
          </a:prstGeom>
        </p:spPr>
      </p:pic>
      <p:sp>
        <p:nvSpPr>
          <p:cNvPr id="22" name="Text 14"/>
          <p:cNvSpPr txBox="1"/>
          <p:nvPr/>
        </p:nvSpPr>
        <p:spPr>
          <a:xfrm>
            <a:off x="9754393" y="1793081"/>
            <a:ext cx="1859557" cy="495300"/>
          </a:xfrm>
          <a:prstGeom prst="rect">
            <a:avLst/>
          </a:prstGeom>
          <a:noFill/>
          <a:ln/>
        </p:spPr>
        <p:txBody>
          <a:bodyPr wrap="none" lIns="0" tIns="0" rIns="0" bIns="0" rtlCol="0" anchor="ctr"/>
          <a:lstStyle/>
          <a:p>
            <a:pPr algn="ctr" indent="0" marL="0">
              <a:buNone/>
            </a:pPr>
            <a:r>
              <a:rPr lang="en-US" sz="2800" b="1" u="sng" dirty="0">
                <a:solidFill>
                  <a:srgbClr val="000000"/>
                </a:solidFill>
                <a:latin typeface="Courier New" pitchFamily="34" charset="0"/>
                <a:ea typeface="Courier New" pitchFamily="34" charset="-122"/>
                <a:cs typeface="Courier New" pitchFamily="34" charset="-120"/>
              </a:rPr>
              <a:t>#results</a:t>
            </a:r>
            <a:endParaRPr lang="en-US" sz="2800" dirty="0"/>
          </a:p>
        </p:txBody>
      </p:sp>
      <p:sp>
        <p:nvSpPr>
          <p:cNvPr id="23" name="Text 15"/>
          <p:cNvSpPr txBox="1"/>
          <p:nvPr/>
        </p:nvSpPr>
        <p:spPr>
          <a:xfrm>
            <a:off x="294481" y="3088481"/>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24" name="Text 16"/>
          <p:cNvSpPr txBox="1"/>
          <p:nvPr/>
        </p:nvSpPr>
        <p:spPr>
          <a:xfrm>
            <a:off x="637381" y="3075781"/>
            <a:ext cx="5280819" cy="650081"/>
          </a:xfrm>
          <a:prstGeom prst="rect">
            <a:avLst/>
          </a:prstGeom>
          <a:noFill/>
          <a:ln/>
        </p:spPr>
        <p:txBody>
          <a:bodyPr wrap="square" lIns="0" tIns="0" rIns="0" bIns="0" rtlCol="0" anchor="t"/>
          <a:lstStyle/>
          <a:p>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The </a:t>
            </a:r>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query</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and the path together identify the resource </a:t>
            </a:r>
            <a:pPr algn="l" indent="0" marL="0">
              <a:lnSpc>
                <a:spcPts val="2519"/>
              </a:lnSpc>
              <a:buNone/>
            </a:pPr>
            <a:r>
              <a:rPr lang="en-US" sz="1303" u="sng" dirty="0">
                <a:solidFill>
                  <a:srgbClr val="595959"/>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[RFC 3986 §3.4]</a:t>
            </a:r>
            <a:endParaRPr lang="en-US" sz="2100" dirty="0"/>
          </a:p>
        </p:txBody>
      </p:sp>
      <p:sp>
        <p:nvSpPr>
          <p:cNvPr id="25" name="Text 17"/>
          <p:cNvSpPr txBox="1"/>
          <p:nvPr/>
        </p:nvSpPr>
        <p:spPr>
          <a:xfrm>
            <a:off x="294481" y="3906044"/>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26" name="Text 18"/>
          <p:cNvSpPr txBox="1"/>
          <p:nvPr/>
        </p:nvSpPr>
        <p:spPr>
          <a:xfrm>
            <a:off x="637381" y="3893344"/>
            <a:ext cx="5280819" cy="650081"/>
          </a:xfrm>
          <a:prstGeom prst="rect">
            <a:avLst/>
          </a:prstGeom>
          <a:noFill/>
          <a:ln/>
        </p:spPr>
        <p:txBody>
          <a:bodyPr wrap="square" lIns="0" tIns="0" rIns="0" bIns="0" rtlCol="0" anchor="t"/>
          <a:lstStyle/>
          <a:p>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The browser does not send the </a:t>
            </a:r>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fragment</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to the server </a:t>
            </a:r>
            <a:pPr algn="l" indent="0" marL="0">
              <a:lnSpc>
                <a:spcPts val="2519"/>
              </a:lnSpc>
              <a:buNone/>
            </a:pPr>
            <a:r>
              <a:rPr lang="en-US" sz="1303" u="sng" dirty="0">
                <a:solidFill>
                  <a:srgbClr val="595959"/>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[RFC 3986 §3.5]</a:t>
            </a:r>
            <a:endParaRPr lang="en-US" sz="2100" dirty="0"/>
          </a:p>
        </p:txBody>
      </p:sp>
      <p:sp>
        <p:nvSpPr>
          <p:cNvPr id="27" name="Shape 19"/>
          <p:cNvSpPr/>
          <p:nvPr/>
        </p:nvSpPr>
        <p:spPr>
          <a:xfrm>
            <a:off x="6299200" y="3088481"/>
            <a:ext cx="5598319" cy="1828800"/>
          </a:xfrm>
          <a:prstGeom prst="rect">
            <a:avLst/>
          </a:prstGeom>
          <a:solidFill>
            <a:srgbClr val="FFFFFF"/>
          </a:solidFill>
          <a:ln w="25400">
            <a:solidFill>
              <a:srgbClr val="CC6600"/>
            </a:solidFill>
            <a:prstDash val="solid"/>
          </a:ln>
        </p:spPr>
      </p:sp>
      <p:sp>
        <p:nvSpPr>
          <p:cNvPr id="28" name="Text 20"/>
          <p:cNvSpPr txBox="1"/>
          <p:nvPr/>
        </p:nvSpPr>
        <p:spPr>
          <a:xfrm>
            <a:off x="6527800" y="3291681"/>
            <a:ext cx="3212108" cy="304800"/>
          </a:xfrm>
          <a:prstGeom prst="rect">
            <a:avLst/>
          </a:prstGeom>
          <a:noFill/>
          <a:ln/>
        </p:spPr>
        <p:txBody>
          <a:bodyPr wrap="none" lIns="0" tIns="0" rIns="0" bIns="0" rtlCol="0" anchor="t"/>
          <a:lstStyle/>
          <a:p>
            <a:pPr algn="l" indent="0" marL="0">
              <a:buNone/>
            </a:pPr>
            <a:r>
              <a:rPr lang="en-US" sz="2000" b="1" spc="-49" kern="0" dirty="0">
                <a:solidFill>
                  <a:srgbClr val="993300"/>
                </a:solidFill>
                <a:latin typeface="Calibri" pitchFamily="34" charset="0"/>
                <a:ea typeface="Calibri" pitchFamily="34" charset="-122"/>
                <a:cs typeface="Calibri" pitchFamily="34" charset="-120"/>
              </a:rPr>
              <a:t>Two different things, one word</a:t>
            </a:r>
            <a:endParaRPr lang="en-US" sz="2000" dirty="0"/>
          </a:p>
        </p:txBody>
      </p:sp>
      <p:sp>
        <p:nvSpPr>
          <p:cNvPr id="29" name="Text 21"/>
          <p:cNvSpPr txBox="1"/>
          <p:nvPr/>
        </p:nvSpPr>
        <p:spPr>
          <a:xfrm>
            <a:off x="6527800" y="3685381"/>
            <a:ext cx="5102621"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The URI </a:t>
            </a:r>
            <a:pPr algn="l" indent="0" marL="0">
              <a:buNone/>
            </a:pPr>
            <a:r>
              <a:rPr lang="en-US" sz="1800" b="1" dirty="0">
                <a:solidFill>
                  <a:srgbClr val="000000"/>
                </a:solidFill>
                <a:latin typeface="Calibri" pitchFamily="34" charset="0"/>
                <a:ea typeface="Calibri" pitchFamily="34" charset="-122"/>
                <a:cs typeface="Calibri" pitchFamily="34" charset="-120"/>
              </a:rPr>
              <a:t>query component</a:t>
            </a:r>
            <a:pPr algn="l" indent="0" marL="0">
              <a:buNone/>
            </a:pPr>
            <a:r>
              <a:rPr lang="en-US" sz="1800" dirty="0">
                <a:solidFill>
                  <a:srgbClr val="000000"/>
                </a:solidFill>
                <a:latin typeface="Calibri" pitchFamily="34" charset="0"/>
                <a:ea typeface="Calibri" pitchFamily="34" charset="-122"/>
                <a:cs typeface="Calibri" pitchFamily="34" charset="-120"/>
              </a:rPr>
              <a:t> is part of an identifier. The</a:t>
            </a:r>
            <a:endParaRPr lang="en-US" sz="1800" dirty="0"/>
          </a:p>
        </p:txBody>
      </p:sp>
      <p:sp>
        <p:nvSpPr>
          <p:cNvPr id="30" name="Shape 22"/>
          <p:cNvSpPr/>
          <p:nvPr/>
        </p:nvSpPr>
        <p:spPr>
          <a:xfrm>
            <a:off x="6527800" y="4063405"/>
            <a:ext cx="767755" cy="271065"/>
          </a:xfrm>
          <a:prstGeom prst="rect">
            <a:avLst/>
          </a:prstGeom>
          <a:solidFill>
            <a:srgbClr val="CC6600"/>
          </a:solidFill>
          <a:ln/>
        </p:spPr>
      </p:sp>
      <p:sp>
        <p:nvSpPr>
          <p:cNvPr id="31" name="Text 23"/>
          <p:cNvSpPr txBox="1"/>
          <p:nvPr/>
        </p:nvSpPr>
        <p:spPr>
          <a:xfrm>
            <a:off x="6616700" y="4076105"/>
            <a:ext cx="742355" cy="228600"/>
          </a:xfrm>
          <a:prstGeom prst="rect">
            <a:avLst/>
          </a:prstGeom>
          <a:noFill/>
          <a:ln/>
        </p:spPr>
        <p:txBody>
          <a:bodyPr wrap="none" lIns="0" tIns="0" rIns="0" bIns="0" rtlCol="0" anchor="t"/>
          <a:lstStyle/>
          <a:p>
            <a:pPr algn="l" indent="0" marL="0">
              <a:buNone/>
            </a:pPr>
            <a:r>
              <a:rPr lang="en-US" sz="1548" b="1" dirty="0">
                <a:solidFill>
                  <a:srgbClr val="FFFFFF"/>
                </a:solidFill>
                <a:latin typeface="Courier New" pitchFamily="34" charset="0"/>
                <a:ea typeface="Courier New" pitchFamily="34" charset="-122"/>
                <a:cs typeface="Courier New" pitchFamily="34" charset="-120"/>
              </a:rPr>
              <a:t>QUERY</a:t>
            </a:r>
            <a:endParaRPr lang="en-US" sz="1548" dirty="0"/>
          </a:p>
        </p:txBody>
      </p:sp>
      <p:sp>
        <p:nvSpPr>
          <p:cNvPr id="32" name="Text 24"/>
          <p:cNvSpPr txBox="1"/>
          <p:nvPr/>
        </p:nvSpPr>
        <p:spPr>
          <a:xfrm>
            <a:off x="6527800" y="4040981"/>
            <a:ext cx="5205785" cy="635000"/>
          </a:xfrm>
          <a:prstGeom prst="rect">
            <a:avLst/>
          </a:prstGeom>
          <a:noFill/>
          <a:ln/>
        </p:spPr>
        <p:txBody>
          <a:bodyPr wrap="square" lIns="0" tIns="0" rIns="0" bIns="0" rtlCol="0" anchor="t"/>
          <a:lstStyle/>
          <a:p>
            <a:pPr algn="l" indent="0" marL="0">
              <a:lnSpc>
                <a:spcPts val="2800"/>
              </a:lnSpc>
              <a:buNone/>
            </a:pPr>
            <a:r>
              <a:rPr lang="en-US" sz="1800" b="1" dirty="0">
                <a:solidFill>
                  <a:srgbClr val="000000"/>
                </a:solidFill>
                <a:latin typeface="Calibri" pitchFamily="34" charset="0"/>
                <a:ea typeface="Calibri" pitchFamily="34" charset="-122"/>
                <a:cs typeface="Calibri" pitchFamily="34" charset="-120"/>
              </a:rPr>
              <a:t>method</a:t>
            </a:r>
            <a:pPr algn="l" indent="0" marL="0">
              <a:lnSpc>
                <a:spcPts val="2800"/>
              </a:lnSpc>
              <a:buNone/>
            </a:pPr>
            <a:r>
              <a:rPr lang="en-US" sz="1800" dirty="0">
                <a:solidFill>
                  <a:srgbClr val="000000"/>
                </a:solidFill>
                <a:latin typeface="Calibri" pitchFamily="34" charset="0"/>
                <a:ea typeface="Calibri" pitchFamily="34" charset="-122"/>
                <a:cs typeface="Calibri" pitchFamily="34" charset="-120"/>
              </a:rPr>
              <a:t> sends its input as content: the “query content” </a:t>
            </a:r>
            <a:pPr algn="l" indent="0" marL="0">
              <a:lnSpc>
                <a:spcPts val="2800"/>
              </a:lnSpc>
              <a:buNone/>
            </a:pPr>
            <a:r>
              <a:rPr lang="en-US" sz="1116" u="sng" dirty="0">
                <a:solidFill>
                  <a:srgbClr val="595959"/>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[RFC 10008 §1.1]</a:t>
            </a:r>
            <a:pPr algn="l" indent="0" marL="0">
              <a:lnSpc>
                <a:spcPts val="2800"/>
              </a:lnSpc>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6</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4244380"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Problems when the query grows</a:t>
            </a:r>
            <a:endParaRPr lang="en-US" sz="2400" dirty="0"/>
          </a:p>
        </p:txBody>
      </p:sp>
      <p:sp>
        <p:nvSpPr>
          <p:cNvPr id="10" name="Shape 7"/>
          <p:cNvSpPr/>
          <p:nvPr/>
        </p:nvSpPr>
        <p:spPr>
          <a:xfrm>
            <a:off x="294481" y="1513681"/>
            <a:ext cx="6218237" cy="3092449"/>
          </a:xfrm>
          <a:prstGeom prst="rect">
            <a:avLst/>
          </a:prstGeom>
          <a:noFill/>
          <a:ln w="12700">
            <a:solidFill>
              <a:srgbClr val="333399"/>
            </a:solidFill>
            <a:prstDash val="solid"/>
          </a:ln>
        </p:spPr>
      </p:sp>
      <p:sp>
        <p:nvSpPr>
          <p:cNvPr id="11" name="Text 8"/>
          <p:cNvSpPr txBox="1"/>
          <p:nvPr/>
        </p:nvSpPr>
        <p:spPr>
          <a:xfrm>
            <a:off x="459581" y="1691481"/>
            <a:ext cx="4557515"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the same search, with more filters</a:t>
            </a:r>
            <a:endParaRPr lang="en-US" sz="1700" dirty="0"/>
          </a:p>
        </p:txBody>
      </p:sp>
      <p:sp>
        <p:nvSpPr>
          <p:cNvPr id="12" name="Shape 9"/>
          <p:cNvSpPr/>
          <p:nvPr/>
        </p:nvSpPr>
        <p:spPr>
          <a:xfrm>
            <a:off x="307181" y="2060972"/>
            <a:ext cx="6192837" cy="1484312"/>
          </a:xfrm>
          <a:prstGeom prst="rect">
            <a:avLst/>
          </a:prstGeom>
          <a:solidFill>
            <a:srgbClr val="DAEDEF"/>
          </a:solidFill>
          <a:ln/>
        </p:spPr>
      </p:sp>
      <p:sp>
        <p:nvSpPr>
          <p:cNvPr id="13" name="Text 10"/>
          <p:cNvSpPr txBox="1"/>
          <p:nvPr/>
        </p:nvSpPr>
        <p:spPr>
          <a:xfrm>
            <a:off x="459581" y="2086372"/>
            <a:ext cx="5972299" cy="1428751"/>
          </a:xfrm>
          <a:prstGeom prst="rect">
            <a:avLst/>
          </a:prstGeom>
          <a:noFill/>
          <a:ln/>
        </p:spPr>
        <p:txBody>
          <a:bodyPr wrap="square" lIns="0" tIns="0" rIns="0" bIns="0" rtlCol="0" anchor="t"/>
          <a:lstStyle/>
          <a:p>
            <a:pPr algn="l" indent="0" marL="0">
              <a:lnSpc>
                <a:spcPts val="2337"/>
              </a:lnSpc>
              <a:buNone/>
            </a:pPr>
            <a:r>
              <a:rPr lang="en-US" sz="1700" b="1" dirty="0">
                <a:solidFill>
                  <a:srgbClr val="333399"/>
                </a:solidFill>
                <a:latin typeface="Courier New" pitchFamily="34" charset="0"/>
                <a:ea typeface="Courier New" pitchFamily="34" charset="-122"/>
                <a:cs typeface="Courier New" pitchFamily="34" charset="-120"/>
              </a:rPr>
              <a:t>GET</a:t>
            </a:r>
            <a:pPr algn="l" indent="0" marL="0">
              <a:lnSpc>
                <a:spcPts val="2337"/>
              </a:lnSpc>
              <a:buNone/>
            </a:pPr>
            <a:r>
              <a:rPr lang="en-US" sz="1700" b="1" dirty="0">
                <a:solidFill>
                  <a:srgbClr val="000000"/>
                </a:solidFill>
                <a:latin typeface="Courier New" pitchFamily="34" charset="0"/>
                <a:ea typeface="Courier New" pitchFamily="34" charset="-122"/>
                <a:cs typeface="Courier New" pitchFamily="34" charset="-120"/>
              </a:rPr>
              <a:t> /search?q=laptop&amp;brand=lenovo,dell,hp&amp;price_min=40000&amp;price_max=100000&amp;ram=16,32&amp;sort=price&amp;page=2&amp;filters=%7B%22gpu%22%3A%5B%22rtx-4060%22%2C%22rx-7600%22%5D%7D </a:t>
            </a:r>
            <a:pPr algn="l" indent="0" marL="0">
              <a:lnSpc>
                <a:spcPts val="2337"/>
              </a:lnSpc>
              <a:buNone/>
            </a:pPr>
            <a:r>
              <a:rPr lang="en-US" sz="1700" b="1" dirty="0">
                <a:solidFill>
                  <a:srgbClr val="333399"/>
                </a:solidFill>
                <a:latin typeface="Courier New" pitchFamily="34" charset="0"/>
                <a:ea typeface="Courier New" pitchFamily="34" charset="-122"/>
                <a:cs typeface="Courier New" pitchFamily="34" charset="-120"/>
              </a:rPr>
              <a:t>HTTP</a:t>
            </a:r>
            <a:pPr algn="l" indent="0" marL="0">
              <a:lnSpc>
                <a:spcPts val="2337"/>
              </a:lnSpc>
              <a:buNone/>
            </a:pPr>
            <a:r>
              <a:rPr lang="en-US" sz="1700" b="1" dirty="0">
                <a:solidFill>
                  <a:srgbClr val="000000"/>
                </a:solidFill>
                <a:latin typeface="Courier New" pitchFamily="34" charset="0"/>
                <a:ea typeface="Courier New" pitchFamily="34" charset="-122"/>
                <a:cs typeface="Courier New" pitchFamily="34" charset="-120"/>
              </a:rPr>
              <a:t>/</a:t>
            </a:r>
            <a:pPr algn="l" indent="0" marL="0">
              <a:lnSpc>
                <a:spcPts val="2337"/>
              </a:lnSpc>
              <a:buNone/>
            </a:pPr>
            <a:r>
              <a:rPr lang="en-US" sz="1700" b="1" dirty="0">
                <a:solidFill>
                  <a:srgbClr val="CC6600"/>
                </a:solidFill>
                <a:latin typeface="Courier New" pitchFamily="34" charset="0"/>
                <a:ea typeface="Courier New" pitchFamily="34" charset="-122"/>
                <a:cs typeface="Courier New" pitchFamily="34" charset="-120"/>
              </a:rPr>
              <a:t>1.1</a:t>
            </a:r>
            <a:endParaRPr lang="en-US" sz="1700" dirty="0"/>
          </a:p>
        </p:txBody>
      </p:sp>
      <p:sp>
        <p:nvSpPr>
          <p:cNvPr id="14" name="Text 11"/>
          <p:cNvSpPr txBox="1"/>
          <p:nvPr/>
        </p:nvSpPr>
        <p:spPr>
          <a:xfrm>
            <a:off x="459581" y="3570684"/>
            <a:ext cx="2484636" cy="241300"/>
          </a:xfrm>
          <a:prstGeom prst="rect">
            <a:avLst/>
          </a:prstGeom>
          <a:noFill/>
          <a:ln/>
        </p:spPr>
        <p:txBody>
          <a:bodyPr wrap="none" lIns="0" tIns="0" rIns="0" bIns="0" rtlCol="0" anchor="t"/>
          <a:lstStyle/>
          <a:p>
            <a:pPr algn="l" indent="0" marL="0">
              <a:buNone/>
            </a:pPr>
            <a:r>
              <a:rPr lang="en-US" sz="1700" b="1" dirty="0">
                <a:solidFill>
                  <a:srgbClr val="993300"/>
                </a:solidFill>
                <a:latin typeface="Courier New" pitchFamily="34" charset="0"/>
                <a:ea typeface="Courier New" pitchFamily="34" charset="-122"/>
                <a:cs typeface="Courier New" pitchFamily="34" charset="-120"/>
              </a:rPr>
              <a:t>Host</a:t>
            </a:r>
            <a:pPr algn="l" indent="0" marL="0">
              <a:buNone/>
            </a:pPr>
            <a:r>
              <a:rPr lang="en-US" sz="1700" b="1" dirty="0">
                <a:solidFill>
                  <a:srgbClr val="333399"/>
                </a:solidFill>
                <a:latin typeface="Courier New" pitchFamily="34" charset="0"/>
                <a:ea typeface="Courier New" pitchFamily="34" charset="-122"/>
                <a:cs typeface="Courier New" pitchFamily="34" charset="-120"/>
              </a:rPr>
              <a:t>:</a:t>
            </a:r>
            <a:pPr algn="l" indent="0" marL="0">
              <a:buNone/>
            </a:pPr>
            <a:r>
              <a:rPr lang="en-US" sz="1700" b="1" dirty="0">
                <a:solidFill>
                  <a:srgbClr val="000000"/>
                </a:solidFill>
                <a:latin typeface="Courier New" pitchFamily="34" charset="0"/>
                <a:ea typeface="Courier New" pitchFamily="34" charset="-122"/>
                <a:cs typeface="Courier New" pitchFamily="34" charset="-120"/>
              </a:rPr>
              <a:t> </a:t>
            </a:r>
            <a:pPr algn="l" indent="0" marL="0">
              <a:buNone/>
            </a:pPr>
            <a:r>
              <a:rPr lang="en-US" sz="1700" b="1" dirty="0">
                <a:solidFill>
                  <a:srgbClr val="993300"/>
                </a:solidFill>
                <a:latin typeface="Courier New" pitchFamily="34" charset="0"/>
                <a:ea typeface="Courier New" pitchFamily="34" charset="-122"/>
                <a:cs typeface="Courier New" pitchFamily="34" charset="-120"/>
              </a:rPr>
              <a:t>shop.example</a:t>
            </a:r>
            <a:endParaRPr lang="en-US" sz="1700" dirty="0"/>
          </a:p>
        </p:txBody>
      </p:sp>
      <p:sp>
        <p:nvSpPr>
          <p:cNvPr id="15" name="Text 12"/>
          <p:cNvSpPr txBox="1"/>
          <p:nvPr/>
        </p:nvSpPr>
        <p:spPr>
          <a:xfrm>
            <a:off x="459581" y="4164409"/>
            <a:ext cx="3391693" cy="241300"/>
          </a:xfrm>
          <a:prstGeom prst="rect">
            <a:avLst/>
          </a:prstGeom>
          <a:noFill/>
          <a:ln/>
        </p:spPr>
        <p:txBody>
          <a:bodyPr wrap="none" lIns="0" tIns="0" rIns="0" bIns="0" rtlCol="0" anchor="t"/>
          <a:lstStyle/>
          <a:p>
            <a:pPr algn="l" indent="0" marL="0">
              <a:buNone/>
            </a:pPr>
            <a:r>
              <a:rPr lang="en-US" sz="1700" b="1" dirty="0">
                <a:solidFill>
                  <a:srgbClr val="333399"/>
                </a:solidFill>
                <a:latin typeface="Courier New" pitchFamily="34" charset="0"/>
                <a:ea typeface="Courier New" pitchFamily="34" charset="-122"/>
                <a:cs typeface="Courier New" pitchFamily="34" charset="-120"/>
              </a:rPr>
              <a:t>HTTP</a:t>
            </a:r>
            <a:pPr algn="l" indent="0" marL="0">
              <a:buNone/>
            </a:pPr>
            <a:r>
              <a:rPr lang="en-US" sz="1700" b="1" dirty="0">
                <a:solidFill>
                  <a:srgbClr val="000000"/>
                </a:solidFill>
                <a:latin typeface="Courier New" pitchFamily="34" charset="0"/>
                <a:ea typeface="Courier New" pitchFamily="34" charset="-122"/>
                <a:cs typeface="Courier New" pitchFamily="34" charset="-120"/>
              </a:rPr>
              <a:t>/</a:t>
            </a:r>
            <a:pPr algn="l" indent="0" marL="0">
              <a:buNone/>
            </a:pPr>
            <a:r>
              <a:rPr lang="en-US" sz="1700" b="1" dirty="0">
                <a:solidFill>
                  <a:srgbClr val="CC6600"/>
                </a:solidFill>
                <a:latin typeface="Courier New" pitchFamily="34" charset="0"/>
                <a:ea typeface="Courier New" pitchFamily="34" charset="-122"/>
                <a:cs typeface="Courier New" pitchFamily="34" charset="-120"/>
              </a:rPr>
              <a:t>1.1</a:t>
            </a:r>
            <a:pPr algn="l" indent="0" marL="0">
              <a:buNone/>
            </a:pPr>
            <a:r>
              <a:rPr lang="en-US" sz="1700" b="1" dirty="0">
                <a:solidFill>
                  <a:srgbClr val="000000"/>
                </a:solidFill>
                <a:latin typeface="Courier New" pitchFamily="34" charset="0"/>
                <a:ea typeface="Courier New" pitchFamily="34" charset="-122"/>
                <a:cs typeface="Courier New" pitchFamily="34" charset="-120"/>
              </a:rPr>
              <a:t> </a:t>
            </a:r>
            <a:pPr algn="l" indent="0" marL="0">
              <a:buNone/>
            </a:pPr>
            <a:r>
              <a:rPr lang="en-US" sz="1700" b="1" dirty="0">
                <a:solidFill>
                  <a:srgbClr val="CC6600"/>
                </a:solidFill>
                <a:latin typeface="Courier New" pitchFamily="34" charset="0"/>
                <a:ea typeface="Courier New" pitchFamily="34" charset="-122"/>
                <a:cs typeface="Courier New" pitchFamily="34" charset="-120"/>
              </a:rPr>
              <a:t>414</a:t>
            </a:r>
            <a:pPr algn="l" indent="0" marL="0">
              <a:buNone/>
            </a:pPr>
            <a:r>
              <a:rPr lang="en-US" sz="1700" b="1" dirty="0">
                <a:solidFill>
                  <a:srgbClr val="000000"/>
                </a:solidFill>
                <a:latin typeface="Courier New" pitchFamily="34" charset="0"/>
                <a:ea typeface="Courier New" pitchFamily="34" charset="-122"/>
                <a:cs typeface="Courier New" pitchFamily="34" charset="-120"/>
              </a:rPr>
              <a:t> </a:t>
            </a:r>
            <a:pPr algn="l" indent="0" marL="0">
              <a:buNone/>
            </a:pPr>
            <a:r>
              <a:rPr lang="en-US" sz="1700" b="1" dirty="0">
                <a:solidFill>
                  <a:srgbClr val="993300"/>
                </a:solidFill>
                <a:latin typeface="Courier New" pitchFamily="34" charset="0"/>
                <a:ea typeface="Courier New" pitchFamily="34" charset="-122"/>
                <a:cs typeface="Courier New" pitchFamily="34" charset="-120"/>
              </a:rPr>
              <a:t>URI Too Long</a:t>
            </a:r>
            <a:endParaRPr lang="en-US" sz="1700" dirty="0"/>
          </a:p>
        </p:txBody>
      </p:sp>
      <p:sp>
        <p:nvSpPr>
          <p:cNvPr id="16" name="Text 13"/>
          <p:cNvSpPr txBox="1"/>
          <p:nvPr/>
        </p:nvSpPr>
        <p:spPr>
          <a:xfrm>
            <a:off x="6817519" y="1513681"/>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17" name="Text 14"/>
          <p:cNvSpPr txBox="1"/>
          <p:nvPr/>
        </p:nvSpPr>
        <p:spPr>
          <a:xfrm>
            <a:off x="7160419" y="1500981"/>
            <a:ext cx="4762500"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No fixed limit.</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HTTP recommends at least 8000 octets </a:t>
            </a:r>
            <a:pPr algn="l" indent="0" marL="0">
              <a:lnSpc>
                <a:spcPts val="2519"/>
              </a:lnSpc>
              <a:buNone/>
            </a:pPr>
            <a:r>
              <a:rPr lang="en-US" sz="1303" u="sng" dirty="0">
                <a:solidFill>
                  <a:srgbClr val="59595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9110 §4.1]</a:t>
            </a:r>
            <a:endParaRPr lang="en-US" sz="2100" dirty="0"/>
          </a:p>
        </p:txBody>
      </p:sp>
      <p:sp>
        <p:nvSpPr>
          <p:cNvPr id="18" name="Text 15"/>
          <p:cNvSpPr txBox="1"/>
          <p:nvPr/>
        </p:nvSpPr>
        <p:spPr>
          <a:xfrm>
            <a:off x="6817519" y="2331244"/>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19" name="Text 16"/>
          <p:cNvSpPr txBox="1"/>
          <p:nvPr/>
        </p:nvSpPr>
        <p:spPr>
          <a:xfrm>
            <a:off x="7160419" y="2318544"/>
            <a:ext cx="4762500"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Unknown limits.</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Each hop can have a different limit </a:t>
            </a:r>
            <a:pPr algn="l" indent="0" marL="0">
              <a:lnSpc>
                <a:spcPts val="2519"/>
              </a:lnSpc>
              <a:buNone/>
            </a:pPr>
            <a:r>
              <a:rPr lang="en-US" sz="1303" u="sng" dirty="0">
                <a:solidFill>
                  <a:srgbClr val="59595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10008 §1]</a:t>
            </a:r>
            <a:endParaRPr lang="en-US" sz="2100" dirty="0"/>
          </a:p>
        </p:txBody>
      </p:sp>
      <p:sp>
        <p:nvSpPr>
          <p:cNvPr id="20" name="Text 17"/>
          <p:cNvSpPr txBox="1"/>
          <p:nvPr/>
        </p:nvSpPr>
        <p:spPr>
          <a:xfrm>
            <a:off x="6817519" y="3148807"/>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21" name="Text 18"/>
          <p:cNvSpPr txBox="1"/>
          <p:nvPr/>
        </p:nvSpPr>
        <p:spPr>
          <a:xfrm>
            <a:off x="7160419" y="3136107"/>
            <a:ext cx="4762500"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414 URI Too Long</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the reply when the URI is too long for the server </a:t>
            </a:r>
            <a:pPr algn="l" indent="0" marL="0">
              <a:lnSpc>
                <a:spcPts val="2519"/>
              </a:lnSpc>
              <a:buNone/>
            </a:pPr>
            <a:r>
              <a:rPr lang="en-US" sz="1303" u="sng" dirty="0">
                <a:solidFill>
                  <a:srgbClr val="59595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9110 §15.5.15]</a:t>
            </a:r>
            <a:endParaRPr lang="en-US" sz="2100" dirty="0"/>
          </a:p>
        </p:txBody>
      </p:sp>
      <p:sp>
        <p:nvSpPr>
          <p:cNvPr id="22" name="Text 19"/>
          <p:cNvSpPr txBox="1"/>
          <p:nvPr/>
        </p:nvSpPr>
        <p:spPr>
          <a:xfrm>
            <a:off x="6817519" y="3966369"/>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23" name="Text 20"/>
          <p:cNvSpPr txBox="1"/>
          <p:nvPr/>
        </p:nvSpPr>
        <p:spPr>
          <a:xfrm>
            <a:off x="7160419" y="3953669"/>
            <a:ext cx="4763123"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Encoding cost.</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Here, 30 characters of JSON become 54 </a:t>
            </a:r>
            <a:pPr algn="l" indent="0" marL="0">
              <a:lnSpc>
                <a:spcPts val="2519"/>
              </a:lnSpc>
              <a:buNone/>
            </a:pPr>
            <a:r>
              <a:rPr lang="en-US" sz="1303" u="sng" dirty="0">
                <a:solidFill>
                  <a:srgbClr val="59595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[RFC 10008 §1]</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7</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3484165"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Where the URI is recorded</a:t>
            </a:r>
            <a:endParaRPr lang="en-US" sz="2400" dirty="0"/>
          </a:p>
        </p:txBody>
      </p:sp>
      <p:sp>
        <p:nvSpPr>
          <p:cNvPr id="10" name="Shape 7"/>
          <p:cNvSpPr/>
          <p:nvPr/>
        </p:nvSpPr>
        <p:spPr>
          <a:xfrm>
            <a:off x="294481" y="1513681"/>
            <a:ext cx="1743273" cy="550267"/>
          </a:xfrm>
          <a:prstGeom prst="rect">
            <a:avLst/>
          </a:prstGeom>
          <a:solidFill>
            <a:srgbClr val="D6D6EB"/>
          </a:solidFill>
          <a:ln w="12700">
            <a:solidFill>
              <a:srgbClr val="333399"/>
            </a:solidFill>
            <a:prstDash val="solid"/>
          </a:ln>
        </p:spPr>
      </p:sp>
      <p:pic>
        <p:nvPicPr>
          <p:cNvPr id="11" name="Image 1" descr="Rendered as an image because of CSS transform">    </p:cNvPr>
          <p:cNvPicPr>
            <a:picLocks noChangeAspect="1"/>
          </p:cNvPicPr>
          <p:nvPr/>
        </p:nvPicPr>
        <p:blipFill>
          <a:blip r:embed="rId2"/>
          <a:stretch>
            <a:fillRect/>
          </a:stretch>
        </p:blipFill>
        <p:spPr>
          <a:xfrm>
            <a:off x="2012360" y="1776015"/>
            <a:ext cx="203200" cy="233560"/>
          </a:xfrm>
          <a:prstGeom prst="rect">
            <a:avLst/>
          </a:prstGeom>
        </p:spPr>
      </p:pic>
      <p:sp>
        <p:nvSpPr>
          <p:cNvPr id="12" name="Text 8"/>
          <p:cNvSpPr txBox="1"/>
          <p:nvPr/>
        </p:nvSpPr>
        <p:spPr>
          <a:xfrm>
            <a:off x="408781" y="1564481"/>
            <a:ext cx="850701" cy="241300"/>
          </a:xfrm>
          <a:prstGeom prst="rect">
            <a:avLst/>
          </a:prstGeom>
          <a:noFill/>
          <a:ln/>
        </p:spPr>
        <p:txBody>
          <a:bodyPr wrap="none" lIns="0" tIns="0" rIns="0" bIns="0" rtlCol="0" anchor="t"/>
          <a:lstStyle/>
          <a:p>
            <a:pPr algn="l" indent="0" marL="0">
              <a:buNone/>
            </a:pPr>
            <a:r>
              <a:rPr lang="en-US" sz="1600" b="1" dirty="0">
                <a:solidFill>
                  <a:srgbClr val="000000"/>
                </a:solidFill>
                <a:latin typeface="Calibri" pitchFamily="34" charset="0"/>
                <a:ea typeface="Calibri" pitchFamily="34" charset="-122"/>
                <a:cs typeface="Calibri" pitchFamily="34" charset="-120"/>
              </a:rPr>
              <a:t>Browser</a:t>
            </a:r>
            <a:endParaRPr lang="en-US" sz="1600" dirty="0"/>
          </a:p>
        </p:txBody>
      </p:sp>
      <p:sp>
        <p:nvSpPr>
          <p:cNvPr id="13" name="Text 9"/>
          <p:cNvSpPr txBox="1"/>
          <p:nvPr/>
        </p:nvSpPr>
        <p:spPr>
          <a:xfrm>
            <a:off x="408781" y="1798043"/>
            <a:ext cx="1461095" cy="190500"/>
          </a:xfrm>
          <a:prstGeom prst="rect">
            <a:avLst/>
          </a:prstGeom>
          <a:noFill/>
          <a:ln/>
        </p:spPr>
        <p:txBody>
          <a:bodyPr wrap="none" lIns="0" tIns="0" rIns="0" bIns="0" rtlCol="0" anchor="t"/>
          <a:lstStyle/>
          <a:p>
            <a:pPr algn="l" indent="0" marL="0">
              <a:buNone/>
            </a:pPr>
            <a:r>
              <a:rPr lang="en-US" sz="1300" b="1" dirty="0">
                <a:solidFill>
                  <a:srgbClr val="993300"/>
                </a:solidFill>
                <a:latin typeface="Calibri" pitchFamily="34" charset="0"/>
                <a:ea typeface="Calibri" pitchFamily="34" charset="-122"/>
                <a:cs typeface="Calibri" pitchFamily="34" charset="-120"/>
              </a:rPr>
              <a:t>history, bookmarks</a:t>
            </a:r>
            <a:endParaRPr lang="en-US" sz="1300" dirty="0"/>
          </a:p>
        </p:txBody>
      </p:sp>
      <p:sp>
        <p:nvSpPr>
          <p:cNvPr id="14" name="Shape 10"/>
          <p:cNvSpPr/>
          <p:nvPr/>
        </p:nvSpPr>
        <p:spPr>
          <a:xfrm>
            <a:off x="2266355" y="1513681"/>
            <a:ext cx="1743273" cy="550267"/>
          </a:xfrm>
          <a:prstGeom prst="rect">
            <a:avLst/>
          </a:prstGeom>
          <a:solidFill>
            <a:srgbClr val="D6D6EB"/>
          </a:solidFill>
          <a:ln w="12700">
            <a:solidFill>
              <a:srgbClr val="333399"/>
            </a:solidFill>
            <a:prstDash val="solid"/>
          </a:ln>
        </p:spPr>
      </p:sp>
      <p:pic>
        <p:nvPicPr>
          <p:cNvPr id="15" name="Image 2" descr="Rendered as an image because of CSS transform">    </p:cNvPr>
          <p:cNvPicPr>
            <a:picLocks noChangeAspect="1"/>
          </p:cNvPicPr>
          <p:nvPr/>
        </p:nvPicPr>
        <p:blipFill>
          <a:blip r:embed="rId3"/>
          <a:stretch>
            <a:fillRect/>
          </a:stretch>
        </p:blipFill>
        <p:spPr>
          <a:xfrm>
            <a:off x="3984233" y="1776015"/>
            <a:ext cx="203200" cy="233560"/>
          </a:xfrm>
          <a:prstGeom prst="rect">
            <a:avLst/>
          </a:prstGeom>
        </p:spPr>
      </p:pic>
      <p:sp>
        <p:nvSpPr>
          <p:cNvPr id="16" name="Text 11"/>
          <p:cNvSpPr txBox="1"/>
          <p:nvPr/>
        </p:nvSpPr>
        <p:spPr>
          <a:xfrm>
            <a:off x="2380655" y="1564481"/>
            <a:ext cx="1174751" cy="241300"/>
          </a:xfrm>
          <a:prstGeom prst="rect">
            <a:avLst/>
          </a:prstGeom>
          <a:noFill/>
          <a:ln/>
        </p:spPr>
        <p:txBody>
          <a:bodyPr wrap="none" lIns="0" tIns="0" rIns="0" bIns="0" rtlCol="0" anchor="t"/>
          <a:lstStyle/>
          <a:p>
            <a:pPr algn="l" indent="0" marL="0">
              <a:buNone/>
            </a:pPr>
            <a:r>
              <a:rPr lang="en-US" sz="1600" b="1" dirty="0">
                <a:solidFill>
                  <a:srgbClr val="000000"/>
                </a:solidFill>
                <a:latin typeface="Calibri" pitchFamily="34" charset="0"/>
                <a:ea typeface="Calibri" pitchFamily="34" charset="-122"/>
                <a:cs typeface="Calibri" pitchFamily="34" charset="-120"/>
              </a:rPr>
              <a:t>CDN / proxy</a:t>
            </a:r>
            <a:endParaRPr lang="en-US" sz="1600" dirty="0"/>
          </a:p>
        </p:txBody>
      </p:sp>
      <p:sp>
        <p:nvSpPr>
          <p:cNvPr id="17" name="Text 12"/>
          <p:cNvSpPr txBox="1"/>
          <p:nvPr/>
        </p:nvSpPr>
        <p:spPr>
          <a:xfrm>
            <a:off x="2380655" y="1798043"/>
            <a:ext cx="1266428" cy="190500"/>
          </a:xfrm>
          <a:prstGeom prst="rect">
            <a:avLst/>
          </a:prstGeom>
          <a:noFill/>
          <a:ln/>
        </p:spPr>
        <p:txBody>
          <a:bodyPr wrap="none" lIns="0" tIns="0" rIns="0" bIns="0" rtlCol="0" anchor="t"/>
          <a:lstStyle/>
          <a:p>
            <a:pPr algn="l" indent="0" marL="0">
              <a:buNone/>
            </a:pPr>
            <a:r>
              <a:rPr lang="en-US" sz="1300" b="1" dirty="0">
                <a:solidFill>
                  <a:srgbClr val="993300"/>
                </a:solidFill>
                <a:latin typeface="Calibri" pitchFamily="34" charset="0"/>
                <a:ea typeface="Calibri" pitchFamily="34" charset="-122"/>
                <a:cs typeface="Calibri" pitchFamily="34" charset="-120"/>
              </a:rPr>
              <a:t>edge access logs</a:t>
            </a:r>
            <a:endParaRPr lang="en-US" sz="1300" dirty="0"/>
          </a:p>
        </p:txBody>
      </p:sp>
      <p:sp>
        <p:nvSpPr>
          <p:cNvPr id="18" name="Shape 13"/>
          <p:cNvSpPr/>
          <p:nvPr/>
        </p:nvSpPr>
        <p:spPr>
          <a:xfrm>
            <a:off x="4238228" y="1513681"/>
            <a:ext cx="1743273" cy="550267"/>
          </a:xfrm>
          <a:prstGeom prst="rect">
            <a:avLst/>
          </a:prstGeom>
          <a:solidFill>
            <a:srgbClr val="D6D6EB"/>
          </a:solidFill>
          <a:ln w="12700">
            <a:solidFill>
              <a:srgbClr val="333399"/>
            </a:solidFill>
            <a:prstDash val="solid"/>
          </a:ln>
        </p:spPr>
      </p:sp>
      <p:pic>
        <p:nvPicPr>
          <p:cNvPr id="19" name="Image 3" descr="Rendered as an image because of CSS transform">    </p:cNvPr>
          <p:cNvPicPr>
            <a:picLocks noChangeAspect="1"/>
          </p:cNvPicPr>
          <p:nvPr/>
        </p:nvPicPr>
        <p:blipFill>
          <a:blip r:embed="rId4"/>
          <a:stretch>
            <a:fillRect/>
          </a:stretch>
        </p:blipFill>
        <p:spPr>
          <a:xfrm>
            <a:off x="5956107" y="1776015"/>
            <a:ext cx="203200" cy="233560"/>
          </a:xfrm>
          <a:prstGeom prst="rect">
            <a:avLst/>
          </a:prstGeom>
        </p:spPr>
      </p:pic>
      <p:sp>
        <p:nvSpPr>
          <p:cNvPr id="20" name="Text 14"/>
          <p:cNvSpPr txBox="1"/>
          <p:nvPr/>
        </p:nvSpPr>
        <p:spPr>
          <a:xfrm>
            <a:off x="4352528" y="1564481"/>
            <a:ext cx="543520" cy="241300"/>
          </a:xfrm>
          <a:prstGeom prst="rect">
            <a:avLst/>
          </a:prstGeom>
          <a:noFill/>
          <a:ln/>
        </p:spPr>
        <p:txBody>
          <a:bodyPr wrap="none" lIns="0" tIns="0" rIns="0" bIns="0" rtlCol="0" anchor="t"/>
          <a:lstStyle/>
          <a:p>
            <a:pPr algn="l" indent="0" marL="0">
              <a:buNone/>
            </a:pPr>
            <a:r>
              <a:rPr lang="en-US" sz="1600" b="1" dirty="0">
                <a:solidFill>
                  <a:srgbClr val="000000"/>
                </a:solidFill>
                <a:latin typeface="Calibri" pitchFamily="34" charset="0"/>
                <a:ea typeface="Calibri" pitchFamily="34" charset="-122"/>
                <a:cs typeface="Calibri" pitchFamily="34" charset="-120"/>
              </a:rPr>
              <a:t>WAF</a:t>
            </a:r>
            <a:endParaRPr lang="en-US" sz="1600" dirty="0"/>
          </a:p>
        </p:txBody>
      </p:sp>
      <p:sp>
        <p:nvSpPr>
          <p:cNvPr id="21" name="Text 15"/>
          <p:cNvSpPr txBox="1"/>
          <p:nvPr/>
        </p:nvSpPr>
        <p:spPr>
          <a:xfrm>
            <a:off x="4352528" y="1798043"/>
            <a:ext cx="1451571" cy="190500"/>
          </a:xfrm>
          <a:prstGeom prst="rect">
            <a:avLst/>
          </a:prstGeom>
          <a:noFill/>
          <a:ln/>
        </p:spPr>
        <p:txBody>
          <a:bodyPr wrap="none" lIns="0" tIns="0" rIns="0" bIns="0" rtlCol="0" anchor="t"/>
          <a:lstStyle/>
          <a:p>
            <a:pPr algn="l" indent="0" marL="0">
              <a:buNone/>
            </a:pPr>
            <a:r>
              <a:rPr lang="en-US" sz="1300" b="1" dirty="0">
                <a:solidFill>
                  <a:srgbClr val="993300"/>
                </a:solidFill>
                <a:latin typeface="Calibri" pitchFamily="34" charset="0"/>
                <a:ea typeface="Calibri" pitchFamily="34" charset="-122"/>
                <a:cs typeface="Calibri" pitchFamily="34" charset="-120"/>
              </a:rPr>
              <a:t>request logs, alerts</a:t>
            </a:r>
            <a:endParaRPr lang="en-US" sz="1300" dirty="0"/>
          </a:p>
        </p:txBody>
      </p:sp>
      <p:sp>
        <p:nvSpPr>
          <p:cNvPr id="22" name="Shape 16"/>
          <p:cNvSpPr/>
          <p:nvPr/>
        </p:nvSpPr>
        <p:spPr>
          <a:xfrm>
            <a:off x="6210101" y="1513681"/>
            <a:ext cx="1743472" cy="550267"/>
          </a:xfrm>
          <a:prstGeom prst="rect">
            <a:avLst/>
          </a:prstGeom>
          <a:solidFill>
            <a:srgbClr val="D6D6EB"/>
          </a:solidFill>
          <a:ln w="12700">
            <a:solidFill>
              <a:srgbClr val="333399"/>
            </a:solidFill>
            <a:prstDash val="solid"/>
          </a:ln>
        </p:spPr>
      </p:sp>
      <p:pic>
        <p:nvPicPr>
          <p:cNvPr id="23" name="Image 4" descr="Rendered as an image because of CSS transform">    </p:cNvPr>
          <p:cNvPicPr>
            <a:picLocks noChangeAspect="1"/>
          </p:cNvPicPr>
          <p:nvPr/>
        </p:nvPicPr>
        <p:blipFill>
          <a:blip r:embed="rId5"/>
          <a:stretch>
            <a:fillRect/>
          </a:stretch>
        </p:blipFill>
        <p:spPr>
          <a:xfrm>
            <a:off x="7928171" y="1776015"/>
            <a:ext cx="203200" cy="233560"/>
          </a:xfrm>
          <a:prstGeom prst="rect">
            <a:avLst/>
          </a:prstGeom>
        </p:spPr>
      </p:pic>
      <p:sp>
        <p:nvSpPr>
          <p:cNvPr id="24" name="Text 17"/>
          <p:cNvSpPr txBox="1"/>
          <p:nvPr/>
        </p:nvSpPr>
        <p:spPr>
          <a:xfrm>
            <a:off x="6324401" y="1564481"/>
            <a:ext cx="1334293" cy="241300"/>
          </a:xfrm>
          <a:prstGeom prst="rect">
            <a:avLst/>
          </a:prstGeom>
          <a:noFill/>
          <a:ln/>
        </p:spPr>
        <p:txBody>
          <a:bodyPr wrap="none" lIns="0" tIns="0" rIns="0" bIns="0" rtlCol="0" anchor="t"/>
          <a:lstStyle/>
          <a:p>
            <a:pPr algn="l" indent="0" marL="0">
              <a:buNone/>
            </a:pPr>
            <a:r>
              <a:rPr lang="en-US" sz="1600" b="1" dirty="0">
                <a:solidFill>
                  <a:srgbClr val="000000"/>
                </a:solidFill>
                <a:latin typeface="Calibri" pitchFamily="34" charset="0"/>
                <a:ea typeface="Calibri" pitchFamily="34" charset="-122"/>
                <a:cs typeface="Calibri" pitchFamily="34" charset="-120"/>
              </a:rPr>
              <a:t>Reverse proxy</a:t>
            </a:r>
            <a:endParaRPr lang="en-US" sz="1600" dirty="0"/>
          </a:p>
        </p:txBody>
      </p:sp>
      <p:sp>
        <p:nvSpPr>
          <p:cNvPr id="25" name="Text 18"/>
          <p:cNvSpPr txBox="1"/>
          <p:nvPr/>
        </p:nvSpPr>
        <p:spPr>
          <a:xfrm>
            <a:off x="6324401" y="1798043"/>
            <a:ext cx="831851" cy="190500"/>
          </a:xfrm>
          <a:prstGeom prst="rect">
            <a:avLst/>
          </a:prstGeom>
          <a:noFill/>
          <a:ln/>
        </p:spPr>
        <p:txBody>
          <a:bodyPr wrap="none" lIns="0" tIns="0" rIns="0" bIns="0" rtlCol="0" anchor="t"/>
          <a:lstStyle/>
          <a:p>
            <a:pPr algn="l" indent="0" marL="0">
              <a:buNone/>
            </a:pPr>
            <a:r>
              <a:rPr lang="en-US" sz="1300" b="1" dirty="0">
                <a:solidFill>
                  <a:srgbClr val="993300"/>
                </a:solidFill>
                <a:latin typeface="Calibri" pitchFamily="34" charset="0"/>
                <a:ea typeface="Calibri" pitchFamily="34" charset="-122"/>
                <a:cs typeface="Calibri" pitchFamily="34" charset="-120"/>
              </a:rPr>
              <a:t>access log</a:t>
            </a:r>
            <a:endParaRPr lang="en-US" sz="1300" dirty="0"/>
          </a:p>
        </p:txBody>
      </p:sp>
      <p:sp>
        <p:nvSpPr>
          <p:cNvPr id="26" name="Shape 19"/>
          <p:cNvSpPr/>
          <p:nvPr/>
        </p:nvSpPr>
        <p:spPr>
          <a:xfrm>
            <a:off x="8182173" y="1513681"/>
            <a:ext cx="1743273" cy="550267"/>
          </a:xfrm>
          <a:prstGeom prst="rect">
            <a:avLst/>
          </a:prstGeom>
          <a:solidFill>
            <a:srgbClr val="D6D6EB"/>
          </a:solidFill>
          <a:ln w="12700">
            <a:solidFill>
              <a:srgbClr val="333399"/>
            </a:solidFill>
            <a:prstDash val="solid"/>
          </a:ln>
        </p:spPr>
      </p:sp>
      <p:pic>
        <p:nvPicPr>
          <p:cNvPr id="27" name="Image 5" descr="Rendered as an image because of CSS transform">    </p:cNvPr>
          <p:cNvPicPr>
            <a:picLocks noChangeAspect="1"/>
          </p:cNvPicPr>
          <p:nvPr/>
        </p:nvPicPr>
        <p:blipFill>
          <a:blip r:embed="rId6"/>
          <a:stretch>
            <a:fillRect/>
          </a:stretch>
        </p:blipFill>
        <p:spPr>
          <a:xfrm>
            <a:off x="9900052" y="1776015"/>
            <a:ext cx="203200" cy="233560"/>
          </a:xfrm>
          <a:prstGeom prst="rect">
            <a:avLst/>
          </a:prstGeom>
        </p:spPr>
      </p:pic>
      <p:sp>
        <p:nvSpPr>
          <p:cNvPr id="28" name="Text 20"/>
          <p:cNvSpPr txBox="1"/>
          <p:nvPr/>
        </p:nvSpPr>
        <p:spPr>
          <a:xfrm>
            <a:off x="8296473" y="1564481"/>
            <a:ext cx="1113036" cy="241300"/>
          </a:xfrm>
          <a:prstGeom prst="rect">
            <a:avLst/>
          </a:prstGeom>
          <a:noFill/>
          <a:ln/>
        </p:spPr>
        <p:txBody>
          <a:bodyPr wrap="none" lIns="0" tIns="0" rIns="0" bIns="0" rtlCol="0" anchor="t"/>
          <a:lstStyle/>
          <a:p>
            <a:pPr algn="l" indent="0" marL="0">
              <a:buNone/>
            </a:pPr>
            <a:r>
              <a:rPr lang="en-US" sz="1600" b="1" dirty="0">
                <a:solidFill>
                  <a:srgbClr val="000000"/>
                </a:solidFill>
                <a:latin typeface="Calibri" pitchFamily="34" charset="0"/>
                <a:ea typeface="Calibri" pitchFamily="34" charset="-122"/>
                <a:cs typeface="Calibri" pitchFamily="34" charset="-120"/>
              </a:rPr>
              <a:t>Application</a:t>
            </a:r>
            <a:endParaRPr lang="en-US" sz="1600" dirty="0"/>
          </a:p>
        </p:txBody>
      </p:sp>
      <p:sp>
        <p:nvSpPr>
          <p:cNvPr id="29" name="Text 21"/>
          <p:cNvSpPr txBox="1"/>
          <p:nvPr/>
        </p:nvSpPr>
        <p:spPr>
          <a:xfrm>
            <a:off x="8296473" y="1798043"/>
            <a:ext cx="1134071" cy="190500"/>
          </a:xfrm>
          <a:prstGeom prst="rect">
            <a:avLst/>
          </a:prstGeom>
          <a:noFill/>
          <a:ln/>
        </p:spPr>
        <p:txBody>
          <a:bodyPr wrap="none" lIns="0" tIns="0" rIns="0" bIns="0" rtlCol="0" anchor="t"/>
          <a:lstStyle/>
          <a:p>
            <a:pPr algn="l" indent="0" marL="0">
              <a:buNone/>
            </a:pPr>
            <a:r>
              <a:rPr lang="en-US" sz="1300" b="1" dirty="0">
                <a:solidFill>
                  <a:srgbClr val="993300"/>
                </a:solidFill>
                <a:latin typeface="Calibri" pitchFamily="34" charset="0"/>
                <a:ea typeface="Calibri" pitchFamily="34" charset="-122"/>
                <a:cs typeface="Calibri" pitchFamily="34" charset="-120"/>
              </a:rPr>
              <a:t>app logs, APM</a:t>
            </a:r>
            <a:endParaRPr lang="en-US" sz="1300" dirty="0"/>
          </a:p>
        </p:txBody>
      </p:sp>
      <p:sp>
        <p:nvSpPr>
          <p:cNvPr id="30" name="Shape 22"/>
          <p:cNvSpPr/>
          <p:nvPr/>
        </p:nvSpPr>
        <p:spPr>
          <a:xfrm>
            <a:off x="10154047" y="1513681"/>
            <a:ext cx="1743273" cy="550267"/>
          </a:xfrm>
          <a:prstGeom prst="rect">
            <a:avLst/>
          </a:prstGeom>
          <a:solidFill>
            <a:srgbClr val="D6D6EB"/>
          </a:solidFill>
          <a:ln w="12700">
            <a:solidFill>
              <a:srgbClr val="333399"/>
            </a:solidFill>
            <a:prstDash val="solid"/>
          </a:ln>
        </p:spPr>
      </p:sp>
      <p:sp>
        <p:nvSpPr>
          <p:cNvPr id="31" name="Text 23"/>
          <p:cNvSpPr txBox="1"/>
          <p:nvPr/>
        </p:nvSpPr>
        <p:spPr>
          <a:xfrm>
            <a:off x="10268347" y="1564481"/>
            <a:ext cx="579437" cy="241300"/>
          </a:xfrm>
          <a:prstGeom prst="rect">
            <a:avLst/>
          </a:prstGeom>
          <a:noFill/>
          <a:ln/>
        </p:spPr>
        <p:txBody>
          <a:bodyPr wrap="none" lIns="0" tIns="0" rIns="0" bIns="0" rtlCol="0" anchor="t"/>
          <a:lstStyle/>
          <a:p>
            <a:pPr algn="l" indent="0" marL="0">
              <a:buNone/>
            </a:pPr>
            <a:r>
              <a:rPr lang="en-US" sz="1600" b="1" dirty="0">
                <a:solidFill>
                  <a:srgbClr val="000000"/>
                </a:solidFill>
                <a:latin typeface="Calibri" pitchFamily="34" charset="0"/>
                <a:ea typeface="Calibri" pitchFamily="34" charset="-122"/>
                <a:cs typeface="Calibri" pitchFamily="34" charset="-120"/>
              </a:rPr>
              <a:t>SIEM</a:t>
            </a:r>
            <a:endParaRPr lang="en-US" sz="1600" dirty="0"/>
          </a:p>
        </p:txBody>
      </p:sp>
      <p:sp>
        <p:nvSpPr>
          <p:cNvPr id="32" name="Text 24"/>
          <p:cNvSpPr txBox="1"/>
          <p:nvPr/>
        </p:nvSpPr>
        <p:spPr>
          <a:xfrm>
            <a:off x="10268347" y="1798043"/>
            <a:ext cx="1077317" cy="190500"/>
          </a:xfrm>
          <a:prstGeom prst="rect">
            <a:avLst/>
          </a:prstGeom>
          <a:noFill/>
          <a:ln/>
        </p:spPr>
        <p:txBody>
          <a:bodyPr wrap="none" lIns="0" tIns="0" rIns="0" bIns="0" rtlCol="0" anchor="t"/>
          <a:lstStyle/>
          <a:p>
            <a:pPr algn="l" indent="0" marL="0">
              <a:buNone/>
            </a:pPr>
            <a:r>
              <a:rPr lang="en-US" sz="1300" b="1" dirty="0">
                <a:solidFill>
                  <a:srgbClr val="993300"/>
                </a:solidFill>
                <a:latin typeface="Calibri" pitchFamily="34" charset="0"/>
                <a:ea typeface="Calibri" pitchFamily="34" charset="-122"/>
                <a:cs typeface="Calibri" pitchFamily="34" charset="-120"/>
              </a:rPr>
              <a:t>indexed, kept</a:t>
            </a:r>
            <a:endParaRPr lang="en-US" sz="1300" dirty="0"/>
          </a:p>
        </p:txBody>
      </p:sp>
      <p:sp>
        <p:nvSpPr>
          <p:cNvPr id="33" name="Shape 25"/>
          <p:cNvSpPr/>
          <p:nvPr/>
        </p:nvSpPr>
        <p:spPr>
          <a:xfrm>
            <a:off x="294481" y="2190948"/>
            <a:ext cx="11603037" cy="1320007"/>
          </a:xfrm>
          <a:prstGeom prst="rect">
            <a:avLst/>
          </a:prstGeom>
          <a:noFill/>
          <a:ln w="12700">
            <a:solidFill>
              <a:srgbClr val="333399"/>
            </a:solidFill>
            <a:prstDash val="solid"/>
          </a:ln>
        </p:spPr>
      </p:sp>
      <p:sp>
        <p:nvSpPr>
          <p:cNvPr id="34" name="Text 26"/>
          <p:cNvSpPr txBox="1"/>
          <p:nvPr/>
        </p:nvSpPr>
        <p:spPr>
          <a:xfrm>
            <a:off x="434181" y="2343348"/>
            <a:ext cx="3993555" cy="203200"/>
          </a:xfrm>
          <a:prstGeom prst="rect">
            <a:avLst/>
          </a:prstGeom>
          <a:noFill/>
          <a:ln/>
        </p:spPr>
        <p:txBody>
          <a:bodyPr wrap="none" lIns="0" tIns="0" rIns="0" bIns="0" rtlCol="0" anchor="t"/>
          <a:lstStyle/>
          <a:p>
            <a:pPr algn="l" indent="0" marL="0">
              <a:buNone/>
            </a:pPr>
            <a:r>
              <a:rPr lang="en-US" sz="1400" dirty="0">
                <a:solidFill>
                  <a:srgbClr val="000000"/>
                </a:solidFill>
                <a:latin typeface="Courier New" pitchFamily="34" charset="0"/>
                <a:ea typeface="Courier New" pitchFamily="34" charset="-122"/>
                <a:cs typeface="Courier New" pitchFamily="34" charset="-120"/>
              </a:rPr>
              <a:t>access.log (nginx “combined” format)</a:t>
            </a:r>
            <a:endParaRPr lang="en-US" sz="1400" dirty="0"/>
          </a:p>
        </p:txBody>
      </p:sp>
      <p:sp>
        <p:nvSpPr>
          <p:cNvPr id="35" name="Shape 27"/>
          <p:cNvSpPr/>
          <p:nvPr/>
        </p:nvSpPr>
        <p:spPr>
          <a:xfrm>
            <a:off x="307181" y="2637829"/>
            <a:ext cx="11577637" cy="488949"/>
          </a:xfrm>
          <a:prstGeom prst="rect">
            <a:avLst/>
          </a:prstGeom>
          <a:solidFill>
            <a:srgbClr val="993300">
              <a:alpha val="10000"/>
            </a:srgbClr>
          </a:solidFill>
          <a:ln/>
        </p:spPr>
      </p:sp>
      <p:sp>
        <p:nvSpPr>
          <p:cNvPr id="36" name="Text 28"/>
          <p:cNvSpPr txBox="1"/>
          <p:nvPr/>
        </p:nvSpPr>
        <p:spPr>
          <a:xfrm>
            <a:off x="357981" y="2637829"/>
            <a:ext cx="259160" cy="244475"/>
          </a:xfrm>
          <a:prstGeom prst="rect">
            <a:avLst/>
          </a:prstGeom>
          <a:noFill/>
          <a:ln/>
        </p:spPr>
        <p:txBody>
          <a:bodyPr wrap="none" lIns="0" tIns="0" rIns="0" bIns="0" rtlCol="0" anchor="ctr"/>
          <a:lstStyle/>
          <a:p>
            <a:pPr algn="l" indent="0" marL="0">
              <a:buNone/>
            </a:pPr>
            <a:r>
              <a:rPr lang="en-US" sz="1400" b="1" dirty="0">
                <a:solidFill>
                  <a:srgbClr val="993300"/>
                </a:solidFill>
                <a:latin typeface="Courier New" pitchFamily="34" charset="0"/>
                <a:ea typeface="Courier New" pitchFamily="34" charset="-122"/>
                <a:cs typeface="Courier New" pitchFamily="34" charset="-120"/>
              </a:rPr>
              <a:t>−</a:t>
            </a:r>
            <a:endParaRPr lang="en-US" sz="1400" dirty="0"/>
          </a:p>
        </p:txBody>
      </p:sp>
      <p:sp>
        <p:nvSpPr>
          <p:cNvPr id="37" name="Text 29"/>
          <p:cNvSpPr txBox="1"/>
          <p:nvPr/>
        </p:nvSpPr>
        <p:spPr>
          <a:xfrm>
            <a:off x="434181" y="2650529"/>
            <a:ext cx="11349037" cy="447675"/>
          </a:xfrm>
          <a:prstGeom prst="rect">
            <a:avLst/>
          </a:prstGeom>
          <a:noFill/>
          <a:ln/>
        </p:spPr>
        <p:txBody>
          <a:bodyPr wrap="square" lIns="0" tIns="0" rIns="0" bIns="0" rtlCol="0" anchor="t"/>
          <a:lstStyle/>
          <a:p>
            <a:pPr algn="l" indent="0" marL="0">
              <a:lnSpc>
                <a:spcPts val="1925"/>
              </a:lnSpc>
              <a:buNone/>
            </a:pPr>
            <a:r>
              <a:rPr lang="en-US" sz="1400" b="1" dirty="0">
                <a:solidFill>
                  <a:srgbClr val="000000"/>
                </a:solidFill>
                <a:latin typeface="Courier New" pitchFamily="34" charset="0"/>
                <a:ea typeface="Courier New" pitchFamily="34" charset="-122"/>
                <a:cs typeface="Courier New" pitchFamily="34" charset="-120"/>
              </a:rPr>
              <a:t>203.0.113.7 - - [17/Oct/2026:10:42:07 +0530] "GET /users/search?email=alice@example.com&amp;role=admin HTTP/1.1" 200 512 "-" "Mozilla/5.0"</a:t>
            </a:r>
            <a:endParaRPr lang="en-US" sz="1400" dirty="0"/>
          </a:p>
        </p:txBody>
      </p:sp>
      <p:sp>
        <p:nvSpPr>
          <p:cNvPr id="38" name="Shape 30"/>
          <p:cNvSpPr/>
          <p:nvPr/>
        </p:nvSpPr>
        <p:spPr>
          <a:xfrm>
            <a:off x="307181" y="3126780"/>
            <a:ext cx="11577637" cy="244475"/>
          </a:xfrm>
          <a:prstGeom prst="rect">
            <a:avLst/>
          </a:prstGeom>
          <a:solidFill>
            <a:srgbClr val="DAEDEF"/>
          </a:solidFill>
          <a:ln/>
        </p:spPr>
      </p:sp>
      <p:sp>
        <p:nvSpPr>
          <p:cNvPr id="39" name="Text 31"/>
          <p:cNvSpPr txBox="1"/>
          <p:nvPr/>
        </p:nvSpPr>
        <p:spPr>
          <a:xfrm>
            <a:off x="357981" y="3126780"/>
            <a:ext cx="259160" cy="244475"/>
          </a:xfrm>
          <a:prstGeom prst="rect">
            <a:avLst/>
          </a:prstGeom>
          <a:noFill/>
          <a:ln/>
        </p:spPr>
        <p:txBody>
          <a:bodyPr wrap="none" lIns="0" tIns="0" rIns="0" bIns="0" rtlCol="0" anchor="ctr"/>
          <a:lstStyle/>
          <a:p>
            <a:pPr algn="l" indent="0" marL="0">
              <a:buNone/>
            </a:pPr>
            <a:r>
              <a:rPr lang="en-US" sz="1400" b="1" dirty="0">
                <a:solidFill>
                  <a:srgbClr val="595959"/>
                </a:solidFill>
                <a:latin typeface="Courier New" pitchFamily="34" charset="0"/>
                <a:ea typeface="Courier New" pitchFamily="34" charset="-122"/>
                <a:cs typeface="Courier New" pitchFamily="34" charset="-120"/>
              </a:rPr>
              <a:t>+</a:t>
            </a:r>
            <a:endParaRPr lang="en-US" sz="1400" dirty="0"/>
          </a:p>
        </p:txBody>
      </p:sp>
      <p:sp>
        <p:nvSpPr>
          <p:cNvPr id="40" name="Text 32"/>
          <p:cNvSpPr txBox="1"/>
          <p:nvPr/>
        </p:nvSpPr>
        <p:spPr>
          <a:xfrm>
            <a:off x="434181" y="3139480"/>
            <a:ext cx="10928945"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203.0.113.7 - - [17/Oct/2026:10:42:09 +0530] "QUERY /users/search HTTP/1.1" 200 512 "-" "Mozilla/5.0"</a:t>
            </a:r>
            <a:endParaRPr lang="en-US" sz="1400" dirty="0"/>
          </a:p>
        </p:txBody>
      </p:sp>
      <p:sp>
        <p:nvSpPr>
          <p:cNvPr id="41" name="Shape 33"/>
          <p:cNvSpPr/>
          <p:nvPr/>
        </p:nvSpPr>
        <p:spPr>
          <a:xfrm>
            <a:off x="294481" y="3714155"/>
            <a:ext cx="5699919" cy="1930400"/>
          </a:xfrm>
          <a:prstGeom prst="roundRect">
            <a:avLst>
              <a:gd name="adj" fmla="val 2632"/>
            </a:avLst>
          </a:prstGeom>
          <a:solidFill>
            <a:srgbClr val="FFFFFF"/>
          </a:solidFill>
          <a:ln w="12700">
            <a:solidFill>
              <a:srgbClr val="333399"/>
            </a:solidFill>
            <a:prstDash val="solid"/>
          </a:ln>
        </p:spPr>
      </p:sp>
      <p:sp>
        <p:nvSpPr>
          <p:cNvPr id="42" name="Text 34"/>
          <p:cNvSpPr txBox="1"/>
          <p:nvPr/>
        </p:nvSpPr>
        <p:spPr>
          <a:xfrm>
            <a:off x="510381" y="3904655"/>
            <a:ext cx="1552773" cy="304800"/>
          </a:xfrm>
          <a:prstGeom prst="rect">
            <a:avLst/>
          </a:prstGeom>
          <a:noFill/>
          <a:ln/>
        </p:spPr>
        <p:txBody>
          <a:bodyPr wrap="none" lIns="0" tIns="0" rIns="0" bIns="0" rtlCol="0" anchor="t"/>
          <a:lstStyle/>
          <a:p>
            <a:pPr algn="l" indent="0" marL="0">
              <a:buNone/>
            </a:pPr>
            <a:r>
              <a:rPr lang="en-US" sz="2000" b="1" dirty="0">
                <a:solidFill>
                  <a:srgbClr val="993300"/>
                </a:solidFill>
                <a:latin typeface="Calibri" pitchFamily="34" charset="0"/>
                <a:ea typeface="Calibri" pitchFamily="34" charset="-122"/>
                <a:cs typeface="Calibri" pitchFamily="34" charset="-120"/>
              </a:rPr>
              <a:t>URI exposure</a:t>
            </a:r>
            <a:endParaRPr lang="en-US" sz="2000" dirty="0"/>
          </a:p>
        </p:txBody>
      </p:sp>
      <p:sp>
        <p:nvSpPr>
          <p:cNvPr id="43" name="Shape 35"/>
          <p:cNvSpPr/>
          <p:nvPr/>
        </p:nvSpPr>
        <p:spPr>
          <a:xfrm>
            <a:off x="510381" y="4780955"/>
            <a:ext cx="1010643" cy="266700"/>
          </a:xfrm>
          <a:prstGeom prst="rect">
            <a:avLst/>
          </a:prstGeom>
          <a:solidFill>
            <a:srgbClr val="FFFFFF"/>
          </a:solidFill>
          <a:ln w="12700">
            <a:solidFill>
              <a:srgbClr val="333399"/>
            </a:solidFill>
            <a:prstDash val="solid"/>
          </a:ln>
        </p:spPr>
      </p:sp>
      <p:sp>
        <p:nvSpPr>
          <p:cNvPr id="44" name="Text 36"/>
          <p:cNvSpPr txBox="1"/>
          <p:nvPr/>
        </p:nvSpPr>
        <p:spPr>
          <a:xfrm>
            <a:off x="510381" y="4399955"/>
            <a:ext cx="5293519" cy="1016000"/>
          </a:xfrm>
          <a:prstGeom prst="rect">
            <a:avLst/>
          </a:prstGeom>
          <a:noFill/>
          <a:ln/>
        </p:spPr>
        <p:txBody>
          <a:bodyPr wrap="square" lIns="0" tIns="0" rIns="0" bIns="0" rtlCol="0" anchor="t"/>
          <a:lstStyle/>
          <a:p>
            <a:pPr algn="l" indent="0" marL="0">
              <a:lnSpc>
                <a:spcPts val="3000"/>
              </a:lnSpc>
              <a:buNone/>
            </a:pPr>
            <a:r>
              <a:rPr lang="en-US" sz="1800" dirty="0">
                <a:solidFill>
                  <a:srgbClr val="000000"/>
                </a:solidFill>
                <a:latin typeface="Calibri" pitchFamily="34" charset="0"/>
                <a:ea typeface="Calibri" pitchFamily="34" charset="-122"/>
                <a:cs typeface="Calibri" pitchFamily="34" charset="-120"/>
              </a:rPr>
              <a:t>Access logs, history and bookmarks keep the URI. The </a:t>
            </a:r>
            <a:pPr algn="l" indent="0" marL="0">
              <a:lnSpc>
                <a:spcPts val="3000"/>
              </a:lnSpc>
              <a:buNone/>
            </a:pPr>
            <a:r>
              <a:rPr lang="en-US" sz="1656" b="1" dirty="0">
                <a:solidFill>
                  <a:srgbClr val="000000"/>
                </a:solidFill>
                <a:latin typeface="Courier New" pitchFamily="34" charset="0"/>
                <a:ea typeface="Courier New" pitchFamily="34" charset="-122"/>
                <a:cs typeface="Courier New" pitchFamily="34" charset="-120"/>
              </a:rPr>
              <a:t>Referer</a:t>
            </a:r>
            <a:pPr algn="l" indent="0" marL="0">
              <a:lnSpc>
                <a:spcPts val="3000"/>
              </a:lnSpc>
              <a:buNone/>
            </a:pPr>
            <a:r>
              <a:rPr lang="en-US" sz="1800" dirty="0">
                <a:solidFill>
                  <a:srgbClr val="000000"/>
                </a:solidFill>
                <a:latin typeface="Calibri" pitchFamily="34" charset="0"/>
                <a:ea typeface="Calibri" pitchFamily="34" charset="-122"/>
                <a:cs typeface="Calibri" pitchFamily="34" charset="-120"/>
              </a:rPr>
              <a:t> header sends it on the next same-origin request </a:t>
            </a:r>
            <a:pPr algn="l" indent="0" marL="0">
              <a:lnSpc>
                <a:spcPts val="3000"/>
              </a:lnSpc>
              <a:buNone/>
            </a:pPr>
            <a:r>
              <a:rPr lang="en-US" sz="1116" u="sng" dirty="0">
                <a:solidFill>
                  <a:srgbClr val="595959"/>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[RFC 9110 §17.9]</a:t>
            </a:r>
            <a:endParaRPr lang="en-US" sz="1800" dirty="0"/>
          </a:p>
        </p:txBody>
      </p:sp>
      <p:sp>
        <p:nvSpPr>
          <p:cNvPr id="45" name="Shape 37"/>
          <p:cNvSpPr/>
          <p:nvPr/>
        </p:nvSpPr>
        <p:spPr>
          <a:xfrm>
            <a:off x="6197600" y="3714155"/>
            <a:ext cx="5699919" cy="1930400"/>
          </a:xfrm>
          <a:prstGeom prst="roundRect">
            <a:avLst>
              <a:gd name="adj" fmla="val 2632"/>
            </a:avLst>
          </a:prstGeom>
          <a:solidFill>
            <a:srgbClr val="FFFFFF"/>
          </a:solidFill>
          <a:ln w="12700">
            <a:solidFill>
              <a:srgbClr val="333399"/>
            </a:solidFill>
            <a:prstDash val="solid"/>
          </a:ln>
        </p:spPr>
      </p:sp>
      <p:sp>
        <p:nvSpPr>
          <p:cNvPr id="46" name="Text 38"/>
          <p:cNvSpPr txBox="1"/>
          <p:nvPr/>
        </p:nvSpPr>
        <p:spPr>
          <a:xfrm>
            <a:off x="6413500" y="3904655"/>
            <a:ext cx="2016125" cy="304800"/>
          </a:xfrm>
          <a:prstGeom prst="rect">
            <a:avLst/>
          </a:prstGeom>
          <a:noFill/>
          <a:ln/>
        </p:spPr>
        <p:txBody>
          <a:bodyPr wrap="none" lIns="0" tIns="0" rIns="0" bIns="0" rtlCol="0" anchor="t"/>
          <a:lstStyle/>
          <a:p>
            <a:pPr algn="l" indent="0" marL="0">
              <a:buNone/>
            </a:pPr>
            <a:r>
              <a:rPr lang="en-US" sz="2000" b="1" dirty="0">
                <a:solidFill>
                  <a:srgbClr val="993300"/>
                </a:solidFill>
                <a:latin typeface="Calibri" pitchFamily="34" charset="0"/>
                <a:ea typeface="Calibri" pitchFamily="34" charset="-122"/>
                <a:cs typeface="Calibri" pitchFamily="34" charset="-120"/>
              </a:rPr>
              <a:t>Content exposure</a:t>
            </a:r>
            <a:endParaRPr lang="en-US" sz="2000" dirty="0"/>
          </a:p>
        </p:txBody>
      </p:sp>
      <p:sp>
        <p:nvSpPr>
          <p:cNvPr id="47" name="Text 39"/>
          <p:cNvSpPr txBox="1"/>
          <p:nvPr/>
        </p:nvSpPr>
        <p:spPr>
          <a:xfrm>
            <a:off x="6413500" y="4399955"/>
            <a:ext cx="5379045" cy="990600"/>
          </a:xfrm>
          <a:prstGeom prst="rect">
            <a:avLst/>
          </a:prstGeom>
          <a:noFill/>
          <a:ln/>
        </p:spPr>
        <p:txBody>
          <a:bodyPr wrap="square" lIns="0" tIns="0" rIns="0" bIns="0" rtlCol="0" anchor="t"/>
          <a:lstStyle/>
          <a:p>
            <a:pPr algn="l" indent="0" marL="0">
              <a:lnSpc>
                <a:spcPts val="2800"/>
              </a:lnSpc>
              <a:buNone/>
            </a:pPr>
            <a:r>
              <a:rPr lang="en-US" sz="1800" dirty="0">
                <a:solidFill>
                  <a:srgbClr val="000000"/>
                </a:solidFill>
                <a:latin typeface="Calibri" pitchFamily="34" charset="0"/>
                <a:ea typeface="Calibri" pitchFamily="34" charset="-122"/>
                <a:cs typeface="Calibri" pitchFamily="34" charset="-120"/>
              </a:rPr>
              <a:t>Body logs, WAF and APM tools and each TLS-terminating hop can see the content. Logs keep it less often, </a:t>
            </a:r>
            <a:pPr algn="l" indent="0" marL="0">
              <a:lnSpc>
                <a:spcPts val="2800"/>
              </a:lnSpc>
              <a:buNone/>
            </a:pPr>
            <a:r>
              <a:rPr lang="en-US" sz="1800" i="1" dirty="0">
                <a:solidFill>
                  <a:srgbClr val="000000"/>
                </a:solidFill>
                <a:latin typeface="Calibri" pitchFamily="34" charset="0"/>
                <a:ea typeface="Calibri" pitchFamily="34" charset="-122"/>
                <a:cs typeface="Calibri" pitchFamily="34" charset="-120"/>
              </a:rPr>
              <a:t>but not never </a:t>
            </a:r>
            <a:pPr algn="l" indent="0" marL="0">
              <a:lnSpc>
                <a:spcPts val="2800"/>
              </a:lnSpc>
              <a:buNone/>
            </a:pPr>
            <a:r>
              <a:rPr lang="en-US" sz="1116" u="sng" dirty="0">
                <a:solidFill>
                  <a:srgbClr val="595959"/>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[RFC 10008 §4]</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8</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4165799"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The gap between GET and POST</a:t>
            </a:r>
            <a:endParaRPr lang="en-US" sz="2400" dirty="0"/>
          </a:p>
        </p:txBody>
      </p:sp>
      <p:sp>
        <p:nvSpPr>
          <p:cNvPr id="10" name="Text 7"/>
          <p:cNvSpPr txBox="1"/>
          <p:nvPr/>
        </p:nvSpPr>
        <p:spPr>
          <a:xfrm>
            <a:off x="2300288" y="1539081"/>
            <a:ext cx="2208808" cy="279400"/>
          </a:xfrm>
          <a:prstGeom prst="rect">
            <a:avLst/>
          </a:prstGeom>
          <a:noFill/>
          <a:ln/>
        </p:spPr>
        <p:txBody>
          <a:bodyPr wrap="non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query input in the </a:t>
            </a:r>
            <a:pPr algn="ctr" indent="0" marL="0">
              <a:buNone/>
            </a:pPr>
            <a:r>
              <a:rPr lang="en-US" sz="1800" b="1" dirty="0">
                <a:solidFill>
                  <a:srgbClr val="000000"/>
                </a:solidFill>
                <a:latin typeface="Calibri" pitchFamily="34" charset="0"/>
                <a:ea typeface="Calibri" pitchFamily="34" charset="-122"/>
                <a:cs typeface="Calibri" pitchFamily="34" charset="-120"/>
              </a:rPr>
              <a:t>URI</a:t>
            </a:r>
            <a:endParaRPr lang="en-US" sz="1800" dirty="0"/>
          </a:p>
        </p:txBody>
      </p:sp>
      <p:sp>
        <p:nvSpPr>
          <p:cNvPr id="11" name="Text 8"/>
          <p:cNvSpPr txBox="1"/>
          <p:nvPr/>
        </p:nvSpPr>
        <p:spPr>
          <a:xfrm>
            <a:off x="5353844" y="1539081"/>
            <a:ext cx="2599333" cy="279400"/>
          </a:xfrm>
          <a:prstGeom prst="rect">
            <a:avLst/>
          </a:prstGeom>
          <a:noFill/>
          <a:ln/>
        </p:spPr>
        <p:txBody>
          <a:bodyPr wrap="non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query input in the </a:t>
            </a:r>
            <a:pPr algn="ctr" indent="0" marL="0">
              <a:buNone/>
            </a:pPr>
            <a:r>
              <a:rPr lang="en-US" sz="1800" b="1" dirty="0">
                <a:solidFill>
                  <a:srgbClr val="000000"/>
                </a:solidFill>
                <a:latin typeface="Calibri" pitchFamily="34" charset="0"/>
                <a:ea typeface="Calibri" pitchFamily="34" charset="-122"/>
                <a:cs typeface="Calibri" pitchFamily="34" charset="-120"/>
              </a:rPr>
              <a:t>content</a:t>
            </a:r>
            <a:endParaRPr lang="en-US" sz="1800" dirty="0"/>
          </a:p>
        </p:txBody>
      </p:sp>
      <p:sp>
        <p:nvSpPr>
          <p:cNvPr id="12" name="Text 9"/>
          <p:cNvSpPr txBox="1"/>
          <p:nvPr/>
        </p:nvSpPr>
        <p:spPr>
          <a:xfrm>
            <a:off x="294481" y="2534840"/>
            <a:ext cx="1447800" cy="553640"/>
          </a:xfrm>
          <a:prstGeom prst="rect">
            <a:avLst/>
          </a:prstGeom>
          <a:noFill/>
          <a:ln/>
        </p:spPr>
        <p:txBody>
          <a:bodyPr wrap="square" lIns="0" tIns="0" rIns="0" bIns="0" rtlCol="0" anchor="t"/>
          <a:lstStyle/>
          <a:p>
            <a:pPr algn="l" indent="0" marL="0">
              <a:lnSpc>
                <a:spcPts val="2160"/>
              </a:lnSpc>
              <a:buNone/>
            </a:pPr>
            <a:r>
              <a:rPr lang="en-US" sz="1800" b="1" dirty="0">
                <a:solidFill>
                  <a:srgbClr val="993300"/>
                </a:solidFill>
                <a:latin typeface="Calibri" pitchFamily="34" charset="0"/>
                <a:ea typeface="Calibri" pitchFamily="34" charset="-122"/>
                <a:cs typeface="Calibri" pitchFamily="34" charset="-120"/>
              </a:rPr>
              <a:t>Safe and idempotent</a:t>
            </a:r>
            <a:endParaRPr lang="en-US" sz="1800" dirty="0"/>
          </a:p>
        </p:txBody>
      </p:sp>
      <p:sp>
        <p:nvSpPr>
          <p:cNvPr id="13" name="Shape 10"/>
          <p:cNvSpPr/>
          <p:nvPr/>
        </p:nvSpPr>
        <p:spPr>
          <a:xfrm>
            <a:off x="1843881" y="1983581"/>
            <a:ext cx="3121819" cy="1676400"/>
          </a:xfrm>
          <a:prstGeom prst="roundRect">
            <a:avLst>
              <a:gd name="adj" fmla="val 3030"/>
            </a:avLst>
          </a:prstGeom>
          <a:solidFill>
            <a:srgbClr val="FFFFFF"/>
          </a:solidFill>
          <a:ln w="12700">
            <a:solidFill>
              <a:srgbClr val="333399"/>
            </a:solidFill>
            <a:prstDash val="solid"/>
          </a:ln>
        </p:spPr>
      </p:sp>
      <p:sp>
        <p:nvSpPr>
          <p:cNvPr id="14" name="Shape 11"/>
          <p:cNvSpPr/>
          <p:nvPr/>
        </p:nvSpPr>
        <p:spPr>
          <a:xfrm>
            <a:off x="2034381" y="2321719"/>
            <a:ext cx="612379" cy="327025"/>
          </a:xfrm>
          <a:prstGeom prst="rect">
            <a:avLst/>
          </a:prstGeom>
          <a:solidFill>
            <a:srgbClr val="333399"/>
          </a:solidFill>
          <a:ln/>
        </p:spPr>
      </p:sp>
      <p:sp>
        <p:nvSpPr>
          <p:cNvPr id="15" name="Text 12"/>
          <p:cNvSpPr txBox="1"/>
          <p:nvPr/>
        </p:nvSpPr>
        <p:spPr>
          <a:xfrm>
            <a:off x="2123281" y="2334419"/>
            <a:ext cx="586979" cy="279400"/>
          </a:xfrm>
          <a:prstGeom prst="rect">
            <a:avLst/>
          </a:prstGeom>
          <a:noFill/>
          <a:ln/>
        </p:spPr>
        <p:txBody>
          <a:bodyPr wrap="none" lIns="0" tIns="0" rIns="0" bIns="0" rtlCol="0" anchor="t"/>
          <a:lstStyle/>
          <a:p>
            <a:pPr algn="l" indent="0" marL="0">
              <a:buNone/>
            </a:pPr>
            <a:r>
              <a:rPr lang="en-US" sz="1900" b="1" dirty="0">
                <a:solidFill>
                  <a:srgbClr val="FFFFFF"/>
                </a:solidFill>
                <a:latin typeface="Courier New" pitchFamily="34" charset="0"/>
                <a:ea typeface="Courier New" pitchFamily="34" charset="-122"/>
                <a:cs typeface="Courier New" pitchFamily="34" charset="-120"/>
              </a:rPr>
              <a:t>GET</a:t>
            </a:r>
            <a:endParaRPr lang="en-US" sz="1900" dirty="0"/>
          </a:p>
        </p:txBody>
      </p:sp>
      <p:sp>
        <p:nvSpPr>
          <p:cNvPr id="16" name="Text 13"/>
          <p:cNvSpPr txBox="1"/>
          <p:nvPr/>
        </p:nvSpPr>
        <p:spPr>
          <a:xfrm>
            <a:off x="2034381" y="2750344"/>
            <a:ext cx="2766219" cy="565149"/>
          </a:xfrm>
          <a:prstGeom prst="rect">
            <a:avLst/>
          </a:prstGeom>
          <a:noFill/>
          <a:ln/>
        </p:spPr>
        <p:txBody>
          <a:bodyPr wrap="square" lIns="0" tIns="0" rIns="0" bIns="0" rtlCol="0" anchor="t"/>
          <a:lstStyle/>
          <a:p>
            <a:pPr algn="l" indent="0" marL="0">
              <a:lnSpc>
                <a:spcPts val="2251"/>
              </a:lnSpc>
              <a:buNone/>
            </a:pPr>
            <a:r>
              <a:rPr lang="en-US" sz="1800" dirty="0">
                <a:solidFill>
                  <a:srgbClr val="000000"/>
                </a:solidFill>
                <a:latin typeface="Calibri" pitchFamily="34" charset="0"/>
                <a:ea typeface="Calibri" pitchFamily="34" charset="-122"/>
                <a:cs typeface="Calibri" pitchFamily="34" charset="-120"/>
              </a:rPr>
              <a:t>gets a resource; the query is part of the URI</a:t>
            </a:r>
            <a:endParaRPr lang="en-US" sz="1800" dirty="0"/>
          </a:p>
        </p:txBody>
      </p:sp>
      <p:sp>
        <p:nvSpPr>
          <p:cNvPr id="17" name="Shape 14"/>
          <p:cNvSpPr/>
          <p:nvPr/>
        </p:nvSpPr>
        <p:spPr>
          <a:xfrm>
            <a:off x="5092700" y="1983581"/>
            <a:ext cx="3121819" cy="1676400"/>
          </a:xfrm>
          <a:prstGeom prst="roundRect">
            <a:avLst>
              <a:gd name="adj" fmla="val 3030"/>
            </a:avLst>
          </a:prstGeom>
          <a:solidFill>
            <a:srgbClr val="FFFFFF"/>
          </a:solidFill>
          <a:ln w="25400">
            <a:solidFill>
              <a:srgbClr val="CC6600"/>
            </a:solidFill>
            <a:prstDash val="dash"/>
          </a:ln>
        </p:spPr>
      </p:sp>
      <p:sp>
        <p:nvSpPr>
          <p:cNvPr id="18" name="Text 15"/>
          <p:cNvSpPr txBox="1"/>
          <p:nvPr/>
        </p:nvSpPr>
        <p:spPr>
          <a:xfrm>
            <a:off x="6441876" y="2272507"/>
            <a:ext cx="423267" cy="711200"/>
          </a:xfrm>
          <a:prstGeom prst="rect">
            <a:avLst/>
          </a:prstGeom>
          <a:noFill/>
          <a:ln/>
        </p:spPr>
        <p:txBody>
          <a:bodyPr wrap="none" lIns="0" tIns="0" rIns="0" bIns="0" rtlCol="0" anchor="t"/>
          <a:lstStyle/>
          <a:p>
            <a:pPr algn="ctr" indent="0" marL="0">
              <a:buNone/>
            </a:pPr>
            <a:r>
              <a:rPr lang="en-US" sz="4600" b="1" dirty="0">
                <a:solidFill>
                  <a:srgbClr val="CC6600"/>
                </a:solidFill>
                <a:latin typeface="Calibri" pitchFamily="34" charset="0"/>
                <a:ea typeface="Calibri" pitchFamily="34" charset="-122"/>
                <a:cs typeface="Calibri" pitchFamily="34" charset="-120"/>
              </a:rPr>
              <a:t>?</a:t>
            </a:r>
            <a:endParaRPr lang="en-US" sz="4600" dirty="0"/>
          </a:p>
        </p:txBody>
      </p:sp>
      <p:sp>
        <p:nvSpPr>
          <p:cNvPr id="19" name="Text 16"/>
          <p:cNvSpPr txBox="1"/>
          <p:nvPr/>
        </p:nvSpPr>
        <p:spPr>
          <a:xfrm>
            <a:off x="5630863" y="3021807"/>
            <a:ext cx="2045493" cy="279400"/>
          </a:xfrm>
          <a:prstGeom prst="rect">
            <a:avLst/>
          </a:prstGeom>
          <a:noFill/>
          <a:ln/>
        </p:spPr>
        <p:txBody>
          <a:bodyPr wrap="non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no standard method</a:t>
            </a:r>
            <a:endParaRPr lang="en-US" sz="1800" dirty="0"/>
          </a:p>
        </p:txBody>
      </p:sp>
      <p:sp>
        <p:nvSpPr>
          <p:cNvPr id="20" name="Text 17"/>
          <p:cNvSpPr txBox="1"/>
          <p:nvPr/>
        </p:nvSpPr>
        <p:spPr>
          <a:xfrm>
            <a:off x="294481" y="4201120"/>
            <a:ext cx="1447800" cy="827881"/>
          </a:xfrm>
          <a:prstGeom prst="rect">
            <a:avLst/>
          </a:prstGeom>
          <a:noFill/>
          <a:ln/>
        </p:spPr>
        <p:txBody>
          <a:bodyPr wrap="square" lIns="0" tIns="0" rIns="0" bIns="0" rtlCol="0" anchor="t"/>
          <a:lstStyle/>
          <a:p>
            <a:pPr algn="l" indent="0" marL="0">
              <a:lnSpc>
                <a:spcPts val="2160"/>
              </a:lnSpc>
              <a:buNone/>
            </a:pPr>
            <a:r>
              <a:rPr lang="en-US" sz="1800" b="1" dirty="0">
                <a:solidFill>
                  <a:srgbClr val="993300"/>
                </a:solidFill>
                <a:latin typeface="Calibri" pitchFamily="34" charset="0"/>
                <a:ea typeface="Calibri" pitchFamily="34" charset="-122"/>
                <a:cs typeface="Calibri" pitchFamily="34" charset="-120"/>
              </a:rPr>
              <a:t>Not safe, general processing</a:t>
            </a:r>
            <a:endParaRPr lang="en-US" sz="1800" dirty="0"/>
          </a:p>
        </p:txBody>
      </p:sp>
      <p:sp>
        <p:nvSpPr>
          <p:cNvPr id="21" name="Shape 18"/>
          <p:cNvSpPr/>
          <p:nvPr/>
        </p:nvSpPr>
        <p:spPr>
          <a:xfrm>
            <a:off x="1843881" y="3786981"/>
            <a:ext cx="3121819" cy="1676400"/>
          </a:xfrm>
          <a:prstGeom prst="roundRect">
            <a:avLst>
              <a:gd name="adj" fmla="val 3030"/>
            </a:avLst>
          </a:prstGeom>
          <a:solidFill>
            <a:srgbClr val="FFFFFF"/>
          </a:solidFill>
          <a:ln w="12700">
            <a:solidFill>
              <a:srgbClr val="333399"/>
            </a:solidFill>
            <a:prstDash val="solid"/>
          </a:ln>
        </p:spPr>
      </p:sp>
      <p:sp>
        <p:nvSpPr>
          <p:cNvPr id="22" name="Shape 19"/>
          <p:cNvSpPr/>
          <p:nvPr/>
        </p:nvSpPr>
        <p:spPr>
          <a:xfrm>
            <a:off x="2034381" y="4144367"/>
            <a:ext cx="2740819" cy="288329"/>
          </a:xfrm>
          <a:prstGeom prst="rect">
            <a:avLst/>
          </a:prstGeom>
          <a:solidFill>
            <a:srgbClr val="FFFFFF"/>
          </a:solidFill>
          <a:ln w="12700">
            <a:solidFill>
              <a:srgbClr val="333399"/>
            </a:solidFill>
            <a:prstDash val="solid"/>
          </a:ln>
        </p:spPr>
      </p:sp>
      <p:sp>
        <p:nvSpPr>
          <p:cNvPr id="23" name="Text 20"/>
          <p:cNvSpPr txBox="1"/>
          <p:nvPr/>
        </p:nvSpPr>
        <p:spPr>
          <a:xfrm>
            <a:off x="2097881" y="4157067"/>
            <a:ext cx="2550517" cy="241300"/>
          </a:xfrm>
          <a:prstGeom prst="rect">
            <a:avLst/>
          </a:prstGeom>
          <a:noFill/>
          <a:ln/>
        </p:spPr>
        <p:txBody>
          <a:bodyPr wrap="none" lIns="0" tIns="0" rIns="0" bIns="0" rtlCol="0" anchor="t"/>
          <a:lstStyle/>
          <a:p>
            <a:pPr algn="l" indent="0" marL="0">
              <a:buNone/>
            </a:pPr>
            <a:r>
              <a:rPr lang="en-US" sz="1656" b="1" dirty="0">
                <a:solidFill>
                  <a:srgbClr val="000000"/>
                </a:solidFill>
                <a:latin typeface="Courier New" pitchFamily="34" charset="0"/>
                <a:ea typeface="Courier New" pitchFamily="34" charset="-122"/>
                <a:cs typeface="Courier New" pitchFamily="34" charset="-120"/>
              </a:rPr>
              <a:t>GET /item?do=delete</a:t>
            </a:r>
            <a:endParaRPr lang="en-US" sz="1656" dirty="0"/>
          </a:p>
        </p:txBody>
      </p:sp>
      <p:sp>
        <p:nvSpPr>
          <p:cNvPr id="24" name="Text 21"/>
          <p:cNvSpPr txBox="1"/>
          <p:nvPr/>
        </p:nvSpPr>
        <p:spPr>
          <a:xfrm>
            <a:off x="2034381" y="4534297"/>
            <a:ext cx="2809903" cy="565149"/>
          </a:xfrm>
          <a:prstGeom prst="rect">
            <a:avLst/>
          </a:prstGeom>
          <a:noFill/>
          <a:ln/>
        </p:spPr>
        <p:txBody>
          <a:bodyPr wrap="square" lIns="0" tIns="0" rIns="0" bIns="0" rtlCol="0" anchor="t"/>
          <a:lstStyle/>
          <a:p>
            <a:pPr algn="l" indent="0" marL="0">
              <a:lnSpc>
                <a:spcPts val="2251"/>
              </a:lnSpc>
              <a:buNone/>
            </a:pPr>
            <a:r>
              <a:rPr lang="en-US" sz="1800" dirty="0">
                <a:solidFill>
                  <a:srgbClr val="000000"/>
                </a:solidFill>
                <a:latin typeface="Calibri" pitchFamily="34" charset="0"/>
                <a:ea typeface="Calibri" pitchFamily="34" charset="-122"/>
                <a:cs typeface="Calibri" pitchFamily="34" charset="-120"/>
              </a:rPr>
              <a:t>bad practice: the owner must disallow it </a:t>
            </a:r>
            <a:pPr algn="l" indent="0" marL="0">
              <a:lnSpc>
                <a:spcPts val="2251"/>
              </a:lnSpc>
              <a:buNone/>
            </a:pPr>
            <a:r>
              <a:rPr lang="en-US" sz="1116" u="sng" dirty="0">
                <a:solidFill>
                  <a:srgbClr val="59595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9110 §9.2.1]</a:t>
            </a:r>
            <a:endParaRPr lang="en-US" sz="1800" dirty="0"/>
          </a:p>
        </p:txBody>
      </p:sp>
      <p:sp>
        <p:nvSpPr>
          <p:cNvPr id="25" name="Shape 22"/>
          <p:cNvSpPr/>
          <p:nvPr/>
        </p:nvSpPr>
        <p:spPr>
          <a:xfrm>
            <a:off x="5092700" y="3786981"/>
            <a:ext cx="3121819" cy="1676400"/>
          </a:xfrm>
          <a:prstGeom prst="roundRect">
            <a:avLst>
              <a:gd name="adj" fmla="val 3030"/>
            </a:avLst>
          </a:prstGeom>
          <a:solidFill>
            <a:srgbClr val="FFFFFF"/>
          </a:solidFill>
          <a:ln w="12700">
            <a:solidFill>
              <a:srgbClr val="333399"/>
            </a:solidFill>
            <a:prstDash val="solid"/>
          </a:ln>
        </p:spPr>
      </p:sp>
      <p:sp>
        <p:nvSpPr>
          <p:cNvPr id="26" name="Shape 23"/>
          <p:cNvSpPr/>
          <p:nvPr/>
        </p:nvSpPr>
        <p:spPr>
          <a:xfrm>
            <a:off x="5283200" y="3982244"/>
            <a:ext cx="757039" cy="327025"/>
          </a:xfrm>
          <a:prstGeom prst="rect">
            <a:avLst/>
          </a:prstGeom>
          <a:solidFill>
            <a:srgbClr val="993300"/>
          </a:solidFill>
          <a:ln/>
        </p:spPr>
      </p:sp>
      <p:sp>
        <p:nvSpPr>
          <p:cNvPr id="27" name="Text 24"/>
          <p:cNvSpPr txBox="1"/>
          <p:nvPr/>
        </p:nvSpPr>
        <p:spPr>
          <a:xfrm>
            <a:off x="5372100" y="3994944"/>
            <a:ext cx="731639" cy="279400"/>
          </a:xfrm>
          <a:prstGeom prst="rect">
            <a:avLst/>
          </a:prstGeom>
          <a:noFill/>
          <a:ln/>
        </p:spPr>
        <p:txBody>
          <a:bodyPr wrap="none" lIns="0" tIns="0" rIns="0" bIns="0" rtlCol="0" anchor="t"/>
          <a:lstStyle/>
          <a:p>
            <a:pPr algn="l" indent="0" marL="0">
              <a:buNone/>
            </a:pPr>
            <a:r>
              <a:rPr lang="en-US" sz="1900" b="1" dirty="0">
                <a:solidFill>
                  <a:srgbClr val="FFFFFF"/>
                </a:solidFill>
                <a:latin typeface="Courier New" pitchFamily="34" charset="0"/>
                <a:ea typeface="Courier New" pitchFamily="34" charset="-122"/>
                <a:cs typeface="Courier New" pitchFamily="34" charset="-120"/>
              </a:rPr>
              <a:t>POST</a:t>
            </a:r>
            <a:endParaRPr lang="en-US" sz="1900" dirty="0"/>
          </a:p>
        </p:txBody>
      </p:sp>
      <p:sp>
        <p:nvSpPr>
          <p:cNvPr id="28" name="Text 25"/>
          <p:cNvSpPr txBox="1"/>
          <p:nvPr/>
        </p:nvSpPr>
        <p:spPr>
          <a:xfrm>
            <a:off x="5283200" y="4410869"/>
            <a:ext cx="2772255" cy="825500"/>
          </a:xfrm>
          <a:prstGeom prst="rect">
            <a:avLst/>
          </a:prstGeom>
          <a:noFill/>
          <a:ln/>
        </p:spPr>
        <p:txBody>
          <a:bodyPr wrap="square" lIns="0" tIns="0" rIns="0" bIns="0" rtlCol="0" anchor="t"/>
          <a:lstStyle/>
          <a:p>
            <a:pPr algn="l" indent="0" marL="0">
              <a:lnSpc>
                <a:spcPts val="2851"/>
              </a:lnSpc>
              <a:buNone/>
            </a:pPr>
            <a:r>
              <a:rPr lang="en-US" sz="1800" dirty="0">
                <a:solidFill>
                  <a:srgbClr val="000000"/>
                </a:solidFill>
                <a:latin typeface="Calibri" pitchFamily="34" charset="0"/>
                <a:ea typeface="Calibri" pitchFamily="34" charset="-122"/>
                <a:cs typeface="Calibri" pitchFamily="34" charset="-120"/>
              </a:rPr>
              <a:t>the resource decides what to do with the content </a:t>
            </a:r>
            <a:pPr algn="l" indent="0" marL="0">
              <a:lnSpc>
                <a:spcPts val="2851"/>
              </a:lnSpc>
              <a:buNone/>
            </a:pPr>
            <a:r>
              <a:rPr lang="en-US" sz="1116" u="sng" dirty="0">
                <a:solidFill>
                  <a:srgbClr val="59595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9110 §9.3.3]</a:t>
            </a:r>
            <a:endParaRPr lang="en-US" sz="1800" dirty="0"/>
          </a:p>
        </p:txBody>
      </p:sp>
      <p:sp>
        <p:nvSpPr>
          <p:cNvPr id="29" name="Shape 26"/>
          <p:cNvSpPr/>
          <p:nvPr/>
        </p:nvSpPr>
        <p:spPr>
          <a:xfrm>
            <a:off x="8468519" y="1513681"/>
            <a:ext cx="3429000" cy="1574800"/>
          </a:xfrm>
          <a:prstGeom prst="roundRect">
            <a:avLst>
              <a:gd name="adj" fmla="val 3226"/>
            </a:avLst>
          </a:prstGeom>
          <a:solidFill>
            <a:srgbClr val="FFFFFF"/>
          </a:solidFill>
          <a:ln w="12700">
            <a:solidFill>
              <a:srgbClr val="333399"/>
            </a:solidFill>
            <a:prstDash val="solid"/>
          </a:ln>
        </p:spPr>
      </p:sp>
      <p:sp>
        <p:nvSpPr>
          <p:cNvPr id="30" name="Text 27"/>
          <p:cNvSpPr txBox="1"/>
          <p:nvPr/>
        </p:nvSpPr>
        <p:spPr>
          <a:xfrm>
            <a:off x="8633619" y="1704181"/>
            <a:ext cx="3124200" cy="1143000"/>
          </a:xfrm>
          <a:prstGeom prst="rect">
            <a:avLst/>
          </a:prstGeom>
          <a:noFill/>
          <a:ln/>
        </p:spPr>
        <p:txBody>
          <a:bodyPr wrap="square" lIns="0" tIns="0" rIns="0" bIns="0" rtlCol="0" anchor="t"/>
          <a:lstStyle/>
          <a:p>
            <a:pPr algn="l" indent="0" marL="0">
              <a:lnSpc>
                <a:spcPts val="2400"/>
              </a:lnSpc>
              <a:buNone/>
            </a:pPr>
            <a:r>
              <a:rPr lang="en-US" sz="1600" i="1" dirty="0">
                <a:solidFill>
                  <a:srgbClr val="000000"/>
                </a:solidFill>
                <a:latin typeface="Calibri" pitchFamily="34" charset="0"/>
                <a:ea typeface="Calibri" pitchFamily="34" charset="-122"/>
                <a:cs typeface="Calibri" pitchFamily="34" charset="-120"/>
              </a:rPr>
              <a:t>POST for a query “hinders caching and uses an unsafe method for what would otherwise be a safe request.” </a:t>
            </a:r>
            <a:pPr algn="l" indent="0" marL="0">
              <a:lnSpc>
                <a:spcPts val="2400"/>
              </a:lnSpc>
              <a:buNone/>
            </a:pPr>
            <a:r>
              <a:rPr lang="en-US" sz="992" i="1" u="sng" dirty="0">
                <a:solidFill>
                  <a:srgbClr val="59595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9110 §17.9]</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8</a:t>
            </a:r>
            <a:endParaRPr lang="en-US" sz="1400" dirty="0"/>
          </a:p>
        </p:txBody>
      </p:sp>
      <p:sp>
        <p:nvSpPr>
          <p:cNvPr id="8" name="Text 5"/>
          <p:cNvSpPr txBox="1"/>
          <p:nvPr/>
        </p:nvSpPr>
        <p:spPr>
          <a:xfrm>
            <a:off x="9278343" y="178395"/>
            <a:ext cx="2974776" cy="558800"/>
          </a:xfrm>
          <a:prstGeom prst="rect">
            <a:avLst/>
          </a:prstGeom>
          <a:noFill/>
          <a:ln/>
        </p:spPr>
        <p:txBody>
          <a:bodyPr wrap="none" lIns="0" tIns="0" rIns="0" bIns="0" rtlCol="0" anchor="t"/>
          <a:lstStyle/>
          <a:p>
            <a:pPr algn="l" indent="0" marL="0">
              <a:buNone/>
            </a:pPr>
            <a:r>
              <a:rPr lang="en-US" sz="3600" b="1" dirty="0">
                <a:solidFill>
                  <a:srgbClr val="CC6600"/>
                </a:solidFill>
                <a:latin typeface="Calibri" pitchFamily="34" charset="0"/>
                <a:ea typeface="Calibri" pitchFamily="34" charset="-122"/>
                <a:cs typeface="Calibri" pitchFamily="34" charset="-120"/>
              </a:rPr>
              <a:t>1. Introduction</a:t>
            </a:r>
            <a:endParaRPr lang="en-US" sz="3600" dirty="0"/>
          </a:p>
        </p:txBody>
      </p:sp>
      <p:sp>
        <p:nvSpPr>
          <p:cNvPr id="9" name="Text 6"/>
          <p:cNvSpPr txBox="1"/>
          <p:nvPr/>
        </p:nvSpPr>
        <p:spPr>
          <a:xfrm>
            <a:off x="294481" y="1023540"/>
            <a:ext cx="4165799"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The gap between GET and POST</a:t>
            </a:r>
            <a:endParaRPr lang="en-US" sz="2400" dirty="0"/>
          </a:p>
        </p:txBody>
      </p:sp>
      <p:sp>
        <p:nvSpPr>
          <p:cNvPr id="10" name="Text 7"/>
          <p:cNvSpPr txBox="1"/>
          <p:nvPr/>
        </p:nvSpPr>
        <p:spPr>
          <a:xfrm>
            <a:off x="2300288" y="1539081"/>
            <a:ext cx="2208808" cy="279400"/>
          </a:xfrm>
          <a:prstGeom prst="rect">
            <a:avLst/>
          </a:prstGeom>
          <a:noFill/>
          <a:ln/>
        </p:spPr>
        <p:txBody>
          <a:bodyPr wrap="non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query input in the </a:t>
            </a:r>
            <a:pPr algn="ctr" indent="0" marL="0">
              <a:buNone/>
            </a:pPr>
            <a:r>
              <a:rPr lang="en-US" sz="1800" b="1" dirty="0">
                <a:solidFill>
                  <a:srgbClr val="000000"/>
                </a:solidFill>
                <a:latin typeface="Calibri" pitchFamily="34" charset="0"/>
                <a:ea typeface="Calibri" pitchFamily="34" charset="-122"/>
                <a:cs typeface="Calibri" pitchFamily="34" charset="-120"/>
              </a:rPr>
              <a:t>URI</a:t>
            </a:r>
            <a:endParaRPr lang="en-US" sz="1800" dirty="0"/>
          </a:p>
        </p:txBody>
      </p:sp>
      <p:sp>
        <p:nvSpPr>
          <p:cNvPr id="11" name="Text 8"/>
          <p:cNvSpPr txBox="1"/>
          <p:nvPr/>
        </p:nvSpPr>
        <p:spPr>
          <a:xfrm>
            <a:off x="5353844" y="1539081"/>
            <a:ext cx="2599333" cy="279400"/>
          </a:xfrm>
          <a:prstGeom prst="rect">
            <a:avLst/>
          </a:prstGeom>
          <a:noFill/>
          <a:ln/>
        </p:spPr>
        <p:txBody>
          <a:bodyPr wrap="non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query input in the </a:t>
            </a:r>
            <a:pPr algn="ctr" indent="0" marL="0">
              <a:buNone/>
            </a:pPr>
            <a:r>
              <a:rPr lang="en-US" sz="1800" b="1" dirty="0">
                <a:solidFill>
                  <a:srgbClr val="000000"/>
                </a:solidFill>
                <a:latin typeface="Calibri" pitchFamily="34" charset="0"/>
                <a:ea typeface="Calibri" pitchFamily="34" charset="-122"/>
                <a:cs typeface="Calibri" pitchFamily="34" charset="-120"/>
              </a:rPr>
              <a:t>content</a:t>
            </a:r>
            <a:endParaRPr lang="en-US" sz="1800" dirty="0"/>
          </a:p>
        </p:txBody>
      </p:sp>
      <p:sp>
        <p:nvSpPr>
          <p:cNvPr id="12" name="Text 9"/>
          <p:cNvSpPr txBox="1"/>
          <p:nvPr/>
        </p:nvSpPr>
        <p:spPr>
          <a:xfrm>
            <a:off x="294481" y="2534840"/>
            <a:ext cx="1447800" cy="553640"/>
          </a:xfrm>
          <a:prstGeom prst="rect">
            <a:avLst/>
          </a:prstGeom>
          <a:noFill/>
          <a:ln/>
        </p:spPr>
        <p:txBody>
          <a:bodyPr wrap="square" lIns="0" tIns="0" rIns="0" bIns="0" rtlCol="0" anchor="t"/>
          <a:lstStyle/>
          <a:p>
            <a:pPr algn="l" indent="0" marL="0">
              <a:lnSpc>
                <a:spcPts val="2160"/>
              </a:lnSpc>
              <a:buNone/>
            </a:pPr>
            <a:r>
              <a:rPr lang="en-US" sz="1800" b="1" dirty="0">
                <a:solidFill>
                  <a:srgbClr val="993300"/>
                </a:solidFill>
                <a:latin typeface="Calibri" pitchFamily="34" charset="0"/>
                <a:ea typeface="Calibri" pitchFamily="34" charset="-122"/>
                <a:cs typeface="Calibri" pitchFamily="34" charset="-120"/>
              </a:rPr>
              <a:t>Safe and idempotent</a:t>
            </a:r>
            <a:endParaRPr lang="en-US" sz="1800" dirty="0"/>
          </a:p>
        </p:txBody>
      </p:sp>
      <p:sp>
        <p:nvSpPr>
          <p:cNvPr id="13" name="Shape 10"/>
          <p:cNvSpPr/>
          <p:nvPr/>
        </p:nvSpPr>
        <p:spPr>
          <a:xfrm>
            <a:off x="1843881" y="1983581"/>
            <a:ext cx="3121819" cy="1676400"/>
          </a:xfrm>
          <a:prstGeom prst="roundRect">
            <a:avLst>
              <a:gd name="adj" fmla="val 3030"/>
            </a:avLst>
          </a:prstGeom>
          <a:solidFill>
            <a:srgbClr val="FFFFFF"/>
          </a:solidFill>
          <a:ln w="12700">
            <a:solidFill>
              <a:srgbClr val="333399"/>
            </a:solidFill>
            <a:prstDash val="solid"/>
          </a:ln>
        </p:spPr>
      </p:sp>
      <p:sp>
        <p:nvSpPr>
          <p:cNvPr id="14" name="Shape 11"/>
          <p:cNvSpPr/>
          <p:nvPr/>
        </p:nvSpPr>
        <p:spPr>
          <a:xfrm>
            <a:off x="2034381" y="2321719"/>
            <a:ext cx="612379" cy="327025"/>
          </a:xfrm>
          <a:prstGeom prst="rect">
            <a:avLst/>
          </a:prstGeom>
          <a:solidFill>
            <a:srgbClr val="333399"/>
          </a:solidFill>
          <a:ln/>
        </p:spPr>
      </p:sp>
      <p:sp>
        <p:nvSpPr>
          <p:cNvPr id="15" name="Text 12"/>
          <p:cNvSpPr txBox="1"/>
          <p:nvPr/>
        </p:nvSpPr>
        <p:spPr>
          <a:xfrm>
            <a:off x="2123281" y="2334419"/>
            <a:ext cx="586979" cy="279400"/>
          </a:xfrm>
          <a:prstGeom prst="rect">
            <a:avLst/>
          </a:prstGeom>
          <a:noFill/>
          <a:ln/>
        </p:spPr>
        <p:txBody>
          <a:bodyPr wrap="none" lIns="0" tIns="0" rIns="0" bIns="0" rtlCol="0" anchor="t"/>
          <a:lstStyle/>
          <a:p>
            <a:pPr algn="l" indent="0" marL="0">
              <a:buNone/>
            </a:pPr>
            <a:r>
              <a:rPr lang="en-US" sz="1900" b="1" dirty="0">
                <a:solidFill>
                  <a:srgbClr val="FFFFFF"/>
                </a:solidFill>
                <a:latin typeface="Courier New" pitchFamily="34" charset="0"/>
                <a:ea typeface="Courier New" pitchFamily="34" charset="-122"/>
                <a:cs typeface="Courier New" pitchFamily="34" charset="-120"/>
              </a:rPr>
              <a:t>GET</a:t>
            </a:r>
            <a:endParaRPr lang="en-US" sz="1900" dirty="0"/>
          </a:p>
        </p:txBody>
      </p:sp>
      <p:sp>
        <p:nvSpPr>
          <p:cNvPr id="16" name="Text 13"/>
          <p:cNvSpPr txBox="1"/>
          <p:nvPr/>
        </p:nvSpPr>
        <p:spPr>
          <a:xfrm>
            <a:off x="2034381" y="2750344"/>
            <a:ext cx="2766219" cy="565149"/>
          </a:xfrm>
          <a:prstGeom prst="rect">
            <a:avLst/>
          </a:prstGeom>
          <a:noFill/>
          <a:ln/>
        </p:spPr>
        <p:txBody>
          <a:bodyPr wrap="square" lIns="0" tIns="0" rIns="0" bIns="0" rtlCol="0" anchor="t"/>
          <a:lstStyle/>
          <a:p>
            <a:pPr algn="l" indent="0" marL="0">
              <a:lnSpc>
                <a:spcPts val="2251"/>
              </a:lnSpc>
              <a:buNone/>
            </a:pPr>
            <a:r>
              <a:rPr lang="en-US" sz="1800" dirty="0">
                <a:solidFill>
                  <a:srgbClr val="000000"/>
                </a:solidFill>
                <a:latin typeface="Calibri" pitchFamily="34" charset="0"/>
                <a:ea typeface="Calibri" pitchFamily="34" charset="-122"/>
                <a:cs typeface="Calibri" pitchFamily="34" charset="-120"/>
              </a:rPr>
              <a:t>gets a resource; the query is part of the URI</a:t>
            </a:r>
            <a:endParaRPr lang="en-US" sz="1800" dirty="0"/>
          </a:p>
        </p:txBody>
      </p:sp>
      <p:sp>
        <p:nvSpPr>
          <p:cNvPr id="17" name="Shape 14"/>
          <p:cNvSpPr/>
          <p:nvPr/>
        </p:nvSpPr>
        <p:spPr>
          <a:xfrm>
            <a:off x="5092700" y="1983581"/>
            <a:ext cx="3121819" cy="1676400"/>
          </a:xfrm>
          <a:prstGeom prst="roundRect">
            <a:avLst>
              <a:gd name="adj" fmla="val 3030"/>
            </a:avLst>
          </a:prstGeom>
          <a:solidFill>
            <a:srgbClr val="FFFFFF"/>
          </a:solidFill>
          <a:ln w="25400">
            <a:solidFill>
              <a:srgbClr val="CC6600"/>
            </a:solidFill>
            <a:prstDash val="solid"/>
          </a:ln>
        </p:spPr>
      </p:sp>
      <p:sp>
        <p:nvSpPr>
          <p:cNvPr id="18" name="Shape 15"/>
          <p:cNvSpPr/>
          <p:nvPr/>
        </p:nvSpPr>
        <p:spPr>
          <a:xfrm>
            <a:off x="5295900" y="2178844"/>
            <a:ext cx="901899" cy="327025"/>
          </a:xfrm>
          <a:prstGeom prst="rect">
            <a:avLst/>
          </a:prstGeom>
          <a:solidFill>
            <a:srgbClr val="CC6600"/>
          </a:solidFill>
          <a:ln/>
        </p:spPr>
      </p:sp>
      <p:sp>
        <p:nvSpPr>
          <p:cNvPr id="19" name="Text 16"/>
          <p:cNvSpPr txBox="1"/>
          <p:nvPr/>
        </p:nvSpPr>
        <p:spPr>
          <a:xfrm>
            <a:off x="5384800" y="2191544"/>
            <a:ext cx="876499" cy="279400"/>
          </a:xfrm>
          <a:prstGeom prst="rect">
            <a:avLst/>
          </a:prstGeom>
          <a:noFill/>
          <a:ln/>
        </p:spPr>
        <p:txBody>
          <a:bodyPr wrap="none" lIns="0" tIns="0" rIns="0" bIns="0" rtlCol="0" anchor="t"/>
          <a:lstStyle/>
          <a:p>
            <a:pPr algn="l" indent="0" marL="0">
              <a:buNone/>
            </a:pPr>
            <a:r>
              <a:rPr lang="en-US" sz="1900" b="1" dirty="0">
                <a:solidFill>
                  <a:srgbClr val="FFFFFF"/>
                </a:solidFill>
                <a:latin typeface="Courier New" pitchFamily="34" charset="0"/>
                <a:ea typeface="Courier New" pitchFamily="34" charset="-122"/>
                <a:cs typeface="Courier New" pitchFamily="34" charset="-120"/>
              </a:rPr>
              <a:t>QUERY</a:t>
            </a:r>
            <a:endParaRPr lang="en-US" sz="1900" dirty="0"/>
          </a:p>
        </p:txBody>
      </p:sp>
      <p:sp>
        <p:nvSpPr>
          <p:cNvPr id="20" name="Text 17"/>
          <p:cNvSpPr txBox="1"/>
          <p:nvPr/>
        </p:nvSpPr>
        <p:spPr>
          <a:xfrm>
            <a:off x="5295900" y="2607469"/>
            <a:ext cx="2740819" cy="825500"/>
          </a:xfrm>
          <a:prstGeom prst="rect">
            <a:avLst/>
          </a:prstGeom>
          <a:noFill/>
          <a:ln/>
        </p:spPr>
        <p:txBody>
          <a:bodyPr wrap="square" lIns="0" tIns="0" rIns="0" bIns="0" rtlCol="0" anchor="t"/>
          <a:lstStyle/>
          <a:p>
            <a:pPr algn="l" indent="0" marL="0">
              <a:lnSpc>
                <a:spcPts val="2851"/>
              </a:lnSpc>
              <a:buNone/>
            </a:pPr>
            <a:r>
              <a:rPr lang="en-US" sz="1800" dirty="0">
                <a:solidFill>
                  <a:srgbClr val="000000"/>
                </a:solidFill>
                <a:latin typeface="Calibri" pitchFamily="34" charset="0"/>
                <a:ea typeface="Calibri" pitchFamily="34" charset="-122"/>
                <a:cs typeface="Calibri" pitchFamily="34" charset="-120"/>
              </a:rPr>
              <a:t>safe and idempotent; the query is in the content </a:t>
            </a:r>
            <a:pPr algn="l" indent="0" marL="0">
              <a:lnSpc>
                <a:spcPts val="2851"/>
              </a:lnSpc>
              <a:buNone/>
            </a:pPr>
            <a:r>
              <a:rPr lang="en-US" sz="1116" u="sng" dirty="0">
                <a:solidFill>
                  <a:srgbClr val="59595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10008 §2]</a:t>
            </a:r>
            <a:endParaRPr lang="en-US" sz="1800" dirty="0"/>
          </a:p>
        </p:txBody>
      </p:sp>
      <p:sp>
        <p:nvSpPr>
          <p:cNvPr id="21" name="Text 18"/>
          <p:cNvSpPr txBox="1"/>
          <p:nvPr/>
        </p:nvSpPr>
        <p:spPr>
          <a:xfrm>
            <a:off x="294481" y="4201120"/>
            <a:ext cx="1447800" cy="827881"/>
          </a:xfrm>
          <a:prstGeom prst="rect">
            <a:avLst/>
          </a:prstGeom>
          <a:noFill/>
          <a:ln/>
        </p:spPr>
        <p:txBody>
          <a:bodyPr wrap="square" lIns="0" tIns="0" rIns="0" bIns="0" rtlCol="0" anchor="t"/>
          <a:lstStyle/>
          <a:p>
            <a:pPr algn="l" indent="0" marL="0">
              <a:lnSpc>
                <a:spcPts val="2160"/>
              </a:lnSpc>
              <a:buNone/>
            </a:pPr>
            <a:r>
              <a:rPr lang="en-US" sz="1800" b="1" dirty="0">
                <a:solidFill>
                  <a:srgbClr val="993300"/>
                </a:solidFill>
                <a:latin typeface="Calibri" pitchFamily="34" charset="0"/>
                <a:ea typeface="Calibri" pitchFamily="34" charset="-122"/>
                <a:cs typeface="Calibri" pitchFamily="34" charset="-120"/>
              </a:rPr>
              <a:t>Not safe, general processing</a:t>
            </a:r>
            <a:endParaRPr lang="en-US" sz="1800" dirty="0"/>
          </a:p>
        </p:txBody>
      </p:sp>
      <p:sp>
        <p:nvSpPr>
          <p:cNvPr id="22" name="Shape 19"/>
          <p:cNvSpPr/>
          <p:nvPr/>
        </p:nvSpPr>
        <p:spPr>
          <a:xfrm>
            <a:off x="1843881" y="3786981"/>
            <a:ext cx="3121819" cy="1676400"/>
          </a:xfrm>
          <a:prstGeom prst="roundRect">
            <a:avLst>
              <a:gd name="adj" fmla="val 3030"/>
            </a:avLst>
          </a:prstGeom>
          <a:solidFill>
            <a:srgbClr val="FFFFFF"/>
          </a:solidFill>
          <a:ln w="12700">
            <a:solidFill>
              <a:srgbClr val="333399"/>
            </a:solidFill>
            <a:prstDash val="solid"/>
          </a:ln>
        </p:spPr>
      </p:sp>
      <p:sp>
        <p:nvSpPr>
          <p:cNvPr id="23" name="Shape 20"/>
          <p:cNvSpPr/>
          <p:nvPr/>
        </p:nvSpPr>
        <p:spPr>
          <a:xfrm>
            <a:off x="2034381" y="4144367"/>
            <a:ext cx="2740819" cy="288329"/>
          </a:xfrm>
          <a:prstGeom prst="rect">
            <a:avLst/>
          </a:prstGeom>
          <a:solidFill>
            <a:srgbClr val="FFFFFF"/>
          </a:solidFill>
          <a:ln w="12700">
            <a:solidFill>
              <a:srgbClr val="333399"/>
            </a:solidFill>
            <a:prstDash val="solid"/>
          </a:ln>
        </p:spPr>
      </p:sp>
      <p:sp>
        <p:nvSpPr>
          <p:cNvPr id="24" name="Text 21"/>
          <p:cNvSpPr txBox="1"/>
          <p:nvPr/>
        </p:nvSpPr>
        <p:spPr>
          <a:xfrm>
            <a:off x="2097881" y="4157067"/>
            <a:ext cx="2550517" cy="241300"/>
          </a:xfrm>
          <a:prstGeom prst="rect">
            <a:avLst/>
          </a:prstGeom>
          <a:noFill/>
          <a:ln/>
        </p:spPr>
        <p:txBody>
          <a:bodyPr wrap="none" lIns="0" tIns="0" rIns="0" bIns="0" rtlCol="0" anchor="t"/>
          <a:lstStyle/>
          <a:p>
            <a:pPr algn="l" indent="0" marL="0">
              <a:buNone/>
            </a:pPr>
            <a:r>
              <a:rPr lang="en-US" sz="1656" b="1" dirty="0">
                <a:solidFill>
                  <a:srgbClr val="000000"/>
                </a:solidFill>
                <a:latin typeface="Courier New" pitchFamily="34" charset="0"/>
                <a:ea typeface="Courier New" pitchFamily="34" charset="-122"/>
                <a:cs typeface="Courier New" pitchFamily="34" charset="-120"/>
              </a:rPr>
              <a:t>GET /item?do=delete</a:t>
            </a:r>
            <a:endParaRPr lang="en-US" sz="1656" dirty="0"/>
          </a:p>
        </p:txBody>
      </p:sp>
      <p:sp>
        <p:nvSpPr>
          <p:cNvPr id="25" name="Text 22"/>
          <p:cNvSpPr txBox="1"/>
          <p:nvPr/>
        </p:nvSpPr>
        <p:spPr>
          <a:xfrm>
            <a:off x="2034381" y="4534297"/>
            <a:ext cx="2809903" cy="565149"/>
          </a:xfrm>
          <a:prstGeom prst="rect">
            <a:avLst/>
          </a:prstGeom>
          <a:noFill/>
          <a:ln/>
        </p:spPr>
        <p:txBody>
          <a:bodyPr wrap="square" lIns="0" tIns="0" rIns="0" bIns="0" rtlCol="0" anchor="t"/>
          <a:lstStyle/>
          <a:p>
            <a:pPr algn="l" indent="0" marL="0">
              <a:lnSpc>
                <a:spcPts val="2251"/>
              </a:lnSpc>
              <a:buNone/>
            </a:pPr>
            <a:r>
              <a:rPr lang="en-US" sz="1800" dirty="0">
                <a:solidFill>
                  <a:srgbClr val="000000"/>
                </a:solidFill>
                <a:latin typeface="Calibri" pitchFamily="34" charset="0"/>
                <a:ea typeface="Calibri" pitchFamily="34" charset="-122"/>
                <a:cs typeface="Calibri" pitchFamily="34" charset="-120"/>
              </a:rPr>
              <a:t>bad practice: the owner must disallow it </a:t>
            </a:r>
            <a:pPr algn="l" indent="0" marL="0">
              <a:lnSpc>
                <a:spcPts val="2251"/>
              </a:lnSpc>
              <a:buNone/>
            </a:pPr>
            <a:r>
              <a:rPr lang="en-US" sz="1116" u="sng" dirty="0">
                <a:solidFill>
                  <a:srgbClr val="59595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9110 §9.2.1]</a:t>
            </a:r>
            <a:endParaRPr lang="en-US" sz="1800" dirty="0"/>
          </a:p>
        </p:txBody>
      </p:sp>
      <p:sp>
        <p:nvSpPr>
          <p:cNvPr id="26" name="Shape 23"/>
          <p:cNvSpPr/>
          <p:nvPr/>
        </p:nvSpPr>
        <p:spPr>
          <a:xfrm>
            <a:off x="5092700" y="3786981"/>
            <a:ext cx="3121819" cy="1676400"/>
          </a:xfrm>
          <a:prstGeom prst="roundRect">
            <a:avLst>
              <a:gd name="adj" fmla="val 3030"/>
            </a:avLst>
          </a:prstGeom>
          <a:solidFill>
            <a:srgbClr val="FFFFFF"/>
          </a:solidFill>
          <a:ln w="12700">
            <a:solidFill>
              <a:srgbClr val="333399"/>
            </a:solidFill>
            <a:prstDash val="solid"/>
          </a:ln>
        </p:spPr>
      </p:sp>
      <p:sp>
        <p:nvSpPr>
          <p:cNvPr id="27" name="Shape 24"/>
          <p:cNvSpPr/>
          <p:nvPr/>
        </p:nvSpPr>
        <p:spPr>
          <a:xfrm>
            <a:off x="5283200" y="3982244"/>
            <a:ext cx="757039" cy="327025"/>
          </a:xfrm>
          <a:prstGeom prst="rect">
            <a:avLst/>
          </a:prstGeom>
          <a:solidFill>
            <a:srgbClr val="993300"/>
          </a:solidFill>
          <a:ln/>
        </p:spPr>
      </p:sp>
      <p:sp>
        <p:nvSpPr>
          <p:cNvPr id="28" name="Text 25"/>
          <p:cNvSpPr txBox="1"/>
          <p:nvPr/>
        </p:nvSpPr>
        <p:spPr>
          <a:xfrm>
            <a:off x="5372100" y="3994944"/>
            <a:ext cx="731639" cy="279400"/>
          </a:xfrm>
          <a:prstGeom prst="rect">
            <a:avLst/>
          </a:prstGeom>
          <a:noFill/>
          <a:ln/>
        </p:spPr>
        <p:txBody>
          <a:bodyPr wrap="none" lIns="0" tIns="0" rIns="0" bIns="0" rtlCol="0" anchor="t"/>
          <a:lstStyle/>
          <a:p>
            <a:pPr algn="l" indent="0" marL="0">
              <a:buNone/>
            </a:pPr>
            <a:r>
              <a:rPr lang="en-US" sz="1900" b="1" dirty="0">
                <a:solidFill>
                  <a:srgbClr val="FFFFFF"/>
                </a:solidFill>
                <a:latin typeface="Courier New" pitchFamily="34" charset="0"/>
                <a:ea typeface="Courier New" pitchFamily="34" charset="-122"/>
                <a:cs typeface="Courier New" pitchFamily="34" charset="-120"/>
              </a:rPr>
              <a:t>POST</a:t>
            </a:r>
            <a:endParaRPr lang="en-US" sz="1900" dirty="0"/>
          </a:p>
        </p:txBody>
      </p:sp>
      <p:sp>
        <p:nvSpPr>
          <p:cNvPr id="29" name="Text 26"/>
          <p:cNvSpPr txBox="1"/>
          <p:nvPr/>
        </p:nvSpPr>
        <p:spPr>
          <a:xfrm>
            <a:off x="5283200" y="4410869"/>
            <a:ext cx="2772255" cy="825500"/>
          </a:xfrm>
          <a:prstGeom prst="rect">
            <a:avLst/>
          </a:prstGeom>
          <a:noFill/>
          <a:ln/>
        </p:spPr>
        <p:txBody>
          <a:bodyPr wrap="square" lIns="0" tIns="0" rIns="0" bIns="0" rtlCol="0" anchor="t"/>
          <a:lstStyle/>
          <a:p>
            <a:pPr algn="l" indent="0" marL="0">
              <a:lnSpc>
                <a:spcPts val="2851"/>
              </a:lnSpc>
              <a:buNone/>
            </a:pPr>
            <a:r>
              <a:rPr lang="en-US" sz="1800" dirty="0">
                <a:solidFill>
                  <a:srgbClr val="000000"/>
                </a:solidFill>
                <a:latin typeface="Calibri" pitchFamily="34" charset="0"/>
                <a:ea typeface="Calibri" pitchFamily="34" charset="-122"/>
                <a:cs typeface="Calibri" pitchFamily="34" charset="-120"/>
              </a:rPr>
              <a:t>the resource decides what to do with the content </a:t>
            </a:r>
            <a:pPr algn="l" indent="0" marL="0">
              <a:lnSpc>
                <a:spcPts val="2851"/>
              </a:lnSpc>
              <a:buNone/>
            </a:pPr>
            <a:r>
              <a:rPr lang="en-US" sz="1116" u="sng" dirty="0">
                <a:solidFill>
                  <a:srgbClr val="59595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9110 §9.3.3]</a:t>
            </a:r>
            <a:endParaRPr lang="en-US" sz="1800" dirty="0"/>
          </a:p>
        </p:txBody>
      </p:sp>
      <p:sp>
        <p:nvSpPr>
          <p:cNvPr id="30" name="Shape 27"/>
          <p:cNvSpPr/>
          <p:nvPr/>
        </p:nvSpPr>
        <p:spPr>
          <a:xfrm>
            <a:off x="8468519" y="1513681"/>
            <a:ext cx="3429000" cy="1574800"/>
          </a:xfrm>
          <a:prstGeom prst="roundRect">
            <a:avLst>
              <a:gd name="adj" fmla="val 3226"/>
            </a:avLst>
          </a:prstGeom>
          <a:solidFill>
            <a:srgbClr val="FFFFFF"/>
          </a:solidFill>
          <a:ln w="12700">
            <a:solidFill>
              <a:srgbClr val="333399"/>
            </a:solidFill>
            <a:prstDash val="solid"/>
          </a:ln>
        </p:spPr>
      </p:sp>
      <p:sp>
        <p:nvSpPr>
          <p:cNvPr id="31" name="Text 28"/>
          <p:cNvSpPr txBox="1"/>
          <p:nvPr/>
        </p:nvSpPr>
        <p:spPr>
          <a:xfrm>
            <a:off x="8633619" y="1704181"/>
            <a:ext cx="3124200" cy="1143000"/>
          </a:xfrm>
          <a:prstGeom prst="rect">
            <a:avLst/>
          </a:prstGeom>
          <a:noFill/>
          <a:ln/>
        </p:spPr>
        <p:txBody>
          <a:bodyPr wrap="square" lIns="0" tIns="0" rIns="0" bIns="0" rtlCol="0" anchor="t"/>
          <a:lstStyle/>
          <a:p>
            <a:pPr algn="l" indent="0" marL="0">
              <a:lnSpc>
                <a:spcPts val="2400"/>
              </a:lnSpc>
              <a:buNone/>
            </a:pPr>
            <a:r>
              <a:rPr lang="en-US" sz="1600" i="1" dirty="0">
                <a:solidFill>
                  <a:srgbClr val="000000"/>
                </a:solidFill>
                <a:latin typeface="Calibri" pitchFamily="34" charset="0"/>
                <a:ea typeface="Calibri" pitchFamily="34" charset="-122"/>
                <a:cs typeface="Calibri" pitchFamily="34" charset="-120"/>
              </a:rPr>
              <a:t>POST for a query “hinders caching and uses an unsafe method for what would otherwise be a safe request.” </a:t>
            </a:r>
            <a:pPr algn="l" indent="0" marL="0">
              <a:lnSpc>
                <a:spcPts val="2400"/>
              </a:lnSpc>
              <a:buNone/>
            </a:pPr>
            <a:r>
              <a:rPr lang="en-US" sz="992" i="1" u="sng" dirty="0">
                <a:solidFill>
                  <a:srgbClr val="59595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[RFC 9110 §17.9]</a:t>
            </a:r>
            <a:endParaRPr lang="en-US" sz="1600" dirty="0"/>
          </a:p>
        </p:txBody>
      </p:sp>
      <p:sp>
        <p:nvSpPr>
          <p:cNvPr id="32" name="Shape 29"/>
          <p:cNvSpPr/>
          <p:nvPr/>
        </p:nvSpPr>
        <p:spPr>
          <a:xfrm>
            <a:off x="8468519" y="3240881"/>
            <a:ext cx="3429000" cy="1651000"/>
          </a:xfrm>
          <a:prstGeom prst="rect">
            <a:avLst/>
          </a:prstGeom>
          <a:solidFill>
            <a:srgbClr val="FFFFFF"/>
          </a:solidFill>
          <a:ln w="25400">
            <a:solidFill>
              <a:srgbClr val="CC6600"/>
            </a:solidFill>
            <a:prstDash val="solid"/>
          </a:ln>
        </p:spPr>
      </p:sp>
      <p:sp>
        <p:nvSpPr>
          <p:cNvPr id="33" name="Text 30"/>
          <p:cNvSpPr txBox="1"/>
          <p:nvPr/>
        </p:nvSpPr>
        <p:spPr>
          <a:xfrm>
            <a:off x="8697119" y="3456781"/>
            <a:ext cx="1821260" cy="279400"/>
          </a:xfrm>
          <a:prstGeom prst="rect">
            <a:avLst/>
          </a:prstGeom>
          <a:noFill/>
          <a:ln/>
        </p:spPr>
        <p:txBody>
          <a:bodyPr wrap="none" lIns="0" tIns="0" rIns="0" bIns="0" rtlCol="0" anchor="t"/>
          <a:lstStyle/>
          <a:p>
            <a:pPr algn="l" indent="0" marL="0">
              <a:buNone/>
            </a:pPr>
            <a:r>
              <a:rPr lang="en-US" sz="1800" b="1" spc="-45" kern="0" dirty="0">
                <a:solidFill>
                  <a:srgbClr val="993300"/>
                </a:solidFill>
                <a:latin typeface="Calibri" pitchFamily="34" charset="0"/>
                <a:ea typeface="Calibri" pitchFamily="34" charset="-122"/>
                <a:cs typeface="Calibri" pitchFamily="34" charset="-120"/>
              </a:rPr>
              <a:t>Not a replacement</a:t>
            </a:r>
            <a:endParaRPr lang="en-US" sz="1800" dirty="0"/>
          </a:p>
        </p:txBody>
      </p:sp>
      <p:sp>
        <p:nvSpPr>
          <p:cNvPr id="34" name="Text 31"/>
          <p:cNvSpPr txBox="1"/>
          <p:nvPr/>
        </p:nvSpPr>
        <p:spPr>
          <a:xfrm>
            <a:off x="8697119" y="3825081"/>
            <a:ext cx="3004213" cy="850900"/>
          </a:xfrm>
          <a:prstGeom prst="rect">
            <a:avLst/>
          </a:prstGeom>
          <a:noFill/>
          <a:ln/>
        </p:spPr>
        <p:txBody>
          <a:bodyPr wrap="square" lIns="0" tIns="0" rIns="0" bIns="0" rtlCol="0" anchor="t"/>
          <a:lstStyle/>
          <a:p>
            <a:pPr algn="l" indent="0" marL="0">
              <a:lnSpc>
                <a:spcPts val="2400"/>
              </a:lnSpc>
              <a:buNone/>
            </a:pPr>
            <a:r>
              <a:rPr lang="en-US" sz="1600" dirty="0">
                <a:solidFill>
                  <a:srgbClr val="000000"/>
                </a:solidFill>
                <a:latin typeface="Calibri" pitchFamily="34" charset="0"/>
                <a:ea typeface="Calibri" pitchFamily="34" charset="-122"/>
                <a:cs typeface="Calibri" pitchFamily="34" charset="-120"/>
              </a:rPr>
              <a:t>QUERY fills the gap. If the query fits in a URI, use GET. If the request changes data, use POST.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620699" y="6586140"/>
            <a:ext cx="251420"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9</a:t>
            </a:r>
            <a:endParaRPr lang="en-US" sz="1400" dirty="0"/>
          </a:p>
        </p:txBody>
      </p:sp>
      <p:sp>
        <p:nvSpPr>
          <p:cNvPr id="8" name="Text 5"/>
          <p:cNvSpPr txBox="1"/>
          <p:nvPr/>
        </p:nvSpPr>
        <p:spPr>
          <a:xfrm>
            <a:off x="10201076" y="191492"/>
            <a:ext cx="2052043"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2. Objectives</a:t>
            </a:r>
            <a:endParaRPr lang="en-US" sz="2800" dirty="0"/>
          </a:p>
        </p:txBody>
      </p:sp>
      <p:sp>
        <p:nvSpPr>
          <p:cNvPr id="9" name="Text 6"/>
          <p:cNvSpPr txBox="1"/>
          <p:nvPr/>
        </p:nvSpPr>
        <p:spPr>
          <a:xfrm>
            <a:off x="91281" y="1315640"/>
            <a:ext cx="304204" cy="365720"/>
          </a:xfrm>
          <a:prstGeom prst="rect">
            <a:avLst/>
          </a:prstGeom>
          <a:noFill/>
          <a:ln/>
        </p:spPr>
        <p:txBody>
          <a:bodyPr wrap="none" lIns="0" tIns="0" rIns="0" bIns="0" rtlCol="0" anchor="ctr"/>
          <a:lstStyle/>
          <a:p>
            <a:pPr algn="l"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0" name="Text 7"/>
          <p:cNvSpPr txBox="1"/>
          <p:nvPr/>
        </p:nvSpPr>
        <p:spPr>
          <a:xfrm>
            <a:off x="434181" y="1302940"/>
            <a:ext cx="7773392" cy="368300"/>
          </a:xfrm>
          <a:prstGeom prst="rect">
            <a:avLst/>
          </a:prstGeom>
          <a:noFill/>
          <a:ln/>
        </p:spPr>
        <p:txBody>
          <a:bodyPr wrap="none" lIns="0" tIns="0" rIns="0" bIns="0" rtlCol="0" anchor="t"/>
          <a:lstStyle/>
          <a:p>
            <a:pPr algn="l" indent="0" marL="0">
              <a:buNone/>
            </a:pPr>
            <a:r>
              <a:rPr lang="en-US" sz="2400" dirty="0">
                <a:solidFill>
                  <a:srgbClr val="000000"/>
                </a:solidFill>
                <a:latin typeface="Calibri" pitchFamily="34" charset="0"/>
                <a:ea typeface="Calibri" pitchFamily="34" charset="-122"/>
                <a:cs typeface="Calibri" pitchFamily="34" charset="-120"/>
              </a:rPr>
              <a:t>Explain how HTTP methods tell each hop what a request does</a:t>
            </a:r>
            <a:endParaRPr lang="en-US" sz="2400" dirty="0"/>
          </a:p>
        </p:txBody>
      </p:sp>
      <p:sp>
        <p:nvSpPr>
          <p:cNvPr id="11" name="Text 8"/>
          <p:cNvSpPr txBox="1"/>
          <p:nvPr/>
        </p:nvSpPr>
        <p:spPr>
          <a:xfrm>
            <a:off x="91281" y="1884561"/>
            <a:ext cx="304204" cy="365720"/>
          </a:xfrm>
          <a:prstGeom prst="rect">
            <a:avLst/>
          </a:prstGeom>
          <a:noFill/>
          <a:ln/>
        </p:spPr>
        <p:txBody>
          <a:bodyPr wrap="none" lIns="0" tIns="0" rIns="0" bIns="0" rtlCol="0" anchor="ctr"/>
          <a:lstStyle/>
          <a:p>
            <a:pPr algn="l"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2" name="Text 9"/>
          <p:cNvSpPr txBox="1"/>
          <p:nvPr/>
        </p:nvSpPr>
        <p:spPr>
          <a:xfrm>
            <a:off x="434181" y="1871861"/>
            <a:ext cx="7421761" cy="368300"/>
          </a:xfrm>
          <a:prstGeom prst="rect">
            <a:avLst/>
          </a:prstGeom>
          <a:noFill/>
          <a:ln/>
        </p:spPr>
        <p:txBody>
          <a:bodyPr wrap="none" lIns="0" tIns="0" rIns="0" bIns="0" rtlCol="0" anchor="t"/>
          <a:lstStyle/>
          <a:p>
            <a:pPr algn="l" indent="0" marL="0">
              <a:buNone/>
            </a:pPr>
            <a:r>
              <a:rPr lang="en-US" sz="2400" dirty="0">
                <a:solidFill>
                  <a:srgbClr val="000000"/>
                </a:solidFill>
                <a:latin typeface="Calibri" pitchFamily="34" charset="0"/>
                <a:ea typeface="Calibri" pitchFamily="34" charset="-122"/>
                <a:cs typeface="Calibri" pitchFamily="34" charset="-120"/>
              </a:rPr>
              <a:t>Show the size and exposure problems of a query in the URI</a:t>
            </a:r>
            <a:endParaRPr lang="en-US" sz="2400" dirty="0"/>
          </a:p>
        </p:txBody>
      </p:sp>
      <p:sp>
        <p:nvSpPr>
          <p:cNvPr id="13" name="Text 10"/>
          <p:cNvSpPr txBox="1"/>
          <p:nvPr/>
        </p:nvSpPr>
        <p:spPr>
          <a:xfrm>
            <a:off x="91281" y="2453481"/>
            <a:ext cx="304204" cy="365720"/>
          </a:xfrm>
          <a:prstGeom prst="rect">
            <a:avLst/>
          </a:prstGeom>
          <a:noFill/>
          <a:ln/>
        </p:spPr>
        <p:txBody>
          <a:bodyPr wrap="none" lIns="0" tIns="0" rIns="0" bIns="0" rtlCol="0" anchor="ctr"/>
          <a:lstStyle/>
          <a:p>
            <a:pPr algn="l"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4" name="Text 11"/>
          <p:cNvSpPr txBox="1"/>
          <p:nvPr/>
        </p:nvSpPr>
        <p:spPr>
          <a:xfrm>
            <a:off x="434181" y="2440781"/>
            <a:ext cx="8677672" cy="368300"/>
          </a:xfrm>
          <a:prstGeom prst="rect">
            <a:avLst/>
          </a:prstGeom>
          <a:noFill/>
          <a:ln/>
        </p:spPr>
        <p:txBody>
          <a:bodyPr wrap="none" lIns="0" tIns="0" rIns="0" bIns="0" rtlCol="0" anchor="t"/>
          <a:lstStyle/>
          <a:p>
            <a:pPr algn="l" indent="0" marL="0">
              <a:buNone/>
            </a:pPr>
            <a:r>
              <a:rPr lang="en-US" sz="2400" dirty="0">
                <a:solidFill>
                  <a:srgbClr val="000000"/>
                </a:solidFill>
                <a:latin typeface="Calibri" pitchFamily="34" charset="0"/>
                <a:ea typeface="Calibri" pitchFamily="34" charset="-122"/>
                <a:cs typeface="Calibri" pitchFamily="34" charset="-120"/>
              </a:rPr>
              <a:t>Analyse the QUERY method of RFC 10008 with client and server code</a:t>
            </a:r>
            <a:endParaRPr lang="en-US" sz="2400" dirty="0"/>
          </a:p>
        </p:txBody>
      </p:sp>
      <p:sp>
        <p:nvSpPr>
          <p:cNvPr id="15" name="Text 12"/>
          <p:cNvSpPr txBox="1"/>
          <p:nvPr/>
        </p:nvSpPr>
        <p:spPr>
          <a:xfrm>
            <a:off x="91281" y="3022401"/>
            <a:ext cx="304204" cy="365720"/>
          </a:xfrm>
          <a:prstGeom prst="rect">
            <a:avLst/>
          </a:prstGeom>
          <a:noFill/>
          <a:ln/>
        </p:spPr>
        <p:txBody>
          <a:bodyPr wrap="none" lIns="0" tIns="0" rIns="0" bIns="0" rtlCol="0" anchor="ctr"/>
          <a:lstStyle/>
          <a:p>
            <a:pPr algn="l"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6" name="Text 13"/>
          <p:cNvSpPr txBox="1"/>
          <p:nvPr/>
        </p:nvSpPr>
        <p:spPr>
          <a:xfrm>
            <a:off x="434181" y="3009701"/>
            <a:ext cx="10288191" cy="368300"/>
          </a:xfrm>
          <a:prstGeom prst="rect">
            <a:avLst/>
          </a:prstGeom>
          <a:noFill/>
          <a:ln/>
        </p:spPr>
        <p:txBody>
          <a:bodyPr wrap="none" lIns="0" tIns="0" rIns="0" bIns="0" rtlCol="0" anchor="t"/>
          <a:lstStyle/>
          <a:p>
            <a:pPr algn="l" indent="0" marL="0">
              <a:buNone/>
            </a:pPr>
            <a:r>
              <a:rPr lang="en-US" sz="2400" dirty="0">
                <a:solidFill>
                  <a:srgbClr val="000000"/>
                </a:solidFill>
                <a:latin typeface="Calibri" pitchFamily="34" charset="0"/>
                <a:ea typeface="Calibri" pitchFamily="34" charset="-122"/>
                <a:cs typeface="Calibri" pitchFamily="34" charset="-120"/>
              </a:rPr>
              <a:t>Identify the security effects on browsers, caches, WAFs, gateways and applications</a:t>
            </a:r>
            <a:endParaRPr lang="en-US" sz="2400" dirty="0"/>
          </a:p>
        </p:txBody>
      </p:sp>
      <p:sp>
        <p:nvSpPr>
          <p:cNvPr id="17" name="Text 14"/>
          <p:cNvSpPr txBox="1"/>
          <p:nvPr/>
        </p:nvSpPr>
        <p:spPr>
          <a:xfrm>
            <a:off x="91281" y="3591321"/>
            <a:ext cx="304204" cy="365720"/>
          </a:xfrm>
          <a:prstGeom prst="rect">
            <a:avLst/>
          </a:prstGeom>
          <a:noFill/>
          <a:ln/>
        </p:spPr>
        <p:txBody>
          <a:bodyPr wrap="none" lIns="0" tIns="0" rIns="0" bIns="0" rtlCol="0" anchor="ctr"/>
          <a:lstStyle/>
          <a:p>
            <a:pPr algn="l"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8" name="Text 15"/>
          <p:cNvSpPr txBox="1"/>
          <p:nvPr/>
        </p:nvSpPr>
        <p:spPr>
          <a:xfrm>
            <a:off x="434181" y="3578621"/>
            <a:ext cx="7307263" cy="368300"/>
          </a:xfrm>
          <a:prstGeom prst="rect">
            <a:avLst/>
          </a:prstGeom>
          <a:noFill/>
          <a:ln/>
        </p:spPr>
        <p:txBody>
          <a:bodyPr wrap="none" lIns="0" tIns="0" rIns="0" bIns="0" rtlCol="0" anchor="t"/>
          <a:lstStyle/>
          <a:p>
            <a:pPr algn="l" indent="0" marL="0">
              <a:buNone/>
            </a:pPr>
            <a:r>
              <a:rPr lang="en-US" sz="2400" dirty="0">
                <a:solidFill>
                  <a:srgbClr val="000000"/>
                </a:solidFill>
                <a:latin typeface="Calibri" pitchFamily="34" charset="0"/>
                <a:ea typeface="Calibri" pitchFamily="34" charset="-122"/>
                <a:cs typeface="Calibri" pitchFamily="34" charset="-120"/>
              </a:rPr>
              <a:t>Review the standards and studies that QUERY depends on</a:t>
            </a:r>
            <a:endParaRPr lang="en-US" sz="2400" dirty="0"/>
          </a:p>
        </p:txBody>
      </p:sp>
      <p:sp>
        <p:nvSpPr>
          <p:cNvPr id="19" name="Text 16"/>
          <p:cNvSpPr txBox="1"/>
          <p:nvPr/>
        </p:nvSpPr>
        <p:spPr>
          <a:xfrm>
            <a:off x="91281" y="4160243"/>
            <a:ext cx="304204" cy="365720"/>
          </a:xfrm>
          <a:prstGeom prst="rect">
            <a:avLst/>
          </a:prstGeom>
          <a:noFill/>
          <a:ln/>
        </p:spPr>
        <p:txBody>
          <a:bodyPr wrap="none" lIns="0" tIns="0" rIns="0" bIns="0" rtlCol="0" anchor="ctr"/>
          <a:lstStyle/>
          <a:p>
            <a:pPr algn="l"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0" name="Text 17"/>
          <p:cNvSpPr txBox="1"/>
          <p:nvPr/>
        </p:nvSpPr>
        <p:spPr>
          <a:xfrm>
            <a:off x="434181" y="4147543"/>
            <a:ext cx="5879505" cy="368300"/>
          </a:xfrm>
          <a:prstGeom prst="rect">
            <a:avLst/>
          </a:prstGeom>
          <a:noFill/>
          <a:ln/>
        </p:spPr>
        <p:txBody>
          <a:bodyPr wrap="none" lIns="0" tIns="0" rIns="0" bIns="0" rtlCol="0" anchor="t"/>
          <a:lstStyle/>
          <a:p>
            <a:pPr algn="l" indent="0" marL="0">
              <a:buNone/>
            </a:pPr>
            <a:r>
              <a:rPr lang="en-US" sz="2400" dirty="0">
                <a:solidFill>
                  <a:srgbClr val="000000"/>
                </a:solidFill>
                <a:latin typeface="Calibri" pitchFamily="34" charset="0"/>
                <a:ea typeface="Calibri" pitchFamily="34" charset="-122"/>
                <a:cs typeface="Calibri" pitchFamily="34" charset="-120"/>
              </a:rPr>
              <a:t>Recommend when to use GET, QUERY or POST</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10</a:t>
            </a:r>
            <a:endParaRPr lang="en-US" sz="1400" dirty="0"/>
          </a:p>
        </p:txBody>
      </p:sp>
      <p:sp>
        <p:nvSpPr>
          <p:cNvPr id="8" name="Text 5"/>
          <p:cNvSpPr txBox="1"/>
          <p:nvPr/>
        </p:nvSpPr>
        <p:spPr>
          <a:xfrm>
            <a:off x="9152533" y="191492"/>
            <a:ext cx="310058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3. Literature Review</a:t>
            </a:r>
            <a:endParaRPr lang="en-US" sz="2800" dirty="0"/>
          </a:p>
        </p:txBody>
      </p:sp>
      <p:sp>
        <p:nvSpPr>
          <p:cNvPr id="9" name="Shape 6"/>
          <p:cNvSpPr/>
          <p:nvPr/>
        </p:nvSpPr>
        <p:spPr>
          <a:xfrm>
            <a:off x="11311" y="1357511"/>
            <a:ext cx="12141399" cy="12700"/>
          </a:xfrm>
          <a:prstGeom prst="rect">
            <a:avLst/>
          </a:prstGeom>
          <a:solidFill>
            <a:srgbClr val="333399"/>
          </a:solidFill>
          <a:ln/>
        </p:spPr>
      </p:sp>
      <p:sp>
        <p:nvSpPr>
          <p:cNvPr id="10" name="Shape 7"/>
          <p:cNvSpPr/>
          <p:nvPr/>
        </p:nvSpPr>
        <p:spPr>
          <a:xfrm>
            <a:off x="11311" y="989211"/>
            <a:ext cx="2816621" cy="381000"/>
          </a:xfrm>
          <a:prstGeom prst="rect">
            <a:avLst/>
          </a:prstGeom>
          <a:noFill/>
          <a:ln w="12700">
            <a:solidFill>
              <a:srgbClr val="333399"/>
            </a:solidFill>
            <a:prstDash val="solid"/>
          </a:ln>
        </p:spPr>
      </p:sp>
      <p:sp>
        <p:nvSpPr>
          <p:cNvPr id="11" name="Text 8"/>
          <p:cNvSpPr txBox="1"/>
          <p:nvPr/>
        </p:nvSpPr>
        <p:spPr>
          <a:xfrm>
            <a:off x="524867" y="1029891"/>
            <a:ext cx="1789509"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Authors and Title</a:t>
            </a:r>
            <a:endParaRPr lang="en-US" sz="1800" dirty="0"/>
          </a:p>
        </p:txBody>
      </p:sp>
      <p:sp>
        <p:nvSpPr>
          <p:cNvPr id="12" name="Shape 9"/>
          <p:cNvSpPr/>
          <p:nvPr/>
        </p:nvSpPr>
        <p:spPr>
          <a:xfrm>
            <a:off x="2827933" y="989211"/>
            <a:ext cx="2658864" cy="381000"/>
          </a:xfrm>
          <a:prstGeom prst="rect">
            <a:avLst/>
          </a:prstGeom>
          <a:noFill/>
          <a:ln w="12700">
            <a:solidFill>
              <a:srgbClr val="333399"/>
            </a:solidFill>
            <a:prstDash val="solid"/>
          </a:ln>
        </p:spPr>
      </p:sp>
      <p:sp>
        <p:nvSpPr>
          <p:cNvPr id="13" name="Text 10"/>
          <p:cNvSpPr txBox="1"/>
          <p:nvPr/>
        </p:nvSpPr>
        <p:spPr>
          <a:xfrm>
            <a:off x="3716735" y="1029891"/>
            <a:ext cx="881063"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Dataset</a:t>
            </a:r>
            <a:endParaRPr lang="en-US" sz="1800" dirty="0"/>
          </a:p>
        </p:txBody>
      </p:sp>
      <p:sp>
        <p:nvSpPr>
          <p:cNvPr id="14" name="Shape 11"/>
          <p:cNvSpPr/>
          <p:nvPr/>
        </p:nvSpPr>
        <p:spPr>
          <a:xfrm>
            <a:off x="5486797" y="989211"/>
            <a:ext cx="3265884" cy="381000"/>
          </a:xfrm>
          <a:prstGeom prst="rect">
            <a:avLst/>
          </a:prstGeom>
          <a:noFill/>
          <a:ln w="12700">
            <a:solidFill>
              <a:srgbClr val="333399"/>
            </a:solidFill>
            <a:prstDash val="solid"/>
          </a:ln>
        </p:spPr>
      </p:sp>
      <p:sp>
        <p:nvSpPr>
          <p:cNvPr id="15" name="Text 12"/>
          <p:cNvSpPr txBox="1"/>
          <p:nvPr/>
        </p:nvSpPr>
        <p:spPr>
          <a:xfrm>
            <a:off x="6234907" y="1029891"/>
            <a:ext cx="1769467"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Purpose of Study</a:t>
            </a:r>
            <a:endParaRPr lang="en-US" sz="1800" dirty="0"/>
          </a:p>
        </p:txBody>
      </p:sp>
      <p:sp>
        <p:nvSpPr>
          <p:cNvPr id="16" name="Shape 13"/>
          <p:cNvSpPr/>
          <p:nvPr/>
        </p:nvSpPr>
        <p:spPr>
          <a:xfrm>
            <a:off x="8752681" y="989211"/>
            <a:ext cx="3400028" cy="381000"/>
          </a:xfrm>
          <a:prstGeom prst="rect">
            <a:avLst/>
          </a:prstGeom>
          <a:noFill/>
          <a:ln w="12700">
            <a:solidFill>
              <a:srgbClr val="333399"/>
            </a:solidFill>
            <a:prstDash val="solid"/>
          </a:ln>
        </p:spPr>
      </p:sp>
      <p:sp>
        <p:nvSpPr>
          <p:cNvPr id="17" name="Text 14"/>
          <p:cNvSpPr txBox="1"/>
          <p:nvPr/>
        </p:nvSpPr>
        <p:spPr>
          <a:xfrm>
            <a:off x="9787136" y="1029891"/>
            <a:ext cx="1331119"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Key Findings</a:t>
            </a:r>
            <a:endParaRPr lang="en-US" sz="1800" dirty="0"/>
          </a:p>
        </p:txBody>
      </p:sp>
      <p:sp>
        <p:nvSpPr>
          <p:cNvPr id="18" name="Shape 15"/>
          <p:cNvSpPr/>
          <p:nvPr/>
        </p:nvSpPr>
        <p:spPr>
          <a:xfrm>
            <a:off x="11311" y="1370211"/>
            <a:ext cx="12141399" cy="1785144"/>
          </a:xfrm>
          <a:prstGeom prst="rect">
            <a:avLst/>
          </a:prstGeom>
          <a:solidFill>
            <a:srgbClr val="D6D6EB"/>
          </a:solidFill>
          <a:ln/>
        </p:spPr>
      </p:sp>
      <p:sp>
        <p:nvSpPr>
          <p:cNvPr id="19" name="Shape 16"/>
          <p:cNvSpPr/>
          <p:nvPr/>
        </p:nvSpPr>
        <p:spPr>
          <a:xfrm>
            <a:off x="11311" y="1370211"/>
            <a:ext cx="2816621" cy="1785144"/>
          </a:xfrm>
          <a:prstGeom prst="rect">
            <a:avLst/>
          </a:prstGeom>
          <a:noFill/>
          <a:ln w="12700">
            <a:solidFill>
              <a:srgbClr val="333399"/>
            </a:solidFill>
            <a:prstDash val="solid"/>
          </a:ln>
        </p:spPr>
      </p:sp>
      <p:sp>
        <p:nvSpPr>
          <p:cNvPr id="20" name="Text 17"/>
          <p:cNvSpPr txBox="1"/>
          <p:nvPr/>
        </p:nvSpPr>
        <p:spPr>
          <a:xfrm>
            <a:off x="100211" y="1427361"/>
            <a:ext cx="2664221" cy="827881"/>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J. Reschke, J. M. Snell, M. Bishop, “</a:t>
            </a:r>
            <a:pPr algn="l" indent="0" marL="0">
              <a:lnSpc>
                <a:spcPts val="2160"/>
              </a:lnSpc>
              <a:buNone/>
            </a:pPr>
            <a:r>
              <a:rPr lang="en-US" sz="18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 HTTP QUERY Method</a:t>
            </a:r>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 RFC 10008, 2026</a:t>
            </a:r>
            <a:endParaRPr lang="en-US" sz="1800" dirty="0"/>
          </a:p>
        </p:txBody>
      </p:sp>
      <p:sp>
        <p:nvSpPr>
          <p:cNvPr id="21" name="Shape 18"/>
          <p:cNvSpPr/>
          <p:nvPr/>
        </p:nvSpPr>
        <p:spPr>
          <a:xfrm>
            <a:off x="2827933" y="1370211"/>
            <a:ext cx="2658864" cy="1785144"/>
          </a:xfrm>
          <a:prstGeom prst="rect">
            <a:avLst/>
          </a:prstGeom>
          <a:noFill/>
          <a:ln w="12700">
            <a:solidFill>
              <a:srgbClr val="333399"/>
            </a:solidFill>
            <a:prstDash val="solid"/>
          </a:ln>
        </p:spPr>
      </p:sp>
      <p:sp>
        <p:nvSpPr>
          <p:cNvPr id="22" name="Text 19"/>
          <p:cNvSpPr txBox="1"/>
          <p:nvPr/>
        </p:nvSpPr>
        <p:spPr>
          <a:xfrm>
            <a:off x="2916833" y="1427361"/>
            <a:ext cx="2506464" cy="553640"/>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IETF Standards Track specification</a:t>
            </a:r>
            <a:endParaRPr lang="en-US" sz="1800" dirty="0"/>
          </a:p>
        </p:txBody>
      </p:sp>
      <p:sp>
        <p:nvSpPr>
          <p:cNvPr id="23" name="Shape 20"/>
          <p:cNvSpPr/>
          <p:nvPr/>
        </p:nvSpPr>
        <p:spPr>
          <a:xfrm>
            <a:off x="5486797" y="1370211"/>
            <a:ext cx="3265884" cy="1785144"/>
          </a:xfrm>
          <a:prstGeom prst="rect">
            <a:avLst/>
          </a:prstGeom>
          <a:noFill/>
          <a:ln w="12700">
            <a:solidFill>
              <a:srgbClr val="333399"/>
            </a:solidFill>
            <a:prstDash val="solid"/>
          </a:ln>
        </p:spPr>
      </p:sp>
      <p:sp>
        <p:nvSpPr>
          <p:cNvPr id="24" name="Text 21"/>
          <p:cNvSpPr txBox="1"/>
          <p:nvPr/>
        </p:nvSpPr>
        <p:spPr>
          <a:xfrm>
            <a:off x="5575697" y="1427361"/>
            <a:ext cx="3113484" cy="827881"/>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Define a safe, idempotent method that sends the query as request content</a:t>
            </a:r>
            <a:endParaRPr lang="en-US" sz="1800" dirty="0"/>
          </a:p>
        </p:txBody>
      </p:sp>
      <p:sp>
        <p:nvSpPr>
          <p:cNvPr id="25" name="Shape 22"/>
          <p:cNvSpPr/>
          <p:nvPr/>
        </p:nvSpPr>
        <p:spPr>
          <a:xfrm>
            <a:off x="8752681" y="1370211"/>
            <a:ext cx="3400028" cy="1785144"/>
          </a:xfrm>
          <a:prstGeom prst="rect">
            <a:avLst/>
          </a:prstGeom>
          <a:noFill/>
          <a:ln w="12700">
            <a:solidFill>
              <a:srgbClr val="333399"/>
            </a:solidFill>
            <a:prstDash val="solid"/>
          </a:ln>
        </p:spPr>
      </p:sp>
      <p:sp>
        <p:nvSpPr>
          <p:cNvPr id="26" name="Text 23"/>
          <p:cNvSpPr txBox="1"/>
          <p:nvPr/>
        </p:nvSpPr>
        <p:spPr>
          <a:xfrm>
            <a:off x="8841581" y="1427361"/>
            <a:ext cx="3247628" cy="1650603"/>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Content-Type is mandatory. Responses are cacheable, and the cache key must include the content. New Accept-Query header. Browsers send a CORS preflight</a:t>
            </a:r>
            <a:endParaRPr lang="en-US" sz="1800" dirty="0"/>
          </a:p>
        </p:txBody>
      </p:sp>
      <p:sp>
        <p:nvSpPr>
          <p:cNvPr id="27" name="Shape 24"/>
          <p:cNvSpPr/>
          <p:nvPr/>
        </p:nvSpPr>
        <p:spPr>
          <a:xfrm>
            <a:off x="11311" y="3155355"/>
            <a:ext cx="12141399" cy="1236663"/>
          </a:xfrm>
          <a:prstGeom prst="rect">
            <a:avLst/>
          </a:prstGeom>
          <a:solidFill>
            <a:srgbClr val="FFFFFF"/>
          </a:solidFill>
          <a:ln/>
        </p:spPr>
      </p:sp>
      <p:sp>
        <p:nvSpPr>
          <p:cNvPr id="28" name="Shape 25"/>
          <p:cNvSpPr/>
          <p:nvPr/>
        </p:nvSpPr>
        <p:spPr>
          <a:xfrm>
            <a:off x="11311" y="3155355"/>
            <a:ext cx="2816621" cy="1236663"/>
          </a:xfrm>
          <a:prstGeom prst="rect">
            <a:avLst/>
          </a:prstGeom>
          <a:noFill/>
          <a:ln w="12700">
            <a:solidFill>
              <a:srgbClr val="333399"/>
            </a:solidFill>
            <a:prstDash val="solid"/>
          </a:ln>
        </p:spPr>
      </p:sp>
      <p:sp>
        <p:nvSpPr>
          <p:cNvPr id="29" name="Text 26"/>
          <p:cNvSpPr txBox="1"/>
          <p:nvPr/>
        </p:nvSpPr>
        <p:spPr>
          <a:xfrm>
            <a:off x="100211" y="3212505"/>
            <a:ext cx="2664221" cy="827881"/>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R. Fielding, M. Nottingham, J. Reschke (Eds.), “</a:t>
            </a:r>
            <a:pPr algn="l" indent="0" marL="0">
              <a:lnSpc>
                <a:spcPts val="2160"/>
              </a:lnSpc>
              <a:buNone/>
            </a:pPr>
            <a:r>
              <a:rPr lang="en-US" sz="18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 Semantics</a:t>
            </a:r>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 RFC 9110, 2022</a:t>
            </a:r>
            <a:endParaRPr lang="en-US" sz="1800" dirty="0"/>
          </a:p>
        </p:txBody>
      </p:sp>
      <p:sp>
        <p:nvSpPr>
          <p:cNvPr id="30" name="Shape 27"/>
          <p:cNvSpPr/>
          <p:nvPr/>
        </p:nvSpPr>
        <p:spPr>
          <a:xfrm>
            <a:off x="2827933" y="3155355"/>
            <a:ext cx="2658864" cy="1236663"/>
          </a:xfrm>
          <a:prstGeom prst="rect">
            <a:avLst/>
          </a:prstGeom>
          <a:noFill/>
          <a:ln w="12700">
            <a:solidFill>
              <a:srgbClr val="333399"/>
            </a:solidFill>
            <a:prstDash val="solid"/>
          </a:ln>
        </p:spPr>
      </p:sp>
      <p:sp>
        <p:nvSpPr>
          <p:cNvPr id="31" name="Text 28"/>
          <p:cNvSpPr txBox="1"/>
          <p:nvPr/>
        </p:nvSpPr>
        <p:spPr>
          <a:xfrm>
            <a:off x="2916833" y="3212505"/>
            <a:ext cx="2506464" cy="553640"/>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IETF Internet Standard (STD 97)</a:t>
            </a:r>
            <a:endParaRPr lang="en-US" sz="1800" dirty="0"/>
          </a:p>
        </p:txBody>
      </p:sp>
      <p:sp>
        <p:nvSpPr>
          <p:cNvPr id="32" name="Shape 29"/>
          <p:cNvSpPr/>
          <p:nvPr/>
        </p:nvSpPr>
        <p:spPr>
          <a:xfrm>
            <a:off x="5486797" y="3155355"/>
            <a:ext cx="3265884" cy="1236663"/>
          </a:xfrm>
          <a:prstGeom prst="rect">
            <a:avLst/>
          </a:prstGeom>
          <a:noFill/>
          <a:ln w="12700">
            <a:solidFill>
              <a:srgbClr val="333399"/>
            </a:solidFill>
            <a:prstDash val="solid"/>
          </a:ln>
        </p:spPr>
      </p:sp>
      <p:sp>
        <p:nvSpPr>
          <p:cNvPr id="33" name="Text 30"/>
          <p:cNvSpPr txBox="1"/>
          <p:nvPr/>
        </p:nvSpPr>
        <p:spPr>
          <a:xfrm>
            <a:off x="5575697" y="3212505"/>
            <a:ext cx="3113484" cy="827881"/>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Define the meaning of HTTP methods, and the safe and idempotent properties</a:t>
            </a:r>
            <a:endParaRPr lang="en-US" sz="1800" dirty="0"/>
          </a:p>
        </p:txBody>
      </p:sp>
      <p:sp>
        <p:nvSpPr>
          <p:cNvPr id="34" name="Shape 31"/>
          <p:cNvSpPr/>
          <p:nvPr/>
        </p:nvSpPr>
        <p:spPr>
          <a:xfrm>
            <a:off x="8752681" y="3155355"/>
            <a:ext cx="3400028" cy="1236663"/>
          </a:xfrm>
          <a:prstGeom prst="rect">
            <a:avLst/>
          </a:prstGeom>
          <a:noFill/>
          <a:ln w="12700">
            <a:solidFill>
              <a:srgbClr val="333399"/>
            </a:solidFill>
            <a:prstDash val="solid"/>
          </a:ln>
        </p:spPr>
      </p:sp>
      <p:sp>
        <p:nvSpPr>
          <p:cNvPr id="35" name="Text 32"/>
          <p:cNvSpPr txBox="1"/>
          <p:nvPr/>
        </p:nvSpPr>
        <p:spPr>
          <a:xfrm>
            <a:off x="8841581" y="3212505"/>
            <a:ext cx="3247628" cy="1102121"/>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Safe and idempotent describe what the client intends. URIs are not secure. POST for a safe query “uses an unsafe method” (§17.9)</a:t>
            </a:r>
            <a:endParaRPr lang="en-US" sz="1800" dirty="0"/>
          </a:p>
        </p:txBody>
      </p:sp>
      <p:sp>
        <p:nvSpPr>
          <p:cNvPr id="36" name="Shape 33"/>
          <p:cNvSpPr/>
          <p:nvPr/>
        </p:nvSpPr>
        <p:spPr>
          <a:xfrm>
            <a:off x="11311" y="4392017"/>
            <a:ext cx="12141399" cy="1236663"/>
          </a:xfrm>
          <a:prstGeom prst="rect">
            <a:avLst/>
          </a:prstGeom>
          <a:solidFill>
            <a:srgbClr val="D6D6EB"/>
          </a:solidFill>
          <a:ln/>
        </p:spPr>
      </p:sp>
      <p:sp>
        <p:nvSpPr>
          <p:cNvPr id="37" name="Shape 34"/>
          <p:cNvSpPr/>
          <p:nvPr/>
        </p:nvSpPr>
        <p:spPr>
          <a:xfrm>
            <a:off x="11311" y="4392017"/>
            <a:ext cx="2816621" cy="1236663"/>
          </a:xfrm>
          <a:prstGeom prst="rect">
            <a:avLst/>
          </a:prstGeom>
          <a:noFill/>
          <a:ln w="12700">
            <a:solidFill>
              <a:srgbClr val="333399"/>
            </a:solidFill>
            <a:prstDash val="solid"/>
          </a:ln>
        </p:spPr>
      </p:sp>
      <p:sp>
        <p:nvSpPr>
          <p:cNvPr id="38" name="Text 35"/>
          <p:cNvSpPr txBox="1"/>
          <p:nvPr/>
        </p:nvSpPr>
        <p:spPr>
          <a:xfrm>
            <a:off x="100211" y="4449167"/>
            <a:ext cx="2664221" cy="827881"/>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M. Nottingham, “</a:t>
            </a:r>
            <a:pPr algn="l" indent="0" marL="0">
              <a:lnSpc>
                <a:spcPts val="2160"/>
              </a:lnSpc>
              <a:buNone/>
            </a:pPr>
            <a:r>
              <a:rPr lang="en-US" sz="1800"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Building Protocols with HTTP</a:t>
            </a:r>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 RFC 9205 (BCP 56), 2022</a:t>
            </a:r>
            <a:endParaRPr lang="en-US" sz="1800" dirty="0"/>
          </a:p>
        </p:txBody>
      </p:sp>
      <p:sp>
        <p:nvSpPr>
          <p:cNvPr id="39" name="Shape 36"/>
          <p:cNvSpPr/>
          <p:nvPr/>
        </p:nvSpPr>
        <p:spPr>
          <a:xfrm>
            <a:off x="2827933" y="4392017"/>
            <a:ext cx="2658864" cy="1236663"/>
          </a:xfrm>
          <a:prstGeom prst="rect">
            <a:avLst/>
          </a:prstGeom>
          <a:noFill/>
          <a:ln w="12700">
            <a:solidFill>
              <a:srgbClr val="333399"/>
            </a:solidFill>
            <a:prstDash val="solid"/>
          </a:ln>
        </p:spPr>
      </p:sp>
      <p:sp>
        <p:nvSpPr>
          <p:cNvPr id="40" name="Text 37"/>
          <p:cNvSpPr txBox="1"/>
          <p:nvPr/>
        </p:nvSpPr>
        <p:spPr>
          <a:xfrm>
            <a:off x="2923183" y="4449167"/>
            <a:ext cx="2538412"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IETF Best Current Practice</a:t>
            </a:r>
            <a:endParaRPr lang="en-US" sz="1800" dirty="0"/>
          </a:p>
        </p:txBody>
      </p:sp>
      <p:sp>
        <p:nvSpPr>
          <p:cNvPr id="41" name="Shape 38"/>
          <p:cNvSpPr/>
          <p:nvPr/>
        </p:nvSpPr>
        <p:spPr>
          <a:xfrm>
            <a:off x="5486797" y="4392017"/>
            <a:ext cx="3265884" cy="1236663"/>
          </a:xfrm>
          <a:prstGeom prst="rect">
            <a:avLst/>
          </a:prstGeom>
          <a:noFill/>
          <a:ln w="12700">
            <a:solidFill>
              <a:srgbClr val="333399"/>
            </a:solidFill>
            <a:prstDash val="solid"/>
          </a:ln>
        </p:spPr>
      </p:sp>
      <p:sp>
        <p:nvSpPr>
          <p:cNvPr id="42" name="Text 39"/>
          <p:cNvSpPr txBox="1"/>
          <p:nvPr/>
        </p:nvSpPr>
        <p:spPr>
          <a:xfrm>
            <a:off x="5575697" y="4449167"/>
            <a:ext cx="3113484" cy="553640"/>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Give rules for the design of HTTP-based APIs</a:t>
            </a:r>
            <a:endParaRPr lang="en-US" sz="1800" dirty="0"/>
          </a:p>
        </p:txBody>
      </p:sp>
      <p:sp>
        <p:nvSpPr>
          <p:cNvPr id="43" name="Shape 40"/>
          <p:cNvSpPr/>
          <p:nvPr/>
        </p:nvSpPr>
        <p:spPr>
          <a:xfrm>
            <a:off x="8752681" y="4392017"/>
            <a:ext cx="3400028" cy="1236663"/>
          </a:xfrm>
          <a:prstGeom prst="rect">
            <a:avLst/>
          </a:prstGeom>
          <a:noFill/>
          <a:ln w="12700">
            <a:solidFill>
              <a:srgbClr val="333399"/>
            </a:solidFill>
            <a:prstDash val="solid"/>
          </a:ln>
        </p:spPr>
      </p:sp>
      <p:sp>
        <p:nvSpPr>
          <p:cNvPr id="44" name="Text 41"/>
          <p:cNvSpPr txBox="1"/>
          <p:nvPr/>
        </p:nvSpPr>
        <p:spPr>
          <a:xfrm>
            <a:off x="8841581" y="4449167"/>
            <a:ext cx="3247628" cy="1102121"/>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Queries in a GET URI can become too long and hard to encode. Queries in POST lose caching and links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34973" y="6586140"/>
            <a:ext cx="337145"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11</a:t>
            </a:r>
            <a:endParaRPr lang="en-US" sz="1400" dirty="0"/>
          </a:p>
        </p:txBody>
      </p:sp>
      <p:sp>
        <p:nvSpPr>
          <p:cNvPr id="8" name="Text 5"/>
          <p:cNvSpPr txBox="1"/>
          <p:nvPr/>
        </p:nvSpPr>
        <p:spPr>
          <a:xfrm>
            <a:off x="9152533" y="191492"/>
            <a:ext cx="310058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3. Literature Review</a:t>
            </a:r>
            <a:endParaRPr lang="en-US" sz="2800" dirty="0"/>
          </a:p>
        </p:txBody>
      </p:sp>
      <p:sp>
        <p:nvSpPr>
          <p:cNvPr id="9" name="Shape 6"/>
          <p:cNvSpPr/>
          <p:nvPr/>
        </p:nvSpPr>
        <p:spPr>
          <a:xfrm>
            <a:off x="11311" y="1357511"/>
            <a:ext cx="12141399" cy="12700"/>
          </a:xfrm>
          <a:prstGeom prst="rect">
            <a:avLst/>
          </a:prstGeom>
          <a:solidFill>
            <a:srgbClr val="333399"/>
          </a:solidFill>
          <a:ln/>
        </p:spPr>
      </p:sp>
      <p:sp>
        <p:nvSpPr>
          <p:cNvPr id="10" name="Shape 7"/>
          <p:cNvSpPr/>
          <p:nvPr/>
        </p:nvSpPr>
        <p:spPr>
          <a:xfrm>
            <a:off x="11311" y="989211"/>
            <a:ext cx="2816621" cy="381000"/>
          </a:xfrm>
          <a:prstGeom prst="rect">
            <a:avLst/>
          </a:prstGeom>
          <a:noFill/>
          <a:ln w="12700">
            <a:solidFill>
              <a:srgbClr val="333399"/>
            </a:solidFill>
            <a:prstDash val="solid"/>
          </a:ln>
        </p:spPr>
      </p:sp>
      <p:sp>
        <p:nvSpPr>
          <p:cNvPr id="11" name="Text 8"/>
          <p:cNvSpPr txBox="1"/>
          <p:nvPr/>
        </p:nvSpPr>
        <p:spPr>
          <a:xfrm>
            <a:off x="524867" y="1029891"/>
            <a:ext cx="1789509"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Authors and Title</a:t>
            </a:r>
            <a:endParaRPr lang="en-US" sz="1800" dirty="0"/>
          </a:p>
        </p:txBody>
      </p:sp>
      <p:sp>
        <p:nvSpPr>
          <p:cNvPr id="12" name="Shape 9"/>
          <p:cNvSpPr/>
          <p:nvPr/>
        </p:nvSpPr>
        <p:spPr>
          <a:xfrm>
            <a:off x="2827933" y="989211"/>
            <a:ext cx="2658864" cy="381000"/>
          </a:xfrm>
          <a:prstGeom prst="rect">
            <a:avLst/>
          </a:prstGeom>
          <a:noFill/>
          <a:ln w="12700">
            <a:solidFill>
              <a:srgbClr val="333399"/>
            </a:solidFill>
            <a:prstDash val="solid"/>
          </a:ln>
        </p:spPr>
      </p:sp>
      <p:sp>
        <p:nvSpPr>
          <p:cNvPr id="13" name="Text 10"/>
          <p:cNvSpPr txBox="1"/>
          <p:nvPr/>
        </p:nvSpPr>
        <p:spPr>
          <a:xfrm>
            <a:off x="3716735" y="1029891"/>
            <a:ext cx="881063"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Dataset</a:t>
            </a:r>
            <a:endParaRPr lang="en-US" sz="1800" dirty="0"/>
          </a:p>
        </p:txBody>
      </p:sp>
      <p:sp>
        <p:nvSpPr>
          <p:cNvPr id="14" name="Shape 11"/>
          <p:cNvSpPr/>
          <p:nvPr/>
        </p:nvSpPr>
        <p:spPr>
          <a:xfrm>
            <a:off x="5486797" y="989211"/>
            <a:ext cx="3265884" cy="381000"/>
          </a:xfrm>
          <a:prstGeom prst="rect">
            <a:avLst/>
          </a:prstGeom>
          <a:noFill/>
          <a:ln w="12700">
            <a:solidFill>
              <a:srgbClr val="333399"/>
            </a:solidFill>
            <a:prstDash val="solid"/>
          </a:ln>
        </p:spPr>
      </p:sp>
      <p:sp>
        <p:nvSpPr>
          <p:cNvPr id="15" name="Text 12"/>
          <p:cNvSpPr txBox="1"/>
          <p:nvPr/>
        </p:nvSpPr>
        <p:spPr>
          <a:xfrm>
            <a:off x="6234907" y="1029891"/>
            <a:ext cx="1769467"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Purpose of Study</a:t>
            </a:r>
            <a:endParaRPr lang="en-US" sz="1800" dirty="0"/>
          </a:p>
        </p:txBody>
      </p:sp>
      <p:sp>
        <p:nvSpPr>
          <p:cNvPr id="16" name="Shape 13"/>
          <p:cNvSpPr/>
          <p:nvPr/>
        </p:nvSpPr>
        <p:spPr>
          <a:xfrm>
            <a:off x="8752681" y="989211"/>
            <a:ext cx="3400028" cy="381000"/>
          </a:xfrm>
          <a:prstGeom prst="rect">
            <a:avLst/>
          </a:prstGeom>
          <a:noFill/>
          <a:ln w="12700">
            <a:solidFill>
              <a:srgbClr val="333399"/>
            </a:solidFill>
            <a:prstDash val="solid"/>
          </a:ln>
        </p:spPr>
      </p:sp>
      <p:sp>
        <p:nvSpPr>
          <p:cNvPr id="17" name="Text 14"/>
          <p:cNvSpPr txBox="1"/>
          <p:nvPr/>
        </p:nvSpPr>
        <p:spPr>
          <a:xfrm>
            <a:off x="9787136" y="1029891"/>
            <a:ext cx="1331119" cy="279400"/>
          </a:xfrm>
          <a:prstGeom prst="rect">
            <a:avLst/>
          </a:prstGeom>
          <a:noFill/>
          <a:ln/>
        </p:spPr>
        <p:txBody>
          <a:bodyPr wrap="none" lIns="0" tIns="0" rIns="0" bIns="0" rtlCol="0" anchor="t"/>
          <a:lstStyle/>
          <a:p>
            <a:pPr algn="ctr" indent="0" marL="0">
              <a:buNone/>
            </a:pPr>
            <a:r>
              <a:rPr lang="en-US" sz="1800" b="1" dirty="0">
                <a:solidFill>
                  <a:srgbClr val="000000"/>
                </a:solidFill>
                <a:latin typeface="Calibri" pitchFamily="34" charset="0"/>
                <a:ea typeface="Calibri" pitchFamily="34" charset="-122"/>
                <a:cs typeface="Calibri" pitchFamily="34" charset="-120"/>
              </a:rPr>
              <a:t>Key Findings</a:t>
            </a:r>
            <a:endParaRPr lang="en-US" sz="1800" dirty="0"/>
          </a:p>
        </p:txBody>
      </p:sp>
      <p:sp>
        <p:nvSpPr>
          <p:cNvPr id="18" name="Shape 15"/>
          <p:cNvSpPr/>
          <p:nvPr/>
        </p:nvSpPr>
        <p:spPr>
          <a:xfrm>
            <a:off x="11311" y="1370211"/>
            <a:ext cx="12141399" cy="1114425"/>
          </a:xfrm>
          <a:prstGeom prst="rect">
            <a:avLst/>
          </a:prstGeom>
          <a:solidFill>
            <a:srgbClr val="D6D6EB"/>
          </a:solidFill>
          <a:ln/>
        </p:spPr>
      </p:sp>
      <p:sp>
        <p:nvSpPr>
          <p:cNvPr id="19" name="Shape 16"/>
          <p:cNvSpPr/>
          <p:nvPr/>
        </p:nvSpPr>
        <p:spPr>
          <a:xfrm>
            <a:off x="11311" y="1370211"/>
            <a:ext cx="2816621" cy="1114425"/>
          </a:xfrm>
          <a:prstGeom prst="rect">
            <a:avLst/>
          </a:prstGeom>
          <a:noFill/>
          <a:ln w="12700">
            <a:solidFill>
              <a:srgbClr val="333399"/>
            </a:solidFill>
            <a:prstDash val="solid"/>
          </a:ln>
        </p:spPr>
      </p:sp>
      <p:sp>
        <p:nvSpPr>
          <p:cNvPr id="20" name="Text 17"/>
          <p:cNvSpPr txBox="1"/>
          <p:nvPr/>
        </p:nvSpPr>
        <p:spPr>
          <a:xfrm>
            <a:off x="100211" y="1440061"/>
            <a:ext cx="2679553" cy="972344"/>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H. V. Nguyen et al., “</a:t>
            </a:r>
            <a:pPr algn="l" indent="0" marL="0">
              <a:lnSpc>
                <a:spcPts val="1919"/>
              </a:lnSpc>
              <a:buNone/>
            </a:pPr>
            <a:r>
              <a:rPr lang="en-US" sz="1600" u="sng" dirty="0">
                <a:solidFill>
                  <a:srgbClr val="00999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Your Cache Has Fallen: Cache-Poisoned Denial-of-Service Attack</a:t>
            </a:r>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 ACM CCS, 2019</a:t>
            </a:r>
            <a:endParaRPr lang="en-US" sz="1600" dirty="0"/>
          </a:p>
        </p:txBody>
      </p:sp>
      <p:sp>
        <p:nvSpPr>
          <p:cNvPr id="21" name="Shape 18"/>
          <p:cNvSpPr/>
          <p:nvPr/>
        </p:nvSpPr>
        <p:spPr>
          <a:xfrm>
            <a:off x="2827933" y="1370211"/>
            <a:ext cx="2658864" cy="1114425"/>
          </a:xfrm>
          <a:prstGeom prst="rect">
            <a:avLst/>
          </a:prstGeom>
          <a:noFill/>
          <a:ln w="12700">
            <a:solidFill>
              <a:srgbClr val="333399"/>
            </a:solidFill>
            <a:prstDash val="solid"/>
          </a:ln>
        </p:spPr>
      </p:sp>
      <p:sp>
        <p:nvSpPr>
          <p:cNvPr id="22" name="Text 19"/>
          <p:cNvSpPr txBox="1"/>
          <p:nvPr/>
        </p:nvSpPr>
        <p:spPr>
          <a:xfrm>
            <a:off x="2916833" y="1440061"/>
            <a:ext cx="2506464" cy="484981"/>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15 web caching systems (proxy caches and CDNs)</a:t>
            </a:r>
            <a:endParaRPr lang="en-US" sz="1600" dirty="0"/>
          </a:p>
        </p:txBody>
      </p:sp>
      <p:sp>
        <p:nvSpPr>
          <p:cNvPr id="23" name="Shape 20"/>
          <p:cNvSpPr/>
          <p:nvPr/>
        </p:nvSpPr>
        <p:spPr>
          <a:xfrm>
            <a:off x="5486797" y="1370211"/>
            <a:ext cx="3265884" cy="1114425"/>
          </a:xfrm>
          <a:prstGeom prst="rect">
            <a:avLst/>
          </a:prstGeom>
          <a:noFill/>
          <a:ln w="12700">
            <a:solidFill>
              <a:srgbClr val="333399"/>
            </a:solidFill>
            <a:prstDash val="solid"/>
          </a:ln>
        </p:spPr>
      </p:sp>
      <p:sp>
        <p:nvSpPr>
          <p:cNvPr id="24" name="Text 21"/>
          <p:cNvSpPr txBox="1"/>
          <p:nvPr/>
        </p:nvSpPr>
        <p:spPr>
          <a:xfrm>
            <a:off x="5575697" y="1440061"/>
            <a:ext cx="3156220" cy="484981"/>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Study attacks that make a cache send an error page to all users</a:t>
            </a:r>
            <a:endParaRPr lang="en-US" sz="1600" dirty="0"/>
          </a:p>
        </p:txBody>
      </p:sp>
      <p:sp>
        <p:nvSpPr>
          <p:cNvPr id="25" name="Shape 22"/>
          <p:cNvSpPr/>
          <p:nvPr/>
        </p:nvSpPr>
        <p:spPr>
          <a:xfrm>
            <a:off x="8752681" y="1370211"/>
            <a:ext cx="3400028" cy="1114425"/>
          </a:xfrm>
          <a:prstGeom prst="rect">
            <a:avLst/>
          </a:prstGeom>
          <a:noFill/>
          <a:ln w="12700">
            <a:solidFill>
              <a:srgbClr val="333399"/>
            </a:solidFill>
            <a:prstDash val="solid"/>
          </a:ln>
        </p:spPr>
      </p:sp>
      <p:sp>
        <p:nvSpPr>
          <p:cNvPr id="26" name="Text 23"/>
          <p:cNvSpPr txBox="1"/>
          <p:nvPr/>
        </p:nvSpPr>
        <p:spPr>
          <a:xfrm>
            <a:off x="8841581" y="1440061"/>
            <a:ext cx="3247628" cy="728663"/>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New attack class, CPDoS. 1 proxy cache and 5 CDN services were vulnerable</a:t>
            </a:r>
            <a:endParaRPr lang="en-US" sz="1600" dirty="0"/>
          </a:p>
        </p:txBody>
      </p:sp>
      <p:sp>
        <p:nvSpPr>
          <p:cNvPr id="27" name="Shape 24"/>
          <p:cNvSpPr/>
          <p:nvPr/>
        </p:nvSpPr>
        <p:spPr>
          <a:xfrm>
            <a:off x="11311" y="2484636"/>
            <a:ext cx="12141399" cy="1114425"/>
          </a:xfrm>
          <a:prstGeom prst="rect">
            <a:avLst/>
          </a:prstGeom>
          <a:solidFill>
            <a:srgbClr val="FFFFFF"/>
          </a:solidFill>
          <a:ln/>
        </p:spPr>
      </p:sp>
      <p:sp>
        <p:nvSpPr>
          <p:cNvPr id="28" name="Shape 25"/>
          <p:cNvSpPr/>
          <p:nvPr/>
        </p:nvSpPr>
        <p:spPr>
          <a:xfrm>
            <a:off x="11311" y="2484636"/>
            <a:ext cx="2816621" cy="1114425"/>
          </a:xfrm>
          <a:prstGeom prst="rect">
            <a:avLst/>
          </a:prstGeom>
          <a:noFill/>
          <a:ln w="12700">
            <a:solidFill>
              <a:srgbClr val="333399"/>
            </a:solidFill>
            <a:prstDash val="solid"/>
          </a:ln>
        </p:spPr>
      </p:sp>
      <p:sp>
        <p:nvSpPr>
          <p:cNvPr id="29" name="Text 26"/>
          <p:cNvSpPr txBox="1"/>
          <p:nvPr/>
        </p:nvSpPr>
        <p:spPr>
          <a:xfrm>
            <a:off x="100211" y="2554485"/>
            <a:ext cx="2664221" cy="972344"/>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S. A. Mirheidari et al., “</a:t>
            </a:r>
            <a:pPr algn="l" indent="0" marL="0">
              <a:lnSpc>
                <a:spcPts val="1919"/>
              </a:lnSpc>
              <a:buNone/>
            </a:pPr>
            <a:r>
              <a:rPr lang="en-US" sz="1600" u="sng" dirty="0">
                <a:solidFill>
                  <a:srgbClr val="00999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Cached and Confused: Web Cache Deception in the Wild</a:t>
            </a:r>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 USENIX Security, 2020</a:t>
            </a:r>
            <a:endParaRPr lang="en-US" sz="1600" dirty="0"/>
          </a:p>
        </p:txBody>
      </p:sp>
      <p:sp>
        <p:nvSpPr>
          <p:cNvPr id="30" name="Shape 27"/>
          <p:cNvSpPr/>
          <p:nvPr/>
        </p:nvSpPr>
        <p:spPr>
          <a:xfrm>
            <a:off x="2827933" y="2484636"/>
            <a:ext cx="2658864" cy="1114425"/>
          </a:xfrm>
          <a:prstGeom prst="rect">
            <a:avLst/>
          </a:prstGeom>
          <a:noFill/>
          <a:ln w="12700">
            <a:solidFill>
              <a:srgbClr val="333399"/>
            </a:solidFill>
            <a:prstDash val="solid"/>
          </a:ln>
        </p:spPr>
      </p:sp>
      <p:sp>
        <p:nvSpPr>
          <p:cNvPr id="31" name="Text 28"/>
          <p:cNvSpPr txBox="1"/>
          <p:nvPr/>
        </p:nvSpPr>
        <p:spPr>
          <a:xfrm>
            <a:off x="2916833" y="2554485"/>
            <a:ext cx="2506464" cy="484981"/>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340 high-profile sites (Alexa Top 5K)</a:t>
            </a:r>
            <a:endParaRPr lang="en-US" sz="1600" dirty="0"/>
          </a:p>
        </p:txBody>
      </p:sp>
      <p:sp>
        <p:nvSpPr>
          <p:cNvPr id="32" name="Shape 29"/>
          <p:cNvSpPr/>
          <p:nvPr/>
        </p:nvSpPr>
        <p:spPr>
          <a:xfrm>
            <a:off x="5486797" y="2484636"/>
            <a:ext cx="3265884" cy="1114425"/>
          </a:xfrm>
          <a:prstGeom prst="rect">
            <a:avLst/>
          </a:prstGeom>
          <a:noFill/>
          <a:ln w="12700">
            <a:solidFill>
              <a:srgbClr val="333399"/>
            </a:solidFill>
            <a:prstDash val="solid"/>
          </a:ln>
        </p:spPr>
      </p:sp>
      <p:sp>
        <p:nvSpPr>
          <p:cNvPr id="33" name="Text 30"/>
          <p:cNvSpPr txBox="1"/>
          <p:nvPr/>
        </p:nvSpPr>
        <p:spPr>
          <a:xfrm>
            <a:off x="5575697" y="2554485"/>
            <a:ext cx="3113484" cy="484981"/>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Measure web cache deception and its variants</a:t>
            </a:r>
            <a:endParaRPr lang="en-US" sz="1600" dirty="0"/>
          </a:p>
        </p:txBody>
      </p:sp>
      <p:sp>
        <p:nvSpPr>
          <p:cNvPr id="34" name="Shape 31"/>
          <p:cNvSpPr/>
          <p:nvPr/>
        </p:nvSpPr>
        <p:spPr>
          <a:xfrm>
            <a:off x="8752681" y="2484636"/>
            <a:ext cx="3400028" cy="1114425"/>
          </a:xfrm>
          <a:prstGeom prst="rect">
            <a:avLst/>
          </a:prstGeom>
          <a:noFill/>
          <a:ln w="12700">
            <a:solidFill>
              <a:srgbClr val="333399"/>
            </a:solidFill>
            <a:prstDash val="solid"/>
          </a:ln>
        </p:spPr>
      </p:sp>
      <p:sp>
        <p:nvSpPr>
          <p:cNvPr id="35" name="Text 32"/>
          <p:cNvSpPr txBox="1"/>
          <p:nvPr/>
        </p:nvSpPr>
        <p:spPr>
          <a:xfrm>
            <a:off x="8841581" y="2554485"/>
            <a:ext cx="3285355" cy="728663"/>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Caches leaked private data and tokens, two years after the attack became public</a:t>
            </a:r>
            <a:endParaRPr lang="en-US" sz="1600" dirty="0"/>
          </a:p>
        </p:txBody>
      </p:sp>
      <p:sp>
        <p:nvSpPr>
          <p:cNvPr id="36" name="Shape 33"/>
          <p:cNvSpPr/>
          <p:nvPr/>
        </p:nvSpPr>
        <p:spPr>
          <a:xfrm>
            <a:off x="11311" y="3599061"/>
            <a:ext cx="12141399" cy="1114425"/>
          </a:xfrm>
          <a:prstGeom prst="rect">
            <a:avLst/>
          </a:prstGeom>
          <a:solidFill>
            <a:srgbClr val="D6D6EB"/>
          </a:solidFill>
          <a:ln/>
        </p:spPr>
      </p:sp>
      <p:sp>
        <p:nvSpPr>
          <p:cNvPr id="37" name="Shape 34"/>
          <p:cNvSpPr/>
          <p:nvPr/>
        </p:nvSpPr>
        <p:spPr>
          <a:xfrm>
            <a:off x="11311" y="3599061"/>
            <a:ext cx="2816621" cy="1114425"/>
          </a:xfrm>
          <a:prstGeom prst="rect">
            <a:avLst/>
          </a:prstGeom>
          <a:noFill/>
          <a:ln w="12700">
            <a:solidFill>
              <a:srgbClr val="333399"/>
            </a:solidFill>
            <a:prstDash val="solid"/>
          </a:ln>
        </p:spPr>
      </p:sp>
      <p:sp>
        <p:nvSpPr>
          <p:cNvPr id="38" name="Text 35"/>
          <p:cNvSpPr txBox="1"/>
          <p:nvPr/>
        </p:nvSpPr>
        <p:spPr>
          <a:xfrm>
            <a:off x="100211" y="3668911"/>
            <a:ext cx="2664221" cy="972344"/>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B. Jabiyev et al., “</a:t>
            </a:r>
            <a:pPr algn="l" indent="0" marL="0">
              <a:lnSpc>
                <a:spcPts val="1919"/>
              </a:lnSpc>
              <a:buNone/>
            </a:pPr>
            <a:r>
              <a:rPr lang="en-US" sz="1600" u="sng" dirty="0">
                <a:solidFill>
                  <a:srgbClr val="00999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T-Reqs: HTTP Request Smuggling with Differential Fuzzing</a:t>
            </a:r>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 ACM CCS, 2021</a:t>
            </a:r>
            <a:endParaRPr lang="en-US" sz="1600" dirty="0"/>
          </a:p>
        </p:txBody>
      </p:sp>
      <p:sp>
        <p:nvSpPr>
          <p:cNvPr id="39" name="Shape 36"/>
          <p:cNvSpPr/>
          <p:nvPr/>
        </p:nvSpPr>
        <p:spPr>
          <a:xfrm>
            <a:off x="2827933" y="3599061"/>
            <a:ext cx="2658864" cy="1114425"/>
          </a:xfrm>
          <a:prstGeom prst="rect">
            <a:avLst/>
          </a:prstGeom>
          <a:noFill/>
          <a:ln w="12700">
            <a:solidFill>
              <a:srgbClr val="333399"/>
            </a:solidFill>
            <a:prstDash val="solid"/>
          </a:ln>
        </p:spPr>
      </p:sp>
      <p:sp>
        <p:nvSpPr>
          <p:cNvPr id="40" name="Text 37"/>
          <p:cNvSpPr txBox="1"/>
          <p:nvPr/>
        </p:nvSpPr>
        <p:spPr>
          <a:xfrm>
            <a:off x="2916833" y="3668911"/>
            <a:ext cx="2506464" cy="484981"/>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10 popular servers, proxies and CDNs, tested in pairs</a:t>
            </a:r>
            <a:endParaRPr lang="en-US" sz="1600" dirty="0"/>
          </a:p>
        </p:txBody>
      </p:sp>
      <p:sp>
        <p:nvSpPr>
          <p:cNvPr id="41" name="Shape 38"/>
          <p:cNvSpPr/>
          <p:nvPr/>
        </p:nvSpPr>
        <p:spPr>
          <a:xfrm>
            <a:off x="5486797" y="3599061"/>
            <a:ext cx="3265884" cy="1114425"/>
          </a:xfrm>
          <a:prstGeom prst="rect">
            <a:avLst/>
          </a:prstGeom>
          <a:noFill/>
          <a:ln w="12700">
            <a:solidFill>
              <a:srgbClr val="333399"/>
            </a:solidFill>
            <a:prstDash val="solid"/>
          </a:ln>
        </p:spPr>
      </p:sp>
      <p:sp>
        <p:nvSpPr>
          <p:cNvPr id="42" name="Text 39"/>
          <p:cNvSpPr txBox="1"/>
          <p:nvPr/>
        </p:nvSpPr>
        <p:spPr>
          <a:xfrm>
            <a:off x="5575697" y="3668911"/>
            <a:ext cx="3113484" cy="484981"/>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Find HTTP processing differences that allow request smuggling</a:t>
            </a:r>
            <a:endParaRPr lang="en-US" sz="1600" dirty="0"/>
          </a:p>
        </p:txBody>
      </p:sp>
      <p:sp>
        <p:nvSpPr>
          <p:cNvPr id="43" name="Shape 40"/>
          <p:cNvSpPr/>
          <p:nvPr/>
        </p:nvSpPr>
        <p:spPr>
          <a:xfrm>
            <a:off x="8752681" y="3599061"/>
            <a:ext cx="3400028" cy="1114425"/>
          </a:xfrm>
          <a:prstGeom prst="rect">
            <a:avLst/>
          </a:prstGeom>
          <a:noFill/>
          <a:ln w="12700">
            <a:solidFill>
              <a:srgbClr val="333399"/>
            </a:solidFill>
            <a:prstDash val="solid"/>
          </a:ln>
        </p:spPr>
      </p:sp>
      <p:sp>
        <p:nvSpPr>
          <p:cNvPr id="44" name="Text 41"/>
          <p:cNvSpPr txBox="1"/>
          <p:nvPr/>
        </p:nvSpPr>
        <p:spPr>
          <a:xfrm>
            <a:off x="8841581" y="3668911"/>
            <a:ext cx="3247628" cy="728663"/>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Differential fuzzing found new smuggling methods and vulnerable server pairs</a:t>
            </a:r>
            <a:endParaRPr lang="en-US" sz="1600" dirty="0"/>
          </a:p>
        </p:txBody>
      </p:sp>
      <p:sp>
        <p:nvSpPr>
          <p:cNvPr id="45" name="Shape 42"/>
          <p:cNvSpPr/>
          <p:nvPr/>
        </p:nvSpPr>
        <p:spPr>
          <a:xfrm>
            <a:off x="11311" y="4713485"/>
            <a:ext cx="12141399" cy="1114425"/>
          </a:xfrm>
          <a:prstGeom prst="rect">
            <a:avLst/>
          </a:prstGeom>
          <a:solidFill>
            <a:srgbClr val="FFFFFF"/>
          </a:solidFill>
          <a:ln/>
        </p:spPr>
      </p:sp>
      <p:sp>
        <p:nvSpPr>
          <p:cNvPr id="46" name="Shape 43"/>
          <p:cNvSpPr/>
          <p:nvPr/>
        </p:nvSpPr>
        <p:spPr>
          <a:xfrm>
            <a:off x="11311" y="4713485"/>
            <a:ext cx="2816621" cy="1114425"/>
          </a:xfrm>
          <a:prstGeom prst="rect">
            <a:avLst/>
          </a:prstGeom>
          <a:noFill/>
          <a:ln w="12700">
            <a:solidFill>
              <a:srgbClr val="333399"/>
            </a:solidFill>
            <a:prstDash val="solid"/>
          </a:ln>
        </p:spPr>
      </p:sp>
      <p:sp>
        <p:nvSpPr>
          <p:cNvPr id="47" name="Text 44"/>
          <p:cNvSpPr txBox="1"/>
          <p:nvPr/>
        </p:nvSpPr>
        <p:spPr>
          <a:xfrm>
            <a:off x="100211" y="4783336"/>
            <a:ext cx="2664221" cy="972344"/>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J. Chen et al., “</a:t>
            </a:r>
            <a:pPr algn="l" indent="0" marL="0">
              <a:lnSpc>
                <a:spcPts val="1919"/>
              </a:lnSpc>
              <a:buNone/>
            </a:pPr>
            <a:r>
              <a:rPr lang="en-US" sz="1600" u="sng" dirty="0">
                <a:solidFill>
                  <a:srgbClr val="00999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We Still Don’t Have Secure Cross-Domain Requests: an Empirical Study of CORS</a:t>
            </a:r>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 USENIX Security, 2018</a:t>
            </a:r>
            <a:endParaRPr lang="en-US" sz="1600" dirty="0"/>
          </a:p>
        </p:txBody>
      </p:sp>
      <p:sp>
        <p:nvSpPr>
          <p:cNvPr id="48" name="Shape 45"/>
          <p:cNvSpPr/>
          <p:nvPr/>
        </p:nvSpPr>
        <p:spPr>
          <a:xfrm>
            <a:off x="2827933" y="4713485"/>
            <a:ext cx="2658864" cy="1114425"/>
          </a:xfrm>
          <a:prstGeom prst="rect">
            <a:avLst/>
          </a:prstGeom>
          <a:noFill/>
          <a:ln w="12700">
            <a:solidFill>
              <a:srgbClr val="333399"/>
            </a:solidFill>
            <a:prstDash val="solid"/>
          </a:ln>
        </p:spPr>
      </p:sp>
      <p:sp>
        <p:nvSpPr>
          <p:cNvPr id="49" name="Text 46"/>
          <p:cNvSpPr txBox="1"/>
          <p:nvPr/>
        </p:nvSpPr>
        <p:spPr>
          <a:xfrm>
            <a:off x="2916833" y="4783336"/>
            <a:ext cx="2506464" cy="728663"/>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Real-world CORS design, implementation and deployment</a:t>
            </a:r>
            <a:endParaRPr lang="en-US" sz="1600" dirty="0"/>
          </a:p>
        </p:txBody>
      </p:sp>
      <p:sp>
        <p:nvSpPr>
          <p:cNvPr id="50" name="Shape 47"/>
          <p:cNvSpPr/>
          <p:nvPr/>
        </p:nvSpPr>
        <p:spPr>
          <a:xfrm>
            <a:off x="5486797" y="4713485"/>
            <a:ext cx="3265884" cy="1114425"/>
          </a:xfrm>
          <a:prstGeom prst="rect">
            <a:avLst/>
          </a:prstGeom>
          <a:noFill/>
          <a:ln w="12700">
            <a:solidFill>
              <a:srgbClr val="333399"/>
            </a:solidFill>
            <a:prstDash val="solid"/>
          </a:ln>
        </p:spPr>
      </p:sp>
      <p:sp>
        <p:nvSpPr>
          <p:cNvPr id="51" name="Text 48"/>
          <p:cNvSpPr txBox="1"/>
          <p:nvPr/>
        </p:nvSpPr>
        <p:spPr>
          <a:xfrm>
            <a:off x="5575697" y="4783336"/>
            <a:ext cx="3113484" cy="484981"/>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Measure the security of CORS in practice</a:t>
            </a:r>
            <a:endParaRPr lang="en-US" sz="1600" dirty="0"/>
          </a:p>
        </p:txBody>
      </p:sp>
      <p:sp>
        <p:nvSpPr>
          <p:cNvPr id="52" name="Shape 49"/>
          <p:cNvSpPr/>
          <p:nvPr/>
        </p:nvSpPr>
        <p:spPr>
          <a:xfrm>
            <a:off x="8752681" y="4713485"/>
            <a:ext cx="3400028" cy="1114425"/>
          </a:xfrm>
          <a:prstGeom prst="rect">
            <a:avLst/>
          </a:prstGeom>
          <a:noFill/>
          <a:ln w="12700">
            <a:solidFill>
              <a:srgbClr val="333399"/>
            </a:solidFill>
            <a:prstDash val="solid"/>
          </a:ln>
        </p:spPr>
      </p:sp>
      <p:sp>
        <p:nvSpPr>
          <p:cNvPr id="53" name="Text 50"/>
          <p:cNvSpPr txBox="1"/>
          <p:nvPr/>
        </p:nvSpPr>
        <p:spPr>
          <a:xfrm>
            <a:off x="8841581" y="4783336"/>
            <a:ext cx="3247628" cy="484981"/>
          </a:xfrm>
          <a:prstGeom prst="rect">
            <a:avLst/>
          </a:prstGeom>
          <a:noFill/>
          <a:ln/>
        </p:spPr>
        <p:txBody>
          <a:bodyPr wrap="square" lIns="0" tIns="0" rIns="0" bIns="0" rtlCol="0" anchor="t"/>
          <a:lstStyle/>
          <a:p>
            <a:pPr algn="l" indent="0" marL="0">
              <a:lnSpc>
                <a:spcPts val="1919"/>
              </a:lnSpc>
              <a:buNone/>
            </a:pPr>
            <a:r>
              <a:rPr lang="en-US" sz="1600" dirty="0">
                <a:solidFill>
                  <a:srgbClr val="000000"/>
                </a:solidFill>
                <a:latin typeface="Calibri" pitchFamily="34" charset="0"/>
                <a:ea typeface="Calibri" pitchFamily="34" charset="-122"/>
                <a:cs typeface="Calibri" pitchFamily="34" charset="-120"/>
              </a:rPr>
              <a:t>CORS adds risky trust relations and is often configured incorrectly</a:t>
            </a:r>
            <a:endParaRPr lang="en-US" sz="1600" dirty="0"/>
          </a:p>
        </p:txBody>
      </p:sp>
      <p:sp>
        <p:nvSpPr>
          <p:cNvPr id="54" name="Text 51"/>
          <p:cNvSpPr txBox="1"/>
          <p:nvPr/>
        </p:nvSpPr>
        <p:spPr>
          <a:xfrm>
            <a:off x="93861" y="5961261"/>
            <a:ext cx="9625608" cy="228600"/>
          </a:xfrm>
          <a:prstGeom prst="rect">
            <a:avLst/>
          </a:prstGeom>
          <a:noFill/>
          <a:ln/>
        </p:spPr>
        <p:txBody>
          <a:bodyPr wrap="none" lIns="0" tIns="0" rIns="0" bIns="0" rtlCol="0" anchor="t"/>
          <a:lstStyle/>
          <a:p>
            <a:pPr algn="l" indent="0" marL="0">
              <a:buNone/>
            </a:pPr>
            <a:r>
              <a:rPr lang="en-US" sz="1500" i="1" dirty="0">
                <a:solidFill>
                  <a:srgbClr val="993300"/>
                </a:solidFill>
                <a:latin typeface="Calibri" pitchFamily="34" charset="0"/>
                <a:ea typeface="Calibri" pitchFamily="34" charset="-122"/>
                <a:cs typeface="Calibri" pitchFamily="34" charset="-120"/>
              </a:rPr>
              <a:t>No peer-reviewed study of RFC 10008 itself was found (Oct 2026). These studies examine the mechanisms that QUERY uses.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12</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5871171"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The same query in three ways (RFC 10008 §1)</a:t>
            </a:r>
            <a:endParaRPr lang="en-US" sz="2400" dirty="0"/>
          </a:p>
        </p:txBody>
      </p:sp>
      <p:sp>
        <p:nvSpPr>
          <p:cNvPr id="10" name="Shape 7"/>
          <p:cNvSpPr/>
          <p:nvPr/>
        </p:nvSpPr>
        <p:spPr>
          <a:xfrm>
            <a:off x="91281" y="1361281"/>
            <a:ext cx="7183437" cy="1075531"/>
          </a:xfrm>
          <a:prstGeom prst="rect">
            <a:avLst/>
          </a:prstGeom>
          <a:noFill/>
          <a:ln w="12700">
            <a:solidFill>
              <a:srgbClr val="333399"/>
            </a:solidFill>
            <a:prstDash val="solid"/>
          </a:ln>
        </p:spPr>
      </p:sp>
      <p:sp>
        <p:nvSpPr>
          <p:cNvPr id="11" name="Text 8"/>
          <p:cNvSpPr txBox="1"/>
          <p:nvPr/>
        </p:nvSpPr>
        <p:spPr>
          <a:xfrm>
            <a:off x="230981" y="1513681"/>
            <a:ext cx="472679" cy="203200"/>
          </a:xfrm>
          <a:prstGeom prst="rect">
            <a:avLst/>
          </a:prstGeom>
          <a:noFill/>
          <a:ln/>
        </p:spPr>
        <p:txBody>
          <a:bodyPr wrap="none" lIns="0" tIns="0" rIns="0" bIns="0" rtlCol="0" anchor="t"/>
          <a:lstStyle/>
          <a:p>
            <a:pPr algn="l" indent="0" marL="0">
              <a:buNone/>
            </a:pPr>
            <a:r>
              <a:rPr lang="en-US" sz="1400" dirty="0">
                <a:solidFill>
                  <a:srgbClr val="000000"/>
                </a:solidFill>
                <a:latin typeface="Courier New" pitchFamily="34" charset="0"/>
                <a:ea typeface="Courier New" pitchFamily="34" charset="-122"/>
                <a:cs typeface="Courier New" pitchFamily="34" charset="-120"/>
              </a:rPr>
              <a:t>GET</a:t>
            </a:r>
            <a:endParaRPr lang="en-US" sz="1400" dirty="0"/>
          </a:p>
        </p:txBody>
      </p:sp>
      <p:sp>
        <p:nvSpPr>
          <p:cNvPr id="12" name="Shape 9"/>
          <p:cNvSpPr/>
          <p:nvPr/>
        </p:nvSpPr>
        <p:spPr>
          <a:xfrm>
            <a:off x="103981" y="1808163"/>
            <a:ext cx="7158037" cy="244475"/>
          </a:xfrm>
          <a:prstGeom prst="rect">
            <a:avLst/>
          </a:prstGeom>
          <a:solidFill>
            <a:srgbClr val="DAEDEF"/>
          </a:solidFill>
          <a:ln/>
        </p:spPr>
      </p:sp>
      <p:sp>
        <p:nvSpPr>
          <p:cNvPr id="13" name="Text 10"/>
          <p:cNvSpPr txBox="1"/>
          <p:nvPr/>
        </p:nvSpPr>
        <p:spPr>
          <a:xfrm>
            <a:off x="230981" y="1820863"/>
            <a:ext cx="5381228" cy="203200"/>
          </a:xfrm>
          <a:prstGeom prst="rect">
            <a:avLst/>
          </a:prstGeom>
          <a:noFill/>
          <a:ln/>
        </p:spPr>
        <p:txBody>
          <a:bodyPr wrap="none" lIns="0" tIns="0" rIns="0" bIns="0" rtlCol="0" anchor="t"/>
          <a:lstStyle/>
          <a:p>
            <a:pPr algn="l" indent="0" marL="0">
              <a:buNone/>
            </a:pPr>
            <a:r>
              <a:rPr lang="en-US" sz="1400" b="1" dirty="0">
                <a:solidFill>
                  <a:srgbClr val="333399"/>
                </a:solidFill>
                <a:latin typeface="Courier New" pitchFamily="34" charset="0"/>
                <a:ea typeface="Courier New" pitchFamily="34" charset="-122"/>
                <a:cs typeface="Courier New" pitchFamily="34" charset="-120"/>
              </a:rPr>
              <a:t>GET</a:t>
            </a:r>
            <a:pPr algn="l" indent="0" marL="0">
              <a:buNone/>
            </a:pPr>
            <a:r>
              <a:rPr lang="en-US" sz="1400" b="1" dirty="0">
                <a:solidFill>
                  <a:srgbClr val="000000"/>
                </a:solidFill>
                <a:latin typeface="Courier New" pitchFamily="34" charset="0"/>
                <a:ea typeface="Courier New" pitchFamily="34" charset="-122"/>
                <a:cs typeface="Courier New" pitchFamily="34" charset="-120"/>
              </a:rPr>
              <a:t> /feed?q=foo&amp;limit=10&amp;sort=-published </a:t>
            </a:r>
            <a:pPr algn="l" indent="0" marL="0">
              <a:buNone/>
            </a:pPr>
            <a:r>
              <a:rPr lang="en-US" sz="1400" b="1" dirty="0">
                <a:solidFill>
                  <a:srgbClr val="333399"/>
                </a:solidFill>
                <a:latin typeface="Courier New" pitchFamily="34" charset="0"/>
                <a:ea typeface="Courier New" pitchFamily="34" charset="-122"/>
                <a:cs typeface="Courier New" pitchFamily="34" charset="-120"/>
              </a:rPr>
              <a:t>HTTP</a:t>
            </a:r>
            <a:pPr algn="l" indent="0" marL="0">
              <a:buNone/>
            </a:pPr>
            <a:r>
              <a:rPr lang="en-US" sz="1400" b="1" dirty="0">
                <a:solidFill>
                  <a:srgbClr val="000000"/>
                </a:solidFill>
                <a:latin typeface="Courier New" pitchFamily="34" charset="0"/>
                <a:ea typeface="Courier New" pitchFamily="34" charset="-122"/>
                <a:cs typeface="Courier New" pitchFamily="34" charset="-120"/>
              </a:rPr>
              <a:t>/</a:t>
            </a:r>
            <a:pPr algn="l" indent="0" marL="0">
              <a:buNone/>
            </a:pPr>
            <a:r>
              <a:rPr lang="en-US" sz="1400" b="1" dirty="0">
                <a:solidFill>
                  <a:srgbClr val="CC6600"/>
                </a:solidFill>
                <a:latin typeface="Courier New" pitchFamily="34" charset="0"/>
                <a:ea typeface="Courier New" pitchFamily="34" charset="-122"/>
                <a:cs typeface="Courier New" pitchFamily="34" charset="-120"/>
              </a:rPr>
              <a:t>1.1</a:t>
            </a:r>
            <a:endParaRPr lang="en-US" sz="1400" dirty="0"/>
          </a:p>
        </p:txBody>
      </p:sp>
      <p:sp>
        <p:nvSpPr>
          <p:cNvPr id="14" name="Text 11"/>
          <p:cNvSpPr txBox="1"/>
          <p:nvPr/>
        </p:nvSpPr>
        <p:spPr>
          <a:xfrm>
            <a:off x="230981" y="2065337"/>
            <a:ext cx="1966516" cy="203200"/>
          </a:xfrm>
          <a:prstGeom prst="rect">
            <a:avLst/>
          </a:prstGeom>
          <a:noFill/>
          <a:ln/>
        </p:spPr>
        <p:txBody>
          <a:bodyPr wrap="none" lIns="0" tIns="0" rIns="0" bIns="0" rtlCol="0" anchor="t"/>
          <a:lstStyle/>
          <a:p>
            <a:pPr algn="l" indent="0" marL="0">
              <a:buNone/>
            </a:pPr>
            <a:r>
              <a:rPr lang="en-US" sz="1400" b="1" dirty="0">
                <a:solidFill>
                  <a:srgbClr val="993300"/>
                </a:solidFill>
                <a:latin typeface="Courier New" pitchFamily="34" charset="0"/>
                <a:ea typeface="Courier New" pitchFamily="34" charset="-122"/>
                <a:cs typeface="Courier New" pitchFamily="34" charset="-120"/>
              </a:rPr>
              <a:t>Host</a:t>
            </a:r>
            <a:pPr algn="l" indent="0" marL="0">
              <a:buNone/>
            </a:pPr>
            <a:r>
              <a:rPr lang="en-US" sz="1400" b="1" dirty="0">
                <a:solidFill>
                  <a:srgbClr val="333399"/>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example.org</a:t>
            </a:r>
            <a:endParaRPr lang="en-US" sz="1400" dirty="0"/>
          </a:p>
        </p:txBody>
      </p:sp>
      <p:sp>
        <p:nvSpPr>
          <p:cNvPr id="15" name="Shape 12"/>
          <p:cNvSpPr/>
          <p:nvPr/>
        </p:nvSpPr>
        <p:spPr>
          <a:xfrm>
            <a:off x="91281" y="2538412"/>
            <a:ext cx="7183437" cy="1808956"/>
          </a:xfrm>
          <a:prstGeom prst="rect">
            <a:avLst/>
          </a:prstGeom>
          <a:noFill/>
          <a:ln w="12700">
            <a:solidFill>
              <a:srgbClr val="333399"/>
            </a:solidFill>
            <a:prstDash val="solid"/>
          </a:ln>
        </p:spPr>
      </p:sp>
      <p:sp>
        <p:nvSpPr>
          <p:cNvPr id="16" name="Text 13"/>
          <p:cNvSpPr txBox="1"/>
          <p:nvPr/>
        </p:nvSpPr>
        <p:spPr>
          <a:xfrm>
            <a:off x="230981" y="2690812"/>
            <a:ext cx="579239" cy="203200"/>
          </a:xfrm>
          <a:prstGeom prst="rect">
            <a:avLst/>
          </a:prstGeom>
          <a:noFill/>
          <a:ln/>
        </p:spPr>
        <p:txBody>
          <a:bodyPr wrap="none" lIns="0" tIns="0" rIns="0" bIns="0" rtlCol="0" anchor="t"/>
          <a:lstStyle/>
          <a:p>
            <a:pPr algn="l" indent="0" marL="0">
              <a:buNone/>
            </a:pPr>
            <a:r>
              <a:rPr lang="en-US" sz="1400" dirty="0">
                <a:solidFill>
                  <a:srgbClr val="000000"/>
                </a:solidFill>
                <a:latin typeface="Courier New" pitchFamily="34" charset="0"/>
                <a:ea typeface="Courier New" pitchFamily="34" charset="-122"/>
                <a:cs typeface="Courier New" pitchFamily="34" charset="-120"/>
              </a:rPr>
              <a:t>POST</a:t>
            </a:r>
            <a:endParaRPr lang="en-US" sz="1400" dirty="0"/>
          </a:p>
        </p:txBody>
      </p:sp>
      <p:sp>
        <p:nvSpPr>
          <p:cNvPr id="17" name="Text 14"/>
          <p:cNvSpPr txBox="1"/>
          <p:nvPr/>
        </p:nvSpPr>
        <p:spPr>
          <a:xfrm>
            <a:off x="230981" y="2997993"/>
            <a:ext cx="2180035" cy="203200"/>
          </a:xfrm>
          <a:prstGeom prst="rect">
            <a:avLst/>
          </a:prstGeom>
          <a:noFill/>
          <a:ln/>
        </p:spPr>
        <p:txBody>
          <a:bodyPr wrap="none" lIns="0" tIns="0" rIns="0" bIns="0" rtlCol="0" anchor="t"/>
          <a:lstStyle/>
          <a:p>
            <a:pPr algn="l" indent="0" marL="0">
              <a:buNone/>
            </a:pPr>
            <a:r>
              <a:rPr lang="en-US" sz="1400" b="1" dirty="0">
                <a:solidFill>
                  <a:srgbClr val="333399"/>
                </a:solidFill>
                <a:latin typeface="Courier New" pitchFamily="34" charset="0"/>
                <a:ea typeface="Courier New" pitchFamily="34" charset="-122"/>
                <a:cs typeface="Courier New" pitchFamily="34" charset="-120"/>
              </a:rPr>
              <a:t>POST</a:t>
            </a:r>
            <a:pPr algn="l" indent="0" marL="0">
              <a:buNone/>
            </a:pPr>
            <a:r>
              <a:rPr lang="en-US" sz="1400" b="1" dirty="0">
                <a:solidFill>
                  <a:srgbClr val="000000"/>
                </a:solidFill>
                <a:latin typeface="Courier New" pitchFamily="34" charset="0"/>
                <a:ea typeface="Courier New" pitchFamily="34" charset="-122"/>
                <a:cs typeface="Courier New" pitchFamily="34" charset="-120"/>
              </a:rPr>
              <a:t> /feed </a:t>
            </a:r>
            <a:pPr algn="l" indent="0" marL="0">
              <a:buNone/>
            </a:pPr>
            <a:r>
              <a:rPr lang="en-US" sz="1400" b="1" dirty="0">
                <a:solidFill>
                  <a:srgbClr val="333399"/>
                </a:solidFill>
                <a:latin typeface="Courier New" pitchFamily="34" charset="0"/>
                <a:ea typeface="Courier New" pitchFamily="34" charset="-122"/>
                <a:cs typeface="Courier New" pitchFamily="34" charset="-120"/>
              </a:rPr>
              <a:t>HTTP</a:t>
            </a:r>
            <a:pPr algn="l" indent="0" marL="0">
              <a:buNone/>
            </a:pPr>
            <a:r>
              <a:rPr lang="en-US" sz="1400" b="1" dirty="0">
                <a:solidFill>
                  <a:srgbClr val="000000"/>
                </a:solidFill>
                <a:latin typeface="Courier New" pitchFamily="34" charset="0"/>
                <a:ea typeface="Courier New" pitchFamily="34" charset="-122"/>
                <a:cs typeface="Courier New" pitchFamily="34" charset="-120"/>
              </a:rPr>
              <a:t>/</a:t>
            </a:r>
            <a:pPr algn="l" indent="0" marL="0">
              <a:buNone/>
            </a:pPr>
            <a:r>
              <a:rPr lang="en-US" sz="1400" b="1" dirty="0">
                <a:solidFill>
                  <a:srgbClr val="CC6600"/>
                </a:solidFill>
                <a:latin typeface="Courier New" pitchFamily="34" charset="0"/>
                <a:ea typeface="Courier New" pitchFamily="34" charset="-122"/>
                <a:cs typeface="Courier New" pitchFamily="34" charset="-120"/>
              </a:rPr>
              <a:t>1.1</a:t>
            </a:r>
            <a:endParaRPr lang="en-US" sz="1400" dirty="0"/>
          </a:p>
        </p:txBody>
      </p:sp>
      <p:sp>
        <p:nvSpPr>
          <p:cNvPr id="18" name="Text 15"/>
          <p:cNvSpPr txBox="1"/>
          <p:nvPr/>
        </p:nvSpPr>
        <p:spPr>
          <a:xfrm>
            <a:off x="230981" y="3242469"/>
            <a:ext cx="1966516" cy="203200"/>
          </a:xfrm>
          <a:prstGeom prst="rect">
            <a:avLst/>
          </a:prstGeom>
          <a:noFill/>
          <a:ln/>
        </p:spPr>
        <p:txBody>
          <a:bodyPr wrap="none" lIns="0" tIns="0" rIns="0" bIns="0" rtlCol="0" anchor="t"/>
          <a:lstStyle/>
          <a:p>
            <a:pPr algn="l" indent="0" marL="0">
              <a:buNone/>
            </a:pPr>
            <a:r>
              <a:rPr lang="en-US" sz="1400" b="1" dirty="0">
                <a:solidFill>
                  <a:srgbClr val="993300"/>
                </a:solidFill>
                <a:latin typeface="Courier New" pitchFamily="34" charset="0"/>
                <a:ea typeface="Courier New" pitchFamily="34" charset="-122"/>
                <a:cs typeface="Courier New" pitchFamily="34" charset="-120"/>
              </a:rPr>
              <a:t>Host</a:t>
            </a:r>
            <a:pPr algn="l" indent="0" marL="0">
              <a:buNone/>
            </a:pPr>
            <a:r>
              <a:rPr lang="en-US" sz="1400" b="1" dirty="0">
                <a:solidFill>
                  <a:srgbClr val="333399"/>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example.org</a:t>
            </a:r>
            <a:endParaRPr lang="en-US" sz="1400" dirty="0"/>
          </a:p>
        </p:txBody>
      </p:sp>
      <p:sp>
        <p:nvSpPr>
          <p:cNvPr id="19" name="Text 16"/>
          <p:cNvSpPr txBox="1"/>
          <p:nvPr/>
        </p:nvSpPr>
        <p:spPr>
          <a:xfrm>
            <a:off x="230981" y="3486944"/>
            <a:ext cx="5167511" cy="203200"/>
          </a:xfrm>
          <a:prstGeom prst="rect">
            <a:avLst/>
          </a:prstGeom>
          <a:noFill/>
          <a:ln/>
        </p:spPr>
        <p:txBody>
          <a:bodyPr wrap="none" lIns="0" tIns="0" rIns="0" bIns="0" rtlCol="0" anchor="t"/>
          <a:lstStyle/>
          <a:p>
            <a:pPr algn="l" indent="0" marL="0">
              <a:buNone/>
            </a:pPr>
            <a:r>
              <a:rPr lang="en-US" sz="1400" b="1" dirty="0">
                <a:solidFill>
                  <a:srgbClr val="993300"/>
                </a:solidFill>
                <a:latin typeface="Courier New" pitchFamily="34" charset="0"/>
                <a:ea typeface="Courier New" pitchFamily="34" charset="-122"/>
                <a:cs typeface="Courier New" pitchFamily="34" charset="-120"/>
              </a:rPr>
              <a:t>Content-Type</a:t>
            </a:r>
            <a:pPr algn="l" indent="0" marL="0">
              <a:buNone/>
            </a:pPr>
            <a:r>
              <a:rPr lang="en-US" sz="1400" b="1" dirty="0">
                <a:solidFill>
                  <a:srgbClr val="333399"/>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application/x-www-form-urlencoded</a:t>
            </a:r>
            <a:endParaRPr lang="en-US" sz="1400" dirty="0"/>
          </a:p>
        </p:txBody>
      </p:sp>
      <p:sp>
        <p:nvSpPr>
          <p:cNvPr id="20" name="Shape 17"/>
          <p:cNvSpPr/>
          <p:nvPr/>
        </p:nvSpPr>
        <p:spPr>
          <a:xfrm>
            <a:off x="103981" y="3963193"/>
            <a:ext cx="7158037" cy="244475"/>
          </a:xfrm>
          <a:prstGeom prst="rect">
            <a:avLst/>
          </a:prstGeom>
          <a:solidFill>
            <a:srgbClr val="DAEDEF"/>
          </a:solidFill>
          <a:ln/>
        </p:spPr>
      </p:sp>
      <p:sp>
        <p:nvSpPr>
          <p:cNvPr id="21" name="Text 18"/>
          <p:cNvSpPr txBox="1"/>
          <p:nvPr/>
        </p:nvSpPr>
        <p:spPr>
          <a:xfrm>
            <a:off x="230981" y="3975893"/>
            <a:ext cx="3353395"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q=foo&amp;limit=10&amp;sort=-published</a:t>
            </a:r>
            <a:endParaRPr lang="en-US" sz="1400" dirty="0"/>
          </a:p>
        </p:txBody>
      </p:sp>
      <p:sp>
        <p:nvSpPr>
          <p:cNvPr id="22" name="Shape 19"/>
          <p:cNvSpPr/>
          <p:nvPr/>
        </p:nvSpPr>
        <p:spPr>
          <a:xfrm>
            <a:off x="91281" y="4448969"/>
            <a:ext cx="7183437" cy="1808956"/>
          </a:xfrm>
          <a:prstGeom prst="rect">
            <a:avLst/>
          </a:prstGeom>
          <a:noFill/>
          <a:ln w="12700">
            <a:solidFill>
              <a:srgbClr val="333399"/>
            </a:solidFill>
            <a:prstDash val="solid"/>
          </a:ln>
        </p:spPr>
      </p:sp>
      <p:sp>
        <p:nvSpPr>
          <p:cNvPr id="23" name="Text 20"/>
          <p:cNvSpPr txBox="1"/>
          <p:nvPr/>
        </p:nvSpPr>
        <p:spPr>
          <a:xfrm>
            <a:off x="230981" y="4601369"/>
            <a:ext cx="685999" cy="203200"/>
          </a:xfrm>
          <a:prstGeom prst="rect">
            <a:avLst/>
          </a:prstGeom>
          <a:noFill/>
          <a:ln/>
        </p:spPr>
        <p:txBody>
          <a:bodyPr wrap="none" lIns="0" tIns="0" rIns="0" bIns="0" rtlCol="0" anchor="t"/>
          <a:lstStyle/>
          <a:p>
            <a:pPr algn="l" indent="0" marL="0">
              <a:buNone/>
            </a:pPr>
            <a:r>
              <a:rPr lang="en-US" sz="1400" dirty="0">
                <a:solidFill>
                  <a:srgbClr val="000000"/>
                </a:solidFill>
                <a:latin typeface="Courier New" pitchFamily="34" charset="0"/>
                <a:ea typeface="Courier New" pitchFamily="34" charset="-122"/>
                <a:cs typeface="Courier New" pitchFamily="34" charset="-120"/>
              </a:rPr>
              <a:t>QUERY</a:t>
            </a:r>
            <a:endParaRPr lang="en-US" sz="1400" dirty="0"/>
          </a:p>
        </p:txBody>
      </p:sp>
      <p:sp>
        <p:nvSpPr>
          <p:cNvPr id="24" name="Shape 21"/>
          <p:cNvSpPr/>
          <p:nvPr/>
        </p:nvSpPr>
        <p:spPr>
          <a:xfrm>
            <a:off x="103981" y="4895851"/>
            <a:ext cx="7158037" cy="244475"/>
          </a:xfrm>
          <a:prstGeom prst="rect">
            <a:avLst/>
          </a:prstGeom>
          <a:solidFill>
            <a:srgbClr val="DAEDEF"/>
          </a:solidFill>
          <a:ln/>
        </p:spPr>
      </p:sp>
      <p:sp>
        <p:nvSpPr>
          <p:cNvPr id="25" name="Text 22"/>
          <p:cNvSpPr txBox="1"/>
          <p:nvPr/>
        </p:nvSpPr>
        <p:spPr>
          <a:xfrm>
            <a:off x="230981" y="4908549"/>
            <a:ext cx="2286793" cy="203200"/>
          </a:xfrm>
          <a:prstGeom prst="rect">
            <a:avLst/>
          </a:prstGeom>
          <a:noFill/>
          <a:ln/>
        </p:spPr>
        <p:txBody>
          <a:bodyPr wrap="none" lIns="0" tIns="0" rIns="0" bIns="0" rtlCol="0" anchor="t"/>
          <a:lstStyle/>
          <a:p>
            <a:pPr algn="l" indent="0" marL="0">
              <a:buNone/>
            </a:pPr>
            <a:r>
              <a:rPr lang="en-US" sz="1400" b="1" dirty="0">
                <a:solidFill>
                  <a:srgbClr val="333399"/>
                </a:solidFill>
                <a:latin typeface="Courier New" pitchFamily="34" charset="0"/>
                <a:ea typeface="Courier New" pitchFamily="34" charset="-122"/>
                <a:cs typeface="Courier New" pitchFamily="34" charset="-120"/>
              </a:rPr>
              <a:t>QUERY</a:t>
            </a:r>
            <a:pPr algn="l" indent="0" marL="0">
              <a:buNone/>
            </a:pPr>
            <a:r>
              <a:rPr lang="en-US" sz="1400" b="1" dirty="0">
                <a:solidFill>
                  <a:srgbClr val="000000"/>
                </a:solidFill>
                <a:latin typeface="Courier New" pitchFamily="34" charset="0"/>
                <a:ea typeface="Courier New" pitchFamily="34" charset="-122"/>
                <a:cs typeface="Courier New" pitchFamily="34" charset="-120"/>
              </a:rPr>
              <a:t> /feed </a:t>
            </a:r>
            <a:pPr algn="l" indent="0" marL="0">
              <a:buNone/>
            </a:pPr>
            <a:r>
              <a:rPr lang="en-US" sz="1400" b="1" dirty="0">
                <a:solidFill>
                  <a:srgbClr val="333399"/>
                </a:solidFill>
                <a:latin typeface="Courier New" pitchFamily="34" charset="0"/>
                <a:ea typeface="Courier New" pitchFamily="34" charset="-122"/>
                <a:cs typeface="Courier New" pitchFamily="34" charset="-120"/>
              </a:rPr>
              <a:t>HTTP</a:t>
            </a:r>
            <a:pPr algn="l" indent="0" marL="0">
              <a:buNone/>
            </a:pPr>
            <a:r>
              <a:rPr lang="en-US" sz="1400" b="1" dirty="0">
                <a:solidFill>
                  <a:srgbClr val="000000"/>
                </a:solidFill>
                <a:latin typeface="Courier New" pitchFamily="34" charset="0"/>
                <a:ea typeface="Courier New" pitchFamily="34" charset="-122"/>
                <a:cs typeface="Courier New" pitchFamily="34" charset="-120"/>
              </a:rPr>
              <a:t>/</a:t>
            </a:r>
            <a:pPr algn="l" indent="0" marL="0">
              <a:buNone/>
            </a:pPr>
            <a:r>
              <a:rPr lang="en-US" sz="1400" b="1" dirty="0">
                <a:solidFill>
                  <a:srgbClr val="CC6600"/>
                </a:solidFill>
                <a:latin typeface="Courier New" pitchFamily="34" charset="0"/>
                <a:ea typeface="Courier New" pitchFamily="34" charset="-122"/>
                <a:cs typeface="Courier New" pitchFamily="34" charset="-120"/>
              </a:rPr>
              <a:t>1.1</a:t>
            </a:r>
            <a:endParaRPr lang="en-US" sz="1400" dirty="0"/>
          </a:p>
        </p:txBody>
      </p:sp>
      <p:sp>
        <p:nvSpPr>
          <p:cNvPr id="26" name="Text 23"/>
          <p:cNvSpPr txBox="1"/>
          <p:nvPr/>
        </p:nvSpPr>
        <p:spPr>
          <a:xfrm>
            <a:off x="230981" y="5153025"/>
            <a:ext cx="1966516" cy="203200"/>
          </a:xfrm>
          <a:prstGeom prst="rect">
            <a:avLst/>
          </a:prstGeom>
          <a:noFill/>
          <a:ln/>
        </p:spPr>
        <p:txBody>
          <a:bodyPr wrap="none" lIns="0" tIns="0" rIns="0" bIns="0" rtlCol="0" anchor="t"/>
          <a:lstStyle/>
          <a:p>
            <a:pPr algn="l" indent="0" marL="0">
              <a:buNone/>
            </a:pPr>
            <a:r>
              <a:rPr lang="en-US" sz="1400" b="1" dirty="0">
                <a:solidFill>
                  <a:srgbClr val="993300"/>
                </a:solidFill>
                <a:latin typeface="Courier New" pitchFamily="34" charset="0"/>
                <a:ea typeface="Courier New" pitchFamily="34" charset="-122"/>
                <a:cs typeface="Courier New" pitchFamily="34" charset="-120"/>
              </a:rPr>
              <a:t>Host</a:t>
            </a:r>
            <a:pPr algn="l" indent="0" marL="0">
              <a:buNone/>
            </a:pPr>
            <a:r>
              <a:rPr lang="en-US" sz="1400" b="1" dirty="0">
                <a:solidFill>
                  <a:srgbClr val="333399"/>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example.org</a:t>
            </a:r>
            <a:endParaRPr lang="en-US" sz="1400" dirty="0"/>
          </a:p>
        </p:txBody>
      </p:sp>
      <p:sp>
        <p:nvSpPr>
          <p:cNvPr id="27" name="Text 24"/>
          <p:cNvSpPr txBox="1"/>
          <p:nvPr/>
        </p:nvSpPr>
        <p:spPr>
          <a:xfrm>
            <a:off x="230981" y="5397500"/>
            <a:ext cx="5167511" cy="203200"/>
          </a:xfrm>
          <a:prstGeom prst="rect">
            <a:avLst/>
          </a:prstGeom>
          <a:noFill/>
          <a:ln/>
        </p:spPr>
        <p:txBody>
          <a:bodyPr wrap="none" lIns="0" tIns="0" rIns="0" bIns="0" rtlCol="0" anchor="t"/>
          <a:lstStyle/>
          <a:p>
            <a:pPr algn="l" indent="0" marL="0">
              <a:buNone/>
            </a:pPr>
            <a:r>
              <a:rPr lang="en-US" sz="1400" b="1" dirty="0">
                <a:solidFill>
                  <a:srgbClr val="993300"/>
                </a:solidFill>
                <a:latin typeface="Courier New" pitchFamily="34" charset="0"/>
                <a:ea typeface="Courier New" pitchFamily="34" charset="-122"/>
                <a:cs typeface="Courier New" pitchFamily="34" charset="-120"/>
              </a:rPr>
              <a:t>Content-Type</a:t>
            </a:r>
            <a:pPr algn="l" indent="0" marL="0">
              <a:buNone/>
            </a:pPr>
            <a:r>
              <a:rPr lang="en-US" sz="1400" b="1" dirty="0">
                <a:solidFill>
                  <a:srgbClr val="333399"/>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application/x-www-form-urlencoded</a:t>
            </a:r>
            <a:endParaRPr lang="en-US" sz="1400" dirty="0"/>
          </a:p>
        </p:txBody>
      </p:sp>
      <p:sp>
        <p:nvSpPr>
          <p:cNvPr id="28" name="Shape 25"/>
          <p:cNvSpPr/>
          <p:nvPr/>
        </p:nvSpPr>
        <p:spPr>
          <a:xfrm>
            <a:off x="103981" y="5873751"/>
            <a:ext cx="7158037" cy="244475"/>
          </a:xfrm>
          <a:prstGeom prst="rect">
            <a:avLst/>
          </a:prstGeom>
          <a:solidFill>
            <a:srgbClr val="DAEDEF"/>
          </a:solidFill>
          <a:ln/>
        </p:spPr>
      </p:sp>
      <p:sp>
        <p:nvSpPr>
          <p:cNvPr id="29" name="Text 26"/>
          <p:cNvSpPr txBox="1"/>
          <p:nvPr/>
        </p:nvSpPr>
        <p:spPr>
          <a:xfrm>
            <a:off x="230981" y="5886451"/>
            <a:ext cx="3353395"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q=foo&amp;limit=10&amp;sort=-published</a:t>
            </a:r>
            <a:endParaRPr lang="en-US" sz="1400" dirty="0"/>
          </a:p>
        </p:txBody>
      </p:sp>
      <p:sp>
        <p:nvSpPr>
          <p:cNvPr id="30" name="Text 27"/>
          <p:cNvSpPr txBox="1"/>
          <p:nvPr/>
        </p:nvSpPr>
        <p:spPr>
          <a:xfrm>
            <a:off x="7579519" y="1361281"/>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31" name="Shape 28"/>
          <p:cNvSpPr/>
          <p:nvPr/>
        </p:nvSpPr>
        <p:spPr>
          <a:xfrm>
            <a:off x="7922419" y="1368425"/>
            <a:ext cx="590748" cy="312143"/>
          </a:xfrm>
          <a:prstGeom prst="rect">
            <a:avLst/>
          </a:prstGeom>
          <a:solidFill>
            <a:srgbClr val="333399"/>
          </a:solidFill>
          <a:ln/>
        </p:spPr>
      </p:sp>
      <p:sp>
        <p:nvSpPr>
          <p:cNvPr id="32" name="Text 29"/>
          <p:cNvSpPr txBox="1"/>
          <p:nvPr/>
        </p:nvSpPr>
        <p:spPr>
          <a:xfrm>
            <a:off x="8011319" y="1393825"/>
            <a:ext cx="565348" cy="254000"/>
          </a:xfrm>
          <a:prstGeom prst="rect">
            <a:avLst/>
          </a:prstGeom>
          <a:noFill/>
          <a:ln/>
        </p:spPr>
        <p:txBody>
          <a:bodyPr wrap="none" lIns="0" tIns="0" rIns="0" bIns="0" rtlCol="0" anchor="t"/>
          <a:lstStyle/>
          <a:p>
            <a:pPr algn="l" indent="0" marL="0">
              <a:buNone/>
            </a:pPr>
            <a:r>
              <a:rPr lang="en-US" sz="1805" b="1" dirty="0">
                <a:solidFill>
                  <a:srgbClr val="FFFFFF"/>
                </a:solidFill>
                <a:latin typeface="Courier New" pitchFamily="34" charset="0"/>
                <a:ea typeface="Courier New" pitchFamily="34" charset="-122"/>
                <a:cs typeface="Courier New" pitchFamily="34" charset="-120"/>
              </a:rPr>
              <a:t>GET</a:t>
            </a:r>
            <a:endParaRPr lang="en-US" sz="1805" dirty="0"/>
          </a:p>
        </p:txBody>
      </p:sp>
      <p:sp>
        <p:nvSpPr>
          <p:cNvPr id="33" name="Text 30"/>
          <p:cNvSpPr txBox="1"/>
          <p:nvPr/>
        </p:nvSpPr>
        <p:spPr>
          <a:xfrm>
            <a:off x="8513167" y="1348581"/>
            <a:ext cx="2559447" cy="330200"/>
          </a:xfrm>
          <a:prstGeom prst="rect">
            <a:avLst/>
          </a:prstGeom>
          <a:noFill/>
          <a:ln/>
        </p:spPr>
        <p:txBody>
          <a:bodyPr wrap="none" lIns="0" tIns="0" rIns="0" bIns="0" rtlCol="0" anchor="t"/>
          <a:lstStyle/>
          <a:p>
            <a:pPr algn="l" indent="0" marL="0">
              <a:buNone/>
            </a:pPr>
            <a:r>
              <a:rPr lang="en-US" sz="2100" dirty="0">
                <a:solidFill>
                  <a:srgbClr val="000000"/>
                </a:solidFill>
                <a:latin typeface="Calibri" pitchFamily="34" charset="0"/>
                <a:ea typeface="Calibri" pitchFamily="34" charset="-122"/>
                <a:cs typeface="Calibri" pitchFamily="34" charset="-120"/>
              </a:rPr>
              <a:t>the input is in the URI</a:t>
            </a:r>
            <a:endParaRPr lang="en-US" sz="2100" dirty="0"/>
          </a:p>
        </p:txBody>
      </p:sp>
      <p:sp>
        <p:nvSpPr>
          <p:cNvPr id="34" name="Text 31"/>
          <p:cNvSpPr txBox="1"/>
          <p:nvPr/>
        </p:nvSpPr>
        <p:spPr>
          <a:xfrm>
            <a:off x="7579519" y="1858963"/>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35" name="Shape 32"/>
          <p:cNvSpPr/>
          <p:nvPr/>
        </p:nvSpPr>
        <p:spPr>
          <a:xfrm>
            <a:off x="7922419" y="1866107"/>
            <a:ext cx="728464" cy="312143"/>
          </a:xfrm>
          <a:prstGeom prst="rect">
            <a:avLst/>
          </a:prstGeom>
          <a:solidFill>
            <a:srgbClr val="993300"/>
          </a:solidFill>
          <a:ln/>
        </p:spPr>
      </p:sp>
      <p:sp>
        <p:nvSpPr>
          <p:cNvPr id="36" name="Text 33"/>
          <p:cNvSpPr txBox="1"/>
          <p:nvPr/>
        </p:nvSpPr>
        <p:spPr>
          <a:xfrm>
            <a:off x="8011319" y="1891507"/>
            <a:ext cx="703064" cy="254000"/>
          </a:xfrm>
          <a:prstGeom prst="rect">
            <a:avLst/>
          </a:prstGeom>
          <a:noFill/>
          <a:ln/>
        </p:spPr>
        <p:txBody>
          <a:bodyPr wrap="none" lIns="0" tIns="0" rIns="0" bIns="0" rtlCol="0" anchor="t"/>
          <a:lstStyle/>
          <a:p>
            <a:pPr algn="l" indent="0" marL="0">
              <a:buNone/>
            </a:pPr>
            <a:r>
              <a:rPr lang="en-US" sz="1805" b="1" dirty="0">
                <a:solidFill>
                  <a:srgbClr val="FFFFFF"/>
                </a:solidFill>
                <a:latin typeface="Courier New" pitchFamily="34" charset="0"/>
                <a:ea typeface="Courier New" pitchFamily="34" charset="-122"/>
                <a:cs typeface="Courier New" pitchFamily="34" charset="-120"/>
              </a:rPr>
              <a:t>POST</a:t>
            </a:r>
            <a:endParaRPr lang="en-US" sz="1805" dirty="0"/>
          </a:p>
        </p:txBody>
      </p:sp>
      <p:sp>
        <p:nvSpPr>
          <p:cNvPr id="37" name="Text 34"/>
          <p:cNvSpPr txBox="1"/>
          <p:nvPr/>
        </p:nvSpPr>
        <p:spPr>
          <a:xfrm>
            <a:off x="7922419" y="1846263"/>
            <a:ext cx="4000500" cy="969963"/>
          </a:xfrm>
          <a:prstGeom prst="rect">
            <a:avLst/>
          </a:prstGeom>
          <a:noFill/>
          <a:ln/>
        </p:spPr>
        <p:txBody>
          <a:bodyPr wrap="square" lIns="0" tIns="0" rIns="0" bIns="0" rtlCol="0" anchor="t"/>
          <a:lstStyle/>
          <a:p>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the input is in the content, but the method does not promise “safe”</a:t>
            </a:r>
            <a:endParaRPr lang="en-US" sz="2100" dirty="0"/>
          </a:p>
        </p:txBody>
      </p:sp>
      <p:sp>
        <p:nvSpPr>
          <p:cNvPr id="38" name="Text 35"/>
          <p:cNvSpPr txBox="1"/>
          <p:nvPr/>
        </p:nvSpPr>
        <p:spPr>
          <a:xfrm>
            <a:off x="7579519" y="2996407"/>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39" name="Shape 36"/>
          <p:cNvSpPr/>
          <p:nvPr/>
        </p:nvSpPr>
        <p:spPr>
          <a:xfrm>
            <a:off x="7922419" y="3003551"/>
            <a:ext cx="866180" cy="312143"/>
          </a:xfrm>
          <a:prstGeom prst="rect">
            <a:avLst/>
          </a:prstGeom>
          <a:solidFill>
            <a:srgbClr val="CC6600"/>
          </a:solidFill>
          <a:ln/>
        </p:spPr>
      </p:sp>
      <p:sp>
        <p:nvSpPr>
          <p:cNvPr id="40" name="Text 37"/>
          <p:cNvSpPr txBox="1"/>
          <p:nvPr/>
        </p:nvSpPr>
        <p:spPr>
          <a:xfrm>
            <a:off x="8011319" y="3028951"/>
            <a:ext cx="840780" cy="254000"/>
          </a:xfrm>
          <a:prstGeom prst="rect">
            <a:avLst/>
          </a:prstGeom>
          <a:noFill/>
          <a:ln/>
        </p:spPr>
        <p:txBody>
          <a:bodyPr wrap="none" lIns="0" tIns="0" rIns="0" bIns="0" rtlCol="0" anchor="t"/>
          <a:lstStyle/>
          <a:p>
            <a:pPr algn="l" indent="0" marL="0">
              <a:buNone/>
            </a:pPr>
            <a:r>
              <a:rPr lang="en-US" sz="1805" b="1" dirty="0">
                <a:solidFill>
                  <a:srgbClr val="FFFFFF"/>
                </a:solidFill>
                <a:latin typeface="Courier New" pitchFamily="34" charset="0"/>
                <a:ea typeface="Courier New" pitchFamily="34" charset="-122"/>
                <a:cs typeface="Courier New" pitchFamily="34" charset="-120"/>
              </a:rPr>
              <a:t>QUERY</a:t>
            </a:r>
            <a:endParaRPr lang="en-US" sz="1805" dirty="0"/>
          </a:p>
        </p:txBody>
      </p:sp>
      <p:sp>
        <p:nvSpPr>
          <p:cNvPr id="41" name="Text 38"/>
          <p:cNvSpPr txBox="1"/>
          <p:nvPr/>
        </p:nvSpPr>
        <p:spPr>
          <a:xfrm>
            <a:off x="7922419" y="2983707"/>
            <a:ext cx="4000500" cy="650081"/>
          </a:xfrm>
          <a:prstGeom prst="rect">
            <a:avLst/>
          </a:prstGeom>
          <a:noFill/>
          <a:ln/>
        </p:spPr>
        <p:txBody>
          <a:bodyPr wrap="square" lIns="0" tIns="0" rIns="0" bIns="0" rtlCol="0" anchor="t"/>
          <a:lstStyle/>
          <a:p>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the same content as POST, with a safe and idempotent method</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13</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6798271"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GET, QUERY and POST compared (RFC 10008 Table 1)</a:t>
            </a:r>
            <a:endParaRPr lang="en-US" sz="2400" dirty="0"/>
          </a:p>
        </p:txBody>
      </p:sp>
      <p:sp>
        <p:nvSpPr>
          <p:cNvPr id="10" name="Shape 7"/>
          <p:cNvSpPr/>
          <p:nvPr/>
        </p:nvSpPr>
        <p:spPr>
          <a:xfrm>
            <a:off x="91281" y="1856581"/>
            <a:ext cx="11806237" cy="12700"/>
          </a:xfrm>
          <a:prstGeom prst="rect">
            <a:avLst/>
          </a:prstGeom>
          <a:solidFill>
            <a:srgbClr val="333399"/>
          </a:solidFill>
          <a:ln/>
        </p:spPr>
      </p:sp>
      <p:sp>
        <p:nvSpPr>
          <p:cNvPr id="11" name="Shape 8"/>
          <p:cNvSpPr/>
          <p:nvPr/>
        </p:nvSpPr>
        <p:spPr>
          <a:xfrm>
            <a:off x="3494881" y="1480344"/>
            <a:ext cx="571103" cy="298451"/>
          </a:xfrm>
          <a:prstGeom prst="rect">
            <a:avLst/>
          </a:prstGeom>
          <a:solidFill>
            <a:srgbClr val="333399"/>
          </a:solidFill>
          <a:ln/>
        </p:spPr>
      </p:sp>
      <p:sp>
        <p:nvSpPr>
          <p:cNvPr id="12" name="Text 9"/>
          <p:cNvSpPr txBox="1"/>
          <p:nvPr/>
        </p:nvSpPr>
        <p:spPr>
          <a:xfrm>
            <a:off x="3583781" y="1505744"/>
            <a:ext cx="545703" cy="241300"/>
          </a:xfrm>
          <a:prstGeom prst="rect">
            <a:avLst/>
          </a:prstGeom>
          <a:noFill/>
          <a:ln/>
        </p:spPr>
        <p:txBody>
          <a:bodyPr wrap="none" lIns="0" tIns="0" rIns="0" bIns="0" rtlCol="0" anchor="t"/>
          <a:lstStyle/>
          <a:p>
            <a:pPr algn="l" indent="0" marL="0">
              <a:buNone/>
            </a:pPr>
            <a:r>
              <a:rPr lang="en-US" sz="1720" b="1" dirty="0">
                <a:solidFill>
                  <a:srgbClr val="FFFFFF"/>
                </a:solidFill>
                <a:latin typeface="Courier New" pitchFamily="34" charset="0"/>
                <a:ea typeface="Courier New" pitchFamily="34" charset="-122"/>
                <a:cs typeface="Courier New" pitchFamily="34" charset="-120"/>
              </a:rPr>
              <a:t>GET</a:t>
            </a:r>
            <a:endParaRPr lang="en-US" sz="1720" dirty="0"/>
          </a:p>
        </p:txBody>
      </p:sp>
      <p:sp>
        <p:nvSpPr>
          <p:cNvPr id="13" name="Shape 10"/>
          <p:cNvSpPr/>
          <p:nvPr/>
        </p:nvSpPr>
        <p:spPr>
          <a:xfrm>
            <a:off x="6063456" y="1480344"/>
            <a:ext cx="833239" cy="298451"/>
          </a:xfrm>
          <a:prstGeom prst="rect">
            <a:avLst/>
          </a:prstGeom>
          <a:solidFill>
            <a:srgbClr val="CC6600"/>
          </a:solidFill>
          <a:ln/>
        </p:spPr>
      </p:sp>
      <p:sp>
        <p:nvSpPr>
          <p:cNvPr id="14" name="Text 11"/>
          <p:cNvSpPr txBox="1"/>
          <p:nvPr/>
        </p:nvSpPr>
        <p:spPr>
          <a:xfrm>
            <a:off x="6152356" y="1505744"/>
            <a:ext cx="807839" cy="241300"/>
          </a:xfrm>
          <a:prstGeom prst="rect">
            <a:avLst/>
          </a:prstGeom>
          <a:noFill/>
          <a:ln/>
        </p:spPr>
        <p:txBody>
          <a:bodyPr wrap="none" lIns="0" tIns="0" rIns="0" bIns="0" rtlCol="0" anchor="t"/>
          <a:lstStyle/>
          <a:p>
            <a:pPr algn="l" indent="0" marL="0">
              <a:buNone/>
            </a:pPr>
            <a:r>
              <a:rPr lang="en-US" sz="1720" b="1" dirty="0">
                <a:solidFill>
                  <a:srgbClr val="FFFFFF"/>
                </a:solidFill>
                <a:latin typeface="Courier New" pitchFamily="34" charset="0"/>
                <a:ea typeface="Courier New" pitchFamily="34" charset="-122"/>
                <a:cs typeface="Courier New" pitchFamily="34" charset="-120"/>
              </a:rPr>
              <a:t>QUERY</a:t>
            </a:r>
            <a:endParaRPr lang="en-US" sz="1720" dirty="0"/>
          </a:p>
        </p:txBody>
      </p:sp>
      <p:sp>
        <p:nvSpPr>
          <p:cNvPr id="15" name="Shape 12"/>
          <p:cNvSpPr/>
          <p:nvPr/>
        </p:nvSpPr>
        <p:spPr>
          <a:xfrm>
            <a:off x="8493324" y="1480344"/>
            <a:ext cx="702271" cy="298451"/>
          </a:xfrm>
          <a:prstGeom prst="rect">
            <a:avLst/>
          </a:prstGeom>
          <a:solidFill>
            <a:srgbClr val="993300"/>
          </a:solidFill>
          <a:ln/>
        </p:spPr>
      </p:sp>
      <p:sp>
        <p:nvSpPr>
          <p:cNvPr id="16" name="Text 13"/>
          <p:cNvSpPr txBox="1"/>
          <p:nvPr/>
        </p:nvSpPr>
        <p:spPr>
          <a:xfrm>
            <a:off x="8582224" y="1505744"/>
            <a:ext cx="676871" cy="241300"/>
          </a:xfrm>
          <a:prstGeom prst="rect">
            <a:avLst/>
          </a:prstGeom>
          <a:noFill/>
          <a:ln/>
        </p:spPr>
        <p:txBody>
          <a:bodyPr wrap="none" lIns="0" tIns="0" rIns="0" bIns="0" rtlCol="0" anchor="t"/>
          <a:lstStyle/>
          <a:p>
            <a:pPr algn="l" indent="0" marL="0">
              <a:buNone/>
            </a:pPr>
            <a:r>
              <a:rPr lang="en-US" sz="1720" b="1" dirty="0">
                <a:solidFill>
                  <a:srgbClr val="FFFFFF"/>
                </a:solidFill>
                <a:latin typeface="Courier New" pitchFamily="34" charset="0"/>
                <a:ea typeface="Courier New" pitchFamily="34" charset="-122"/>
                <a:cs typeface="Courier New" pitchFamily="34" charset="-120"/>
              </a:rPr>
              <a:t>POST</a:t>
            </a:r>
            <a:endParaRPr lang="en-US" sz="1720" dirty="0"/>
          </a:p>
        </p:txBody>
      </p:sp>
      <p:sp>
        <p:nvSpPr>
          <p:cNvPr id="17" name="Shape 14"/>
          <p:cNvSpPr/>
          <p:nvPr/>
        </p:nvSpPr>
        <p:spPr>
          <a:xfrm>
            <a:off x="91281" y="2478881"/>
            <a:ext cx="11806237" cy="12700"/>
          </a:xfrm>
          <a:prstGeom prst="rect">
            <a:avLst/>
          </a:prstGeom>
          <a:solidFill>
            <a:srgbClr val="333399"/>
          </a:solidFill>
          <a:ln/>
        </p:spPr>
      </p:sp>
      <p:sp>
        <p:nvSpPr>
          <p:cNvPr id="18" name="Text 15"/>
          <p:cNvSpPr txBox="1"/>
          <p:nvPr/>
        </p:nvSpPr>
        <p:spPr>
          <a:xfrm>
            <a:off x="192881" y="2028031"/>
            <a:ext cx="600273" cy="304800"/>
          </a:xfrm>
          <a:prstGeom prst="rect">
            <a:avLst/>
          </a:prstGeom>
          <a:noFill/>
          <a:ln/>
        </p:spPr>
        <p:txBody>
          <a:bodyPr wrap="none" lIns="0" tIns="0" rIns="0" bIns="0" rtlCol="0" anchor="t"/>
          <a:lstStyle/>
          <a:p>
            <a:pPr algn="l" indent="0" marL="0">
              <a:buNone/>
            </a:pPr>
            <a:r>
              <a:rPr lang="en-US" sz="2000" b="1" dirty="0">
                <a:solidFill>
                  <a:srgbClr val="000000"/>
                </a:solidFill>
                <a:latin typeface="Calibri" pitchFamily="34" charset="0"/>
                <a:ea typeface="Calibri" pitchFamily="34" charset="-122"/>
                <a:cs typeface="Calibri" pitchFamily="34" charset="-120"/>
              </a:rPr>
              <a:t>Safe</a:t>
            </a:r>
            <a:endParaRPr lang="en-US" sz="2000" dirty="0"/>
          </a:p>
        </p:txBody>
      </p:sp>
      <p:sp>
        <p:nvSpPr>
          <p:cNvPr id="19" name="Text 16"/>
          <p:cNvSpPr txBox="1"/>
          <p:nvPr/>
        </p:nvSpPr>
        <p:spPr>
          <a:xfrm>
            <a:off x="3494881" y="2028031"/>
            <a:ext cx="490140"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yes</a:t>
            </a:r>
            <a:endParaRPr lang="en-US" sz="2000" dirty="0"/>
          </a:p>
        </p:txBody>
      </p:sp>
      <p:sp>
        <p:nvSpPr>
          <p:cNvPr id="20" name="Text 17"/>
          <p:cNvSpPr txBox="1"/>
          <p:nvPr/>
        </p:nvSpPr>
        <p:spPr>
          <a:xfrm>
            <a:off x="6063456" y="2028031"/>
            <a:ext cx="499071" cy="304800"/>
          </a:xfrm>
          <a:prstGeom prst="rect">
            <a:avLst/>
          </a:prstGeom>
          <a:noFill/>
          <a:ln/>
        </p:spPr>
        <p:txBody>
          <a:bodyPr wrap="none" lIns="0" tIns="0" rIns="0" bIns="0" rtlCol="0" anchor="t"/>
          <a:lstStyle/>
          <a:p>
            <a:pPr algn="l" indent="0" marL="0">
              <a:buNone/>
            </a:pPr>
            <a:r>
              <a:rPr lang="en-US" sz="2000" b="1" dirty="0">
                <a:solidFill>
                  <a:srgbClr val="CC6600"/>
                </a:solidFill>
                <a:latin typeface="Calibri" pitchFamily="34" charset="0"/>
                <a:ea typeface="Calibri" pitchFamily="34" charset="-122"/>
                <a:cs typeface="Calibri" pitchFamily="34" charset="-120"/>
              </a:rPr>
              <a:t>yes</a:t>
            </a:r>
            <a:endParaRPr lang="en-US" sz="2000" dirty="0"/>
          </a:p>
        </p:txBody>
      </p:sp>
      <p:sp>
        <p:nvSpPr>
          <p:cNvPr id="21" name="Text 18"/>
          <p:cNvSpPr txBox="1"/>
          <p:nvPr/>
        </p:nvSpPr>
        <p:spPr>
          <a:xfrm>
            <a:off x="8493324" y="2028031"/>
            <a:ext cx="1579165"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potentially no</a:t>
            </a:r>
            <a:endParaRPr lang="en-US" sz="2000" dirty="0"/>
          </a:p>
        </p:txBody>
      </p:sp>
      <p:sp>
        <p:nvSpPr>
          <p:cNvPr id="22" name="Shape 19"/>
          <p:cNvSpPr/>
          <p:nvPr/>
        </p:nvSpPr>
        <p:spPr>
          <a:xfrm>
            <a:off x="91281" y="3101181"/>
            <a:ext cx="11806237" cy="12700"/>
          </a:xfrm>
          <a:prstGeom prst="rect">
            <a:avLst/>
          </a:prstGeom>
          <a:solidFill>
            <a:srgbClr val="333399"/>
          </a:solidFill>
          <a:ln/>
        </p:spPr>
      </p:sp>
      <p:sp>
        <p:nvSpPr>
          <p:cNvPr id="23" name="Text 20"/>
          <p:cNvSpPr txBox="1"/>
          <p:nvPr/>
        </p:nvSpPr>
        <p:spPr>
          <a:xfrm>
            <a:off x="192881" y="2650331"/>
            <a:ext cx="1398588" cy="304800"/>
          </a:xfrm>
          <a:prstGeom prst="rect">
            <a:avLst/>
          </a:prstGeom>
          <a:noFill/>
          <a:ln/>
        </p:spPr>
        <p:txBody>
          <a:bodyPr wrap="none" lIns="0" tIns="0" rIns="0" bIns="0" rtlCol="0" anchor="t"/>
          <a:lstStyle/>
          <a:p>
            <a:pPr algn="l" indent="0" marL="0">
              <a:buNone/>
            </a:pPr>
            <a:r>
              <a:rPr lang="en-US" sz="2000" b="1" dirty="0">
                <a:solidFill>
                  <a:srgbClr val="000000"/>
                </a:solidFill>
                <a:latin typeface="Calibri" pitchFamily="34" charset="0"/>
                <a:ea typeface="Calibri" pitchFamily="34" charset="-122"/>
                <a:cs typeface="Calibri" pitchFamily="34" charset="-120"/>
              </a:rPr>
              <a:t>Idempotent</a:t>
            </a:r>
            <a:endParaRPr lang="en-US" sz="2000" dirty="0"/>
          </a:p>
        </p:txBody>
      </p:sp>
      <p:sp>
        <p:nvSpPr>
          <p:cNvPr id="24" name="Text 21"/>
          <p:cNvSpPr txBox="1"/>
          <p:nvPr/>
        </p:nvSpPr>
        <p:spPr>
          <a:xfrm>
            <a:off x="3494881" y="2650331"/>
            <a:ext cx="490140"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yes</a:t>
            </a:r>
            <a:endParaRPr lang="en-US" sz="2000" dirty="0"/>
          </a:p>
        </p:txBody>
      </p:sp>
      <p:sp>
        <p:nvSpPr>
          <p:cNvPr id="25" name="Text 22"/>
          <p:cNvSpPr txBox="1"/>
          <p:nvPr/>
        </p:nvSpPr>
        <p:spPr>
          <a:xfrm>
            <a:off x="6063456" y="2650331"/>
            <a:ext cx="499071" cy="304800"/>
          </a:xfrm>
          <a:prstGeom prst="rect">
            <a:avLst/>
          </a:prstGeom>
          <a:noFill/>
          <a:ln/>
        </p:spPr>
        <p:txBody>
          <a:bodyPr wrap="none" lIns="0" tIns="0" rIns="0" bIns="0" rtlCol="0" anchor="t"/>
          <a:lstStyle/>
          <a:p>
            <a:pPr algn="l" indent="0" marL="0">
              <a:buNone/>
            </a:pPr>
            <a:r>
              <a:rPr lang="en-US" sz="2000" b="1" dirty="0">
                <a:solidFill>
                  <a:srgbClr val="CC6600"/>
                </a:solidFill>
                <a:latin typeface="Calibri" pitchFamily="34" charset="0"/>
                <a:ea typeface="Calibri" pitchFamily="34" charset="-122"/>
                <a:cs typeface="Calibri" pitchFamily="34" charset="-120"/>
              </a:rPr>
              <a:t>yes</a:t>
            </a:r>
            <a:endParaRPr lang="en-US" sz="2000" dirty="0"/>
          </a:p>
        </p:txBody>
      </p:sp>
      <p:sp>
        <p:nvSpPr>
          <p:cNvPr id="26" name="Text 23"/>
          <p:cNvSpPr txBox="1"/>
          <p:nvPr/>
        </p:nvSpPr>
        <p:spPr>
          <a:xfrm>
            <a:off x="8493324" y="2650331"/>
            <a:ext cx="1579165"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potentially no</a:t>
            </a:r>
            <a:endParaRPr lang="en-US" sz="2000" dirty="0"/>
          </a:p>
        </p:txBody>
      </p:sp>
      <p:sp>
        <p:nvSpPr>
          <p:cNvPr id="27" name="Shape 24"/>
          <p:cNvSpPr/>
          <p:nvPr/>
        </p:nvSpPr>
        <p:spPr>
          <a:xfrm>
            <a:off x="91281" y="3723481"/>
            <a:ext cx="11806237" cy="12700"/>
          </a:xfrm>
          <a:prstGeom prst="rect">
            <a:avLst/>
          </a:prstGeom>
          <a:solidFill>
            <a:srgbClr val="333399"/>
          </a:solidFill>
          <a:ln/>
        </p:spPr>
      </p:sp>
      <p:sp>
        <p:nvSpPr>
          <p:cNvPr id="28" name="Text 25"/>
          <p:cNvSpPr txBox="1"/>
          <p:nvPr/>
        </p:nvSpPr>
        <p:spPr>
          <a:xfrm>
            <a:off x="192881" y="3272631"/>
            <a:ext cx="1969095" cy="304800"/>
          </a:xfrm>
          <a:prstGeom prst="rect">
            <a:avLst/>
          </a:prstGeom>
          <a:noFill/>
          <a:ln/>
        </p:spPr>
        <p:txBody>
          <a:bodyPr wrap="none" lIns="0" tIns="0" rIns="0" bIns="0" rtlCol="0" anchor="t"/>
          <a:lstStyle/>
          <a:p>
            <a:pPr algn="l" indent="0" marL="0">
              <a:buNone/>
            </a:pPr>
            <a:r>
              <a:rPr lang="en-US" sz="2000" b="1" dirty="0">
                <a:solidFill>
                  <a:srgbClr val="000000"/>
                </a:solidFill>
                <a:latin typeface="Calibri" pitchFamily="34" charset="0"/>
                <a:ea typeface="Calibri" pitchFamily="34" charset="-122"/>
                <a:cs typeface="Calibri" pitchFamily="34" charset="-120"/>
              </a:rPr>
              <a:t>URI for the query</a:t>
            </a:r>
            <a:endParaRPr lang="en-US" sz="2000" dirty="0"/>
          </a:p>
        </p:txBody>
      </p:sp>
      <p:sp>
        <p:nvSpPr>
          <p:cNvPr id="29" name="Text 26"/>
          <p:cNvSpPr txBox="1"/>
          <p:nvPr/>
        </p:nvSpPr>
        <p:spPr>
          <a:xfrm>
            <a:off x="3494881" y="3272631"/>
            <a:ext cx="1908175"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yes, by definition</a:t>
            </a:r>
            <a:endParaRPr lang="en-US" sz="2000" dirty="0"/>
          </a:p>
        </p:txBody>
      </p:sp>
      <p:sp>
        <p:nvSpPr>
          <p:cNvPr id="30" name="Text 27"/>
          <p:cNvSpPr txBox="1"/>
          <p:nvPr/>
        </p:nvSpPr>
        <p:spPr>
          <a:xfrm>
            <a:off x="6063456" y="3272631"/>
            <a:ext cx="2093317"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optional (Location)</a:t>
            </a:r>
            <a:endParaRPr lang="en-US" sz="2000" dirty="0"/>
          </a:p>
        </p:txBody>
      </p:sp>
      <p:sp>
        <p:nvSpPr>
          <p:cNvPr id="31" name="Text 28"/>
          <p:cNvSpPr txBox="1"/>
          <p:nvPr/>
        </p:nvSpPr>
        <p:spPr>
          <a:xfrm>
            <a:off x="8493324" y="3272631"/>
            <a:ext cx="419893"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no</a:t>
            </a:r>
            <a:endParaRPr lang="en-US" sz="2000" dirty="0"/>
          </a:p>
        </p:txBody>
      </p:sp>
      <p:sp>
        <p:nvSpPr>
          <p:cNvPr id="32" name="Shape 29"/>
          <p:cNvSpPr/>
          <p:nvPr/>
        </p:nvSpPr>
        <p:spPr>
          <a:xfrm>
            <a:off x="91281" y="4345781"/>
            <a:ext cx="11806237" cy="12700"/>
          </a:xfrm>
          <a:prstGeom prst="rect">
            <a:avLst/>
          </a:prstGeom>
          <a:solidFill>
            <a:srgbClr val="333399"/>
          </a:solidFill>
          <a:ln/>
        </p:spPr>
      </p:sp>
      <p:sp>
        <p:nvSpPr>
          <p:cNvPr id="33" name="Text 30"/>
          <p:cNvSpPr txBox="1"/>
          <p:nvPr/>
        </p:nvSpPr>
        <p:spPr>
          <a:xfrm>
            <a:off x="192881" y="3894931"/>
            <a:ext cx="1960165" cy="304800"/>
          </a:xfrm>
          <a:prstGeom prst="rect">
            <a:avLst/>
          </a:prstGeom>
          <a:noFill/>
          <a:ln/>
        </p:spPr>
        <p:txBody>
          <a:bodyPr wrap="none" lIns="0" tIns="0" rIns="0" bIns="0" rtlCol="0" anchor="t"/>
          <a:lstStyle/>
          <a:p>
            <a:pPr algn="l" indent="0" marL="0">
              <a:buNone/>
            </a:pPr>
            <a:r>
              <a:rPr lang="en-US" sz="2000" b="1" dirty="0">
                <a:solidFill>
                  <a:srgbClr val="000000"/>
                </a:solidFill>
                <a:latin typeface="Calibri" pitchFamily="34" charset="0"/>
                <a:ea typeface="Calibri" pitchFamily="34" charset="-122"/>
                <a:cs typeface="Calibri" pitchFamily="34" charset="-120"/>
              </a:rPr>
              <a:t>URI for the result</a:t>
            </a:r>
            <a:endParaRPr lang="en-US" sz="2000" dirty="0"/>
          </a:p>
        </p:txBody>
      </p:sp>
      <p:sp>
        <p:nvSpPr>
          <p:cNvPr id="34" name="Text 31"/>
          <p:cNvSpPr txBox="1"/>
          <p:nvPr/>
        </p:nvSpPr>
        <p:spPr>
          <a:xfrm>
            <a:off x="3494881" y="3894931"/>
            <a:ext cx="4250333"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optional for all three (Content-Location)</a:t>
            </a:r>
            <a:endParaRPr lang="en-US" sz="2000" dirty="0"/>
          </a:p>
        </p:txBody>
      </p:sp>
      <p:sp>
        <p:nvSpPr>
          <p:cNvPr id="35" name="Shape 32"/>
          <p:cNvSpPr/>
          <p:nvPr/>
        </p:nvSpPr>
        <p:spPr>
          <a:xfrm>
            <a:off x="91281" y="4968081"/>
            <a:ext cx="11806237" cy="12700"/>
          </a:xfrm>
          <a:prstGeom prst="rect">
            <a:avLst/>
          </a:prstGeom>
          <a:solidFill>
            <a:srgbClr val="333399"/>
          </a:solidFill>
          <a:ln/>
        </p:spPr>
      </p:sp>
      <p:sp>
        <p:nvSpPr>
          <p:cNvPr id="36" name="Text 33"/>
          <p:cNvSpPr txBox="1"/>
          <p:nvPr/>
        </p:nvSpPr>
        <p:spPr>
          <a:xfrm>
            <a:off x="192881" y="4517231"/>
            <a:ext cx="1234679" cy="304800"/>
          </a:xfrm>
          <a:prstGeom prst="rect">
            <a:avLst/>
          </a:prstGeom>
          <a:noFill/>
          <a:ln/>
        </p:spPr>
        <p:txBody>
          <a:bodyPr wrap="none" lIns="0" tIns="0" rIns="0" bIns="0" rtlCol="0" anchor="t"/>
          <a:lstStyle/>
          <a:p>
            <a:pPr algn="l" indent="0" marL="0">
              <a:buNone/>
            </a:pPr>
            <a:r>
              <a:rPr lang="en-US" sz="2000" b="1" dirty="0">
                <a:solidFill>
                  <a:srgbClr val="000000"/>
                </a:solidFill>
                <a:latin typeface="Calibri" pitchFamily="34" charset="0"/>
                <a:ea typeface="Calibri" pitchFamily="34" charset="-122"/>
                <a:cs typeface="Calibri" pitchFamily="34" charset="-120"/>
              </a:rPr>
              <a:t>Cacheable</a:t>
            </a:r>
            <a:endParaRPr lang="en-US" sz="2000" dirty="0"/>
          </a:p>
        </p:txBody>
      </p:sp>
      <p:sp>
        <p:nvSpPr>
          <p:cNvPr id="37" name="Text 34"/>
          <p:cNvSpPr txBox="1"/>
          <p:nvPr/>
        </p:nvSpPr>
        <p:spPr>
          <a:xfrm>
            <a:off x="3494881" y="4517231"/>
            <a:ext cx="490140"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yes</a:t>
            </a:r>
            <a:endParaRPr lang="en-US" sz="2000" dirty="0"/>
          </a:p>
        </p:txBody>
      </p:sp>
      <p:sp>
        <p:nvSpPr>
          <p:cNvPr id="38" name="Text 35"/>
          <p:cNvSpPr txBox="1"/>
          <p:nvPr/>
        </p:nvSpPr>
        <p:spPr>
          <a:xfrm>
            <a:off x="6063456" y="4517231"/>
            <a:ext cx="499071" cy="304800"/>
          </a:xfrm>
          <a:prstGeom prst="rect">
            <a:avLst/>
          </a:prstGeom>
          <a:noFill/>
          <a:ln/>
        </p:spPr>
        <p:txBody>
          <a:bodyPr wrap="none" lIns="0" tIns="0" rIns="0" bIns="0" rtlCol="0" anchor="t"/>
          <a:lstStyle/>
          <a:p>
            <a:pPr algn="l" indent="0" marL="0">
              <a:buNone/>
            </a:pPr>
            <a:r>
              <a:rPr lang="en-US" sz="2000" b="1" dirty="0">
                <a:solidFill>
                  <a:srgbClr val="CC6600"/>
                </a:solidFill>
                <a:latin typeface="Calibri" pitchFamily="34" charset="0"/>
                <a:ea typeface="Calibri" pitchFamily="34" charset="-122"/>
                <a:cs typeface="Calibri" pitchFamily="34" charset="-120"/>
              </a:rPr>
              <a:t>yes</a:t>
            </a:r>
            <a:endParaRPr lang="en-US" sz="2000" dirty="0"/>
          </a:p>
        </p:txBody>
      </p:sp>
      <p:sp>
        <p:nvSpPr>
          <p:cNvPr id="39" name="Text 36"/>
          <p:cNvSpPr txBox="1"/>
          <p:nvPr/>
        </p:nvSpPr>
        <p:spPr>
          <a:xfrm>
            <a:off x="8493324" y="4517231"/>
            <a:ext cx="3042245"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only for a later GET or HEAD</a:t>
            </a:r>
            <a:endParaRPr lang="en-US" sz="2000" dirty="0"/>
          </a:p>
        </p:txBody>
      </p:sp>
      <p:sp>
        <p:nvSpPr>
          <p:cNvPr id="40" name="Text 37"/>
          <p:cNvSpPr txBox="1"/>
          <p:nvPr/>
        </p:nvSpPr>
        <p:spPr>
          <a:xfrm>
            <a:off x="192881" y="5139531"/>
            <a:ext cx="1874440" cy="304800"/>
          </a:xfrm>
          <a:prstGeom prst="rect">
            <a:avLst/>
          </a:prstGeom>
          <a:noFill/>
          <a:ln/>
        </p:spPr>
        <p:txBody>
          <a:bodyPr wrap="none" lIns="0" tIns="0" rIns="0" bIns="0" rtlCol="0" anchor="t"/>
          <a:lstStyle/>
          <a:p>
            <a:pPr algn="l" indent="0" marL="0">
              <a:buNone/>
            </a:pPr>
            <a:r>
              <a:rPr lang="en-US" sz="2000" b="1" dirty="0">
                <a:solidFill>
                  <a:srgbClr val="000000"/>
                </a:solidFill>
                <a:latin typeface="Calibri" pitchFamily="34" charset="0"/>
                <a:ea typeface="Calibri" pitchFamily="34" charset="-122"/>
                <a:cs typeface="Calibri" pitchFamily="34" charset="-120"/>
              </a:rPr>
              <a:t>Request content</a:t>
            </a:r>
            <a:endParaRPr lang="en-US" sz="2000" dirty="0"/>
          </a:p>
        </p:txBody>
      </p:sp>
      <p:sp>
        <p:nvSpPr>
          <p:cNvPr id="41" name="Text 38"/>
          <p:cNvSpPr txBox="1"/>
          <p:nvPr/>
        </p:nvSpPr>
        <p:spPr>
          <a:xfrm>
            <a:off x="3494881" y="5139531"/>
            <a:ext cx="2215753"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no defined meaning</a:t>
            </a:r>
            <a:endParaRPr lang="en-US" sz="2000" dirty="0"/>
          </a:p>
        </p:txBody>
      </p:sp>
      <p:sp>
        <p:nvSpPr>
          <p:cNvPr id="42" name="Text 39"/>
          <p:cNvSpPr txBox="1"/>
          <p:nvPr/>
        </p:nvSpPr>
        <p:spPr>
          <a:xfrm>
            <a:off x="6063456" y="5139531"/>
            <a:ext cx="1094383"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expected</a:t>
            </a:r>
            <a:endParaRPr lang="en-US" sz="2000" dirty="0"/>
          </a:p>
        </p:txBody>
      </p:sp>
      <p:sp>
        <p:nvSpPr>
          <p:cNvPr id="43" name="Text 40"/>
          <p:cNvSpPr txBox="1"/>
          <p:nvPr/>
        </p:nvSpPr>
        <p:spPr>
          <a:xfrm>
            <a:off x="8493324" y="5139531"/>
            <a:ext cx="1094383" cy="304800"/>
          </a:xfrm>
          <a:prstGeom prst="rect">
            <a:avLst/>
          </a:prstGeom>
          <a:noFill/>
          <a:ln/>
        </p:spPr>
        <p:txBody>
          <a:bodyPr wrap="none" lIns="0" tIns="0" rIns="0" bIns="0" rtlCol="0" anchor="t"/>
          <a:lstStyle/>
          <a:p>
            <a:pPr algn="l" indent="0" marL="0">
              <a:buNone/>
            </a:pPr>
            <a:r>
              <a:rPr lang="en-US" sz="2000" dirty="0">
                <a:solidFill>
                  <a:srgbClr val="000000"/>
                </a:solidFill>
                <a:latin typeface="Calibri" pitchFamily="34" charset="0"/>
                <a:ea typeface="Calibri" pitchFamily="34" charset="-122"/>
                <a:cs typeface="Calibri" pitchFamily="34" charset="-120"/>
              </a:rPr>
              <a:t>expected</a:t>
            </a:r>
            <a:endParaRPr lang="en-US" sz="2000" dirty="0"/>
          </a:p>
        </p:txBody>
      </p:sp>
      <p:sp>
        <p:nvSpPr>
          <p:cNvPr id="44" name="Text 41"/>
          <p:cNvSpPr txBox="1"/>
          <p:nvPr/>
        </p:nvSpPr>
        <p:spPr>
          <a:xfrm>
            <a:off x="91281" y="5774531"/>
            <a:ext cx="4242593" cy="215900"/>
          </a:xfrm>
          <a:prstGeom prst="rect">
            <a:avLst/>
          </a:prstGeom>
          <a:noFill/>
          <a:ln/>
        </p:spPr>
        <p:txBody>
          <a:bodyPr wrap="none" lIns="0" tIns="0" rIns="0" bIns="0" rtlCol="0" anchor="t"/>
          <a:lstStyle/>
          <a:p>
            <a:pPr algn="l" indent="0" marL="0">
              <a:buNone/>
            </a:pPr>
            <a:r>
              <a:rPr lang="en-US" sz="1400" dirty="0">
                <a:solidFill>
                  <a:srgbClr val="595959"/>
                </a:solidFill>
                <a:latin typeface="Calibri" pitchFamily="34" charset="0"/>
                <a:ea typeface="Calibri" pitchFamily="34" charset="-122"/>
                <a:cs typeface="Calibri" pitchFamily="34" charset="-120"/>
              </a:rPr>
              <a:t>IANA registers QUERY as safe and idempotent </a:t>
            </a:r>
            <a:pPr algn="l" indent="0" marL="0">
              <a:buNone/>
            </a:pPr>
            <a:r>
              <a:rPr lang="en-US" sz="868" u="sng" dirty="0">
                <a:solidFill>
                  <a:srgbClr val="59595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10008 §5.1]</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14</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5657453"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 QUERY request (RFC 10008 Appendix A.1)</a:t>
            </a:r>
            <a:endParaRPr lang="en-US" sz="2400" dirty="0"/>
          </a:p>
        </p:txBody>
      </p:sp>
      <p:sp>
        <p:nvSpPr>
          <p:cNvPr id="10" name="Shape 7"/>
          <p:cNvSpPr/>
          <p:nvPr/>
        </p:nvSpPr>
        <p:spPr>
          <a:xfrm>
            <a:off x="91281" y="1361281"/>
            <a:ext cx="6167437" cy="3087291"/>
          </a:xfrm>
          <a:prstGeom prst="rect">
            <a:avLst/>
          </a:prstGeom>
          <a:noFill/>
          <a:ln w="12700">
            <a:solidFill>
              <a:srgbClr val="333399"/>
            </a:solidFill>
            <a:prstDash val="solid"/>
          </a:ln>
        </p:spPr>
      </p:sp>
      <p:sp>
        <p:nvSpPr>
          <p:cNvPr id="11" name="Text 8"/>
          <p:cNvSpPr txBox="1"/>
          <p:nvPr/>
        </p:nvSpPr>
        <p:spPr>
          <a:xfrm>
            <a:off x="256381" y="1539081"/>
            <a:ext cx="1059457"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request</a:t>
            </a:r>
            <a:endParaRPr lang="en-US" sz="1700" dirty="0"/>
          </a:p>
        </p:txBody>
      </p:sp>
      <p:sp>
        <p:nvSpPr>
          <p:cNvPr id="12" name="Shape 9"/>
          <p:cNvSpPr/>
          <p:nvPr/>
        </p:nvSpPr>
        <p:spPr>
          <a:xfrm>
            <a:off x="3518495" y="1942108"/>
            <a:ext cx="209748" cy="209748"/>
          </a:xfrm>
          <a:prstGeom prst="roundRect">
            <a:avLst>
              <a:gd name="adj" fmla="val 50000"/>
            </a:avLst>
          </a:prstGeom>
          <a:solidFill>
            <a:srgbClr val="CC6600"/>
          </a:solidFill>
          <a:ln/>
        </p:spPr>
      </p:sp>
      <p:sp>
        <p:nvSpPr>
          <p:cNvPr id="13" name="Text 10"/>
          <p:cNvSpPr txBox="1"/>
          <p:nvPr/>
        </p:nvSpPr>
        <p:spPr>
          <a:xfrm>
            <a:off x="3583781" y="1943893"/>
            <a:ext cx="231379" cy="190500"/>
          </a:xfrm>
          <a:prstGeom prst="rect">
            <a:avLst/>
          </a:prstGeom>
          <a:noFill/>
          <a:ln/>
        </p:spPr>
        <p:txBody>
          <a:bodyPr wrap="none" lIns="0" tIns="0" rIns="0" bIns="0" rtlCol="0" anchor="t"/>
          <a:lstStyle/>
          <a:p>
            <a:pPr algn="l" indent="0" marL="0">
              <a:buNone/>
            </a:pPr>
            <a:r>
              <a:rPr lang="en-US" sz="1224" dirty="0">
                <a:solidFill>
                  <a:srgbClr val="FFFFFF"/>
                </a:solidFill>
                <a:latin typeface="Calibri" pitchFamily="34" charset="0"/>
                <a:ea typeface="Calibri" pitchFamily="34" charset="-122"/>
                <a:cs typeface="Calibri" pitchFamily="34" charset="-120"/>
              </a:rPr>
              <a:t>1</a:t>
            </a:r>
            <a:endParaRPr lang="en-US" sz="1224" dirty="0"/>
          </a:p>
        </p:txBody>
      </p:sp>
      <p:sp>
        <p:nvSpPr>
          <p:cNvPr id="14" name="Text 11"/>
          <p:cNvSpPr txBox="1"/>
          <p:nvPr/>
        </p:nvSpPr>
        <p:spPr>
          <a:xfrm>
            <a:off x="256381" y="1933972"/>
            <a:ext cx="3262115" cy="241300"/>
          </a:xfrm>
          <a:prstGeom prst="rect">
            <a:avLst/>
          </a:prstGeom>
          <a:noFill/>
          <a:ln/>
        </p:spPr>
        <p:txBody>
          <a:bodyPr wrap="none" lIns="0" tIns="0" rIns="0" bIns="0" rtlCol="0" anchor="t"/>
          <a:lstStyle/>
          <a:p>
            <a:pPr algn="l" indent="0" marL="0">
              <a:buNone/>
            </a:pPr>
            <a:r>
              <a:rPr lang="en-US" sz="1700" b="1" dirty="0">
                <a:solidFill>
                  <a:srgbClr val="333399"/>
                </a:solidFill>
                <a:latin typeface="Courier New" pitchFamily="34" charset="0"/>
                <a:ea typeface="Courier New" pitchFamily="34" charset="-122"/>
                <a:cs typeface="Courier New" pitchFamily="34" charset="-120"/>
              </a:rPr>
              <a:t>QUERY</a:t>
            </a:r>
            <a:pPr algn="l" indent="0" marL="0">
              <a:buNone/>
            </a:pPr>
            <a:r>
              <a:rPr lang="en-US" sz="1700" b="1" dirty="0">
                <a:solidFill>
                  <a:srgbClr val="000000"/>
                </a:solidFill>
                <a:latin typeface="Courier New" pitchFamily="34" charset="0"/>
                <a:ea typeface="Courier New" pitchFamily="34" charset="-122"/>
                <a:cs typeface="Courier New" pitchFamily="34" charset="-120"/>
              </a:rPr>
              <a:t> /contacts </a:t>
            </a:r>
            <a:pPr algn="l" indent="0" marL="0">
              <a:buNone/>
            </a:pPr>
            <a:r>
              <a:rPr lang="en-US" sz="1700" b="1" dirty="0">
                <a:solidFill>
                  <a:srgbClr val="333399"/>
                </a:solidFill>
                <a:latin typeface="Courier New" pitchFamily="34" charset="0"/>
                <a:ea typeface="Courier New" pitchFamily="34" charset="-122"/>
                <a:cs typeface="Courier New" pitchFamily="34" charset="-120"/>
              </a:rPr>
              <a:t>HTTP</a:t>
            </a:r>
            <a:pPr algn="l" indent="0" marL="0">
              <a:buNone/>
            </a:pPr>
            <a:r>
              <a:rPr lang="en-US" sz="1700" b="1" dirty="0">
                <a:solidFill>
                  <a:srgbClr val="000000"/>
                </a:solidFill>
                <a:latin typeface="Courier New" pitchFamily="34" charset="0"/>
                <a:ea typeface="Courier New" pitchFamily="34" charset="-122"/>
                <a:cs typeface="Courier New" pitchFamily="34" charset="-120"/>
              </a:rPr>
              <a:t>/</a:t>
            </a:r>
            <a:pPr algn="l" indent="0" marL="0">
              <a:buNone/>
            </a:pPr>
            <a:r>
              <a:rPr lang="en-US" sz="1700" b="1" dirty="0">
                <a:solidFill>
                  <a:srgbClr val="CC6600"/>
                </a:solidFill>
                <a:latin typeface="Courier New" pitchFamily="34" charset="0"/>
                <a:ea typeface="Courier New" pitchFamily="34" charset="-122"/>
                <a:cs typeface="Courier New" pitchFamily="34" charset="-120"/>
              </a:rPr>
              <a:t>1.1</a:t>
            </a:r>
            <a:endParaRPr lang="en-US" sz="1700" dirty="0"/>
          </a:p>
        </p:txBody>
      </p:sp>
      <p:sp>
        <p:nvSpPr>
          <p:cNvPr id="15" name="Text 12"/>
          <p:cNvSpPr txBox="1"/>
          <p:nvPr/>
        </p:nvSpPr>
        <p:spPr>
          <a:xfrm>
            <a:off x="256381" y="2230835"/>
            <a:ext cx="2355056" cy="241300"/>
          </a:xfrm>
          <a:prstGeom prst="rect">
            <a:avLst/>
          </a:prstGeom>
          <a:noFill/>
          <a:ln/>
        </p:spPr>
        <p:txBody>
          <a:bodyPr wrap="none" lIns="0" tIns="0" rIns="0" bIns="0" rtlCol="0" anchor="t"/>
          <a:lstStyle/>
          <a:p>
            <a:pPr algn="l" indent="0" marL="0">
              <a:buNone/>
            </a:pPr>
            <a:r>
              <a:rPr lang="en-US" sz="1700" b="1" dirty="0">
                <a:solidFill>
                  <a:srgbClr val="993300"/>
                </a:solidFill>
                <a:latin typeface="Courier New" pitchFamily="34" charset="0"/>
                <a:ea typeface="Courier New" pitchFamily="34" charset="-122"/>
                <a:cs typeface="Courier New" pitchFamily="34" charset="-120"/>
              </a:rPr>
              <a:t>Host</a:t>
            </a:r>
            <a:pPr algn="l" indent="0" marL="0">
              <a:buNone/>
            </a:pPr>
            <a:r>
              <a:rPr lang="en-US" sz="1700" b="1" dirty="0">
                <a:solidFill>
                  <a:srgbClr val="333399"/>
                </a:solidFill>
                <a:latin typeface="Courier New" pitchFamily="34" charset="0"/>
                <a:ea typeface="Courier New" pitchFamily="34" charset="-122"/>
                <a:cs typeface="Courier New" pitchFamily="34" charset="-120"/>
              </a:rPr>
              <a:t>:</a:t>
            </a:r>
            <a:pPr algn="l" indent="0" marL="0">
              <a:buNone/>
            </a:pPr>
            <a:r>
              <a:rPr lang="en-US" sz="1700" b="1" dirty="0">
                <a:solidFill>
                  <a:srgbClr val="000000"/>
                </a:solidFill>
                <a:latin typeface="Courier New" pitchFamily="34" charset="0"/>
                <a:ea typeface="Courier New" pitchFamily="34" charset="-122"/>
                <a:cs typeface="Courier New" pitchFamily="34" charset="-120"/>
              </a:rPr>
              <a:t> </a:t>
            </a:r>
            <a:pPr algn="l" indent="0" marL="0">
              <a:buNone/>
            </a:pPr>
            <a:r>
              <a:rPr lang="en-US" sz="1700" b="1" dirty="0">
                <a:solidFill>
                  <a:srgbClr val="993300"/>
                </a:solidFill>
                <a:latin typeface="Courier New" pitchFamily="34" charset="0"/>
                <a:ea typeface="Courier New" pitchFamily="34" charset="-122"/>
                <a:cs typeface="Courier New" pitchFamily="34" charset="-120"/>
              </a:rPr>
              <a:t>example.org</a:t>
            </a:r>
            <a:endParaRPr lang="en-US" sz="1700" dirty="0"/>
          </a:p>
        </p:txBody>
      </p:sp>
      <p:sp>
        <p:nvSpPr>
          <p:cNvPr id="16" name="Shape 13"/>
          <p:cNvSpPr/>
          <p:nvPr/>
        </p:nvSpPr>
        <p:spPr>
          <a:xfrm>
            <a:off x="1704579" y="2832695"/>
            <a:ext cx="209748" cy="209748"/>
          </a:xfrm>
          <a:prstGeom prst="roundRect">
            <a:avLst>
              <a:gd name="adj" fmla="val 50000"/>
            </a:avLst>
          </a:prstGeom>
          <a:solidFill>
            <a:srgbClr val="CC6600"/>
          </a:solidFill>
          <a:ln/>
        </p:spPr>
      </p:sp>
      <p:sp>
        <p:nvSpPr>
          <p:cNvPr id="17" name="Text 14"/>
          <p:cNvSpPr txBox="1"/>
          <p:nvPr/>
        </p:nvSpPr>
        <p:spPr>
          <a:xfrm>
            <a:off x="1769864" y="2834481"/>
            <a:ext cx="231379" cy="190500"/>
          </a:xfrm>
          <a:prstGeom prst="rect">
            <a:avLst/>
          </a:prstGeom>
          <a:noFill/>
          <a:ln/>
        </p:spPr>
        <p:txBody>
          <a:bodyPr wrap="none" lIns="0" tIns="0" rIns="0" bIns="0" rtlCol="0" anchor="t"/>
          <a:lstStyle/>
          <a:p>
            <a:pPr algn="l" indent="0" marL="0">
              <a:buNone/>
            </a:pPr>
            <a:r>
              <a:rPr lang="en-US" sz="1224" dirty="0">
                <a:solidFill>
                  <a:srgbClr val="FFFFFF"/>
                </a:solidFill>
                <a:latin typeface="Calibri" pitchFamily="34" charset="0"/>
                <a:ea typeface="Calibri" pitchFamily="34" charset="-122"/>
                <a:cs typeface="Calibri" pitchFamily="34" charset="-120"/>
              </a:rPr>
              <a:t>2</a:t>
            </a:r>
            <a:endParaRPr lang="en-US" sz="1224" dirty="0"/>
          </a:p>
        </p:txBody>
      </p:sp>
      <p:sp>
        <p:nvSpPr>
          <p:cNvPr id="18" name="Text 15"/>
          <p:cNvSpPr txBox="1"/>
          <p:nvPr/>
        </p:nvSpPr>
        <p:spPr>
          <a:xfrm>
            <a:off x="256381" y="2527697"/>
            <a:ext cx="5862637" cy="538163"/>
          </a:xfrm>
          <a:prstGeom prst="rect">
            <a:avLst/>
          </a:prstGeom>
          <a:noFill/>
          <a:ln/>
        </p:spPr>
        <p:txBody>
          <a:bodyPr wrap="square" lIns="0" tIns="0" rIns="0" bIns="0" rtlCol="0" anchor="t"/>
          <a:lstStyle/>
          <a:p>
            <a:pPr algn="l" indent="0" marL="0">
              <a:lnSpc>
                <a:spcPts val="2337"/>
              </a:lnSpc>
              <a:buNone/>
            </a:pPr>
            <a:r>
              <a:rPr lang="en-US" sz="1700" b="1" dirty="0">
                <a:solidFill>
                  <a:srgbClr val="993300"/>
                </a:solidFill>
                <a:latin typeface="Courier New" pitchFamily="34" charset="0"/>
                <a:ea typeface="Courier New" pitchFamily="34" charset="-122"/>
                <a:cs typeface="Courier New" pitchFamily="34" charset="-120"/>
              </a:rPr>
              <a:t>Content-Type</a:t>
            </a:r>
            <a:pPr algn="l" indent="0" marL="0">
              <a:lnSpc>
                <a:spcPts val="2337"/>
              </a:lnSpc>
              <a:buNone/>
            </a:pPr>
            <a:r>
              <a:rPr lang="en-US" sz="1700" b="1" dirty="0">
                <a:solidFill>
                  <a:srgbClr val="333399"/>
                </a:solidFill>
                <a:latin typeface="Courier New" pitchFamily="34" charset="0"/>
                <a:ea typeface="Courier New" pitchFamily="34" charset="-122"/>
                <a:cs typeface="Courier New" pitchFamily="34" charset="-120"/>
              </a:rPr>
              <a:t>:</a:t>
            </a:r>
            <a:pPr algn="l" indent="0" marL="0">
              <a:lnSpc>
                <a:spcPts val="2337"/>
              </a:lnSpc>
              <a:buNone/>
            </a:pPr>
            <a:r>
              <a:rPr lang="en-US" sz="1700" b="1" dirty="0">
                <a:solidFill>
                  <a:srgbClr val="000000"/>
                </a:solidFill>
                <a:latin typeface="Courier New" pitchFamily="34" charset="0"/>
                <a:ea typeface="Courier New" pitchFamily="34" charset="-122"/>
                <a:cs typeface="Courier New" pitchFamily="34" charset="-120"/>
              </a:rPr>
              <a:t> </a:t>
            </a:r>
            <a:pPr algn="l" indent="0" marL="0">
              <a:lnSpc>
                <a:spcPts val="2337"/>
              </a:lnSpc>
              <a:buNone/>
            </a:pPr>
            <a:r>
              <a:rPr lang="en-US" sz="1700" b="1" dirty="0">
                <a:solidFill>
                  <a:srgbClr val="993300"/>
                </a:solidFill>
                <a:latin typeface="Courier New" pitchFamily="34" charset="0"/>
                <a:ea typeface="Courier New" pitchFamily="34" charset="-122"/>
                <a:cs typeface="Courier New" pitchFamily="34" charset="-120"/>
              </a:rPr>
              <a:t>application/x-www-form-urlencoded</a:t>
            </a:r>
            <a:endParaRPr lang="en-US" sz="1700" dirty="0"/>
          </a:p>
        </p:txBody>
      </p:sp>
      <p:sp>
        <p:nvSpPr>
          <p:cNvPr id="19" name="Text 16"/>
          <p:cNvSpPr txBox="1"/>
          <p:nvPr/>
        </p:nvSpPr>
        <p:spPr>
          <a:xfrm>
            <a:off x="256381" y="3121421"/>
            <a:ext cx="3262115" cy="241300"/>
          </a:xfrm>
          <a:prstGeom prst="rect">
            <a:avLst/>
          </a:prstGeom>
          <a:noFill/>
          <a:ln/>
        </p:spPr>
        <p:txBody>
          <a:bodyPr wrap="none" lIns="0" tIns="0" rIns="0" bIns="0" rtlCol="0" anchor="t"/>
          <a:lstStyle/>
          <a:p>
            <a:pPr algn="l" indent="0" marL="0">
              <a:buNone/>
            </a:pPr>
            <a:r>
              <a:rPr lang="en-US" sz="1700" b="1" dirty="0">
                <a:solidFill>
                  <a:srgbClr val="993300"/>
                </a:solidFill>
                <a:latin typeface="Courier New" pitchFamily="34" charset="0"/>
                <a:ea typeface="Courier New" pitchFamily="34" charset="-122"/>
                <a:cs typeface="Courier New" pitchFamily="34" charset="-120"/>
              </a:rPr>
              <a:t>Accept</a:t>
            </a:r>
            <a:pPr algn="l" indent="0" marL="0">
              <a:buNone/>
            </a:pPr>
            <a:r>
              <a:rPr lang="en-US" sz="1700" b="1" dirty="0">
                <a:solidFill>
                  <a:srgbClr val="333399"/>
                </a:solidFill>
                <a:latin typeface="Courier New" pitchFamily="34" charset="0"/>
                <a:ea typeface="Courier New" pitchFamily="34" charset="-122"/>
                <a:cs typeface="Courier New" pitchFamily="34" charset="-120"/>
              </a:rPr>
              <a:t>:</a:t>
            </a:r>
            <a:pPr algn="l" indent="0" marL="0">
              <a:buNone/>
            </a:pPr>
            <a:r>
              <a:rPr lang="en-US" sz="1700" b="1" dirty="0">
                <a:solidFill>
                  <a:srgbClr val="000000"/>
                </a:solidFill>
                <a:latin typeface="Courier New" pitchFamily="34" charset="0"/>
                <a:ea typeface="Courier New" pitchFamily="34" charset="-122"/>
                <a:cs typeface="Courier New" pitchFamily="34" charset="-120"/>
              </a:rPr>
              <a:t> </a:t>
            </a:r>
            <a:pPr algn="l" indent="0" marL="0">
              <a:buNone/>
            </a:pPr>
            <a:r>
              <a:rPr lang="en-US" sz="1700" b="1" dirty="0">
                <a:solidFill>
                  <a:srgbClr val="993300"/>
                </a:solidFill>
                <a:latin typeface="Courier New" pitchFamily="34" charset="0"/>
                <a:ea typeface="Courier New" pitchFamily="34" charset="-122"/>
                <a:cs typeface="Courier New" pitchFamily="34" charset="-120"/>
              </a:rPr>
              <a:t>application/json</a:t>
            </a:r>
            <a:endParaRPr lang="en-US" sz="1700" dirty="0"/>
          </a:p>
        </p:txBody>
      </p:sp>
      <p:sp>
        <p:nvSpPr>
          <p:cNvPr id="20" name="Shape 17"/>
          <p:cNvSpPr/>
          <p:nvPr/>
        </p:nvSpPr>
        <p:spPr>
          <a:xfrm>
            <a:off x="3518297" y="4020145"/>
            <a:ext cx="209748" cy="209748"/>
          </a:xfrm>
          <a:prstGeom prst="roundRect">
            <a:avLst>
              <a:gd name="adj" fmla="val 50000"/>
            </a:avLst>
          </a:prstGeom>
          <a:solidFill>
            <a:srgbClr val="CC6600"/>
          </a:solidFill>
          <a:ln/>
        </p:spPr>
      </p:sp>
      <p:sp>
        <p:nvSpPr>
          <p:cNvPr id="21" name="Text 18"/>
          <p:cNvSpPr txBox="1"/>
          <p:nvPr/>
        </p:nvSpPr>
        <p:spPr>
          <a:xfrm>
            <a:off x="3583583" y="4021931"/>
            <a:ext cx="231379" cy="190500"/>
          </a:xfrm>
          <a:prstGeom prst="rect">
            <a:avLst/>
          </a:prstGeom>
          <a:noFill/>
          <a:ln/>
        </p:spPr>
        <p:txBody>
          <a:bodyPr wrap="none" lIns="0" tIns="0" rIns="0" bIns="0" rtlCol="0" anchor="t"/>
          <a:lstStyle/>
          <a:p>
            <a:pPr algn="l" indent="0" marL="0">
              <a:buNone/>
            </a:pPr>
            <a:r>
              <a:rPr lang="en-US" sz="1224" dirty="0">
                <a:solidFill>
                  <a:srgbClr val="FFFFFF"/>
                </a:solidFill>
                <a:latin typeface="Calibri" pitchFamily="34" charset="0"/>
                <a:ea typeface="Calibri" pitchFamily="34" charset="-122"/>
                <a:cs typeface="Calibri" pitchFamily="34" charset="-120"/>
              </a:rPr>
              <a:t>3</a:t>
            </a:r>
            <a:endParaRPr lang="en-US" sz="1224" dirty="0"/>
          </a:p>
        </p:txBody>
      </p:sp>
      <p:sp>
        <p:nvSpPr>
          <p:cNvPr id="22" name="Text 19"/>
          <p:cNvSpPr txBox="1"/>
          <p:nvPr/>
        </p:nvSpPr>
        <p:spPr>
          <a:xfrm>
            <a:off x="256381" y="3715147"/>
            <a:ext cx="5972299" cy="538163"/>
          </a:xfrm>
          <a:prstGeom prst="rect">
            <a:avLst/>
          </a:prstGeom>
          <a:noFill/>
          <a:ln/>
        </p:spPr>
        <p:txBody>
          <a:bodyPr wrap="square" lIns="0" tIns="0" rIns="0" bIns="0" rtlCol="0" anchor="t"/>
          <a:lstStyle/>
          <a:p>
            <a:pPr algn="l" indent="0" marL="0">
              <a:lnSpc>
                <a:spcPts val="2337"/>
              </a:lnSpc>
              <a:buNone/>
            </a:pPr>
            <a:r>
              <a:rPr lang="en-US" sz="1700" b="1" dirty="0">
                <a:solidFill>
                  <a:srgbClr val="000000"/>
                </a:solidFill>
                <a:latin typeface="Courier New" pitchFamily="34" charset="0"/>
                <a:ea typeface="Courier New" pitchFamily="34" charset="-122"/>
                <a:cs typeface="Courier New" pitchFamily="34" charset="-120"/>
              </a:rPr>
              <a:t>select=surname,givenname,email&amp;limit=10&amp;match=%22email=*@example.*%22</a:t>
            </a:r>
            <a:endParaRPr lang="en-US" sz="1700" dirty="0"/>
          </a:p>
        </p:txBody>
      </p:sp>
      <p:pic>
        <p:nvPicPr>
          <p:cNvPr id="23" name="Image 1" descr="Rendered as an image because of CSS transform">    </p:cNvPr>
          <p:cNvPicPr>
            <a:picLocks noChangeAspect="1"/>
          </p:cNvPicPr>
          <p:nvPr/>
        </p:nvPicPr>
        <p:blipFill>
          <a:blip r:embed="rId2"/>
          <a:stretch>
            <a:fillRect/>
          </a:stretch>
        </p:blipFill>
        <p:spPr>
          <a:xfrm>
            <a:off x="6563519" y="1386681"/>
            <a:ext cx="304800" cy="304800"/>
          </a:xfrm>
          <a:prstGeom prst="rect">
            <a:avLst/>
          </a:prstGeom>
        </p:spPr>
      </p:pic>
      <p:sp>
        <p:nvSpPr>
          <p:cNvPr id="24" name="Text 20"/>
          <p:cNvSpPr txBox="1"/>
          <p:nvPr/>
        </p:nvSpPr>
        <p:spPr>
          <a:xfrm>
            <a:off x="6995319" y="1373981"/>
            <a:ext cx="5013500" cy="635000"/>
          </a:xfrm>
          <a:prstGeom prst="rect">
            <a:avLst/>
          </a:prstGeom>
          <a:noFill/>
          <a:ln/>
        </p:spPr>
        <p:txBody>
          <a:bodyPr wrap="square" lIns="0" tIns="0" rIns="0" bIns="0" rtlCol="0" anchor="t"/>
          <a:lstStyle/>
          <a:p>
            <a:pPr algn="l" indent="0" marL="0">
              <a:lnSpc>
                <a:spcPts val="2600"/>
              </a:lnSpc>
              <a:buNone/>
            </a:pPr>
            <a:r>
              <a:rPr lang="en-US" sz="2000" b="1" dirty="0">
                <a:solidFill>
                  <a:srgbClr val="000000"/>
                </a:solidFill>
                <a:latin typeface="Calibri" pitchFamily="34" charset="0"/>
                <a:ea typeface="Calibri" pitchFamily="34" charset="-122"/>
                <a:cs typeface="Calibri" pitchFamily="34" charset="-120"/>
              </a:rPr>
              <a:t>QUERY and the target.</a:t>
            </a:r>
            <a:pPr algn="l" indent="0" marL="0">
              <a:lnSpc>
                <a:spcPts val="2600"/>
              </a:lnSpc>
              <a:buNone/>
            </a:pPr>
            <a:r>
              <a:rPr lang="en-US" sz="2000" dirty="0">
                <a:solidFill>
                  <a:srgbClr val="000000"/>
                </a:solidFill>
                <a:latin typeface="Calibri" pitchFamily="34" charset="0"/>
                <a:ea typeface="Calibri" pitchFamily="34" charset="-122"/>
                <a:cs typeface="Calibri" pitchFamily="34" charset="-120"/>
              </a:rPr>
              <a:t> The target resource sets the scope of the query </a:t>
            </a:r>
            <a:pPr algn="l" indent="0" marL="0">
              <a:lnSpc>
                <a:spcPts val="2600"/>
              </a:lnSpc>
              <a:buNone/>
            </a:pPr>
            <a:r>
              <a:rPr lang="en-US" sz="1240" u="sng" dirty="0">
                <a:solidFill>
                  <a:srgbClr val="59595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10008 §2]</a:t>
            </a:r>
            <a:endParaRPr lang="en-US" sz="2000" dirty="0"/>
          </a:p>
        </p:txBody>
      </p:sp>
      <p:pic>
        <p:nvPicPr>
          <p:cNvPr id="25" name="Image 2" descr="Rendered as an image because of CSS transform">    </p:cNvPr>
          <p:cNvPicPr>
            <a:picLocks noChangeAspect="1"/>
          </p:cNvPicPr>
          <p:nvPr/>
        </p:nvPicPr>
        <p:blipFill>
          <a:blip r:embed="rId4"/>
          <a:stretch>
            <a:fillRect/>
          </a:stretch>
        </p:blipFill>
        <p:spPr>
          <a:xfrm>
            <a:off x="6563519" y="2250281"/>
            <a:ext cx="304800" cy="304800"/>
          </a:xfrm>
          <a:prstGeom prst="rect">
            <a:avLst/>
          </a:prstGeom>
        </p:spPr>
      </p:pic>
      <p:sp>
        <p:nvSpPr>
          <p:cNvPr id="26" name="Text 21"/>
          <p:cNvSpPr txBox="1"/>
          <p:nvPr/>
        </p:nvSpPr>
        <p:spPr>
          <a:xfrm>
            <a:off x="6995319" y="2237581"/>
            <a:ext cx="4927600" cy="965200"/>
          </a:xfrm>
          <a:prstGeom prst="rect">
            <a:avLst/>
          </a:prstGeom>
          <a:noFill/>
          <a:ln/>
        </p:spPr>
        <p:txBody>
          <a:bodyPr wrap="square" lIns="0" tIns="0" rIns="0" bIns="0" rtlCol="0" anchor="t"/>
          <a:lstStyle/>
          <a:p>
            <a:pPr algn="l" indent="0" marL="0">
              <a:lnSpc>
                <a:spcPts val="2600"/>
              </a:lnSpc>
              <a:buNone/>
            </a:pPr>
            <a:r>
              <a:rPr lang="en-US" sz="2000" b="1" dirty="0">
                <a:solidFill>
                  <a:srgbClr val="000000"/>
                </a:solidFill>
                <a:latin typeface="Calibri" pitchFamily="34" charset="0"/>
                <a:ea typeface="Calibri" pitchFamily="34" charset="-122"/>
                <a:cs typeface="Calibri" pitchFamily="34" charset="-120"/>
              </a:rPr>
              <a:t>Content-Type is mandatory.</a:t>
            </a:r>
            <a:pPr algn="l" indent="0" marL="0">
              <a:lnSpc>
                <a:spcPts val="2600"/>
              </a:lnSpc>
              <a:buNone/>
            </a:pPr>
            <a:r>
              <a:rPr lang="en-US" sz="2000" dirty="0">
                <a:solidFill>
                  <a:srgbClr val="000000"/>
                </a:solidFill>
                <a:latin typeface="Calibri" pitchFamily="34" charset="0"/>
                <a:ea typeface="Calibri" pitchFamily="34" charset="-122"/>
                <a:cs typeface="Calibri" pitchFamily="34" charset="-120"/>
              </a:rPr>
              <a:t> If it is missing or wrong, the server must reject the request. It must not guess the type </a:t>
            </a:r>
            <a:pPr algn="l" indent="0" marL="0">
              <a:lnSpc>
                <a:spcPts val="2600"/>
              </a:lnSpc>
              <a:buNone/>
            </a:pPr>
            <a:r>
              <a:rPr lang="en-US" sz="1240" u="sng" dirty="0">
                <a:solidFill>
                  <a:srgbClr val="59595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[RFC 10008 §2.1]</a:t>
            </a:r>
            <a:endParaRPr lang="en-US" sz="2000" dirty="0"/>
          </a:p>
        </p:txBody>
      </p:sp>
      <p:pic>
        <p:nvPicPr>
          <p:cNvPr id="27" name="Image 3" descr="Rendered as an image because of CSS transform">    </p:cNvPr>
          <p:cNvPicPr>
            <a:picLocks noChangeAspect="1"/>
          </p:cNvPicPr>
          <p:nvPr/>
        </p:nvPicPr>
        <p:blipFill>
          <a:blip r:embed="rId6"/>
          <a:stretch>
            <a:fillRect/>
          </a:stretch>
        </p:blipFill>
        <p:spPr>
          <a:xfrm>
            <a:off x="6563519" y="3444081"/>
            <a:ext cx="304800" cy="304800"/>
          </a:xfrm>
          <a:prstGeom prst="rect">
            <a:avLst/>
          </a:prstGeom>
        </p:spPr>
      </p:pic>
      <p:sp>
        <p:nvSpPr>
          <p:cNvPr id="28" name="Text 22"/>
          <p:cNvSpPr txBox="1"/>
          <p:nvPr/>
        </p:nvSpPr>
        <p:spPr>
          <a:xfrm>
            <a:off x="6995319" y="3431381"/>
            <a:ext cx="4927600" cy="965200"/>
          </a:xfrm>
          <a:prstGeom prst="rect">
            <a:avLst/>
          </a:prstGeom>
          <a:noFill/>
          <a:ln/>
        </p:spPr>
        <p:txBody>
          <a:bodyPr wrap="square" lIns="0" tIns="0" rIns="0" bIns="0" rtlCol="0" anchor="t"/>
          <a:lstStyle/>
          <a:p>
            <a:pPr algn="l" indent="0" marL="0">
              <a:lnSpc>
                <a:spcPts val="2600"/>
              </a:lnSpc>
              <a:buNone/>
            </a:pPr>
            <a:r>
              <a:rPr lang="en-US" sz="2000" b="1" dirty="0">
                <a:solidFill>
                  <a:srgbClr val="000000"/>
                </a:solidFill>
                <a:latin typeface="Calibri" pitchFamily="34" charset="0"/>
                <a:ea typeface="Calibri" pitchFamily="34" charset="-122"/>
                <a:cs typeface="Calibri" pitchFamily="34" charset="-120"/>
              </a:rPr>
              <a:t>The query content.</a:t>
            </a:r>
            <a:pPr algn="l" indent="0" marL="0">
              <a:lnSpc>
                <a:spcPts val="2600"/>
              </a:lnSpc>
              <a:buNone/>
            </a:pPr>
            <a:r>
              <a:rPr lang="en-US" sz="2000" dirty="0">
                <a:solidFill>
                  <a:srgbClr val="000000"/>
                </a:solidFill>
                <a:latin typeface="Calibri" pitchFamily="34" charset="0"/>
                <a:ea typeface="Calibri" pitchFamily="34" charset="-122"/>
                <a:cs typeface="Calibri" pitchFamily="34" charset="-120"/>
              </a:rPr>
              <a:t> Here it is form-encoded. The RFC also shows JSON, SQL, JSONPath and XSLT.</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15</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5840611"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 QUERY response (RFC 10008 Appendix A.4)</a:t>
            </a:r>
            <a:endParaRPr lang="en-US" sz="2400" dirty="0"/>
          </a:p>
        </p:txBody>
      </p:sp>
      <p:sp>
        <p:nvSpPr>
          <p:cNvPr id="10" name="Shape 7"/>
          <p:cNvSpPr/>
          <p:nvPr/>
        </p:nvSpPr>
        <p:spPr>
          <a:xfrm>
            <a:off x="91281" y="1361281"/>
            <a:ext cx="6421437" cy="3384153"/>
          </a:xfrm>
          <a:prstGeom prst="rect">
            <a:avLst/>
          </a:prstGeom>
          <a:noFill/>
          <a:ln w="12700">
            <a:solidFill>
              <a:srgbClr val="333399"/>
            </a:solidFill>
            <a:prstDash val="solid"/>
          </a:ln>
        </p:spPr>
      </p:sp>
      <p:sp>
        <p:nvSpPr>
          <p:cNvPr id="11" name="Text 8"/>
          <p:cNvSpPr txBox="1"/>
          <p:nvPr/>
        </p:nvSpPr>
        <p:spPr>
          <a:xfrm>
            <a:off x="256381" y="1539081"/>
            <a:ext cx="1189037" cy="241300"/>
          </a:xfrm>
          <a:prstGeom prst="rect">
            <a:avLst/>
          </a:prstGeom>
          <a:noFill/>
          <a:ln/>
        </p:spPr>
        <p:txBody>
          <a:bodyPr wrap="none" lIns="0" tIns="0" rIns="0" bIns="0" rtlCol="0" anchor="t"/>
          <a:lstStyle/>
          <a:p>
            <a:pPr algn="l" indent="0" marL="0">
              <a:buNone/>
            </a:pPr>
            <a:r>
              <a:rPr lang="en-US" sz="1700" dirty="0">
                <a:solidFill>
                  <a:srgbClr val="000000"/>
                </a:solidFill>
                <a:latin typeface="Courier New" pitchFamily="34" charset="0"/>
                <a:ea typeface="Courier New" pitchFamily="34" charset="-122"/>
                <a:cs typeface="Courier New" pitchFamily="34" charset="-120"/>
              </a:rPr>
              <a:t>response</a:t>
            </a:r>
            <a:endParaRPr lang="en-US" sz="1700" dirty="0"/>
          </a:p>
        </p:txBody>
      </p:sp>
      <p:sp>
        <p:nvSpPr>
          <p:cNvPr id="12" name="Text 9"/>
          <p:cNvSpPr txBox="1"/>
          <p:nvPr/>
        </p:nvSpPr>
        <p:spPr>
          <a:xfrm>
            <a:off x="256381" y="1933972"/>
            <a:ext cx="2096095" cy="241300"/>
          </a:xfrm>
          <a:prstGeom prst="rect">
            <a:avLst/>
          </a:prstGeom>
          <a:noFill/>
          <a:ln/>
        </p:spPr>
        <p:txBody>
          <a:bodyPr wrap="none" lIns="0" tIns="0" rIns="0" bIns="0" rtlCol="0" anchor="t"/>
          <a:lstStyle/>
          <a:p>
            <a:pPr algn="l" indent="0" marL="0">
              <a:buNone/>
            </a:pPr>
            <a:r>
              <a:rPr lang="en-US" sz="1700" b="1" dirty="0">
                <a:solidFill>
                  <a:srgbClr val="333399"/>
                </a:solidFill>
                <a:latin typeface="Courier New" pitchFamily="34" charset="0"/>
                <a:ea typeface="Courier New" pitchFamily="34" charset="-122"/>
                <a:cs typeface="Courier New" pitchFamily="34" charset="-120"/>
              </a:rPr>
              <a:t>HTTP</a:t>
            </a:r>
            <a:pPr algn="l" indent="0" marL="0">
              <a:buNone/>
            </a:pPr>
            <a:r>
              <a:rPr lang="en-US" sz="1700" b="1" dirty="0">
                <a:solidFill>
                  <a:srgbClr val="000000"/>
                </a:solidFill>
                <a:latin typeface="Courier New" pitchFamily="34" charset="0"/>
                <a:ea typeface="Courier New" pitchFamily="34" charset="-122"/>
                <a:cs typeface="Courier New" pitchFamily="34" charset="-120"/>
              </a:rPr>
              <a:t>/</a:t>
            </a:r>
            <a:pPr algn="l" indent="0" marL="0">
              <a:buNone/>
            </a:pPr>
            <a:r>
              <a:rPr lang="en-US" sz="1700" b="1" dirty="0">
                <a:solidFill>
                  <a:srgbClr val="CC6600"/>
                </a:solidFill>
                <a:latin typeface="Courier New" pitchFamily="34" charset="0"/>
                <a:ea typeface="Courier New" pitchFamily="34" charset="-122"/>
                <a:cs typeface="Courier New" pitchFamily="34" charset="-120"/>
              </a:rPr>
              <a:t>1.1</a:t>
            </a:r>
            <a:pPr algn="l" indent="0" marL="0">
              <a:buNone/>
            </a:pPr>
            <a:r>
              <a:rPr lang="en-US" sz="1700" b="1" dirty="0">
                <a:solidFill>
                  <a:srgbClr val="000000"/>
                </a:solidFill>
                <a:latin typeface="Courier New" pitchFamily="34" charset="0"/>
                <a:ea typeface="Courier New" pitchFamily="34" charset="-122"/>
                <a:cs typeface="Courier New" pitchFamily="34" charset="-120"/>
              </a:rPr>
              <a:t> </a:t>
            </a:r>
            <a:pPr algn="l" indent="0" marL="0">
              <a:buNone/>
            </a:pPr>
            <a:r>
              <a:rPr lang="en-US" sz="1700" b="1" dirty="0">
                <a:solidFill>
                  <a:srgbClr val="CC6600"/>
                </a:solidFill>
                <a:latin typeface="Courier New" pitchFamily="34" charset="0"/>
                <a:ea typeface="Courier New" pitchFamily="34" charset="-122"/>
                <a:cs typeface="Courier New" pitchFamily="34" charset="-120"/>
              </a:rPr>
              <a:t>200</a:t>
            </a:r>
            <a:pPr algn="l" indent="0" marL="0">
              <a:buNone/>
            </a:pPr>
            <a:r>
              <a:rPr lang="en-US" sz="1700" b="1" dirty="0">
                <a:solidFill>
                  <a:srgbClr val="000000"/>
                </a:solidFill>
                <a:latin typeface="Courier New" pitchFamily="34" charset="0"/>
                <a:ea typeface="Courier New" pitchFamily="34" charset="-122"/>
                <a:cs typeface="Courier New" pitchFamily="34" charset="-120"/>
              </a:rPr>
              <a:t> </a:t>
            </a:r>
            <a:pPr algn="l" indent="0" marL="0">
              <a:buNone/>
            </a:pPr>
            <a:r>
              <a:rPr lang="en-US" sz="1700" b="1" dirty="0">
                <a:solidFill>
                  <a:srgbClr val="993300"/>
                </a:solidFill>
                <a:latin typeface="Courier New" pitchFamily="34" charset="0"/>
                <a:ea typeface="Courier New" pitchFamily="34" charset="-122"/>
                <a:cs typeface="Courier New" pitchFamily="34" charset="-120"/>
              </a:rPr>
              <a:t>OK</a:t>
            </a:r>
            <a:endParaRPr lang="en-US" sz="1700" dirty="0"/>
          </a:p>
        </p:txBody>
      </p:sp>
      <p:sp>
        <p:nvSpPr>
          <p:cNvPr id="13" name="Text 10"/>
          <p:cNvSpPr txBox="1"/>
          <p:nvPr/>
        </p:nvSpPr>
        <p:spPr>
          <a:xfrm>
            <a:off x="256381" y="2230835"/>
            <a:ext cx="4039393" cy="241300"/>
          </a:xfrm>
          <a:prstGeom prst="rect">
            <a:avLst/>
          </a:prstGeom>
          <a:noFill/>
          <a:ln/>
        </p:spPr>
        <p:txBody>
          <a:bodyPr wrap="none" lIns="0" tIns="0" rIns="0" bIns="0" rtlCol="0" anchor="t"/>
          <a:lstStyle/>
          <a:p>
            <a:pPr algn="l" indent="0" marL="0">
              <a:buNone/>
            </a:pPr>
            <a:r>
              <a:rPr lang="en-US" sz="1700" b="1" dirty="0">
                <a:solidFill>
                  <a:srgbClr val="993300"/>
                </a:solidFill>
                <a:latin typeface="Courier New" pitchFamily="34" charset="0"/>
                <a:ea typeface="Courier New" pitchFamily="34" charset="-122"/>
                <a:cs typeface="Courier New" pitchFamily="34" charset="-120"/>
              </a:rPr>
              <a:t>Content-Type</a:t>
            </a:r>
            <a:pPr algn="l" indent="0" marL="0">
              <a:buNone/>
            </a:pPr>
            <a:r>
              <a:rPr lang="en-US" sz="1700" b="1" dirty="0">
                <a:solidFill>
                  <a:srgbClr val="333399"/>
                </a:solidFill>
                <a:latin typeface="Courier New" pitchFamily="34" charset="0"/>
                <a:ea typeface="Courier New" pitchFamily="34" charset="-122"/>
                <a:cs typeface="Courier New" pitchFamily="34" charset="-120"/>
              </a:rPr>
              <a:t>:</a:t>
            </a:r>
            <a:pPr algn="l" indent="0" marL="0">
              <a:buNone/>
            </a:pPr>
            <a:r>
              <a:rPr lang="en-US" sz="1700" b="1" dirty="0">
                <a:solidFill>
                  <a:srgbClr val="000000"/>
                </a:solidFill>
                <a:latin typeface="Courier New" pitchFamily="34" charset="0"/>
                <a:ea typeface="Courier New" pitchFamily="34" charset="-122"/>
                <a:cs typeface="Courier New" pitchFamily="34" charset="-120"/>
              </a:rPr>
              <a:t> </a:t>
            </a:r>
            <a:pPr algn="l" indent="0" marL="0">
              <a:buNone/>
            </a:pPr>
            <a:r>
              <a:rPr lang="en-US" sz="1700" b="1" dirty="0">
                <a:solidFill>
                  <a:srgbClr val="993300"/>
                </a:solidFill>
                <a:latin typeface="Courier New" pitchFamily="34" charset="0"/>
                <a:ea typeface="Courier New" pitchFamily="34" charset="-122"/>
                <a:cs typeface="Courier New" pitchFamily="34" charset="-120"/>
              </a:rPr>
              <a:t>application/json</a:t>
            </a:r>
            <a:endParaRPr lang="en-US" sz="1700" dirty="0"/>
          </a:p>
        </p:txBody>
      </p:sp>
      <p:sp>
        <p:nvSpPr>
          <p:cNvPr id="14" name="Shape 11"/>
          <p:cNvSpPr/>
          <p:nvPr/>
        </p:nvSpPr>
        <p:spPr>
          <a:xfrm>
            <a:off x="408781" y="2832695"/>
            <a:ext cx="209748" cy="209748"/>
          </a:xfrm>
          <a:prstGeom prst="roundRect">
            <a:avLst>
              <a:gd name="adj" fmla="val 50000"/>
            </a:avLst>
          </a:prstGeom>
          <a:solidFill>
            <a:srgbClr val="CC6600"/>
          </a:solidFill>
          <a:ln/>
        </p:spPr>
      </p:sp>
      <p:sp>
        <p:nvSpPr>
          <p:cNvPr id="15" name="Text 12"/>
          <p:cNvSpPr txBox="1"/>
          <p:nvPr/>
        </p:nvSpPr>
        <p:spPr>
          <a:xfrm>
            <a:off x="474067" y="2834481"/>
            <a:ext cx="231379" cy="190500"/>
          </a:xfrm>
          <a:prstGeom prst="rect">
            <a:avLst/>
          </a:prstGeom>
          <a:noFill/>
          <a:ln/>
        </p:spPr>
        <p:txBody>
          <a:bodyPr wrap="none" lIns="0" tIns="0" rIns="0" bIns="0" rtlCol="0" anchor="t"/>
          <a:lstStyle/>
          <a:p>
            <a:pPr algn="l" indent="0" marL="0">
              <a:buNone/>
            </a:pPr>
            <a:r>
              <a:rPr lang="en-US" sz="1224" dirty="0">
                <a:solidFill>
                  <a:srgbClr val="FFFFFF"/>
                </a:solidFill>
                <a:latin typeface="Calibri" pitchFamily="34" charset="0"/>
                <a:ea typeface="Calibri" pitchFamily="34" charset="-122"/>
                <a:cs typeface="Calibri" pitchFamily="34" charset="-120"/>
              </a:rPr>
              <a:t>1</a:t>
            </a:r>
            <a:endParaRPr lang="en-US" sz="1224" dirty="0"/>
          </a:p>
        </p:txBody>
      </p:sp>
      <p:sp>
        <p:nvSpPr>
          <p:cNvPr id="16" name="Text 13"/>
          <p:cNvSpPr txBox="1"/>
          <p:nvPr/>
        </p:nvSpPr>
        <p:spPr>
          <a:xfrm>
            <a:off x="256381" y="2527697"/>
            <a:ext cx="5982891" cy="241300"/>
          </a:xfrm>
          <a:prstGeom prst="rect">
            <a:avLst/>
          </a:prstGeom>
          <a:noFill/>
          <a:ln/>
        </p:spPr>
        <p:txBody>
          <a:bodyPr wrap="none" lIns="0" tIns="0" rIns="0" bIns="0" rtlCol="0" anchor="t"/>
          <a:lstStyle/>
          <a:p>
            <a:pPr algn="l" indent="0" marL="0">
              <a:buNone/>
            </a:pPr>
            <a:r>
              <a:rPr lang="en-US" sz="1700" b="1" dirty="0">
                <a:solidFill>
                  <a:srgbClr val="993300"/>
                </a:solidFill>
                <a:latin typeface="Courier New" pitchFamily="34" charset="0"/>
                <a:ea typeface="Courier New" pitchFamily="34" charset="-122"/>
                <a:cs typeface="Courier New" pitchFamily="34" charset="-120"/>
              </a:rPr>
              <a:t>Content-Location</a:t>
            </a:r>
            <a:pPr algn="l" indent="0" marL="0">
              <a:buNone/>
            </a:pPr>
            <a:r>
              <a:rPr lang="en-US" sz="1700" b="1" dirty="0">
                <a:solidFill>
                  <a:srgbClr val="333399"/>
                </a:solidFill>
                <a:latin typeface="Courier New" pitchFamily="34" charset="0"/>
                <a:ea typeface="Courier New" pitchFamily="34" charset="-122"/>
                <a:cs typeface="Courier New" pitchFamily="34" charset="-120"/>
              </a:rPr>
              <a:t>:</a:t>
            </a:r>
            <a:pPr algn="l" indent="0" marL="0">
              <a:buNone/>
            </a:pPr>
            <a:r>
              <a:rPr lang="en-US" sz="1700" b="1" dirty="0">
                <a:solidFill>
                  <a:srgbClr val="993300"/>
                </a:solidFill>
                <a:latin typeface="Courier New" pitchFamily="34" charset="0"/>
                <a:ea typeface="Courier New" pitchFamily="34" charset="-122"/>
                <a:cs typeface="Courier New" pitchFamily="34" charset="-120"/>
              </a:rPr>
              <a:t> /contacts/stored-results/17</a:t>
            </a:r>
            <a:endParaRPr lang="en-US" sz="1700" dirty="0"/>
          </a:p>
        </p:txBody>
      </p:sp>
      <p:sp>
        <p:nvSpPr>
          <p:cNvPr id="17" name="Shape 14"/>
          <p:cNvSpPr/>
          <p:nvPr/>
        </p:nvSpPr>
        <p:spPr>
          <a:xfrm>
            <a:off x="5202833" y="3129557"/>
            <a:ext cx="209748" cy="209748"/>
          </a:xfrm>
          <a:prstGeom prst="roundRect">
            <a:avLst>
              <a:gd name="adj" fmla="val 50000"/>
            </a:avLst>
          </a:prstGeom>
          <a:solidFill>
            <a:srgbClr val="CC6600"/>
          </a:solidFill>
          <a:ln/>
        </p:spPr>
      </p:sp>
      <p:sp>
        <p:nvSpPr>
          <p:cNvPr id="18" name="Text 15"/>
          <p:cNvSpPr txBox="1"/>
          <p:nvPr/>
        </p:nvSpPr>
        <p:spPr>
          <a:xfrm>
            <a:off x="5268119" y="3131344"/>
            <a:ext cx="231379" cy="190500"/>
          </a:xfrm>
          <a:prstGeom prst="rect">
            <a:avLst/>
          </a:prstGeom>
          <a:noFill/>
          <a:ln/>
        </p:spPr>
        <p:txBody>
          <a:bodyPr wrap="none" lIns="0" tIns="0" rIns="0" bIns="0" rtlCol="0" anchor="t"/>
          <a:lstStyle/>
          <a:p>
            <a:pPr algn="l" indent="0" marL="0">
              <a:buNone/>
            </a:pPr>
            <a:r>
              <a:rPr lang="en-US" sz="1224" dirty="0">
                <a:solidFill>
                  <a:srgbClr val="FFFFFF"/>
                </a:solidFill>
                <a:latin typeface="Calibri" pitchFamily="34" charset="0"/>
                <a:ea typeface="Calibri" pitchFamily="34" charset="-122"/>
                <a:cs typeface="Calibri" pitchFamily="34" charset="-120"/>
              </a:rPr>
              <a:t>2</a:t>
            </a:r>
            <a:endParaRPr lang="en-US" sz="1224" dirty="0"/>
          </a:p>
        </p:txBody>
      </p:sp>
      <p:sp>
        <p:nvSpPr>
          <p:cNvPr id="19" name="Text 16"/>
          <p:cNvSpPr txBox="1"/>
          <p:nvPr/>
        </p:nvSpPr>
        <p:spPr>
          <a:xfrm>
            <a:off x="256381" y="3121421"/>
            <a:ext cx="4946452" cy="241300"/>
          </a:xfrm>
          <a:prstGeom prst="rect">
            <a:avLst/>
          </a:prstGeom>
          <a:noFill/>
          <a:ln/>
        </p:spPr>
        <p:txBody>
          <a:bodyPr wrap="none" lIns="0" tIns="0" rIns="0" bIns="0" rtlCol="0" anchor="t"/>
          <a:lstStyle/>
          <a:p>
            <a:pPr algn="l" indent="0" marL="0">
              <a:buNone/>
            </a:pPr>
            <a:r>
              <a:rPr lang="en-US" sz="1700" b="1" dirty="0">
                <a:solidFill>
                  <a:srgbClr val="993300"/>
                </a:solidFill>
                <a:latin typeface="Courier New" pitchFamily="34" charset="0"/>
                <a:ea typeface="Courier New" pitchFamily="34" charset="-122"/>
                <a:cs typeface="Courier New" pitchFamily="34" charset="-120"/>
              </a:rPr>
              <a:t>Location</a:t>
            </a:r>
            <a:pPr algn="l" indent="0" marL="0">
              <a:buNone/>
            </a:pPr>
            <a:r>
              <a:rPr lang="en-US" sz="1700" b="1" dirty="0">
                <a:solidFill>
                  <a:srgbClr val="333399"/>
                </a:solidFill>
                <a:latin typeface="Courier New" pitchFamily="34" charset="0"/>
                <a:ea typeface="Courier New" pitchFamily="34" charset="-122"/>
                <a:cs typeface="Courier New" pitchFamily="34" charset="-120"/>
              </a:rPr>
              <a:t>:</a:t>
            </a:r>
            <a:pPr algn="l" indent="0" marL="0">
              <a:buNone/>
            </a:pPr>
            <a:r>
              <a:rPr lang="en-US" sz="1700" b="1" dirty="0">
                <a:solidFill>
                  <a:srgbClr val="993300"/>
                </a:solidFill>
                <a:latin typeface="Courier New" pitchFamily="34" charset="0"/>
                <a:ea typeface="Courier New" pitchFamily="34" charset="-122"/>
                <a:cs typeface="Courier New" pitchFamily="34" charset="-120"/>
              </a:rPr>
              <a:t> /contacts/stored-queries/42</a:t>
            </a:r>
            <a:endParaRPr lang="en-US" sz="1700" dirty="0"/>
          </a:p>
        </p:txBody>
      </p:sp>
      <p:sp>
        <p:nvSpPr>
          <p:cNvPr id="20" name="Text 17"/>
          <p:cNvSpPr txBox="1"/>
          <p:nvPr/>
        </p:nvSpPr>
        <p:spPr>
          <a:xfrm>
            <a:off x="256381" y="3418284"/>
            <a:ext cx="5853311" cy="241300"/>
          </a:xfrm>
          <a:prstGeom prst="rect">
            <a:avLst/>
          </a:prstGeom>
          <a:noFill/>
          <a:ln/>
        </p:spPr>
        <p:txBody>
          <a:bodyPr wrap="none" lIns="0" tIns="0" rIns="0" bIns="0" rtlCol="0" anchor="t"/>
          <a:lstStyle/>
          <a:p>
            <a:pPr algn="l" indent="0" marL="0">
              <a:buNone/>
            </a:pPr>
            <a:r>
              <a:rPr lang="en-US" sz="1700" b="1" dirty="0">
                <a:solidFill>
                  <a:srgbClr val="993300"/>
                </a:solidFill>
                <a:latin typeface="Courier New" pitchFamily="34" charset="0"/>
                <a:ea typeface="Courier New" pitchFamily="34" charset="-122"/>
                <a:cs typeface="Courier New" pitchFamily="34" charset="-120"/>
              </a:rPr>
              <a:t>Last-Modified</a:t>
            </a:r>
            <a:pPr algn="l" indent="0" marL="0">
              <a:buNone/>
            </a:pPr>
            <a:r>
              <a:rPr lang="en-US" sz="1700" b="1" dirty="0">
                <a:solidFill>
                  <a:srgbClr val="333399"/>
                </a:solidFill>
                <a:latin typeface="Courier New" pitchFamily="34" charset="0"/>
                <a:ea typeface="Courier New" pitchFamily="34" charset="-122"/>
                <a:cs typeface="Courier New" pitchFamily="34" charset="-120"/>
              </a:rPr>
              <a:t>:</a:t>
            </a:r>
            <a:pPr algn="l" indent="0" marL="0">
              <a:buNone/>
            </a:pPr>
            <a:r>
              <a:rPr lang="en-US" sz="1700" b="1" dirty="0">
                <a:solidFill>
                  <a:srgbClr val="000000"/>
                </a:solidFill>
                <a:latin typeface="Courier New" pitchFamily="34" charset="0"/>
                <a:ea typeface="Courier New" pitchFamily="34" charset="-122"/>
                <a:cs typeface="Courier New" pitchFamily="34" charset="-120"/>
              </a:rPr>
              <a:t> </a:t>
            </a:r>
            <a:pPr algn="l" indent="0" marL="0">
              <a:buNone/>
            </a:pPr>
            <a:r>
              <a:rPr lang="en-US" sz="1700" b="1" dirty="0">
                <a:solidFill>
                  <a:srgbClr val="993300"/>
                </a:solidFill>
                <a:latin typeface="Courier New" pitchFamily="34" charset="0"/>
                <a:ea typeface="Courier New" pitchFamily="34" charset="-122"/>
                <a:cs typeface="Courier New" pitchFamily="34" charset="-120"/>
              </a:rPr>
              <a:t>Sat, 25 Aug 2012 23:34:45 GMT</a:t>
            </a:r>
            <a:endParaRPr lang="en-US" sz="1700" dirty="0"/>
          </a:p>
        </p:txBody>
      </p:sp>
      <p:sp>
        <p:nvSpPr>
          <p:cNvPr id="21" name="Text 18"/>
          <p:cNvSpPr txBox="1"/>
          <p:nvPr/>
        </p:nvSpPr>
        <p:spPr>
          <a:xfrm>
            <a:off x="256381" y="4012009"/>
            <a:ext cx="5853708" cy="241300"/>
          </a:xfrm>
          <a:prstGeom prst="rect">
            <a:avLst/>
          </a:prstGeom>
          <a:noFill/>
          <a:ln/>
        </p:spPr>
        <p:txBody>
          <a:bodyPr wrap="none" lIns="0" tIns="0" rIns="0" bIns="0" rtlCol="0" anchor="t"/>
          <a:lstStyle/>
          <a:p>
            <a:pPr algn="l" indent="0" marL="0">
              <a:buNone/>
            </a:pPr>
            <a:r>
              <a:rPr lang="en-US" sz="1700" b="1" dirty="0">
                <a:solidFill>
                  <a:srgbClr val="000000"/>
                </a:solidFill>
                <a:latin typeface="Courier New" pitchFamily="34" charset="0"/>
                <a:ea typeface="Courier New" pitchFamily="34" charset="-122"/>
                <a:cs typeface="Courier New" pitchFamily="34" charset="-120"/>
              </a:rPr>
              <a:t>[ { </a:t>
            </a:r>
            <a:pPr algn="l" indent="0" marL="0">
              <a:buNone/>
            </a:pPr>
            <a:r>
              <a:rPr lang="en-US" sz="1700" b="1" dirty="0">
                <a:solidFill>
                  <a:srgbClr val="333399"/>
                </a:solidFill>
                <a:latin typeface="Courier New" pitchFamily="34" charset="0"/>
                <a:ea typeface="Courier New" pitchFamily="34" charset="-122"/>
                <a:cs typeface="Courier New" pitchFamily="34" charset="-120"/>
              </a:rPr>
              <a:t>"surname"</a:t>
            </a:r>
            <a:pPr algn="l" indent="0" marL="0">
              <a:buNone/>
            </a:pPr>
            <a:r>
              <a:rPr lang="en-US" sz="1700" b="1" dirty="0">
                <a:solidFill>
                  <a:srgbClr val="000000"/>
                </a:solidFill>
                <a:latin typeface="Courier New" pitchFamily="34" charset="0"/>
                <a:ea typeface="Courier New" pitchFamily="34" charset="-122"/>
                <a:cs typeface="Courier New" pitchFamily="34" charset="-120"/>
              </a:rPr>
              <a:t>:</a:t>
            </a:r>
            <a:pPr algn="l" indent="0" marL="0">
              <a:buNone/>
            </a:pPr>
            <a:r>
              <a:rPr lang="en-US" sz="1700" b="1" dirty="0">
                <a:solidFill>
                  <a:srgbClr val="000000"/>
                </a:solidFill>
                <a:latin typeface="Courier New" pitchFamily="34" charset="0"/>
                <a:ea typeface="Courier New" pitchFamily="34" charset="-122"/>
                <a:cs typeface="Courier New" pitchFamily="34" charset="-120"/>
              </a:rPr>
              <a:t> </a:t>
            </a:r>
            <a:pPr algn="l" indent="0" marL="0">
              <a:buNone/>
            </a:pPr>
            <a:r>
              <a:rPr lang="en-US" sz="1700" b="1" dirty="0">
                <a:solidFill>
                  <a:srgbClr val="993300"/>
                </a:solidFill>
                <a:latin typeface="Courier New" pitchFamily="34" charset="0"/>
                <a:ea typeface="Courier New" pitchFamily="34" charset="-122"/>
                <a:cs typeface="Courier New" pitchFamily="34" charset="-120"/>
              </a:rPr>
              <a:t>"Smith"</a:t>
            </a:r>
            <a:pPr algn="l" indent="0" marL="0">
              <a:buNone/>
            </a:pPr>
            <a:r>
              <a:rPr lang="en-US" sz="1700" b="1" dirty="0">
                <a:solidFill>
                  <a:srgbClr val="000000"/>
                </a:solidFill>
                <a:latin typeface="Courier New" pitchFamily="34" charset="0"/>
                <a:ea typeface="Courier New" pitchFamily="34" charset="-122"/>
                <a:cs typeface="Courier New" pitchFamily="34" charset="-120"/>
              </a:rPr>
              <a:t>,</a:t>
            </a:r>
            <a:pPr algn="l" indent="0" marL="0">
              <a:buNone/>
            </a:pPr>
            <a:r>
              <a:rPr lang="en-US" sz="1700" b="1" dirty="0">
                <a:solidFill>
                  <a:srgbClr val="000000"/>
                </a:solidFill>
                <a:latin typeface="Courier New" pitchFamily="34" charset="0"/>
                <a:ea typeface="Courier New" pitchFamily="34" charset="-122"/>
                <a:cs typeface="Courier New" pitchFamily="34" charset="-120"/>
              </a:rPr>
              <a:t> </a:t>
            </a:r>
            <a:pPr algn="l" indent="0" marL="0">
              <a:buNone/>
            </a:pPr>
            <a:r>
              <a:rPr lang="en-US" sz="1700" b="1" dirty="0">
                <a:solidFill>
                  <a:srgbClr val="333399"/>
                </a:solidFill>
                <a:latin typeface="Courier New" pitchFamily="34" charset="0"/>
                <a:ea typeface="Courier New" pitchFamily="34" charset="-122"/>
                <a:cs typeface="Courier New" pitchFamily="34" charset="-120"/>
              </a:rPr>
              <a:t>"givenname"</a:t>
            </a:r>
            <a:pPr algn="l" indent="0" marL="0">
              <a:buNone/>
            </a:pPr>
            <a:r>
              <a:rPr lang="en-US" sz="1700" b="1" dirty="0">
                <a:solidFill>
                  <a:srgbClr val="000000"/>
                </a:solidFill>
                <a:latin typeface="Courier New" pitchFamily="34" charset="0"/>
                <a:ea typeface="Courier New" pitchFamily="34" charset="-122"/>
                <a:cs typeface="Courier New" pitchFamily="34" charset="-120"/>
              </a:rPr>
              <a:t>:</a:t>
            </a:r>
            <a:pPr algn="l" indent="0" marL="0">
              <a:buNone/>
            </a:pPr>
            <a:r>
              <a:rPr lang="en-US" sz="1700" b="1" dirty="0">
                <a:solidFill>
                  <a:srgbClr val="000000"/>
                </a:solidFill>
                <a:latin typeface="Courier New" pitchFamily="34" charset="0"/>
                <a:ea typeface="Courier New" pitchFamily="34" charset="-122"/>
                <a:cs typeface="Courier New" pitchFamily="34" charset="-120"/>
              </a:rPr>
              <a:t> </a:t>
            </a:r>
            <a:pPr algn="l" indent="0" marL="0">
              <a:buNone/>
            </a:pPr>
            <a:r>
              <a:rPr lang="en-US" sz="1700" b="1" dirty="0">
                <a:solidFill>
                  <a:srgbClr val="993300"/>
                </a:solidFill>
                <a:latin typeface="Courier New" pitchFamily="34" charset="0"/>
                <a:ea typeface="Courier New" pitchFamily="34" charset="-122"/>
                <a:cs typeface="Courier New" pitchFamily="34" charset="-120"/>
              </a:rPr>
              <a:t>"John"</a:t>
            </a:r>
            <a:pPr algn="l" indent="0" marL="0">
              <a:buNone/>
            </a:pPr>
            <a:r>
              <a:rPr lang="en-US" sz="1700" b="1" dirty="0">
                <a:solidFill>
                  <a:srgbClr val="000000"/>
                </a:solidFill>
                <a:latin typeface="Courier New" pitchFamily="34" charset="0"/>
                <a:ea typeface="Courier New" pitchFamily="34" charset="-122"/>
                <a:cs typeface="Courier New" pitchFamily="34" charset="-120"/>
              </a:rPr>
              <a:t>,</a:t>
            </a:r>
            <a:endParaRPr lang="en-US" sz="1700" dirty="0"/>
          </a:p>
        </p:txBody>
      </p:sp>
      <p:sp>
        <p:nvSpPr>
          <p:cNvPr id="22" name="Text 19"/>
          <p:cNvSpPr txBox="1"/>
          <p:nvPr/>
        </p:nvSpPr>
        <p:spPr>
          <a:xfrm>
            <a:off x="256381" y="4308872"/>
            <a:ext cx="5205809" cy="241300"/>
          </a:xfrm>
          <a:prstGeom prst="rect">
            <a:avLst/>
          </a:prstGeom>
          <a:noFill/>
          <a:ln/>
        </p:spPr>
        <p:txBody>
          <a:bodyPr wrap="none" lIns="0" tIns="0" rIns="0" bIns="0" rtlCol="0" anchor="t"/>
          <a:lstStyle/>
          <a:p>
            <a:pPr algn="l" indent="0" marL="0">
              <a:buNone/>
            </a:pPr>
            <a:pPr algn="l" indent="0" marL="0">
              <a:buNone/>
            </a:pPr>
            <a:r>
              <a:rPr lang="en-US" sz="1700" b="1" dirty="0">
                <a:solidFill>
                  <a:srgbClr val="333399"/>
                </a:solidFill>
                <a:latin typeface="Courier New" pitchFamily="34" charset="0"/>
                <a:ea typeface="Courier New" pitchFamily="34" charset="-122"/>
                <a:cs typeface="Courier New" pitchFamily="34" charset="-120"/>
              </a:rPr>
              <a:t>"email"</a:t>
            </a:r>
            <a:pPr algn="l" indent="0" marL="0">
              <a:buNone/>
            </a:pPr>
            <a:r>
              <a:rPr lang="en-US" sz="1700" b="1" dirty="0">
                <a:solidFill>
                  <a:srgbClr val="000000"/>
                </a:solidFill>
                <a:latin typeface="Courier New" pitchFamily="34" charset="0"/>
                <a:ea typeface="Courier New" pitchFamily="34" charset="-122"/>
                <a:cs typeface="Courier New" pitchFamily="34" charset="-120"/>
              </a:rPr>
              <a:t>:</a:t>
            </a:r>
            <a:pPr algn="l" indent="0" marL="0">
              <a:buNone/>
            </a:pPr>
            <a:r>
              <a:rPr lang="en-US" sz="1700" b="1" dirty="0">
                <a:solidFill>
                  <a:srgbClr val="000000"/>
                </a:solidFill>
                <a:latin typeface="Courier New" pitchFamily="34" charset="0"/>
                <a:ea typeface="Courier New" pitchFamily="34" charset="-122"/>
                <a:cs typeface="Courier New" pitchFamily="34" charset="-120"/>
              </a:rPr>
              <a:t> </a:t>
            </a:r>
            <a:pPr algn="l" indent="0" marL="0">
              <a:buNone/>
            </a:pPr>
            <a:r>
              <a:rPr lang="en-US" sz="1700" b="1" dirty="0">
                <a:solidFill>
                  <a:srgbClr val="993300"/>
                </a:solidFill>
                <a:latin typeface="Courier New" pitchFamily="34" charset="0"/>
                <a:ea typeface="Courier New" pitchFamily="34" charset="-122"/>
                <a:cs typeface="Courier New" pitchFamily="34" charset="-120"/>
              </a:rPr>
              <a:t>"smith@example.org"</a:t>
            </a:r>
            <a:pPr algn="l" indent="0" marL="0">
              <a:buNone/>
            </a:pPr>
            <a:r>
              <a:rPr lang="en-US" sz="1700" b="1" dirty="0">
                <a:solidFill>
                  <a:srgbClr val="000000"/>
                </a:solidFill>
                <a:latin typeface="Courier New" pitchFamily="34" charset="0"/>
                <a:ea typeface="Courier New" pitchFamily="34" charset="-122"/>
                <a:cs typeface="Courier New" pitchFamily="34" charset="-120"/>
              </a:rPr>
              <a:t> }</a:t>
            </a:r>
            <a:pPr algn="l" indent="0" marL="0">
              <a:buNone/>
            </a:pPr>
            <a:r>
              <a:rPr lang="en-US" sz="1700" b="1" dirty="0">
                <a:solidFill>
                  <a:srgbClr val="000000"/>
                </a:solidFill>
                <a:latin typeface="Courier New" pitchFamily="34" charset="0"/>
                <a:ea typeface="Courier New" pitchFamily="34" charset="-122"/>
                <a:cs typeface="Courier New" pitchFamily="34" charset="-120"/>
              </a:rPr>
              <a:t>,</a:t>
            </a:r>
            <a:pPr algn="l" indent="0" marL="0">
              <a:buNone/>
            </a:pPr>
            <a:r>
              <a:rPr lang="en-US" sz="1700" b="1" dirty="0">
                <a:solidFill>
                  <a:srgbClr val="000000"/>
                </a:solidFill>
                <a:latin typeface="Courier New" pitchFamily="34" charset="0"/>
                <a:ea typeface="Courier New" pitchFamily="34" charset="-122"/>
                <a:cs typeface="Courier New" pitchFamily="34" charset="-120"/>
              </a:rPr>
              <a:t> … ]</a:t>
            </a:r>
            <a:endParaRPr lang="en-US" sz="1700" dirty="0"/>
          </a:p>
        </p:txBody>
      </p:sp>
      <p:sp>
        <p:nvSpPr>
          <p:cNvPr id="23" name="Shape 20"/>
          <p:cNvSpPr/>
          <p:nvPr/>
        </p:nvSpPr>
        <p:spPr>
          <a:xfrm>
            <a:off x="91281" y="4897835"/>
            <a:ext cx="6421437" cy="584200"/>
          </a:xfrm>
          <a:prstGeom prst="rect">
            <a:avLst/>
          </a:prstGeom>
          <a:solidFill>
            <a:srgbClr val="FFFFFF"/>
          </a:solidFill>
          <a:ln w="25400">
            <a:solidFill>
              <a:srgbClr val="993300"/>
            </a:solidFill>
            <a:prstDash val="solid"/>
          </a:ln>
        </p:spPr>
      </p:sp>
      <p:sp>
        <p:nvSpPr>
          <p:cNvPr id="24" name="Text 21"/>
          <p:cNvSpPr txBox="1"/>
          <p:nvPr/>
        </p:nvSpPr>
        <p:spPr>
          <a:xfrm>
            <a:off x="319881" y="5050235"/>
            <a:ext cx="5603676"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If the query is sensitive, these URIs </a:t>
            </a:r>
            <a:pPr algn="l" indent="0" marL="0">
              <a:buNone/>
            </a:pPr>
            <a:r>
              <a:rPr lang="en-US" sz="1600" b="1" dirty="0">
                <a:solidFill>
                  <a:srgbClr val="000000"/>
                </a:solidFill>
                <a:latin typeface="Calibri" pitchFamily="34" charset="0"/>
                <a:ea typeface="Calibri" pitchFamily="34" charset="-122"/>
                <a:cs typeface="Calibri" pitchFamily="34" charset="-120"/>
              </a:rPr>
              <a:t>should not</a:t>
            </a:r>
            <a:pPr algn="l" indent="0" marL="0">
              <a:buNone/>
            </a:pPr>
            <a:r>
              <a:rPr lang="en-US" sz="1600" dirty="0">
                <a:solidFill>
                  <a:srgbClr val="000000"/>
                </a:solidFill>
                <a:latin typeface="Calibri" pitchFamily="34" charset="0"/>
                <a:ea typeface="Calibri" pitchFamily="34" charset="-122"/>
                <a:cs typeface="Calibri" pitchFamily="34" charset="-120"/>
              </a:rPr>
              <a:t> contain it </a:t>
            </a:r>
            <a:pPr algn="l" indent="0" marL="0">
              <a:buNone/>
            </a:pPr>
            <a:r>
              <a:rPr lang="en-US" sz="992" u="sng" dirty="0">
                <a:solidFill>
                  <a:srgbClr val="59595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10008 §4]</a:t>
            </a:r>
            <a:endParaRPr lang="en-US" sz="1600" dirty="0"/>
          </a:p>
        </p:txBody>
      </p:sp>
      <p:pic>
        <p:nvPicPr>
          <p:cNvPr id="25" name="Image 1" descr="Rendered as an image because of CSS transform">    </p:cNvPr>
          <p:cNvPicPr>
            <a:picLocks noChangeAspect="1"/>
          </p:cNvPicPr>
          <p:nvPr/>
        </p:nvPicPr>
        <p:blipFill>
          <a:blip r:embed="rId3"/>
          <a:stretch>
            <a:fillRect/>
          </a:stretch>
        </p:blipFill>
        <p:spPr>
          <a:xfrm>
            <a:off x="6817519" y="1386681"/>
            <a:ext cx="304800" cy="304800"/>
          </a:xfrm>
          <a:prstGeom prst="rect">
            <a:avLst/>
          </a:prstGeom>
        </p:spPr>
      </p:pic>
      <p:sp>
        <p:nvSpPr>
          <p:cNvPr id="26" name="Text 22"/>
          <p:cNvSpPr txBox="1"/>
          <p:nvPr/>
        </p:nvSpPr>
        <p:spPr>
          <a:xfrm>
            <a:off x="7249319" y="1373981"/>
            <a:ext cx="4700175" cy="635000"/>
          </a:xfrm>
          <a:prstGeom prst="rect">
            <a:avLst/>
          </a:prstGeom>
          <a:noFill/>
          <a:ln/>
        </p:spPr>
        <p:txBody>
          <a:bodyPr wrap="square" lIns="0" tIns="0" rIns="0" bIns="0" rtlCol="0" anchor="t"/>
          <a:lstStyle/>
          <a:p>
            <a:pPr algn="l" indent="0" marL="0">
              <a:lnSpc>
                <a:spcPts val="2600"/>
              </a:lnSpc>
              <a:buNone/>
            </a:pPr>
            <a:r>
              <a:rPr lang="en-US" sz="2000" b="1" dirty="0">
                <a:solidFill>
                  <a:srgbClr val="000000"/>
                </a:solidFill>
                <a:latin typeface="Calibri" pitchFamily="34" charset="0"/>
                <a:ea typeface="Calibri" pitchFamily="34" charset="-122"/>
                <a:cs typeface="Calibri" pitchFamily="34" charset="-120"/>
              </a:rPr>
              <a:t>Content-Location.</a:t>
            </a:r>
            <a:pPr algn="l" indent="0" marL="0">
              <a:lnSpc>
                <a:spcPts val="2600"/>
              </a:lnSpc>
              <a:buNone/>
            </a:pPr>
            <a:r>
              <a:rPr lang="en-US" sz="2000" dirty="0">
                <a:solidFill>
                  <a:srgbClr val="000000"/>
                </a:solidFill>
                <a:latin typeface="Calibri" pitchFamily="34" charset="0"/>
                <a:ea typeface="Calibri" pitchFamily="34" charset="-122"/>
                <a:cs typeface="Calibri" pitchFamily="34" charset="-120"/>
              </a:rPr>
              <a:t> A GET to this URI gets </a:t>
            </a:r>
            <a:pPr algn="l" indent="0" marL="0">
              <a:lnSpc>
                <a:spcPts val="2600"/>
              </a:lnSpc>
              <a:buNone/>
            </a:pPr>
            <a:r>
              <a:rPr lang="en-US" sz="2000" i="1" dirty="0">
                <a:solidFill>
                  <a:srgbClr val="000000"/>
                </a:solidFill>
                <a:latin typeface="Calibri" pitchFamily="34" charset="0"/>
                <a:ea typeface="Calibri" pitchFamily="34" charset="-122"/>
                <a:cs typeface="Calibri" pitchFamily="34" charset="-120"/>
              </a:rPr>
              <a:t>this result</a:t>
            </a:r>
            <a:pPr algn="l" indent="0" marL="0">
              <a:lnSpc>
                <a:spcPts val="2600"/>
              </a:lnSpc>
              <a:buNone/>
            </a:pPr>
            <a:r>
              <a:rPr lang="en-US" sz="2000" dirty="0">
                <a:solidFill>
                  <a:srgbClr val="000000"/>
                </a:solidFill>
                <a:latin typeface="Calibri" pitchFamily="34" charset="0"/>
                <a:ea typeface="Calibri" pitchFamily="34" charset="-122"/>
                <a:cs typeface="Calibri" pitchFamily="34" charset="-120"/>
              </a:rPr>
              <a:t> again </a:t>
            </a:r>
            <a:pPr algn="l" indent="0" marL="0">
              <a:lnSpc>
                <a:spcPts val="2600"/>
              </a:lnSpc>
              <a:buNone/>
            </a:pPr>
            <a:r>
              <a:rPr lang="en-US" sz="1240" u="sng" dirty="0">
                <a:solidFill>
                  <a:srgbClr val="59595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10008 §2.3]</a:t>
            </a:r>
            <a:endParaRPr lang="en-US" sz="2000" dirty="0"/>
          </a:p>
        </p:txBody>
      </p:sp>
      <p:pic>
        <p:nvPicPr>
          <p:cNvPr id="27" name="Image 2" descr="Rendered as an image because of CSS transform">    </p:cNvPr>
          <p:cNvPicPr>
            <a:picLocks noChangeAspect="1"/>
          </p:cNvPicPr>
          <p:nvPr/>
        </p:nvPicPr>
        <p:blipFill>
          <a:blip r:embed="rId5"/>
          <a:stretch>
            <a:fillRect/>
          </a:stretch>
        </p:blipFill>
        <p:spPr>
          <a:xfrm>
            <a:off x="6817519" y="2250281"/>
            <a:ext cx="304800" cy="304800"/>
          </a:xfrm>
          <a:prstGeom prst="rect">
            <a:avLst/>
          </a:prstGeom>
        </p:spPr>
      </p:pic>
      <p:sp>
        <p:nvSpPr>
          <p:cNvPr id="28" name="Text 23"/>
          <p:cNvSpPr txBox="1"/>
          <p:nvPr/>
        </p:nvSpPr>
        <p:spPr>
          <a:xfrm>
            <a:off x="7249319" y="2237581"/>
            <a:ext cx="4673600" cy="635000"/>
          </a:xfrm>
          <a:prstGeom prst="rect">
            <a:avLst/>
          </a:prstGeom>
          <a:noFill/>
          <a:ln/>
        </p:spPr>
        <p:txBody>
          <a:bodyPr wrap="square" lIns="0" tIns="0" rIns="0" bIns="0" rtlCol="0" anchor="t"/>
          <a:lstStyle/>
          <a:p>
            <a:pPr algn="l" indent="0" marL="0">
              <a:lnSpc>
                <a:spcPts val="2600"/>
              </a:lnSpc>
              <a:buNone/>
            </a:pPr>
            <a:r>
              <a:rPr lang="en-US" sz="2000" b="1" dirty="0">
                <a:solidFill>
                  <a:srgbClr val="000000"/>
                </a:solidFill>
                <a:latin typeface="Calibri" pitchFamily="34" charset="0"/>
                <a:ea typeface="Calibri" pitchFamily="34" charset="-122"/>
                <a:cs typeface="Calibri" pitchFamily="34" charset="-120"/>
              </a:rPr>
              <a:t>Location.</a:t>
            </a:r>
            <a:pPr algn="l" indent="0" marL="0">
              <a:lnSpc>
                <a:spcPts val="2600"/>
              </a:lnSpc>
              <a:buNone/>
            </a:pPr>
            <a:r>
              <a:rPr lang="en-US" sz="2000" dirty="0">
                <a:solidFill>
                  <a:srgbClr val="000000"/>
                </a:solidFill>
                <a:latin typeface="Calibri" pitchFamily="34" charset="0"/>
                <a:ea typeface="Calibri" pitchFamily="34" charset="-122"/>
                <a:cs typeface="Calibri" pitchFamily="34" charset="-120"/>
              </a:rPr>
              <a:t> A GET to this URI </a:t>
            </a:r>
            <a:pPr algn="l" indent="0" marL="0">
              <a:lnSpc>
                <a:spcPts val="2600"/>
              </a:lnSpc>
              <a:buNone/>
            </a:pPr>
            <a:r>
              <a:rPr lang="en-US" sz="2000" i="1" dirty="0">
                <a:solidFill>
                  <a:srgbClr val="000000"/>
                </a:solidFill>
                <a:latin typeface="Calibri" pitchFamily="34" charset="0"/>
                <a:ea typeface="Calibri" pitchFamily="34" charset="-122"/>
                <a:cs typeface="Calibri" pitchFamily="34" charset="-120"/>
              </a:rPr>
              <a:t>runs the query</a:t>
            </a:r>
            <a:pPr algn="l" indent="0" marL="0">
              <a:lnSpc>
                <a:spcPts val="2600"/>
              </a:lnSpc>
              <a:buNone/>
            </a:pPr>
            <a:r>
              <a:rPr lang="en-US" sz="2000" dirty="0">
                <a:solidFill>
                  <a:srgbClr val="000000"/>
                </a:solidFill>
                <a:latin typeface="Calibri" pitchFamily="34" charset="0"/>
                <a:ea typeface="Calibri" pitchFamily="34" charset="-122"/>
                <a:cs typeface="Calibri" pitchFamily="34" charset="-120"/>
              </a:rPr>
              <a:t> again, with no content </a:t>
            </a:r>
            <a:pPr algn="l" indent="0" marL="0">
              <a:lnSpc>
                <a:spcPts val="2600"/>
              </a:lnSpc>
              <a:buNone/>
            </a:pPr>
            <a:r>
              <a:rPr lang="en-US" sz="1240" u="sng" dirty="0">
                <a:solidFill>
                  <a:srgbClr val="595959"/>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[RFC 10008 §2.4]</a:t>
            </a:r>
            <a:endParaRPr lang="en-US" sz="2000" dirty="0"/>
          </a:p>
        </p:txBody>
      </p:sp>
      <p:pic>
        <p:nvPicPr>
          <p:cNvPr id="29" name="Image 3" descr="Rendered as an image because of CSS transform">    </p:cNvPr>
          <p:cNvPicPr>
            <a:picLocks noChangeAspect="1"/>
          </p:cNvPicPr>
          <p:nvPr/>
        </p:nvPicPr>
        <p:blipFill>
          <a:blip r:embed="rId7"/>
          <a:stretch>
            <a:fillRect/>
          </a:stretch>
        </p:blipFill>
        <p:spPr>
          <a:xfrm>
            <a:off x="6817519" y="3113881"/>
            <a:ext cx="355600" cy="304800"/>
          </a:xfrm>
          <a:prstGeom prst="rect">
            <a:avLst/>
          </a:prstGeom>
        </p:spPr>
      </p:pic>
      <p:sp>
        <p:nvSpPr>
          <p:cNvPr id="30" name="Text 24"/>
          <p:cNvSpPr txBox="1"/>
          <p:nvPr/>
        </p:nvSpPr>
        <p:spPr>
          <a:xfrm>
            <a:off x="7300119" y="3101181"/>
            <a:ext cx="4622800" cy="635000"/>
          </a:xfrm>
          <a:prstGeom prst="rect">
            <a:avLst/>
          </a:prstGeom>
          <a:noFill/>
          <a:ln/>
        </p:spPr>
        <p:txBody>
          <a:bodyPr wrap="square" lIns="0" tIns="0" rIns="0" bIns="0" rtlCol="0" anchor="t"/>
          <a:lstStyle/>
          <a:p>
            <a:pPr algn="l" indent="0" marL="0">
              <a:lnSpc>
                <a:spcPts val="2600"/>
              </a:lnSpc>
              <a:buNone/>
            </a:pPr>
            <a:r>
              <a:rPr lang="en-US" sz="2000" b="1" dirty="0">
                <a:solidFill>
                  <a:srgbClr val="000000"/>
                </a:solidFill>
                <a:latin typeface="Calibri" pitchFamily="34" charset="0"/>
                <a:ea typeface="Calibri" pitchFamily="34" charset="-122"/>
                <a:cs typeface="Calibri" pitchFamily="34" charset="-120"/>
              </a:rPr>
              <a:t>Redirects.</a:t>
            </a:r>
            <a:pPr algn="l" indent="0" marL="0">
              <a:lnSpc>
                <a:spcPts val="2600"/>
              </a:lnSpc>
              <a:buNone/>
            </a:pPr>
            <a:r>
              <a:rPr lang="en-US" sz="2000" dirty="0">
                <a:solidFill>
                  <a:srgbClr val="000000"/>
                </a:solidFill>
                <a:latin typeface="Calibri" pitchFamily="34" charset="0"/>
                <a:ea typeface="Calibri" pitchFamily="34" charset="-122"/>
                <a:cs typeface="Calibri" pitchFamily="34" charset="-120"/>
              </a:rPr>
              <a:t> 301, 302, 307 and 308 keep QUERY. 303 changes it to GET </a:t>
            </a:r>
            <a:pPr algn="l" indent="0" marL="0">
              <a:lnSpc>
                <a:spcPts val="2600"/>
              </a:lnSpc>
              <a:buNone/>
            </a:pPr>
            <a:r>
              <a:rPr lang="en-US" sz="1240" u="sng" dirty="0">
                <a:solidFill>
                  <a:srgbClr val="595959"/>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[RFC 10008 §2.5]</a:t>
            </a:r>
            <a:endParaRPr lang="en-US" sz="2000" dirty="0"/>
          </a:p>
        </p:txBody>
      </p:sp>
      <p:pic>
        <p:nvPicPr>
          <p:cNvPr id="31" name="Image 4" descr="Rendered as an image because of CSS transform">    </p:cNvPr>
          <p:cNvPicPr>
            <a:picLocks noChangeAspect="1"/>
          </p:cNvPicPr>
          <p:nvPr/>
        </p:nvPicPr>
        <p:blipFill>
          <a:blip r:embed="rId9"/>
          <a:stretch>
            <a:fillRect/>
          </a:stretch>
        </p:blipFill>
        <p:spPr>
          <a:xfrm>
            <a:off x="6817519" y="3977481"/>
            <a:ext cx="313729" cy="304800"/>
          </a:xfrm>
          <a:prstGeom prst="rect">
            <a:avLst/>
          </a:prstGeom>
        </p:spPr>
      </p:pic>
      <p:sp>
        <p:nvSpPr>
          <p:cNvPr id="32" name="Text 25"/>
          <p:cNvSpPr txBox="1"/>
          <p:nvPr/>
        </p:nvSpPr>
        <p:spPr>
          <a:xfrm>
            <a:off x="7258248" y="3964781"/>
            <a:ext cx="4736608" cy="635000"/>
          </a:xfrm>
          <a:prstGeom prst="rect">
            <a:avLst/>
          </a:prstGeom>
          <a:noFill/>
          <a:ln/>
        </p:spPr>
        <p:txBody>
          <a:bodyPr wrap="square" lIns="0" tIns="0" rIns="0" bIns="0" rtlCol="0" anchor="t"/>
          <a:lstStyle/>
          <a:p>
            <a:pPr algn="l" indent="0" marL="0">
              <a:lnSpc>
                <a:spcPts val="2600"/>
              </a:lnSpc>
              <a:buNone/>
            </a:pPr>
            <a:r>
              <a:rPr lang="en-US" sz="2000" b="1" dirty="0">
                <a:solidFill>
                  <a:srgbClr val="000000"/>
                </a:solidFill>
                <a:latin typeface="Calibri" pitchFamily="34" charset="0"/>
                <a:ea typeface="Calibri" pitchFamily="34" charset="-122"/>
                <a:cs typeface="Calibri" pitchFamily="34" charset="-120"/>
              </a:rPr>
              <a:t>Conditional requests</a:t>
            </a:r>
            <a:pPr algn="l" indent="0" marL="0">
              <a:lnSpc>
                <a:spcPts val="2600"/>
              </a:lnSpc>
              <a:buNone/>
            </a:pPr>
            <a:r>
              <a:rPr lang="en-US" sz="2000" dirty="0">
                <a:solidFill>
                  <a:srgbClr val="000000"/>
                </a:solidFill>
                <a:latin typeface="Calibri" pitchFamily="34" charset="0"/>
                <a:ea typeface="Calibri" pitchFamily="34" charset="-122"/>
                <a:cs typeface="Calibri" pitchFamily="34" charset="-120"/>
              </a:rPr>
              <a:t> work as for GET, so 304 is possible </a:t>
            </a:r>
            <a:pPr algn="l" indent="0" marL="0">
              <a:lnSpc>
                <a:spcPts val="2600"/>
              </a:lnSpc>
              <a:buNone/>
            </a:pPr>
            <a:r>
              <a:rPr lang="en-US" sz="1240" u="sng" dirty="0">
                <a:solidFill>
                  <a:srgbClr val="595959"/>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[RFC 10008 §2.6]</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16</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5045869"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Send a QUERY request: curl and fetch()</a:t>
            </a:r>
            <a:endParaRPr lang="en-US" sz="2400" dirty="0"/>
          </a:p>
        </p:txBody>
      </p:sp>
      <p:sp>
        <p:nvSpPr>
          <p:cNvPr id="10" name="Shape 7"/>
          <p:cNvSpPr/>
          <p:nvPr/>
        </p:nvSpPr>
        <p:spPr>
          <a:xfrm>
            <a:off x="91281" y="1361281"/>
            <a:ext cx="5080000" cy="1320007"/>
          </a:xfrm>
          <a:prstGeom prst="rect">
            <a:avLst/>
          </a:prstGeom>
          <a:noFill/>
          <a:ln w="12700">
            <a:solidFill>
              <a:srgbClr val="333399"/>
            </a:solidFill>
            <a:prstDash val="solid"/>
          </a:ln>
        </p:spPr>
      </p:sp>
      <p:sp>
        <p:nvSpPr>
          <p:cNvPr id="11" name="Text 8"/>
          <p:cNvSpPr txBox="1"/>
          <p:nvPr/>
        </p:nvSpPr>
        <p:spPr>
          <a:xfrm>
            <a:off x="230981" y="1513681"/>
            <a:ext cx="1112837" cy="203200"/>
          </a:xfrm>
          <a:prstGeom prst="rect">
            <a:avLst/>
          </a:prstGeom>
          <a:noFill/>
          <a:ln/>
        </p:spPr>
        <p:txBody>
          <a:bodyPr wrap="none" lIns="0" tIns="0" rIns="0" bIns="0" rtlCol="0" anchor="t"/>
          <a:lstStyle/>
          <a:p>
            <a:pPr algn="l" indent="0" marL="0">
              <a:buNone/>
            </a:pPr>
            <a:r>
              <a:rPr lang="en-US" sz="1400" dirty="0">
                <a:solidFill>
                  <a:srgbClr val="000000"/>
                </a:solidFill>
                <a:latin typeface="Courier New" pitchFamily="34" charset="0"/>
                <a:ea typeface="Courier New" pitchFamily="34" charset="-122"/>
                <a:cs typeface="Courier New" pitchFamily="34" charset="-120"/>
              </a:rPr>
              <a:t>client.sh</a:t>
            </a:r>
            <a:endParaRPr lang="en-US" sz="1400" dirty="0"/>
          </a:p>
        </p:txBody>
      </p:sp>
      <p:sp>
        <p:nvSpPr>
          <p:cNvPr id="12" name="Text 9"/>
          <p:cNvSpPr txBox="1"/>
          <p:nvPr/>
        </p:nvSpPr>
        <p:spPr>
          <a:xfrm>
            <a:off x="230981" y="1820863"/>
            <a:ext cx="4634508"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curl</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-i</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-X</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QUERY</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localhost:8787/contacts</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endParaRPr lang="en-US" sz="1400" dirty="0"/>
          </a:p>
        </p:txBody>
      </p:sp>
      <p:sp>
        <p:nvSpPr>
          <p:cNvPr id="13" name="Text 10"/>
          <p:cNvSpPr txBox="1"/>
          <p:nvPr/>
        </p:nvSpPr>
        <p:spPr>
          <a:xfrm>
            <a:off x="230981" y="2065337"/>
            <a:ext cx="4314031" cy="203200"/>
          </a:xfrm>
          <a:prstGeom prst="rect">
            <a:avLst/>
          </a:prstGeom>
          <a:noFill/>
          <a:ln/>
        </p:spPr>
        <p:txBody>
          <a:bodyPr wrap="none" lIns="0" tIns="0" rIns="0" bIns="0" rtlCol="0" anchor="t"/>
          <a:lstStyle/>
          <a:p>
            <a:pPr algn="l" indent="0" marL="0">
              <a:buNone/>
            </a:pPr>
            <a:pPr algn="l" indent="0" marL="0">
              <a:buNone/>
            </a:pPr>
            <a:r>
              <a:rPr lang="en-US" sz="1400" b="1" dirty="0">
                <a:solidFill>
                  <a:srgbClr val="993300"/>
                </a:solidFill>
                <a:latin typeface="Courier New" pitchFamily="34" charset="0"/>
                <a:ea typeface="Courier New" pitchFamily="34" charset="-122"/>
                <a:cs typeface="Courier New" pitchFamily="34" charset="-120"/>
              </a:rPr>
              <a:t>-H</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'Content-Type: application/json'</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endParaRPr lang="en-US" sz="1400" dirty="0"/>
          </a:p>
        </p:txBody>
      </p:sp>
      <p:sp>
        <p:nvSpPr>
          <p:cNvPr id="14" name="Text 11"/>
          <p:cNvSpPr txBox="1"/>
          <p:nvPr/>
        </p:nvSpPr>
        <p:spPr>
          <a:xfrm>
            <a:off x="230981" y="2309812"/>
            <a:ext cx="4527352" cy="203200"/>
          </a:xfrm>
          <a:prstGeom prst="rect">
            <a:avLst/>
          </a:prstGeom>
          <a:noFill/>
          <a:ln/>
        </p:spPr>
        <p:txBody>
          <a:bodyPr wrap="none" lIns="0" tIns="0" rIns="0" bIns="0" rtlCol="0" anchor="t"/>
          <a:lstStyle/>
          <a:p>
            <a:pPr algn="l" indent="0" marL="0">
              <a:buNone/>
            </a:pPr>
            <a:pPr algn="l" indent="0" marL="0">
              <a:buNone/>
            </a:pPr>
            <a:r>
              <a:rPr lang="en-US" sz="1400" b="1" dirty="0">
                <a:solidFill>
                  <a:srgbClr val="993300"/>
                </a:solidFill>
                <a:latin typeface="Courier New" pitchFamily="34" charset="0"/>
                <a:ea typeface="Courier New" pitchFamily="34" charset="-122"/>
                <a:cs typeface="Courier New" pitchFamily="34" charset="-120"/>
              </a:rPr>
              <a:t>--data</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'{"q":"example.org","limit":10}'</a:t>
            </a:r>
            <a:endParaRPr lang="en-US" sz="1400" dirty="0"/>
          </a:p>
        </p:txBody>
      </p:sp>
      <p:sp>
        <p:nvSpPr>
          <p:cNvPr id="15" name="Shape 12"/>
          <p:cNvSpPr/>
          <p:nvPr/>
        </p:nvSpPr>
        <p:spPr>
          <a:xfrm>
            <a:off x="91281" y="2782888"/>
            <a:ext cx="5080000" cy="2434431"/>
          </a:xfrm>
          <a:prstGeom prst="rect">
            <a:avLst/>
          </a:prstGeom>
          <a:solidFill>
            <a:srgbClr val="FFFFFF"/>
          </a:solidFill>
          <a:ln w="12700">
            <a:solidFill>
              <a:srgbClr val="333399"/>
            </a:solidFill>
            <a:prstDash val="solid"/>
          </a:ln>
        </p:spPr>
      </p:sp>
      <p:sp>
        <p:nvSpPr>
          <p:cNvPr id="16" name="Shape 13"/>
          <p:cNvSpPr/>
          <p:nvPr/>
        </p:nvSpPr>
        <p:spPr>
          <a:xfrm>
            <a:off x="103981" y="2795588"/>
            <a:ext cx="5054600" cy="472281"/>
          </a:xfrm>
          <a:prstGeom prst="rect">
            <a:avLst/>
          </a:prstGeom>
          <a:solidFill>
            <a:srgbClr val="DAEDEF"/>
          </a:solidFill>
          <a:ln/>
        </p:spPr>
      </p:sp>
      <p:sp>
        <p:nvSpPr>
          <p:cNvPr id="17" name="Shape 14"/>
          <p:cNvSpPr/>
          <p:nvPr/>
        </p:nvSpPr>
        <p:spPr>
          <a:xfrm>
            <a:off x="103981" y="3255169"/>
            <a:ext cx="5054600" cy="12700"/>
          </a:xfrm>
          <a:prstGeom prst="rect">
            <a:avLst/>
          </a:prstGeom>
          <a:solidFill>
            <a:srgbClr val="333399"/>
          </a:solidFill>
          <a:ln/>
        </p:spPr>
      </p:sp>
      <p:sp>
        <p:nvSpPr>
          <p:cNvPr id="18" name="Shape 15"/>
          <p:cNvSpPr/>
          <p:nvPr/>
        </p:nvSpPr>
        <p:spPr>
          <a:xfrm>
            <a:off x="230981" y="2974579"/>
            <a:ext cx="127000" cy="127000"/>
          </a:xfrm>
          <a:prstGeom prst="roundRect">
            <a:avLst>
              <a:gd name="adj" fmla="val 50000"/>
            </a:avLst>
          </a:prstGeom>
          <a:solidFill>
            <a:srgbClr val="333399"/>
          </a:solidFill>
          <a:ln/>
        </p:spPr>
      </p:sp>
      <p:sp>
        <p:nvSpPr>
          <p:cNvPr id="19" name="Shape 16"/>
          <p:cNvSpPr/>
          <p:nvPr/>
        </p:nvSpPr>
        <p:spPr>
          <a:xfrm>
            <a:off x="434181" y="2974579"/>
            <a:ext cx="127000" cy="127000"/>
          </a:xfrm>
          <a:prstGeom prst="roundRect">
            <a:avLst>
              <a:gd name="adj" fmla="val 50000"/>
            </a:avLst>
          </a:prstGeom>
          <a:solidFill>
            <a:srgbClr val="333399"/>
          </a:solidFill>
          <a:ln/>
        </p:spPr>
      </p:sp>
      <p:sp>
        <p:nvSpPr>
          <p:cNvPr id="20" name="Shape 17"/>
          <p:cNvSpPr/>
          <p:nvPr/>
        </p:nvSpPr>
        <p:spPr>
          <a:xfrm>
            <a:off x="637381" y="2974579"/>
            <a:ext cx="127000" cy="127000"/>
          </a:xfrm>
          <a:prstGeom prst="roundRect">
            <a:avLst>
              <a:gd name="adj" fmla="val 50000"/>
            </a:avLst>
          </a:prstGeom>
          <a:solidFill>
            <a:srgbClr val="333399"/>
          </a:solidFill>
          <a:ln/>
        </p:spPr>
      </p:sp>
      <p:sp>
        <p:nvSpPr>
          <p:cNvPr id="21" name="Text 18"/>
          <p:cNvSpPr txBox="1"/>
          <p:nvPr/>
        </p:nvSpPr>
        <p:spPr>
          <a:xfrm>
            <a:off x="967581" y="2935288"/>
            <a:ext cx="792757" cy="203200"/>
          </a:xfrm>
          <a:prstGeom prst="rect">
            <a:avLst/>
          </a:prstGeom>
          <a:noFill/>
          <a:ln/>
        </p:spPr>
        <p:txBody>
          <a:bodyPr wrap="none" lIns="0" tIns="0" rIns="0" bIns="0" rtlCol="0" anchor="t"/>
          <a:lstStyle/>
          <a:p>
            <a:pPr algn="l" indent="0" marL="0">
              <a:buNone/>
            </a:pPr>
            <a:r>
              <a:rPr lang="en-US" sz="1400" dirty="0">
                <a:solidFill>
                  <a:srgbClr val="595959"/>
                </a:solidFill>
                <a:latin typeface="Courier New" pitchFamily="34" charset="0"/>
                <a:ea typeface="Courier New" pitchFamily="34" charset="-122"/>
                <a:cs typeface="Courier New" pitchFamily="34" charset="-120"/>
              </a:rPr>
              <a:t>output</a:t>
            </a:r>
            <a:endParaRPr lang="en-US" sz="1400" dirty="0"/>
          </a:p>
        </p:txBody>
      </p:sp>
      <p:sp>
        <p:nvSpPr>
          <p:cNvPr id="22" name="Text 19"/>
          <p:cNvSpPr txBox="1"/>
          <p:nvPr/>
        </p:nvSpPr>
        <p:spPr>
          <a:xfrm>
            <a:off x="230981" y="3382169"/>
            <a:ext cx="1752997"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HTTP/1.1 200 OK</a:t>
            </a:r>
            <a:endParaRPr lang="en-US" sz="1400" dirty="0"/>
          </a:p>
        </p:txBody>
      </p:sp>
      <p:sp>
        <p:nvSpPr>
          <p:cNvPr id="23" name="Text 20"/>
          <p:cNvSpPr txBox="1"/>
          <p:nvPr/>
        </p:nvSpPr>
        <p:spPr>
          <a:xfrm>
            <a:off x="230981" y="3671093"/>
            <a:ext cx="3993555"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Location: /contacts/stored-queries/1</a:t>
            </a:r>
            <a:endParaRPr lang="en-US" sz="1400" dirty="0"/>
          </a:p>
        </p:txBody>
      </p:sp>
      <p:sp>
        <p:nvSpPr>
          <p:cNvPr id="24" name="Text 21"/>
          <p:cNvSpPr txBox="1"/>
          <p:nvPr/>
        </p:nvSpPr>
        <p:spPr>
          <a:xfrm>
            <a:off x="230981" y="3960019"/>
            <a:ext cx="3353395"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Content-Type: application/json</a:t>
            </a:r>
            <a:endParaRPr lang="en-US" sz="1400" dirty="0"/>
          </a:p>
        </p:txBody>
      </p:sp>
      <p:sp>
        <p:nvSpPr>
          <p:cNvPr id="25" name="Text 22"/>
          <p:cNvSpPr txBox="1"/>
          <p:nvPr/>
        </p:nvSpPr>
        <p:spPr>
          <a:xfrm>
            <a:off x="230981" y="4537869"/>
            <a:ext cx="4313635"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[{"surname":"Smith","givenname":"John",</a:t>
            </a:r>
            <a:endParaRPr lang="en-US" sz="1400" dirty="0"/>
          </a:p>
        </p:txBody>
      </p:sp>
      <p:sp>
        <p:nvSpPr>
          <p:cNvPr id="26" name="Text 23"/>
          <p:cNvSpPr txBox="1"/>
          <p:nvPr/>
        </p:nvSpPr>
        <p:spPr>
          <a:xfrm>
            <a:off x="230981" y="4826793"/>
            <a:ext cx="3353395"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"email":"smith@example.org"}]</a:t>
            </a:r>
            <a:endParaRPr lang="en-US" sz="1400" dirty="0"/>
          </a:p>
        </p:txBody>
      </p:sp>
      <p:sp>
        <p:nvSpPr>
          <p:cNvPr id="27" name="Shape 24"/>
          <p:cNvSpPr/>
          <p:nvPr/>
        </p:nvSpPr>
        <p:spPr>
          <a:xfrm>
            <a:off x="5425281" y="1361281"/>
            <a:ext cx="6472237" cy="2297907"/>
          </a:xfrm>
          <a:prstGeom prst="rect">
            <a:avLst/>
          </a:prstGeom>
          <a:noFill/>
          <a:ln w="12700">
            <a:solidFill>
              <a:srgbClr val="333399"/>
            </a:solidFill>
            <a:prstDash val="solid"/>
          </a:ln>
        </p:spPr>
      </p:sp>
      <p:sp>
        <p:nvSpPr>
          <p:cNvPr id="28" name="Text 25"/>
          <p:cNvSpPr txBox="1"/>
          <p:nvPr/>
        </p:nvSpPr>
        <p:spPr>
          <a:xfrm>
            <a:off x="5564981" y="1513681"/>
            <a:ext cx="3566716" cy="203200"/>
          </a:xfrm>
          <a:prstGeom prst="rect">
            <a:avLst/>
          </a:prstGeom>
          <a:noFill/>
          <a:ln/>
        </p:spPr>
        <p:txBody>
          <a:bodyPr wrap="none" lIns="0" tIns="0" rIns="0" bIns="0" rtlCol="0" anchor="t"/>
          <a:lstStyle/>
          <a:p>
            <a:pPr algn="l" indent="0" marL="0">
              <a:buNone/>
            </a:pPr>
            <a:r>
              <a:rPr lang="en-US" sz="1400" dirty="0">
                <a:solidFill>
                  <a:srgbClr val="000000"/>
                </a:solidFill>
                <a:latin typeface="Courier New" pitchFamily="34" charset="0"/>
                <a:ea typeface="Courier New" pitchFamily="34" charset="-122"/>
                <a:cs typeface="Courier New" pitchFamily="34" charset="-120"/>
              </a:rPr>
              <a:t>client.mjs (browser, or Node 24)</a:t>
            </a:r>
            <a:endParaRPr lang="en-US" sz="1400" dirty="0"/>
          </a:p>
        </p:txBody>
      </p:sp>
      <p:sp>
        <p:nvSpPr>
          <p:cNvPr id="29" name="Text 26"/>
          <p:cNvSpPr txBox="1"/>
          <p:nvPr/>
        </p:nvSpPr>
        <p:spPr>
          <a:xfrm>
            <a:off x="5564981" y="1820863"/>
            <a:ext cx="4847629" cy="203200"/>
          </a:xfrm>
          <a:prstGeom prst="rect">
            <a:avLst/>
          </a:prstGeom>
          <a:noFill/>
          <a:ln/>
        </p:spPr>
        <p:txBody>
          <a:bodyPr wrap="none" lIns="0" tIns="0" rIns="0" bIns="0" rtlCol="0" anchor="t"/>
          <a:lstStyle/>
          <a:p>
            <a:pPr algn="l" indent="0" marL="0">
              <a:buNone/>
            </a:pPr>
            <a:r>
              <a:rPr lang="en-US" sz="1400" b="1" dirty="0">
                <a:solidFill>
                  <a:srgbClr val="333399"/>
                </a:solidFill>
                <a:latin typeface="Courier New" pitchFamily="34" charset="0"/>
                <a:ea typeface="Courier New" pitchFamily="34" charset="-122"/>
                <a:cs typeface="Courier New" pitchFamily="34" charset="-120"/>
              </a:rPr>
              <a:t>const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CC6600"/>
                </a:solidFill>
                <a:latin typeface="Courier New" pitchFamily="34" charset="0"/>
                <a:ea typeface="Courier New" pitchFamily="34" charset="-122"/>
                <a:cs typeface="Courier New" pitchFamily="34" charset="-120"/>
              </a:rPr>
              <a:t>url</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333399"/>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'http://localhost:8787/contacts'</a:t>
            </a:r>
            <a:endParaRPr lang="en-US" sz="1400" dirty="0"/>
          </a:p>
        </p:txBody>
      </p:sp>
      <p:sp>
        <p:nvSpPr>
          <p:cNvPr id="30" name="Text 27"/>
          <p:cNvSpPr txBox="1"/>
          <p:nvPr/>
        </p:nvSpPr>
        <p:spPr>
          <a:xfrm>
            <a:off x="5564981" y="2065337"/>
            <a:ext cx="3354388" cy="203200"/>
          </a:xfrm>
          <a:prstGeom prst="rect">
            <a:avLst/>
          </a:prstGeom>
          <a:noFill/>
          <a:ln/>
        </p:spPr>
        <p:txBody>
          <a:bodyPr wrap="none" lIns="0" tIns="0" rIns="0" bIns="0" rtlCol="0" anchor="t"/>
          <a:lstStyle/>
          <a:p>
            <a:pPr algn="l" indent="0" marL="0">
              <a:buNone/>
            </a:pPr>
            <a:r>
              <a:rPr lang="en-US" sz="1400" b="1" dirty="0">
                <a:solidFill>
                  <a:srgbClr val="333399"/>
                </a:solidFill>
                <a:latin typeface="Courier New" pitchFamily="34" charset="0"/>
                <a:ea typeface="Courier New" pitchFamily="34" charset="-122"/>
                <a:cs typeface="Courier New" pitchFamily="34" charset="-120"/>
              </a:rPr>
              <a:t>const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CC6600"/>
                </a:solidFill>
                <a:latin typeface="Courier New" pitchFamily="34" charset="0"/>
                <a:ea typeface="Courier New" pitchFamily="34" charset="-122"/>
                <a:cs typeface="Courier New" pitchFamily="34" charset="-120"/>
              </a:rPr>
              <a:t>res</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333399"/>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333399"/>
                </a:solidFill>
                <a:latin typeface="Courier New" pitchFamily="34" charset="0"/>
                <a:ea typeface="Courier New" pitchFamily="34" charset="-122"/>
                <a:cs typeface="Courier New" pitchFamily="34" charset="-120"/>
              </a:rPr>
              <a:t>await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000000"/>
                </a:solidFill>
                <a:latin typeface="Courier New" pitchFamily="34" charset="0"/>
                <a:ea typeface="Courier New" pitchFamily="34" charset="-122"/>
                <a:cs typeface="Courier New" pitchFamily="34" charset="-120"/>
              </a:rPr>
              <a:t>fetch</a:t>
            </a:r>
            <a:pPr algn="l" indent="0" marL="0">
              <a:buNone/>
            </a:pPr>
            <a:r>
              <a:rPr lang="en-US" sz="1400" b="1" dirty="0">
                <a:solidFill>
                  <a:srgbClr val="000000"/>
                </a:solidFill>
                <a:latin typeface="Courier New" pitchFamily="34" charset="0"/>
                <a:ea typeface="Courier New" pitchFamily="34" charset="-122"/>
                <a:cs typeface="Courier New" pitchFamily="34" charset="-120"/>
              </a:rPr>
              <a:t>(url</a:t>
            </a:r>
            <a:pPr algn="l" indent="0" marL="0">
              <a:buNone/>
            </a:pPr>
            <a:r>
              <a:rPr lang="en-US" sz="1400" b="1" dirty="0">
                <a:solidFill>
                  <a:srgbClr val="000000"/>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endParaRPr lang="en-US" sz="1400" dirty="0"/>
          </a:p>
        </p:txBody>
      </p:sp>
      <p:sp>
        <p:nvSpPr>
          <p:cNvPr id="31" name="Shape 28"/>
          <p:cNvSpPr/>
          <p:nvPr/>
        </p:nvSpPr>
        <p:spPr>
          <a:xfrm>
            <a:off x="5437981" y="2297112"/>
            <a:ext cx="6446837" cy="244475"/>
          </a:xfrm>
          <a:prstGeom prst="rect">
            <a:avLst/>
          </a:prstGeom>
          <a:solidFill>
            <a:srgbClr val="DAEDEF"/>
          </a:solidFill>
          <a:ln/>
        </p:spPr>
      </p:sp>
      <p:sp>
        <p:nvSpPr>
          <p:cNvPr id="32" name="Text 29"/>
          <p:cNvSpPr txBox="1"/>
          <p:nvPr/>
        </p:nvSpPr>
        <p:spPr>
          <a:xfrm>
            <a:off x="5564981" y="2309812"/>
            <a:ext cx="5274271"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method</a:t>
            </a:r>
            <a:pPr algn="l" indent="0" marL="0">
              <a:buNone/>
            </a:pPr>
            <a:r>
              <a:rPr lang="en-US" sz="1400" b="1" dirty="0">
                <a:solidFill>
                  <a:srgbClr val="333399"/>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'QUERY'</a:t>
            </a:r>
            <a:pPr algn="l" indent="0" marL="0">
              <a:buNone/>
            </a:pPr>
            <a:r>
              <a:rPr lang="en-US" sz="1400" b="1" dirty="0">
                <a:solidFill>
                  <a:srgbClr val="000000"/>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595959"/>
                </a:solidFill>
                <a:latin typeface="Courier New" pitchFamily="34" charset="0"/>
                <a:ea typeface="Courier New" pitchFamily="34" charset="-122"/>
                <a:cs typeface="Courier New" pitchFamily="34" charset="-120"/>
              </a:rPr>
              <a:t>// upper case: not normalised</a:t>
            </a:r>
            <a:endParaRPr lang="en-US" sz="1400" dirty="0"/>
          </a:p>
        </p:txBody>
      </p:sp>
      <p:sp>
        <p:nvSpPr>
          <p:cNvPr id="33" name="Text 30"/>
          <p:cNvSpPr txBox="1"/>
          <p:nvPr/>
        </p:nvSpPr>
        <p:spPr>
          <a:xfrm>
            <a:off x="5564981" y="2554288"/>
            <a:ext cx="5488185"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headers</a:t>
            </a:r>
            <a:pPr algn="l" indent="0" marL="0">
              <a:buNone/>
            </a:pPr>
            <a:r>
              <a:rPr lang="en-US" sz="1400" b="1" dirty="0">
                <a:solidFill>
                  <a:srgbClr val="333399"/>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 </a:t>
            </a:r>
            <a:pPr algn="l" indent="0" marL="0">
              <a:buNone/>
            </a:pPr>
            <a:r>
              <a:rPr lang="en-US" sz="1400" b="1" dirty="0">
                <a:solidFill>
                  <a:srgbClr val="993300"/>
                </a:solidFill>
                <a:latin typeface="Courier New" pitchFamily="34" charset="0"/>
                <a:ea typeface="Courier New" pitchFamily="34" charset="-122"/>
                <a:cs typeface="Courier New" pitchFamily="34" charset="-120"/>
              </a:rPr>
              <a:t>'Content-Type'</a:t>
            </a:r>
            <a:pPr algn="l" indent="0" marL="0">
              <a:buNone/>
            </a:pPr>
            <a:r>
              <a:rPr lang="en-US" sz="1400" b="1" dirty="0">
                <a:solidFill>
                  <a:srgbClr val="333399"/>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'application/json'</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000000"/>
                </a:solidFill>
                <a:latin typeface="Courier New" pitchFamily="34" charset="0"/>
                <a:ea typeface="Courier New" pitchFamily="34" charset="-122"/>
                <a:cs typeface="Courier New" pitchFamily="34" charset="-120"/>
              </a:rPr>
              <a:t>,</a:t>
            </a:r>
            <a:endParaRPr lang="en-US" sz="1400" dirty="0"/>
          </a:p>
        </p:txBody>
      </p:sp>
      <p:sp>
        <p:nvSpPr>
          <p:cNvPr id="34" name="Text 31"/>
          <p:cNvSpPr txBox="1"/>
          <p:nvPr/>
        </p:nvSpPr>
        <p:spPr>
          <a:xfrm>
            <a:off x="5564981" y="2798763"/>
            <a:ext cx="5702101"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body</a:t>
            </a:r>
            <a:pPr algn="l" indent="0" marL="0">
              <a:buNone/>
            </a:pPr>
            <a:r>
              <a:rPr lang="en-US" sz="1400" b="1" dirty="0">
                <a:solidFill>
                  <a:srgbClr val="333399"/>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CC6600"/>
                </a:solidFill>
                <a:latin typeface="Courier New" pitchFamily="34" charset="0"/>
                <a:ea typeface="Courier New" pitchFamily="34" charset="-122"/>
                <a:cs typeface="Courier New" pitchFamily="34" charset="-120"/>
              </a:rPr>
              <a:t>JSON</a:t>
            </a:r>
            <a:pPr algn="l" indent="0" marL="0">
              <a:buNone/>
            </a:pPr>
            <a:r>
              <a:rPr lang="en-US" sz="1400" b="1" dirty="0">
                <a:solidFill>
                  <a:srgbClr val="000000"/>
                </a:solidFill>
                <a:latin typeface="Courier New" pitchFamily="34" charset="0"/>
                <a:ea typeface="Courier New" pitchFamily="34" charset="-122"/>
                <a:cs typeface="Courier New" pitchFamily="34" charset="-120"/>
              </a:rPr>
              <a:t>.stringify</a:t>
            </a:r>
            <a:pPr algn="l" indent="0" marL="0">
              <a:buNone/>
            </a:pPr>
            <a:r>
              <a:rPr lang="en-US" sz="1400" b="1" dirty="0">
                <a:solidFill>
                  <a:srgbClr val="000000"/>
                </a:solidFill>
                <a:latin typeface="Courier New" pitchFamily="34" charset="0"/>
                <a:ea typeface="Courier New" pitchFamily="34" charset="-122"/>
                <a:cs typeface="Courier New" pitchFamily="34" charset="-120"/>
              </a:rPr>
              <a:t>({ q</a:t>
            </a:r>
            <a:pPr algn="l" indent="0" marL="0">
              <a:buNone/>
            </a:pPr>
            <a:r>
              <a:rPr lang="en-US" sz="1400" b="1" dirty="0">
                <a:solidFill>
                  <a:srgbClr val="333399"/>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'example'</a:t>
            </a:r>
            <a:pPr algn="l" indent="0" marL="0">
              <a:buNone/>
            </a:pPr>
            <a:r>
              <a:rPr lang="en-US" sz="1400" b="1" dirty="0">
                <a:solidFill>
                  <a:srgbClr val="000000"/>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limit</a:t>
            </a:r>
            <a:pPr algn="l" indent="0" marL="0">
              <a:buNone/>
            </a:pPr>
            <a:r>
              <a:rPr lang="en-US" sz="1400" b="1" dirty="0">
                <a:solidFill>
                  <a:srgbClr val="333399"/>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CC6600"/>
                </a:solidFill>
                <a:latin typeface="Courier New" pitchFamily="34" charset="0"/>
                <a:ea typeface="Courier New" pitchFamily="34" charset="-122"/>
                <a:cs typeface="Courier New" pitchFamily="34" charset="-120"/>
              </a:rPr>
              <a:t>10</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000000"/>
                </a:solidFill>
                <a:latin typeface="Courier New" pitchFamily="34" charset="0"/>
                <a:ea typeface="Courier New" pitchFamily="34" charset="-122"/>
                <a:cs typeface="Courier New" pitchFamily="34" charset="-120"/>
              </a:rPr>
              <a:t>,</a:t>
            </a:r>
            <a:endParaRPr lang="en-US" sz="1400" dirty="0"/>
          </a:p>
        </p:txBody>
      </p:sp>
      <p:sp>
        <p:nvSpPr>
          <p:cNvPr id="35" name="Text 32"/>
          <p:cNvSpPr txBox="1"/>
          <p:nvPr/>
        </p:nvSpPr>
        <p:spPr>
          <a:xfrm>
            <a:off x="5564981" y="3043237"/>
            <a:ext cx="365919"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a:t>
            </a:r>
            <a:endParaRPr lang="en-US" sz="1400" dirty="0"/>
          </a:p>
        </p:txBody>
      </p:sp>
      <p:sp>
        <p:nvSpPr>
          <p:cNvPr id="36" name="Text 33"/>
          <p:cNvSpPr txBox="1"/>
          <p:nvPr/>
        </p:nvSpPr>
        <p:spPr>
          <a:xfrm>
            <a:off x="5564981" y="3287712"/>
            <a:ext cx="5701705" cy="203200"/>
          </a:xfrm>
          <a:prstGeom prst="rect">
            <a:avLst/>
          </a:prstGeom>
          <a:noFill/>
          <a:ln/>
        </p:spPr>
        <p:txBody>
          <a:bodyPr wrap="none" lIns="0" tIns="0" rIns="0" bIns="0" rtlCol="0" anchor="t"/>
          <a:lstStyle/>
          <a:p>
            <a:pPr algn="l" indent="0" marL="0">
              <a:buNone/>
            </a:pPr>
            <a:r>
              <a:rPr lang="en-US" sz="1400" b="1" dirty="0">
                <a:solidFill>
                  <a:srgbClr val="CC6600"/>
                </a:solidFill>
                <a:latin typeface="Courier New" pitchFamily="34" charset="0"/>
                <a:ea typeface="Courier New" pitchFamily="34" charset="-122"/>
                <a:cs typeface="Courier New" pitchFamily="34" charset="-120"/>
              </a:rPr>
              <a:t>console</a:t>
            </a:r>
            <a:pPr algn="l" indent="0" marL="0">
              <a:buNone/>
            </a:pPr>
            <a:r>
              <a:rPr lang="en-US" sz="1400" b="1" dirty="0">
                <a:solidFill>
                  <a:srgbClr val="000000"/>
                </a:solidFill>
                <a:latin typeface="Courier New" pitchFamily="34" charset="0"/>
                <a:ea typeface="Courier New" pitchFamily="34" charset="-122"/>
                <a:cs typeface="Courier New" pitchFamily="34" charset="-120"/>
              </a:rPr>
              <a:t>.log</a:t>
            </a:r>
            <a:pPr algn="l" indent="0" marL="0">
              <a:buNone/>
            </a:pPr>
            <a:r>
              <a:rPr lang="en-US" sz="1400" b="1" dirty="0">
                <a:solidFill>
                  <a:srgbClr val="000000"/>
                </a:solidFill>
                <a:latin typeface="Courier New" pitchFamily="34" charset="0"/>
                <a:ea typeface="Courier New" pitchFamily="34" charset="-122"/>
                <a:cs typeface="Courier New" pitchFamily="34" charset="-120"/>
              </a:rPr>
              <a:t>(</a:t>
            </a:r>
            <a:pPr algn="l" indent="0" marL="0">
              <a:buNone/>
            </a:pPr>
            <a:r>
              <a:rPr lang="en-US" sz="1400" b="1" dirty="0">
                <a:solidFill>
                  <a:srgbClr val="CC6600"/>
                </a:solidFill>
                <a:latin typeface="Courier New" pitchFamily="34" charset="0"/>
                <a:ea typeface="Courier New" pitchFamily="34" charset="-122"/>
                <a:cs typeface="Courier New" pitchFamily="34" charset="-120"/>
              </a:rPr>
              <a:t>res</a:t>
            </a:r>
            <a:pPr algn="l" indent="0" marL="0">
              <a:buNone/>
            </a:pPr>
            <a:r>
              <a:rPr lang="en-US" sz="1400" b="1" dirty="0">
                <a:solidFill>
                  <a:srgbClr val="000000"/>
                </a:solidFill>
                <a:latin typeface="Courier New" pitchFamily="34" charset="0"/>
                <a:ea typeface="Courier New" pitchFamily="34" charset="-122"/>
                <a:cs typeface="Courier New" pitchFamily="34" charset="-120"/>
              </a:rPr>
              <a:t>.status</a:t>
            </a:r>
            <a:pPr algn="l" indent="0" marL="0">
              <a:buNone/>
            </a:pPr>
            <a:r>
              <a:rPr lang="en-US" sz="1400" b="1" dirty="0">
                <a:solidFill>
                  <a:srgbClr val="000000"/>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CC6600"/>
                </a:solidFill>
                <a:latin typeface="Courier New" pitchFamily="34" charset="0"/>
                <a:ea typeface="Courier New" pitchFamily="34" charset="-122"/>
                <a:cs typeface="Courier New" pitchFamily="34" charset="-120"/>
              </a:rPr>
              <a:t>res</a:t>
            </a:r>
            <a:pPr algn="l" indent="0" marL="0">
              <a:buNone/>
            </a:pPr>
            <a:r>
              <a:rPr lang="en-US" sz="1400" b="1" dirty="0">
                <a:solidFill>
                  <a:srgbClr val="000000"/>
                </a:solidFill>
                <a:latin typeface="Courier New" pitchFamily="34" charset="0"/>
                <a:ea typeface="Courier New" pitchFamily="34" charset="-122"/>
                <a:cs typeface="Courier New" pitchFamily="34" charset="-120"/>
              </a:rPr>
              <a:t>.</a:t>
            </a:r>
            <a:pPr algn="l" indent="0" marL="0">
              <a:buNone/>
            </a:pPr>
            <a:r>
              <a:rPr lang="en-US" sz="1400" b="1" dirty="0">
                <a:solidFill>
                  <a:srgbClr val="CC6600"/>
                </a:solidFill>
                <a:latin typeface="Courier New" pitchFamily="34" charset="0"/>
                <a:ea typeface="Courier New" pitchFamily="34" charset="-122"/>
                <a:cs typeface="Courier New" pitchFamily="34" charset="-120"/>
              </a:rPr>
              <a:t>headers</a:t>
            </a:r>
            <a:pPr algn="l" indent="0" marL="0">
              <a:buNone/>
            </a:pPr>
            <a:r>
              <a:rPr lang="en-US" sz="1400" b="1" dirty="0">
                <a:solidFill>
                  <a:srgbClr val="000000"/>
                </a:solidFill>
                <a:latin typeface="Courier New" pitchFamily="34" charset="0"/>
                <a:ea typeface="Courier New" pitchFamily="34" charset="-122"/>
                <a:cs typeface="Courier New" pitchFamily="34" charset="-120"/>
              </a:rPr>
              <a:t>.get</a:t>
            </a:r>
            <a:pPr algn="l" indent="0" marL="0">
              <a:buNone/>
            </a:pPr>
            <a:r>
              <a:rPr lang="en-US" sz="1400" b="1" dirty="0">
                <a:solidFill>
                  <a:srgbClr val="000000"/>
                </a:solidFill>
                <a:latin typeface="Courier New" pitchFamily="34" charset="0"/>
                <a:ea typeface="Courier New" pitchFamily="34" charset="-122"/>
                <a:cs typeface="Courier New" pitchFamily="34" charset="-120"/>
              </a:rPr>
              <a:t>(</a:t>
            </a:r>
            <a:pPr algn="l" indent="0" marL="0">
              <a:buNone/>
            </a:pPr>
            <a:r>
              <a:rPr lang="en-US" sz="1400" b="1" dirty="0">
                <a:solidFill>
                  <a:srgbClr val="993300"/>
                </a:solidFill>
                <a:latin typeface="Courier New" pitchFamily="34" charset="0"/>
                <a:ea typeface="Courier New" pitchFamily="34" charset="-122"/>
                <a:cs typeface="Courier New" pitchFamily="34" charset="-120"/>
              </a:rPr>
              <a:t>'Location'</a:t>
            </a:r>
            <a:pPr algn="l" indent="0" marL="0">
              <a:buNone/>
            </a:pPr>
            <a:r>
              <a:rPr lang="en-US" sz="1400" b="1" dirty="0">
                <a:solidFill>
                  <a:srgbClr val="000000"/>
                </a:solidFill>
                <a:latin typeface="Courier New" pitchFamily="34" charset="0"/>
                <a:ea typeface="Courier New" pitchFamily="34" charset="-122"/>
                <a:cs typeface="Courier New" pitchFamily="34" charset="-120"/>
              </a:rPr>
              <a:t>))</a:t>
            </a:r>
            <a:endParaRPr lang="en-US" sz="1400" dirty="0"/>
          </a:p>
        </p:txBody>
      </p:sp>
      <p:sp>
        <p:nvSpPr>
          <p:cNvPr id="37" name="Shape 34"/>
          <p:cNvSpPr/>
          <p:nvPr/>
        </p:nvSpPr>
        <p:spPr>
          <a:xfrm>
            <a:off x="5425281" y="3760788"/>
            <a:ext cx="6472237" cy="989807"/>
          </a:xfrm>
          <a:prstGeom prst="rect">
            <a:avLst/>
          </a:prstGeom>
          <a:solidFill>
            <a:srgbClr val="FFFFFF"/>
          </a:solidFill>
          <a:ln w="12700">
            <a:solidFill>
              <a:srgbClr val="333399"/>
            </a:solidFill>
            <a:prstDash val="solid"/>
          </a:ln>
        </p:spPr>
      </p:sp>
      <p:sp>
        <p:nvSpPr>
          <p:cNvPr id="38" name="Shape 35"/>
          <p:cNvSpPr/>
          <p:nvPr/>
        </p:nvSpPr>
        <p:spPr>
          <a:xfrm>
            <a:off x="5437981" y="3773488"/>
            <a:ext cx="6446837" cy="472281"/>
          </a:xfrm>
          <a:prstGeom prst="rect">
            <a:avLst/>
          </a:prstGeom>
          <a:solidFill>
            <a:srgbClr val="DAEDEF"/>
          </a:solidFill>
          <a:ln/>
        </p:spPr>
      </p:sp>
      <p:sp>
        <p:nvSpPr>
          <p:cNvPr id="39" name="Shape 36"/>
          <p:cNvSpPr/>
          <p:nvPr/>
        </p:nvSpPr>
        <p:spPr>
          <a:xfrm>
            <a:off x="5437981" y="4233069"/>
            <a:ext cx="6446837" cy="12700"/>
          </a:xfrm>
          <a:prstGeom prst="rect">
            <a:avLst/>
          </a:prstGeom>
          <a:solidFill>
            <a:srgbClr val="333399"/>
          </a:solidFill>
          <a:ln/>
        </p:spPr>
      </p:sp>
      <p:sp>
        <p:nvSpPr>
          <p:cNvPr id="40" name="Shape 37"/>
          <p:cNvSpPr/>
          <p:nvPr/>
        </p:nvSpPr>
        <p:spPr>
          <a:xfrm>
            <a:off x="5564981" y="3952479"/>
            <a:ext cx="127000" cy="127000"/>
          </a:xfrm>
          <a:prstGeom prst="roundRect">
            <a:avLst>
              <a:gd name="adj" fmla="val 50000"/>
            </a:avLst>
          </a:prstGeom>
          <a:solidFill>
            <a:srgbClr val="333399"/>
          </a:solidFill>
          <a:ln/>
        </p:spPr>
      </p:sp>
      <p:sp>
        <p:nvSpPr>
          <p:cNvPr id="41" name="Shape 38"/>
          <p:cNvSpPr/>
          <p:nvPr/>
        </p:nvSpPr>
        <p:spPr>
          <a:xfrm>
            <a:off x="5768181" y="3952479"/>
            <a:ext cx="127000" cy="127000"/>
          </a:xfrm>
          <a:prstGeom prst="roundRect">
            <a:avLst>
              <a:gd name="adj" fmla="val 50000"/>
            </a:avLst>
          </a:prstGeom>
          <a:solidFill>
            <a:srgbClr val="333399"/>
          </a:solidFill>
          <a:ln/>
        </p:spPr>
      </p:sp>
      <p:sp>
        <p:nvSpPr>
          <p:cNvPr id="42" name="Shape 39"/>
          <p:cNvSpPr/>
          <p:nvPr/>
        </p:nvSpPr>
        <p:spPr>
          <a:xfrm>
            <a:off x="5971381" y="3952479"/>
            <a:ext cx="127000" cy="127000"/>
          </a:xfrm>
          <a:prstGeom prst="roundRect">
            <a:avLst>
              <a:gd name="adj" fmla="val 50000"/>
            </a:avLst>
          </a:prstGeom>
          <a:solidFill>
            <a:srgbClr val="333399"/>
          </a:solidFill>
          <a:ln/>
        </p:spPr>
      </p:sp>
      <p:sp>
        <p:nvSpPr>
          <p:cNvPr id="43" name="Text 40"/>
          <p:cNvSpPr txBox="1"/>
          <p:nvPr/>
        </p:nvSpPr>
        <p:spPr>
          <a:xfrm>
            <a:off x="6301581" y="3913188"/>
            <a:ext cx="1752997" cy="203200"/>
          </a:xfrm>
          <a:prstGeom prst="rect">
            <a:avLst/>
          </a:prstGeom>
          <a:noFill/>
          <a:ln/>
        </p:spPr>
        <p:txBody>
          <a:bodyPr wrap="none" lIns="0" tIns="0" rIns="0" bIns="0" rtlCol="0" anchor="t"/>
          <a:lstStyle/>
          <a:p>
            <a:pPr algn="l" indent="0" marL="0">
              <a:buNone/>
            </a:pPr>
            <a:r>
              <a:rPr lang="en-US" sz="1400" dirty="0">
                <a:solidFill>
                  <a:srgbClr val="595959"/>
                </a:solidFill>
                <a:latin typeface="Courier New" pitchFamily="34" charset="0"/>
                <a:ea typeface="Courier New" pitchFamily="34" charset="-122"/>
                <a:cs typeface="Courier New" pitchFamily="34" charset="-120"/>
              </a:rPr>
              <a:t>node client.mjs</a:t>
            </a:r>
            <a:endParaRPr lang="en-US" sz="1400" dirty="0"/>
          </a:p>
        </p:txBody>
      </p:sp>
      <p:sp>
        <p:nvSpPr>
          <p:cNvPr id="44" name="Text 41"/>
          <p:cNvSpPr txBox="1"/>
          <p:nvPr/>
        </p:nvSpPr>
        <p:spPr>
          <a:xfrm>
            <a:off x="5564981" y="4360069"/>
            <a:ext cx="3353395"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200 /contacts/stored-queries/2</a:t>
            </a:r>
            <a:endParaRPr lang="en-US" sz="1400" dirty="0"/>
          </a:p>
        </p:txBody>
      </p:sp>
      <p:sp>
        <p:nvSpPr>
          <p:cNvPr id="45" name="Shape 42"/>
          <p:cNvSpPr/>
          <p:nvPr/>
        </p:nvSpPr>
        <p:spPr>
          <a:xfrm>
            <a:off x="5425281" y="4852193"/>
            <a:ext cx="6472237" cy="1574800"/>
          </a:xfrm>
          <a:prstGeom prst="rect">
            <a:avLst/>
          </a:prstGeom>
          <a:solidFill>
            <a:srgbClr val="FFFFFF"/>
          </a:solidFill>
          <a:ln w="25400">
            <a:solidFill>
              <a:srgbClr val="993300"/>
            </a:solidFill>
            <a:prstDash val="solid"/>
          </a:ln>
        </p:spPr>
      </p:sp>
      <p:sp>
        <p:nvSpPr>
          <p:cNvPr id="46" name="Text 43"/>
          <p:cNvSpPr txBox="1"/>
          <p:nvPr/>
        </p:nvSpPr>
        <p:spPr>
          <a:xfrm>
            <a:off x="5653881" y="5017293"/>
            <a:ext cx="3141861" cy="279400"/>
          </a:xfrm>
          <a:prstGeom prst="rect">
            <a:avLst/>
          </a:prstGeom>
          <a:noFill/>
          <a:ln/>
        </p:spPr>
        <p:txBody>
          <a:bodyPr wrap="none" lIns="0" tIns="0" rIns="0" bIns="0" rtlCol="0" anchor="t"/>
          <a:lstStyle/>
          <a:p>
            <a:pPr algn="l" indent="0" marL="0">
              <a:buNone/>
            </a:pPr>
            <a:r>
              <a:rPr lang="en-US" sz="1800" b="1" spc="-45" kern="0" dirty="0">
                <a:solidFill>
                  <a:srgbClr val="993300"/>
                </a:solidFill>
                <a:latin typeface="Calibri" pitchFamily="34" charset="0"/>
                <a:ea typeface="Calibri" pitchFamily="34" charset="-122"/>
                <a:cs typeface="Calibri" pitchFamily="34" charset="-120"/>
              </a:rPr>
              <a:t>Method names are case-sensitive</a:t>
            </a:r>
            <a:endParaRPr lang="en-US" sz="1800" dirty="0"/>
          </a:p>
        </p:txBody>
      </p:sp>
      <p:sp>
        <p:nvSpPr>
          <p:cNvPr id="47" name="Shape 44"/>
          <p:cNvSpPr/>
          <p:nvPr/>
        </p:nvSpPr>
        <p:spPr>
          <a:xfrm>
            <a:off x="7501335" y="5715793"/>
            <a:ext cx="1809948" cy="228600"/>
          </a:xfrm>
          <a:prstGeom prst="rect">
            <a:avLst/>
          </a:prstGeom>
          <a:solidFill>
            <a:srgbClr val="FFFFFF"/>
          </a:solidFill>
          <a:ln w="12700">
            <a:solidFill>
              <a:srgbClr val="333399"/>
            </a:solidFill>
            <a:prstDash val="solid"/>
          </a:ln>
        </p:spPr>
      </p:sp>
      <p:sp>
        <p:nvSpPr>
          <p:cNvPr id="48" name="Shape 45"/>
          <p:cNvSpPr/>
          <p:nvPr/>
        </p:nvSpPr>
        <p:spPr>
          <a:xfrm>
            <a:off x="10037365" y="5715793"/>
            <a:ext cx="687983" cy="228600"/>
          </a:xfrm>
          <a:prstGeom prst="rect">
            <a:avLst/>
          </a:prstGeom>
          <a:solidFill>
            <a:srgbClr val="FFFFFF"/>
          </a:solidFill>
          <a:ln w="12700">
            <a:solidFill>
              <a:srgbClr val="333399"/>
            </a:solidFill>
            <a:prstDash val="solid"/>
          </a:ln>
        </p:spPr>
      </p:sp>
      <p:sp>
        <p:nvSpPr>
          <p:cNvPr id="49" name="Text 46"/>
          <p:cNvSpPr txBox="1"/>
          <p:nvPr/>
        </p:nvSpPr>
        <p:spPr>
          <a:xfrm>
            <a:off x="5653881" y="5385593"/>
            <a:ext cx="6040437" cy="876300"/>
          </a:xfrm>
          <a:prstGeom prst="rect">
            <a:avLst/>
          </a:prstGeom>
          <a:noFill/>
          <a:ln/>
        </p:spPr>
        <p:txBody>
          <a:bodyPr wrap="square" lIns="0" tIns="0" rIns="0" bIns="0" rtlCol="0" anchor="t"/>
          <a:lstStyle/>
          <a:p>
            <a:pPr algn="l" indent="0" marL="0">
              <a:lnSpc>
                <a:spcPts val="2600"/>
              </a:lnSpc>
              <a:buNone/>
            </a:pPr>
            <a:r>
              <a:rPr lang="en-US" sz="1600" dirty="0">
                <a:solidFill>
                  <a:srgbClr val="000000"/>
                </a:solidFill>
                <a:latin typeface="Calibri" pitchFamily="34" charset="0"/>
                <a:ea typeface="Calibri" pitchFamily="34" charset="-122"/>
                <a:cs typeface="Calibri" pitchFamily="34" charset="-120"/>
              </a:rPr>
              <a:t>fetch() changes only DELETE, GET, HEAD, OPTIONS, POST and PUT to upper case </a:t>
            </a:r>
            <a:pPr algn="l" indent="0" marL="0">
              <a:lnSpc>
                <a:spcPts val="2600"/>
              </a:lnSpc>
              <a:buNone/>
            </a:pPr>
            <a:r>
              <a:rPr lang="en-US" sz="992" u="sng" dirty="0">
                <a:solidFill>
                  <a:srgbClr val="59595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[Fetch]</a:t>
            </a:r>
            <a:pPr algn="l" indent="0" marL="0">
              <a:lnSpc>
                <a:spcPts val="2600"/>
              </a:lnSpc>
              <a:buNone/>
            </a:pPr>
            <a:r>
              <a:rPr lang="en-US" sz="1600" dirty="0">
                <a:solidFill>
                  <a:srgbClr val="000000"/>
                </a:solidFill>
                <a:latin typeface="Calibri" pitchFamily="34" charset="0"/>
                <a:ea typeface="Calibri" pitchFamily="34" charset="-122"/>
                <a:cs typeface="Calibri" pitchFamily="34" charset="-120"/>
              </a:rPr>
              <a:t>. With </a:t>
            </a:r>
            <a:pPr algn="l" indent="0" marL="0">
              <a:lnSpc>
                <a:spcPts val="2600"/>
              </a:lnSpc>
              <a:buNone/>
            </a:pPr>
            <a:r>
              <a:rPr lang="en-US" sz="1472" b="1" dirty="0">
                <a:solidFill>
                  <a:srgbClr val="000000"/>
                </a:solidFill>
                <a:latin typeface="Courier New" pitchFamily="34" charset="0"/>
                <a:ea typeface="Courier New" pitchFamily="34" charset="-122"/>
                <a:cs typeface="Courier New" pitchFamily="34" charset="-120"/>
              </a:rPr>
              <a:t>method: 'query'</a:t>
            </a:r>
            <a:pPr algn="l" indent="0" marL="0">
              <a:lnSpc>
                <a:spcPts val="2600"/>
              </a:lnSpc>
              <a:buNone/>
            </a:pPr>
            <a:r>
              <a:rPr lang="en-US" sz="1600" dirty="0">
                <a:solidFill>
                  <a:srgbClr val="000000"/>
                </a:solidFill>
                <a:latin typeface="Calibri" pitchFamily="34" charset="0"/>
                <a:ea typeface="Calibri" pitchFamily="34" charset="-122"/>
                <a:cs typeface="Calibri" pitchFamily="34" charset="-120"/>
              </a:rPr>
              <a:t> it sends </a:t>
            </a:r>
            <a:pPr algn="l" indent="0" marL="0">
              <a:lnSpc>
                <a:spcPts val="2600"/>
              </a:lnSpc>
              <a:buNone/>
            </a:pPr>
            <a:r>
              <a:rPr lang="en-US" sz="1472" b="1" dirty="0">
                <a:solidFill>
                  <a:srgbClr val="000000"/>
                </a:solidFill>
                <a:latin typeface="Courier New" pitchFamily="34" charset="0"/>
                <a:ea typeface="Courier New" pitchFamily="34" charset="-122"/>
                <a:cs typeface="Courier New" pitchFamily="34" charset="-120"/>
              </a:rPr>
              <a:t>query</a:t>
            </a:r>
            <a:pPr algn="l" indent="0" marL="0">
              <a:lnSpc>
                <a:spcPts val="2600"/>
              </a:lnSpc>
              <a:buNone/>
            </a:pPr>
            <a:r>
              <a:rPr lang="en-US" sz="1600" dirty="0">
                <a:solidFill>
                  <a:srgbClr val="000000"/>
                </a:solidFill>
                <a:latin typeface="Calibri" pitchFamily="34" charset="0"/>
                <a:ea typeface="Calibri" pitchFamily="34" charset="-122"/>
                <a:cs typeface="Calibri" pitchFamily="34" charset="-120"/>
              </a:rPr>
              <a:t>, and the Node 24 server replied </a:t>
            </a:r>
            <a:pPr algn="l" indent="0" marL="0">
              <a:lnSpc>
                <a:spcPts val="2600"/>
              </a:lnSpc>
              <a:buNone/>
            </a:pPr>
            <a:r>
              <a:rPr lang="en-US" sz="1600" b="1" dirty="0">
                <a:solidFill>
                  <a:srgbClr val="000000"/>
                </a:solidFill>
                <a:latin typeface="Calibri" pitchFamily="34" charset="0"/>
                <a:ea typeface="Calibri" pitchFamily="34" charset="-122"/>
                <a:cs typeface="Calibri" pitchFamily="34" charset="-120"/>
              </a:rPr>
              <a:t>400</a:t>
            </a:r>
            <a:pPr algn="l" indent="0" marL="0">
              <a:lnSpc>
                <a:spcPts val="2600"/>
              </a:lnSpc>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17</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4151908"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A server that follows RFC 10008</a:t>
            </a:r>
            <a:endParaRPr lang="en-US" sz="2400" dirty="0"/>
          </a:p>
        </p:txBody>
      </p:sp>
      <p:sp>
        <p:nvSpPr>
          <p:cNvPr id="10" name="Shape 7"/>
          <p:cNvSpPr/>
          <p:nvPr/>
        </p:nvSpPr>
        <p:spPr>
          <a:xfrm>
            <a:off x="91281" y="1361281"/>
            <a:ext cx="8047037" cy="4987131"/>
          </a:xfrm>
          <a:prstGeom prst="rect">
            <a:avLst/>
          </a:prstGeom>
          <a:noFill/>
          <a:ln w="12700">
            <a:solidFill>
              <a:srgbClr val="333399"/>
            </a:solidFill>
            <a:prstDash val="solid"/>
          </a:ln>
        </p:spPr>
      </p:sp>
      <p:sp>
        <p:nvSpPr>
          <p:cNvPr id="11" name="Text 8"/>
          <p:cNvSpPr txBox="1"/>
          <p:nvPr/>
        </p:nvSpPr>
        <p:spPr>
          <a:xfrm>
            <a:off x="230981" y="1513681"/>
            <a:ext cx="2713236" cy="203200"/>
          </a:xfrm>
          <a:prstGeom prst="rect">
            <a:avLst/>
          </a:prstGeom>
          <a:noFill/>
          <a:ln/>
        </p:spPr>
        <p:txBody>
          <a:bodyPr wrap="none" lIns="0" tIns="0" rIns="0" bIns="0" rtlCol="0" anchor="t"/>
          <a:lstStyle/>
          <a:p>
            <a:pPr algn="l" indent="0" marL="0">
              <a:buNone/>
            </a:pPr>
            <a:r>
              <a:rPr lang="en-US" sz="1400" dirty="0">
                <a:solidFill>
                  <a:srgbClr val="000000"/>
                </a:solidFill>
                <a:latin typeface="Courier New" pitchFamily="34" charset="0"/>
                <a:ea typeface="Courier New" pitchFamily="34" charset="-122"/>
                <a:cs typeface="Courier New" pitchFamily="34" charset="-120"/>
              </a:rPr>
              <a:t>server.mjs (the handler)</a:t>
            </a:r>
            <a:endParaRPr lang="en-US" sz="1400" dirty="0"/>
          </a:p>
        </p:txBody>
      </p:sp>
      <p:sp>
        <p:nvSpPr>
          <p:cNvPr id="12" name="Text 9"/>
          <p:cNvSpPr txBox="1"/>
          <p:nvPr/>
        </p:nvSpPr>
        <p:spPr>
          <a:xfrm>
            <a:off x="688181" y="1820863"/>
            <a:ext cx="3262511"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createServer</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333399"/>
                </a:solidFill>
                <a:latin typeface="Courier New" pitchFamily="34" charset="0"/>
                <a:ea typeface="Courier New" pitchFamily="34" charset="-122"/>
                <a:cs typeface="Courier New" pitchFamily="34" charset="-120"/>
              </a:rPr>
              <a:t>async</a:t>
            </a:r>
            <a:pPr algn="l" indent="0" marL="0">
              <a:buNone/>
            </a:pPr>
            <a:r>
              <a:rPr lang="en-US" sz="1200" b="1" dirty="0">
                <a:solidFill>
                  <a:srgbClr val="000000"/>
                </a:solidFill>
                <a:latin typeface="Courier New" pitchFamily="34" charset="0"/>
                <a:ea typeface="Courier New" pitchFamily="34" charset="-122"/>
                <a:cs typeface="Courier New" pitchFamily="34" charset="-120"/>
              </a:rPr>
              <a:t> (req</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res) </a:t>
            </a:r>
            <a:pPr algn="l" indent="0" marL="0">
              <a:buNone/>
            </a:pPr>
            <a:r>
              <a:rPr lang="en-US" sz="1200" b="1" dirty="0">
                <a:solidFill>
                  <a:srgbClr val="333399"/>
                </a:solidFill>
                <a:latin typeface="Courier New" pitchFamily="34" charset="0"/>
                <a:ea typeface="Courier New" pitchFamily="34" charset="-122"/>
                <a:cs typeface="Courier New" pitchFamily="34" charset="-120"/>
              </a:rPr>
              <a:t>=&gt;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endParaRPr lang="en-US" sz="1200" dirty="0"/>
          </a:p>
        </p:txBody>
      </p:sp>
      <p:sp>
        <p:nvSpPr>
          <p:cNvPr id="13" name="Text 10"/>
          <p:cNvSpPr txBox="1"/>
          <p:nvPr/>
        </p:nvSpPr>
        <p:spPr>
          <a:xfrm>
            <a:off x="688181" y="2030412"/>
            <a:ext cx="6188869" cy="177800"/>
          </a:xfrm>
          <a:prstGeom prst="rect">
            <a:avLst/>
          </a:prstGeom>
          <a:noFill/>
          <a:ln/>
        </p:spPr>
        <p:txBody>
          <a:bodyPr wrap="none" lIns="0" tIns="0" rIns="0" bIns="0" rtlCol="0" anchor="t"/>
          <a:lstStyle/>
          <a:p>
            <a:pPr algn="l" indent="0" marL="0">
              <a:buNone/>
            </a:pPr>
            <a:pPr algn="l" indent="0" marL="0">
              <a:buNone/>
            </a:pPr>
            <a:r>
              <a:rPr lang="en-US" sz="1200" b="1" dirty="0">
                <a:solidFill>
                  <a:srgbClr val="333399"/>
                </a:solidFill>
                <a:latin typeface="Courier New" pitchFamily="34" charset="0"/>
                <a:ea typeface="Courier New" pitchFamily="34" charset="-122"/>
                <a:cs typeface="Courier New" pitchFamily="34" charset="-120"/>
              </a:rPr>
              <a:t>if</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req</a:t>
            </a:r>
            <a:pPr algn="l" indent="0" marL="0">
              <a:buNone/>
            </a:pPr>
            <a:r>
              <a:rPr lang="en-US" sz="1200" b="1" dirty="0">
                <a:solidFill>
                  <a:srgbClr val="000000"/>
                </a:solidFill>
                <a:latin typeface="Courier New" pitchFamily="34" charset="0"/>
                <a:ea typeface="Courier New" pitchFamily="34" charset="-122"/>
                <a:cs typeface="Courier New" pitchFamily="34" charset="-120"/>
              </a:rPr>
              <a:t>.method </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993300"/>
                </a:solidFill>
                <a:latin typeface="Courier New" pitchFamily="34" charset="0"/>
                <a:ea typeface="Courier New" pitchFamily="34" charset="-122"/>
                <a:cs typeface="Courier New" pitchFamily="34" charset="-120"/>
              </a:rPr>
              <a:t>'OPTIONS'</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595959"/>
                </a:solidFill>
                <a:latin typeface="Courier New" pitchFamily="34" charset="0"/>
                <a:ea typeface="Courier New" pitchFamily="34" charset="-122"/>
                <a:cs typeface="Courier New" pitchFamily="34" charset="-120"/>
              </a:rPr>
              <a:t>// discovery, Appendix A.2 and A.3</a:t>
            </a:r>
            <a:endParaRPr lang="en-US" sz="1200" dirty="0"/>
          </a:p>
        </p:txBody>
      </p:sp>
      <p:sp>
        <p:nvSpPr>
          <p:cNvPr id="14" name="Text 11"/>
          <p:cNvSpPr txBox="1"/>
          <p:nvPr/>
        </p:nvSpPr>
        <p:spPr>
          <a:xfrm>
            <a:off x="688181" y="2239963"/>
            <a:ext cx="6463903" cy="177800"/>
          </a:xfrm>
          <a:prstGeom prst="rect">
            <a:avLst/>
          </a:prstGeom>
          <a:noFill/>
          <a:ln/>
        </p:spPr>
        <p:txBody>
          <a:bodyPr wrap="none" lIns="0" tIns="0" rIns="0" bIns="0" rtlCol="0" anchor="t"/>
          <a:lstStyle/>
          <a:p>
            <a:pPr algn="l" indent="0" marL="0">
              <a:buNone/>
            </a:pPr>
            <a:pPr algn="l" indent="0" marL="0">
              <a:buNone/>
            </a:pPr>
            <a:r>
              <a:rPr lang="en-US" sz="1200" b="1" dirty="0">
                <a:solidFill>
                  <a:srgbClr val="333399"/>
                </a:solidFill>
                <a:latin typeface="Courier New" pitchFamily="34" charset="0"/>
                <a:ea typeface="Courier New" pitchFamily="34" charset="-122"/>
                <a:cs typeface="Courier New" pitchFamily="34" charset="-120"/>
              </a:rPr>
              <a:t>return</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000000"/>
                </a:solidFill>
                <a:latin typeface="Courier New" pitchFamily="34" charset="0"/>
                <a:ea typeface="Courier New" pitchFamily="34" charset="-122"/>
                <a:cs typeface="Courier New" pitchFamily="34" charset="-120"/>
              </a:rPr>
              <a:t>send</a:t>
            </a:r>
            <a:pPr algn="l" indent="0" marL="0">
              <a:buNone/>
            </a:pPr>
            <a:r>
              <a:rPr lang="en-US" sz="1200" b="1" dirty="0">
                <a:solidFill>
                  <a:srgbClr val="000000"/>
                </a:solidFill>
                <a:latin typeface="Courier New" pitchFamily="34" charset="0"/>
                <a:ea typeface="Courier New" pitchFamily="34" charset="-122"/>
                <a:cs typeface="Courier New" pitchFamily="34" charset="-120"/>
              </a:rPr>
              <a:t>(res</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204</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null</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 Allow</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993300"/>
                </a:solidFill>
                <a:latin typeface="Courier New" pitchFamily="34" charset="0"/>
                <a:ea typeface="Courier New" pitchFamily="34" charset="-122"/>
                <a:cs typeface="Courier New" pitchFamily="34" charset="-120"/>
              </a:rPr>
              <a:t>'Accept-Query'</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JSON_TYPE</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endParaRPr lang="en-US" sz="1200" dirty="0"/>
          </a:p>
        </p:txBody>
      </p:sp>
      <p:sp>
        <p:nvSpPr>
          <p:cNvPr id="15" name="Text 12"/>
          <p:cNvSpPr txBox="1"/>
          <p:nvPr/>
        </p:nvSpPr>
        <p:spPr>
          <a:xfrm>
            <a:off x="688181" y="2449512"/>
            <a:ext cx="7104063" cy="177800"/>
          </a:xfrm>
          <a:prstGeom prst="rect">
            <a:avLst/>
          </a:prstGeom>
          <a:noFill/>
          <a:ln/>
        </p:spPr>
        <p:txBody>
          <a:bodyPr wrap="none" lIns="0" tIns="0" rIns="0" bIns="0" rtlCol="0" anchor="t"/>
          <a:lstStyle/>
          <a:p>
            <a:pPr algn="l" indent="0" marL="0">
              <a:buNone/>
            </a:pPr>
            <a:pPr algn="l" indent="0" marL="0">
              <a:buNone/>
            </a:pPr>
            <a:r>
              <a:rPr lang="en-US" sz="1200" b="1" dirty="0">
                <a:solidFill>
                  <a:srgbClr val="333399"/>
                </a:solidFill>
                <a:latin typeface="Courier New" pitchFamily="34" charset="0"/>
                <a:ea typeface="Courier New" pitchFamily="34" charset="-122"/>
                <a:cs typeface="Courier New" pitchFamily="34" charset="-120"/>
              </a:rPr>
              <a:t>if</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req</a:t>
            </a:r>
            <a:pPr algn="l" indent="0" marL="0">
              <a:buNone/>
            </a:pPr>
            <a:r>
              <a:rPr lang="en-US" sz="1200" b="1" dirty="0">
                <a:solidFill>
                  <a:srgbClr val="000000"/>
                </a:solidFill>
                <a:latin typeface="Courier New" pitchFamily="34" charset="0"/>
                <a:ea typeface="Courier New" pitchFamily="34" charset="-122"/>
                <a:cs typeface="Courier New" pitchFamily="34" charset="-120"/>
              </a:rPr>
              <a:t>.method </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993300"/>
                </a:solidFill>
                <a:latin typeface="Courier New" pitchFamily="34" charset="0"/>
                <a:ea typeface="Courier New" pitchFamily="34" charset="-122"/>
                <a:cs typeface="Courier New" pitchFamily="34" charset="-120"/>
              </a:rPr>
              <a:t>'GET'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333399"/>
                </a:solidFill>
                <a:latin typeface="Courier New" pitchFamily="34" charset="0"/>
                <a:ea typeface="Courier New" pitchFamily="34" charset="-122"/>
                <a:cs typeface="Courier New" pitchFamily="34" charset="-120"/>
              </a:rPr>
              <a:t>&amp;&amp;</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stored</a:t>
            </a:r>
            <a:pPr algn="l" indent="0" marL="0">
              <a:buNone/>
            </a:pPr>
            <a:r>
              <a:rPr lang="en-US" sz="1200" b="1" dirty="0">
                <a:solidFill>
                  <a:srgbClr val="000000"/>
                </a:solidFill>
                <a:latin typeface="Courier New" pitchFamily="34" charset="0"/>
                <a:ea typeface="Courier New" pitchFamily="34" charset="-122"/>
                <a:cs typeface="Courier New" pitchFamily="34" charset="-120"/>
              </a:rPr>
              <a:t>.has</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CC6600"/>
                </a:solidFill>
                <a:latin typeface="Courier New" pitchFamily="34" charset="0"/>
                <a:ea typeface="Courier New" pitchFamily="34" charset="-122"/>
                <a:cs typeface="Courier New" pitchFamily="34" charset="-120"/>
              </a:rPr>
              <a:t>req</a:t>
            </a:r>
            <a:pPr algn="l" indent="0" marL="0">
              <a:buNone/>
            </a:pPr>
            <a:r>
              <a:rPr lang="en-US" sz="1200" b="1" dirty="0">
                <a:solidFill>
                  <a:srgbClr val="000000"/>
                </a:solidFill>
                <a:latin typeface="Courier New" pitchFamily="34" charset="0"/>
                <a:ea typeface="Courier New" pitchFamily="34" charset="-122"/>
                <a:cs typeface="Courier New" pitchFamily="34" charset="-120"/>
              </a:rPr>
              <a:t>.url)) </a:t>
            </a:r>
            <a:pPr algn="l" indent="0" marL="0">
              <a:buNone/>
            </a:pPr>
            <a:r>
              <a:rPr lang="en-US" sz="1200" b="1" dirty="0">
                <a:solidFill>
                  <a:srgbClr val="595959"/>
                </a:solidFill>
                <a:latin typeface="Courier New" pitchFamily="34" charset="0"/>
                <a:ea typeface="Courier New" pitchFamily="34" charset="-122"/>
                <a:cs typeface="Courier New" pitchFamily="34" charset="-120"/>
              </a:rPr>
              <a:t>// GET the Location, §2.4</a:t>
            </a:r>
            <a:endParaRPr lang="en-US" sz="1200" dirty="0"/>
          </a:p>
        </p:txBody>
      </p:sp>
      <p:sp>
        <p:nvSpPr>
          <p:cNvPr id="16" name="Text 13"/>
          <p:cNvSpPr txBox="1"/>
          <p:nvPr/>
        </p:nvSpPr>
        <p:spPr>
          <a:xfrm>
            <a:off x="688181" y="2659063"/>
            <a:ext cx="5092303" cy="177800"/>
          </a:xfrm>
          <a:prstGeom prst="rect">
            <a:avLst/>
          </a:prstGeom>
          <a:noFill/>
          <a:ln/>
        </p:spPr>
        <p:txBody>
          <a:bodyPr wrap="none" lIns="0" tIns="0" rIns="0" bIns="0" rtlCol="0" anchor="t"/>
          <a:lstStyle/>
          <a:p>
            <a:pPr algn="l" indent="0" marL="0">
              <a:buNone/>
            </a:pPr>
            <a:pPr algn="l" indent="0" marL="0">
              <a:buNone/>
            </a:pPr>
            <a:r>
              <a:rPr lang="en-US" sz="1200" b="1" dirty="0">
                <a:solidFill>
                  <a:srgbClr val="333399"/>
                </a:solidFill>
                <a:latin typeface="Courier New" pitchFamily="34" charset="0"/>
                <a:ea typeface="Courier New" pitchFamily="34" charset="-122"/>
                <a:cs typeface="Courier New" pitchFamily="34" charset="-120"/>
              </a:rPr>
              <a:t>return</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000000"/>
                </a:solidFill>
                <a:latin typeface="Courier New" pitchFamily="34" charset="0"/>
                <a:ea typeface="Courier New" pitchFamily="34" charset="-122"/>
                <a:cs typeface="Courier New" pitchFamily="34" charset="-120"/>
              </a:rPr>
              <a:t>send</a:t>
            </a:r>
            <a:pPr algn="l" indent="0" marL="0">
              <a:buNone/>
            </a:pPr>
            <a:r>
              <a:rPr lang="en-US" sz="1200" b="1" dirty="0">
                <a:solidFill>
                  <a:srgbClr val="000000"/>
                </a:solidFill>
                <a:latin typeface="Courier New" pitchFamily="34" charset="0"/>
                <a:ea typeface="Courier New" pitchFamily="34" charset="-122"/>
                <a:cs typeface="Courier New" pitchFamily="34" charset="-120"/>
              </a:rPr>
              <a:t>(res</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200</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000000"/>
                </a:solidFill>
                <a:latin typeface="Courier New" pitchFamily="34" charset="0"/>
                <a:ea typeface="Courier New" pitchFamily="34" charset="-122"/>
                <a:cs typeface="Courier New" pitchFamily="34" charset="-120"/>
              </a:rPr>
              <a:t>search</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CC6600"/>
                </a:solidFill>
                <a:latin typeface="Courier New" pitchFamily="34" charset="0"/>
                <a:ea typeface="Courier New" pitchFamily="34" charset="-122"/>
                <a:cs typeface="Courier New" pitchFamily="34" charset="-120"/>
              </a:rPr>
              <a:t>stored</a:t>
            </a:r>
            <a:pPr algn="l" indent="0" marL="0">
              <a:buNone/>
            </a:pPr>
            <a:r>
              <a:rPr lang="en-US" sz="1200" b="1" dirty="0">
                <a:solidFill>
                  <a:srgbClr val="000000"/>
                </a:solidFill>
                <a:latin typeface="Courier New" pitchFamily="34" charset="0"/>
                <a:ea typeface="Courier New" pitchFamily="34" charset="-122"/>
                <a:cs typeface="Courier New" pitchFamily="34" charset="-120"/>
              </a:rPr>
              <a:t>.get</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CC6600"/>
                </a:solidFill>
                <a:latin typeface="Courier New" pitchFamily="34" charset="0"/>
                <a:ea typeface="Courier New" pitchFamily="34" charset="-122"/>
                <a:cs typeface="Courier New" pitchFamily="34" charset="-120"/>
              </a:rPr>
              <a:t>req</a:t>
            </a:r>
            <a:pPr algn="l" indent="0" marL="0">
              <a:buNone/>
            </a:pPr>
            <a:r>
              <a:rPr lang="en-US" sz="1200" b="1" dirty="0">
                <a:solidFill>
                  <a:srgbClr val="000000"/>
                </a:solidFill>
                <a:latin typeface="Courier New" pitchFamily="34" charset="0"/>
                <a:ea typeface="Courier New" pitchFamily="34" charset="-122"/>
                <a:cs typeface="Courier New" pitchFamily="34" charset="-120"/>
              </a:rPr>
              <a:t>.url)))</a:t>
            </a:r>
            <a:endParaRPr lang="en-US" sz="1200" dirty="0"/>
          </a:p>
        </p:txBody>
      </p:sp>
      <p:sp>
        <p:nvSpPr>
          <p:cNvPr id="17" name="Text 14"/>
          <p:cNvSpPr txBox="1"/>
          <p:nvPr/>
        </p:nvSpPr>
        <p:spPr>
          <a:xfrm>
            <a:off x="688181" y="2868612"/>
            <a:ext cx="2805112" cy="177800"/>
          </a:xfrm>
          <a:prstGeom prst="rect">
            <a:avLst/>
          </a:prstGeom>
          <a:noFill/>
          <a:ln/>
        </p:spPr>
        <p:txBody>
          <a:bodyPr wrap="none" lIns="0" tIns="0" rIns="0" bIns="0" rtlCol="0" anchor="t"/>
          <a:lstStyle/>
          <a:p>
            <a:pPr algn="l" indent="0" marL="0">
              <a:buNone/>
            </a:pPr>
            <a:pPr algn="l" indent="0" marL="0">
              <a:buNone/>
            </a:pPr>
            <a:r>
              <a:rPr lang="en-US" sz="1200" b="1" dirty="0">
                <a:solidFill>
                  <a:srgbClr val="333399"/>
                </a:solidFill>
                <a:latin typeface="Courier New" pitchFamily="34" charset="0"/>
                <a:ea typeface="Courier New" pitchFamily="34" charset="-122"/>
                <a:cs typeface="Courier New" pitchFamily="34" charset="-120"/>
              </a:rPr>
              <a:t>if</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req</a:t>
            </a:r>
            <a:pPr algn="l" indent="0" marL="0">
              <a:buNone/>
            </a:pPr>
            <a:r>
              <a:rPr lang="en-US" sz="1200" b="1" dirty="0">
                <a:solidFill>
                  <a:srgbClr val="000000"/>
                </a:solidFill>
                <a:latin typeface="Courier New" pitchFamily="34" charset="0"/>
                <a:ea typeface="Courier New" pitchFamily="34" charset="-122"/>
                <a:cs typeface="Courier New" pitchFamily="34" charset="-120"/>
              </a:rPr>
              <a:t>.method </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993300"/>
                </a:solidFill>
                <a:latin typeface="Courier New" pitchFamily="34" charset="0"/>
                <a:ea typeface="Courier New" pitchFamily="34" charset="-122"/>
                <a:cs typeface="Courier New" pitchFamily="34" charset="-120"/>
              </a:rPr>
              <a:t>'QUERY'</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endParaRPr lang="en-US" sz="1200" dirty="0"/>
          </a:p>
        </p:txBody>
      </p:sp>
      <p:sp>
        <p:nvSpPr>
          <p:cNvPr id="18" name="Text 15"/>
          <p:cNvSpPr txBox="1"/>
          <p:nvPr/>
        </p:nvSpPr>
        <p:spPr>
          <a:xfrm>
            <a:off x="688181" y="3078163"/>
            <a:ext cx="3994348" cy="177800"/>
          </a:xfrm>
          <a:prstGeom prst="rect">
            <a:avLst/>
          </a:prstGeom>
          <a:noFill/>
          <a:ln/>
        </p:spPr>
        <p:txBody>
          <a:bodyPr wrap="none" lIns="0" tIns="0" rIns="0" bIns="0" rtlCol="0" anchor="t"/>
          <a:lstStyle/>
          <a:p>
            <a:pPr algn="l" indent="0" marL="0">
              <a:buNone/>
            </a:pPr>
            <a:pPr algn="l" indent="0" marL="0">
              <a:buNone/>
            </a:pPr>
            <a:r>
              <a:rPr lang="en-US" sz="1200" b="1" dirty="0">
                <a:solidFill>
                  <a:srgbClr val="333399"/>
                </a:solidFill>
                <a:latin typeface="Courier New" pitchFamily="34" charset="0"/>
                <a:ea typeface="Courier New" pitchFamily="34" charset="-122"/>
                <a:cs typeface="Courier New" pitchFamily="34" charset="-120"/>
              </a:rPr>
              <a:t>return</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000000"/>
                </a:solidFill>
                <a:latin typeface="Courier New" pitchFamily="34" charset="0"/>
                <a:ea typeface="Courier New" pitchFamily="34" charset="-122"/>
                <a:cs typeface="Courier New" pitchFamily="34" charset="-120"/>
              </a:rPr>
              <a:t>send</a:t>
            </a:r>
            <a:pPr algn="l" indent="0" marL="0">
              <a:buNone/>
            </a:pPr>
            <a:r>
              <a:rPr lang="en-US" sz="1200" b="1" dirty="0">
                <a:solidFill>
                  <a:srgbClr val="000000"/>
                </a:solidFill>
                <a:latin typeface="Courier New" pitchFamily="34" charset="0"/>
                <a:ea typeface="Courier New" pitchFamily="34" charset="-122"/>
                <a:cs typeface="Courier New" pitchFamily="34" charset="-120"/>
              </a:rPr>
              <a:t>(res</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405</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null</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 Allow })</a:t>
            </a:r>
            <a:endParaRPr lang="en-US" sz="1200" dirty="0"/>
          </a:p>
        </p:txBody>
      </p:sp>
      <p:sp>
        <p:nvSpPr>
          <p:cNvPr id="19" name="Text 16"/>
          <p:cNvSpPr txBox="1"/>
          <p:nvPr/>
        </p:nvSpPr>
        <p:spPr>
          <a:xfrm>
            <a:off x="688181" y="3287712"/>
            <a:ext cx="6006703" cy="177800"/>
          </a:xfrm>
          <a:prstGeom prst="rect">
            <a:avLst/>
          </a:prstGeom>
          <a:noFill/>
          <a:ln/>
        </p:spPr>
        <p:txBody>
          <a:bodyPr wrap="none" lIns="0" tIns="0" rIns="0" bIns="0" rtlCol="0" anchor="t"/>
          <a:lstStyle/>
          <a:p>
            <a:pPr algn="l" indent="0" marL="0">
              <a:buNone/>
            </a:pPr>
            <a:pPr algn="l" indent="0" marL="0">
              <a:buNone/>
            </a:pPr>
            <a:r>
              <a:rPr lang="en-US" sz="1200" b="1" dirty="0">
                <a:solidFill>
                  <a:srgbClr val="333399"/>
                </a:solidFill>
                <a:latin typeface="Courier New" pitchFamily="34" charset="0"/>
                <a:ea typeface="Courier New" pitchFamily="34" charset="-122"/>
                <a:cs typeface="Courier New" pitchFamily="34" charset="-120"/>
              </a:rPr>
              <a:t>const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type</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req</a:t>
            </a:r>
            <a:pPr algn="l" indent="0" marL="0">
              <a:buNone/>
            </a:pPr>
            <a:r>
              <a:rPr lang="en-US" sz="1200" b="1" dirty="0">
                <a:solidFill>
                  <a:srgbClr val="000000"/>
                </a:solidFill>
                <a:latin typeface="Courier New" pitchFamily="34" charset="0"/>
                <a:ea typeface="Courier New" pitchFamily="34" charset="-122"/>
                <a:cs typeface="Courier New" pitchFamily="34" charset="-120"/>
              </a:rPr>
              <a:t>.headers[</a:t>
            </a:r>
            <a:pPr algn="l" indent="0" marL="0">
              <a:buNone/>
            </a:pPr>
            <a:r>
              <a:rPr lang="en-US" sz="1200" b="1" dirty="0">
                <a:solidFill>
                  <a:srgbClr val="993300"/>
                </a:solidFill>
                <a:latin typeface="Courier New" pitchFamily="34" charset="0"/>
                <a:ea typeface="Courier New" pitchFamily="34" charset="-122"/>
                <a:cs typeface="Courier New" pitchFamily="34" charset="-120"/>
              </a:rPr>
              <a:t>'content-type'</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?.split</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9933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CC6600"/>
                </a:solidFill>
                <a:latin typeface="Courier New" pitchFamily="34" charset="0"/>
                <a:ea typeface="Courier New" pitchFamily="34" charset="-122"/>
                <a:cs typeface="Courier New" pitchFamily="34" charset="-120"/>
              </a:rPr>
              <a:t>0</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.trim</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endParaRPr lang="en-US" sz="1200" dirty="0"/>
          </a:p>
        </p:txBody>
      </p:sp>
      <p:sp>
        <p:nvSpPr>
          <p:cNvPr id="20" name="Shape 17"/>
          <p:cNvSpPr/>
          <p:nvPr/>
        </p:nvSpPr>
        <p:spPr>
          <a:xfrm>
            <a:off x="103981" y="3484563"/>
            <a:ext cx="8021637" cy="209551"/>
          </a:xfrm>
          <a:prstGeom prst="rect">
            <a:avLst/>
          </a:prstGeom>
          <a:solidFill>
            <a:srgbClr val="DAEDEF"/>
          </a:solidFill>
          <a:ln/>
        </p:spPr>
      </p:sp>
      <p:sp>
        <p:nvSpPr>
          <p:cNvPr id="21" name="Text 18"/>
          <p:cNvSpPr txBox="1"/>
          <p:nvPr/>
        </p:nvSpPr>
        <p:spPr>
          <a:xfrm>
            <a:off x="688181" y="3497263"/>
            <a:ext cx="2804915" cy="177800"/>
          </a:xfrm>
          <a:prstGeom prst="rect">
            <a:avLst/>
          </a:prstGeom>
          <a:noFill/>
          <a:ln/>
        </p:spPr>
        <p:txBody>
          <a:bodyPr wrap="none" lIns="0" tIns="0" rIns="0" bIns="0" rtlCol="0" anchor="t"/>
          <a:lstStyle/>
          <a:p>
            <a:pPr algn="l" indent="0" marL="0">
              <a:buNone/>
            </a:pPr>
            <a:pPr algn="l" indent="0" marL="0">
              <a:buNone/>
            </a:pPr>
            <a:r>
              <a:rPr lang="en-US" sz="1200" b="1" dirty="0">
                <a:solidFill>
                  <a:srgbClr val="333399"/>
                </a:solidFill>
                <a:latin typeface="Courier New" pitchFamily="34" charset="0"/>
                <a:ea typeface="Courier New" pitchFamily="34" charset="-122"/>
                <a:cs typeface="Courier New" pitchFamily="34" charset="-120"/>
              </a:rPr>
              <a:t>if</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type) </a:t>
            </a:r>
            <a:pPr algn="l" indent="0" marL="0">
              <a:buNone/>
            </a:pPr>
            <a:r>
              <a:rPr lang="en-US" sz="1200" b="1" dirty="0">
                <a:solidFill>
                  <a:srgbClr val="595959"/>
                </a:solidFill>
                <a:latin typeface="Courier New" pitchFamily="34" charset="0"/>
                <a:ea typeface="Courier New" pitchFamily="34" charset="-122"/>
                <a:cs typeface="Courier New" pitchFamily="34" charset="-120"/>
              </a:rPr>
              <a:t>// §2: MUST fail</a:t>
            </a:r>
            <a:endParaRPr lang="en-US" sz="1200" dirty="0"/>
          </a:p>
        </p:txBody>
      </p:sp>
      <p:sp>
        <p:nvSpPr>
          <p:cNvPr id="22" name="Shape 19"/>
          <p:cNvSpPr/>
          <p:nvPr/>
        </p:nvSpPr>
        <p:spPr>
          <a:xfrm>
            <a:off x="103981" y="3694112"/>
            <a:ext cx="8021637" cy="209551"/>
          </a:xfrm>
          <a:prstGeom prst="rect">
            <a:avLst/>
          </a:prstGeom>
          <a:solidFill>
            <a:srgbClr val="DAEDEF"/>
          </a:solidFill>
          <a:ln/>
        </p:spPr>
      </p:sp>
      <p:sp>
        <p:nvSpPr>
          <p:cNvPr id="23" name="Text 20"/>
          <p:cNvSpPr txBox="1"/>
          <p:nvPr/>
        </p:nvSpPr>
        <p:spPr>
          <a:xfrm>
            <a:off x="688181" y="3706812"/>
            <a:ext cx="6006307" cy="177800"/>
          </a:xfrm>
          <a:prstGeom prst="rect">
            <a:avLst/>
          </a:prstGeom>
          <a:noFill/>
          <a:ln/>
        </p:spPr>
        <p:txBody>
          <a:bodyPr wrap="none" lIns="0" tIns="0" rIns="0" bIns="0" rtlCol="0" anchor="t"/>
          <a:lstStyle/>
          <a:p>
            <a:pPr algn="l" indent="0" marL="0">
              <a:buNone/>
            </a:pPr>
            <a:pPr algn="l" indent="0" marL="0">
              <a:buNone/>
            </a:pPr>
            <a:r>
              <a:rPr lang="en-US" sz="1200" b="1" dirty="0">
                <a:solidFill>
                  <a:srgbClr val="333399"/>
                </a:solidFill>
                <a:latin typeface="Courier New" pitchFamily="34" charset="0"/>
                <a:ea typeface="Courier New" pitchFamily="34" charset="-122"/>
                <a:cs typeface="Courier New" pitchFamily="34" charset="-120"/>
              </a:rPr>
              <a:t>return</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000000"/>
                </a:solidFill>
                <a:latin typeface="Courier New" pitchFamily="34" charset="0"/>
                <a:ea typeface="Courier New" pitchFamily="34" charset="-122"/>
                <a:cs typeface="Courier New" pitchFamily="34" charset="-120"/>
              </a:rPr>
              <a:t>send</a:t>
            </a:r>
            <a:pPr algn="l" indent="0" marL="0">
              <a:buNone/>
            </a:pPr>
            <a:r>
              <a:rPr lang="en-US" sz="1200" b="1" dirty="0">
                <a:solidFill>
                  <a:srgbClr val="000000"/>
                </a:solidFill>
                <a:latin typeface="Courier New" pitchFamily="34" charset="0"/>
                <a:ea typeface="Courier New" pitchFamily="34" charset="-122"/>
                <a:cs typeface="Courier New" pitchFamily="34" charset="-120"/>
              </a:rPr>
              <a:t>(res</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400</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 error</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993300"/>
                </a:solidFill>
                <a:latin typeface="Courier New" pitchFamily="34" charset="0"/>
                <a:ea typeface="Courier New" pitchFamily="34" charset="-122"/>
                <a:cs typeface="Courier New" pitchFamily="34" charset="-120"/>
              </a:rPr>
              <a:t>'Content-Type is required'</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endParaRPr lang="en-US" sz="1200" dirty="0"/>
          </a:p>
        </p:txBody>
      </p:sp>
      <p:sp>
        <p:nvSpPr>
          <p:cNvPr id="24" name="Shape 21"/>
          <p:cNvSpPr/>
          <p:nvPr/>
        </p:nvSpPr>
        <p:spPr>
          <a:xfrm>
            <a:off x="103981" y="3903663"/>
            <a:ext cx="8021637" cy="209551"/>
          </a:xfrm>
          <a:prstGeom prst="rect">
            <a:avLst/>
          </a:prstGeom>
          <a:solidFill>
            <a:srgbClr val="DAEDEF"/>
          </a:solidFill>
          <a:ln/>
        </p:spPr>
      </p:sp>
      <p:sp>
        <p:nvSpPr>
          <p:cNvPr id="25" name="Text 22"/>
          <p:cNvSpPr txBox="1"/>
          <p:nvPr/>
        </p:nvSpPr>
        <p:spPr>
          <a:xfrm>
            <a:off x="688181" y="3916363"/>
            <a:ext cx="3811191" cy="177800"/>
          </a:xfrm>
          <a:prstGeom prst="rect">
            <a:avLst/>
          </a:prstGeom>
          <a:noFill/>
          <a:ln/>
        </p:spPr>
        <p:txBody>
          <a:bodyPr wrap="none" lIns="0" tIns="0" rIns="0" bIns="0" rtlCol="0" anchor="t"/>
          <a:lstStyle/>
          <a:p>
            <a:pPr algn="l" indent="0" marL="0">
              <a:buNone/>
            </a:pPr>
            <a:pPr algn="l" indent="0" marL="0">
              <a:buNone/>
            </a:pPr>
            <a:r>
              <a:rPr lang="en-US" sz="1200" b="1" dirty="0">
                <a:solidFill>
                  <a:srgbClr val="333399"/>
                </a:solidFill>
                <a:latin typeface="Courier New" pitchFamily="34" charset="0"/>
                <a:ea typeface="Courier New" pitchFamily="34" charset="-122"/>
                <a:cs typeface="Courier New" pitchFamily="34" charset="-120"/>
              </a:rPr>
              <a:t>if</a:t>
            </a:r>
            <a:pPr algn="l" indent="0" marL="0">
              <a:buNone/>
            </a:pPr>
            <a:r>
              <a:rPr lang="en-US" sz="1200" b="1" dirty="0">
                <a:solidFill>
                  <a:srgbClr val="000000"/>
                </a:solidFill>
                <a:latin typeface="Courier New" pitchFamily="34" charset="0"/>
                <a:ea typeface="Courier New" pitchFamily="34" charset="-122"/>
                <a:cs typeface="Courier New" pitchFamily="34" charset="-120"/>
              </a:rPr>
              <a:t> (type </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JSON_TYPE</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595959"/>
                </a:solidFill>
                <a:latin typeface="Courier New" pitchFamily="34" charset="0"/>
                <a:ea typeface="Courier New" pitchFamily="34" charset="-122"/>
                <a:cs typeface="Courier New" pitchFamily="34" charset="-120"/>
              </a:rPr>
              <a:t>// §2.1 and §3</a:t>
            </a:r>
            <a:endParaRPr lang="en-US" sz="1200" dirty="0"/>
          </a:p>
        </p:txBody>
      </p:sp>
      <p:sp>
        <p:nvSpPr>
          <p:cNvPr id="26" name="Shape 23"/>
          <p:cNvSpPr/>
          <p:nvPr/>
        </p:nvSpPr>
        <p:spPr>
          <a:xfrm>
            <a:off x="103981" y="4113212"/>
            <a:ext cx="8021637" cy="209551"/>
          </a:xfrm>
          <a:prstGeom prst="rect">
            <a:avLst/>
          </a:prstGeom>
          <a:solidFill>
            <a:srgbClr val="DAEDEF"/>
          </a:solidFill>
          <a:ln/>
        </p:spPr>
      </p:sp>
      <p:sp>
        <p:nvSpPr>
          <p:cNvPr id="27" name="Text 24"/>
          <p:cNvSpPr txBox="1"/>
          <p:nvPr/>
        </p:nvSpPr>
        <p:spPr>
          <a:xfrm>
            <a:off x="688181" y="4125912"/>
            <a:ext cx="5823744" cy="177800"/>
          </a:xfrm>
          <a:prstGeom prst="rect">
            <a:avLst/>
          </a:prstGeom>
          <a:noFill/>
          <a:ln/>
        </p:spPr>
        <p:txBody>
          <a:bodyPr wrap="none" lIns="0" tIns="0" rIns="0" bIns="0" rtlCol="0" anchor="t"/>
          <a:lstStyle/>
          <a:p>
            <a:pPr algn="l" indent="0" marL="0">
              <a:buNone/>
            </a:pPr>
            <a:pPr algn="l" indent="0" marL="0">
              <a:buNone/>
            </a:pPr>
            <a:r>
              <a:rPr lang="en-US" sz="1200" b="1" dirty="0">
                <a:solidFill>
                  <a:srgbClr val="333399"/>
                </a:solidFill>
                <a:latin typeface="Courier New" pitchFamily="34" charset="0"/>
                <a:ea typeface="Courier New" pitchFamily="34" charset="-122"/>
                <a:cs typeface="Courier New" pitchFamily="34" charset="-120"/>
              </a:rPr>
              <a:t>return</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000000"/>
                </a:solidFill>
                <a:latin typeface="Courier New" pitchFamily="34" charset="0"/>
                <a:ea typeface="Courier New" pitchFamily="34" charset="-122"/>
                <a:cs typeface="Courier New" pitchFamily="34" charset="-120"/>
              </a:rPr>
              <a:t>send</a:t>
            </a:r>
            <a:pPr algn="l" indent="0" marL="0">
              <a:buNone/>
            </a:pPr>
            <a:r>
              <a:rPr lang="en-US" sz="1200" b="1" dirty="0">
                <a:solidFill>
                  <a:srgbClr val="000000"/>
                </a:solidFill>
                <a:latin typeface="Courier New" pitchFamily="34" charset="0"/>
                <a:ea typeface="Courier New" pitchFamily="34" charset="-122"/>
                <a:cs typeface="Courier New" pitchFamily="34" charset="-120"/>
              </a:rPr>
              <a:t>(res</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415</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null</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 </a:t>
            </a:r>
            <a:pPr algn="l" indent="0" marL="0">
              <a:buNone/>
            </a:pPr>
            <a:r>
              <a:rPr lang="en-US" sz="1200" b="1" dirty="0">
                <a:solidFill>
                  <a:srgbClr val="993300"/>
                </a:solidFill>
                <a:latin typeface="Courier New" pitchFamily="34" charset="0"/>
                <a:ea typeface="Courier New" pitchFamily="34" charset="-122"/>
                <a:cs typeface="Courier New" pitchFamily="34" charset="-120"/>
              </a:rPr>
              <a:t>'Accept-Query'</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JSON_TYPE</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endParaRPr lang="en-US" sz="1200" dirty="0"/>
          </a:p>
        </p:txBody>
      </p:sp>
      <p:sp>
        <p:nvSpPr>
          <p:cNvPr id="28" name="Text 25"/>
          <p:cNvSpPr txBox="1"/>
          <p:nvPr/>
        </p:nvSpPr>
        <p:spPr>
          <a:xfrm>
            <a:off x="688181" y="4335463"/>
            <a:ext cx="1158676" cy="177800"/>
          </a:xfrm>
          <a:prstGeom prst="rect">
            <a:avLst/>
          </a:prstGeom>
          <a:noFill/>
          <a:ln/>
        </p:spPr>
        <p:txBody>
          <a:bodyPr wrap="none" lIns="0" tIns="0" rIns="0" bIns="0" rtlCol="0" anchor="t"/>
          <a:lstStyle/>
          <a:p>
            <a:pPr algn="l" indent="0" marL="0">
              <a:buNone/>
            </a:pPr>
            <a:pPr algn="l" indent="0" marL="0">
              <a:buNone/>
            </a:pPr>
            <a:r>
              <a:rPr lang="en-US" sz="1200" b="1" dirty="0">
                <a:solidFill>
                  <a:srgbClr val="333399"/>
                </a:solidFill>
                <a:latin typeface="Courier New" pitchFamily="34" charset="0"/>
                <a:ea typeface="Courier New" pitchFamily="34" charset="-122"/>
                <a:cs typeface="Courier New" pitchFamily="34" charset="-120"/>
              </a:rPr>
              <a:t>let</a:t>
            </a:r>
            <a:pPr algn="l" indent="0" marL="0">
              <a:buNone/>
            </a:pPr>
            <a:r>
              <a:rPr lang="en-US" sz="1200" b="1" dirty="0">
                <a:solidFill>
                  <a:srgbClr val="000000"/>
                </a:solidFill>
                <a:latin typeface="Courier New" pitchFamily="34" charset="0"/>
                <a:ea typeface="Courier New" pitchFamily="34" charset="-122"/>
                <a:cs typeface="Courier New" pitchFamily="34" charset="-120"/>
              </a:rPr>
              <a:t> query</a:t>
            </a:r>
            <a:endParaRPr lang="en-US" sz="1200" dirty="0"/>
          </a:p>
        </p:txBody>
      </p:sp>
      <p:sp>
        <p:nvSpPr>
          <p:cNvPr id="29" name="Shape 26"/>
          <p:cNvSpPr/>
          <p:nvPr/>
        </p:nvSpPr>
        <p:spPr>
          <a:xfrm>
            <a:off x="103981" y="4532312"/>
            <a:ext cx="8021637" cy="209551"/>
          </a:xfrm>
          <a:prstGeom prst="rect">
            <a:avLst/>
          </a:prstGeom>
          <a:solidFill>
            <a:srgbClr val="DAEDEF"/>
          </a:solidFill>
          <a:ln/>
        </p:spPr>
      </p:sp>
      <p:sp>
        <p:nvSpPr>
          <p:cNvPr id="30" name="Text 27"/>
          <p:cNvSpPr txBox="1"/>
          <p:nvPr/>
        </p:nvSpPr>
        <p:spPr>
          <a:xfrm>
            <a:off x="688181" y="4545012"/>
            <a:ext cx="5640784" cy="177800"/>
          </a:xfrm>
          <a:prstGeom prst="rect">
            <a:avLst/>
          </a:prstGeom>
          <a:noFill/>
          <a:ln/>
        </p:spPr>
        <p:txBody>
          <a:bodyPr wrap="none" lIns="0" tIns="0" rIns="0" bIns="0" rtlCol="0" anchor="t"/>
          <a:lstStyle/>
          <a:p>
            <a:pPr algn="l" indent="0" marL="0">
              <a:buNone/>
            </a:pPr>
            <a:pPr algn="l" indent="0" marL="0">
              <a:buNone/>
            </a:pPr>
            <a:r>
              <a:rPr lang="en-US" sz="1200" b="1" dirty="0">
                <a:solidFill>
                  <a:srgbClr val="333399"/>
                </a:solidFill>
                <a:latin typeface="Courier New" pitchFamily="34" charset="0"/>
                <a:ea typeface="Courier New" pitchFamily="34" charset="-122"/>
                <a:cs typeface="Courier New" pitchFamily="34" charset="-120"/>
              </a:rPr>
              <a:t>try</a:t>
            </a:r>
            <a:pPr algn="l" indent="0" marL="0">
              <a:buNone/>
            </a:pPr>
            <a:r>
              <a:rPr lang="en-US" sz="1200" b="1" dirty="0">
                <a:solidFill>
                  <a:srgbClr val="000000"/>
                </a:solidFill>
                <a:latin typeface="Courier New" pitchFamily="34" charset="0"/>
                <a:ea typeface="Courier New" pitchFamily="34" charset="-122"/>
                <a:cs typeface="Courier New" pitchFamily="34" charset="-120"/>
              </a:rPr>
              <a:t> { query </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JSON</a:t>
            </a:r>
            <a:pPr algn="l" indent="0" marL="0">
              <a:buNone/>
            </a:pPr>
            <a:r>
              <a:rPr lang="en-US" sz="1200" b="1" dirty="0">
                <a:solidFill>
                  <a:srgbClr val="000000"/>
                </a:solidFill>
                <a:latin typeface="Courier New" pitchFamily="34" charset="0"/>
                <a:ea typeface="Courier New" pitchFamily="34" charset="-122"/>
                <a:cs typeface="Courier New" pitchFamily="34" charset="-120"/>
              </a:rPr>
              <a:t>.parse</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333399"/>
                </a:solidFill>
                <a:latin typeface="Courier New" pitchFamily="34" charset="0"/>
                <a:ea typeface="Courier New" pitchFamily="34" charset="-122"/>
                <a:cs typeface="Courier New" pitchFamily="34" charset="-120"/>
              </a:rPr>
              <a:t>await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000000"/>
                </a:solidFill>
                <a:latin typeface="Courier New" pitchFamily="34" charset="0"/>
                <a:ea typeface="Courier New" pitchFamily="34" charset="-122"/>
                <a:cs typeface="Courier New" pitchFamily="34" charset="-120"/>
              </a:rPr>
              <a:t>readBody</a:t>
            </a:r>
            <a:pPr algn="l" indent="0" marL="0">
              <a:buNone/>
            </a:pPr>
            <a:r>
              <a:rPr lang="en-US" sz="1200" b="1" dirty="0">
                <a:solidFill>
                  <a:srgbClr val="000000"/>
                </a:solidFill>
                <a:latin typeface="Courier New" pitchFamily="34" charset="0"/>
                <a:ea typeface="Courier New" pitchFamily="34" charset="-122"/>
                <a:cs typeface="Courier New" pitchFamily="34" charset="-120"/>
              </a:rPr>
              <a:t>(req</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16</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1024</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endParaRPr lang="en-US" sz="1200" dirty="0"/>
          </a:p>
        </p:txBody>
      </p:sp>
      <p:sp>
        <p:nvSpPr>
          <p:cNvPr id="31" name="Shape 28"/>
          <p:cNvSpPr/>
          <p:nvPr/>
        </p:nvSpPr>
        <p:spPr>
          <a:xfrm>
            <a:off x="103981" y="4741863"/>
            <a:ext cx="8021637" cy="209551"/>
          </a:xfrm>
          <a:prstGeom prst="rect">
            <a:avLst/>
          </a:prstGeom>
          <a:solidFill>
            <a:srgbClr val="DAEDEF"/>
          </a:solidFill>
          <a:ln/>
        </p:spPr>
      </p:sp>
      <p:sp>
        <p:nvSpPr>
          <p:cNvPr id="32" name="Text 29"/>
          <p:cNvSpPr txBox="1"/>
          <p:nvPr/>
        </p:nvSpPr>
        <p:spPr>
          <a:xfrm>
            <a:off x="688181" y="4754563"/>
            <a:ext cx="7195543" cy="177800"/>
          </a:xfrm>
          <a:prstGeom prst="rect">
            <a:avLst/>
          </a:prstGeom>
          <a:noFill/>
          <a:ln/>
        </p:spPr>
        <p:txBody>
          <a:bodyPr wrap="none" lIns="0" tIns="0" rIns="0" bIns="0" rtlCol="0" anchor="t"/>
          <a:lstStyle/>
          <a:p>
            <a:pPr algn="l" indent="0" marL="0">
              <a:buNone/>
            </a:pPr>
            <a:pPr algn="l" indent="0" marL="0">
              <a:buNone/>
            </a:pPr>
            <a:r>
              <a:rPr lang="en-US" sz="1200" b="1" dirty="0">
                <a:solidFill>
                  <a:srgbClr val="333399"/>
                </a:solidFill>
                <a:latin typeface="Courier New" pitchFamily="34" charset="0"/>
                <a:ea typeface="Courier New" pitchFamily="34" charset="-122"/>
                <a:cs typeface="Courier New" pitchFamily="34" charset="-120"/>
              </a:rPr>
              <a:t>catch</a:t>
            </a:r>
            <a:pPr algn="l" indent="0" marL="0">
              <a:buNone/>
            </a:pPr>
            <a:r>
              <a:rPr lang="en-US" sz="1200" b="1" dirty="0">
                <a:solidFill>
                  <a:srgbClr val="000000"/>
                </a:solidFill>
                <a:latin typeface="Courier New" pitchFamily="34" charset="0"/>
                <a:ea typeface="Courier New" pitchFamily="34" charset="-122"/>
                <a:cs typeface="Courier New" pitchFamily="34" charset="-120"/>
              </a:rPr>
              <a:t> { </a:t>
            </a:r>
            <a:pPr algn="l" indent="0" marL="0">
              <a:buNone/>
            </a:pPr>
            <a:r>
              <a:rPr lang="en-US" sz="1200" b="1" dirty="0">
                <a:solidFill>
                  <a:srgbClr val="333399"/>
                </a:solidFill>
                <a:latin typeface="Courier New" pitchFamily="34" charset="0"/>
                <a:ea typeface="Courier New" pitchFamily="34" charset="-122"/>
                <a:cs typeface="Courier New" pitchFamily="34" charset="-120"/>
              </a:rPr>
              <a:t>return</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000000"/>
                </a:solidFill>
                <a:latin typeface="Courier New" pitchFamily="34" charset="0"/>
                <a:ea typeface="Courier New" pitchFamily="34" charset="-122"/>
                <a:cs typeface="Courier New" pitchFamily="34" charset="-120"/>
              </a:rPr>
              <a:t>send</a:t>
            </a:r>
            <a:pPr algn="l" indent="0" marL="0">
              <a:buNone/>
            </a:pPr>
            <a:r>
              <a:rPr lang="en-US" sz="1200" b="1" dirty="0">
                <a:solidFill>
                  <a:srgbClr val="000000"/>
                </a:solidFill>
                <a:latin typeface="Courier New" pitchFamily="34" charset="0"/>
                <a:ea typeface="Courier New" pitchFamily="34" charset="-122"/>
                <a:cs typeface="Courier New" pitchFamily="34" charset="-120"/>
              </a:rPr>
              <a:t>(res</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400</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 error</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993300"/>
                </a:solidFill>
                <a:latin typeface="Courier New" pitchFamily="34" charset="0"/>
                <a:ea typeface="Courier New" pitchFamily="34" charset="-122"/>
                <a:cs typeface="Courier New" pitchFamily="34" charset="-120"/>
              </a:rPr>
              <a:t>'not valid JSON'</a:t>
            </a:r>
            <a:pPr algn="l" indent="0" marL="0">
              <a:buNone/>
            </a:pPr>
            <a:r>
              <a:rPr lang="en-US" sz="1200" b="1" dirty="0">
                <a:solidFill>
                  <a:srgbClr val="000000"/>
                </a:solidFill>
                <a:latin typeface="Courier New" pitchFamily="34" charset="0"/>
                <a:ea typeface="Courier New" pitchFamily="34" charset="-122"/>
                <a:cs typeface="Courier New" pitchFamily="34" charset="-120"/>
              </a:rPr>
              <a:t> }) } </a:t>
            </a:r>
            <a:pPr algn="l" indent="0" marL="0">
              <a:buNone/>
            </a:pPr>
            <a:r>
              <a:rPr lang="en-US" sz="1200" b="1" dirty="0">
                <a:solidFill>
                  <a:srgbClr val="595959"/>
                </a:solidFill>
                <a:latin typeface="Courier New" pitchFamily="34" charset="0"/>
                <a:ea typeface="Courier New" pitchFamily="34" charset="-122"/>
                <a:cs typeface="Courier New" pitchFamily="34" charset="-120"/>
              </a:rPr>
              <a:t>// no sniffing</a:t>
            </a:r>
            <a:endParaRPr lang="en-US" sz="1200" dirty="0"/>
          </a:p>
        </p:txBody>
      </p:sp>
      <p:sp>
        <p:nvSpPr>
          <p:cNvPr id="33" name="Shape 30"/>
          <p:cNvSpPr/>
          <p:nvPr/>
        </p:nvSpPr>
        <p:spPr>
          <a:xfrm>
            <a:off x="103981" y="4951412"/>
            <a:ext cx="8021637" cy="209551"/>
          </a:xfrm>
          <a:prstGeom prst="rect">
            <a:avLst/>
          </a:prstGeom>
          <a:solidFill>
            <a:srgbClr val="DAEDEF"/>
          </a:solidFill>
          <a:ln/>
        </p:spPr>
      </p:sp>
      <p:sp>
        <p:nvSpPr>
          <p:cNvPr id="34" name="Text 31"/>
          <p:cNvSpPr txBox="1"/>
          <p:nvPr/>
        </p:nvSpPr>
        <p:spPr>
          <a:xfrm>
            <a:off x="688181" y="4964112"/>
            <a:ext cx="6189265" cy="177800"/>
          </a:xfrm>
          <a:prstGeom prst="rect">
            <a:avLst/>
          </a:prstGeom>
          <a:noFill/>
          <a:ln/>
        </p:spPr>
        <p:txBody>
          <a:bodyPr wrap="none" lIns="0" tIns="0" rIns="0" bIns="0" rtlCol="0" anchor="t"/>
          <a:lstStyle/>
          <a:p>
            <a:pPr algn="l" indent="0" marL="0">
              <a:buNone/>
            </a:pPr>
            <a:pPr algn="l" indent="0" marL="0">
              <a:buNone/>
            </a:pPr>
            <a:r>
              <a:rPr lang="en-US" sz="1200" b="1" dirty="0">
                <a:solidFill>
                  <a:srgbClr val="333399"/>
                </a:solidFill>
                <a:latin typeface="Courier New" pitchFamily="34" charset="0"/>
                <a:ea typeface="Courier New" pitchFamily="34" charset="-122"/>
                <a:cs typeface="Courier New" pitchFamily="34" charset="-120"/>
              </a:rPr>
              <a:t>if</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333399"/>
                </a:solidFill>
                <a:latin typeface="Courier New" pitchFamily="34" charset="0"/>
                <a:ea typeface="Courier New" pitchFamily="34" charset="-122"/>
                <a:cs typeface="Courier New" pitchFamily="34" charset="-120"/>
              </a:rPr>
              <a:t>typeof</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query</a:t>
            </a:r>
            <a:pPr algn="l" indent="0" marL="0">
              <a:buNone/>
            </a:pPr>
            <a:r>
              <a:rPr lang="en-US" sz="1200" b="1" dirty="0">
                <a:solidFill>
                  <a:srgbClr val="000000"/>
                </a:solidFill>
                <a:latin typeface="Courier New" pitchFamily="34" charset="0"/>
                <a:ea typeface="Courier New" pitchFamily="34" charset="-122"/>
                <a:cs typeface="Courier New" pitchFamily="34" charset="-120"/>
              </a:rPr>
              <a:t>.q </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993300"/>
                </a:solidFill>
                <a:latin typeface="Courier New" pitchFamily="34" charset="0"/>
                <a:ea typeface="Courier New" pitchFamily="34" charset="-122"/>
                <a:cs typeface="Courier New" pitchFamily="34" charset="-120"/>
              </a:rPr>
              <a:t>'string'</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595959"/>
                </a:solidFill>
                <a:latin typeface="Courier New" pitchFamily="34" charset="0"/>
                <a:ea typeface="Courier New" pitchFamily="34" charset="-122"/>
                <a:cs typeface="Courier New" pitchFamily="34" charset="-120"/>
              </a:rPr>
              <a:t>// §2.1: understood, cannot run</a:t>
            </a:r>
            <a:endParaRPr lang="en-US" sz="1200" dirty="0"/>
          </a:p>
        </p:txBody>
      </p:sp>
      <p:sp>
        <p:nvSpPr>
          <p:cNvPr id="35" name="Shape 32"/>
          <p:cNvSpPr/>
          <p:nvPr/>
        </p:nvSpPr>
        <p:spPr>
          <a:xfrm>
            <a:off x="103981" y="5160963"/>
            <a:ext cx="8021637" cy="209551"/>
          </a:xfrm>
          <a:prstGeom prst="rect">
            <a:avLst/>
          </a:prstGeom>
          <a:solidFill>
            <a:srgbClr val="DAEDEF"/>
          </a:solidFill>
          <a:ln/>
        </p:spPr>
      </p:sp>
      <p:sp>
        <p:nvSpPr>
          <p:cNvPr id="36" name="Text 33"/>
          <p:cNvSpPr txBox="1"/>
          <p:nvPr/>
        </p:nvSpPr>
        <p:spPr>
          <a:xfrm>
            <a:off x="688181" y="5173663"/>
            <a:ext cx="5640585" cy="177800"/>
          </a:xfrm>
          <a:prstGeom prst="rect">
            <a:avLst/>
          </a:prstGeom>
          <a:noFill/>
          <a:ln/>
        </p:spPr>
        <p:txBody>
          <a:bodyPr wrap="none" lIns="0" tIns="0" rIns="0" bIns="0" rtlCol="0" anchor="t"/>
          <a:lstStyle/>
          <a:p>
            <a:pPr algn="l" indent="0" marL="0">
              <a:buNone/>
            </a:pPr>
            <a:pPr algn="l" indent="0" marL="0">
              <a:buNone/>
            </a:pPr>
            <a:r>
              <a:rPr lang="en-US" sz="1200" b="1" dirty="0">
                <a:solidFill>
                  <a:srgbClr val="333399"/>
                </a:solidFill>
                <a:latin typeface="Courier New" pitchFamily="34" charset="0"/>
                <a:ea typeface="Courier New" pitchFamily="34" charset="-122"/>
                <a:cs typeface="Courier New" pitchFamily="34" charset="-120"/>
              </a:rPr>
              <a:t>return</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000000"/>
                </a:solidFill>
                <a:latin typeface="Courier New" pitchFamily="34" charset="0"/>
                <a:ea typeface="Courier New" pitchFamily="34" charset="-122"/>
                <a:cs typeface="Courier New" pitchFamily="34" charset="-120"/>
              </a:rPr>
              <a:t>send</a:t>
            </a:r>
            <a:pPr algn="l" indent="0" marL="0">
              <a:buNone/>
            </a:pPr>
            <a:r>
              <a:rPr lang="en-US" sz="1200" b="1" dirty="0">
                <a:solidFill>
                  <a:srgbClr val="000000"/>
                </a:solidFill>
                <a:latin typeface="Courier New" pitchFamily="34" charset="0"/>
                <a:ea typeface="Courier New" pitchFamily="34" charset="-122"/>
                <a:cs typeface="Courier New" pitchFamily="34" charset="-120"/>
              </a:rPr>
              <a:t>(res</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422</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 error</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993300"/>
                </a:solidFill>
                <a:latin typeface="Courier New" pitchFamily="34" charset="0"/>
                <a:ea typeface="Courier New" pitchFamily="34" charset="-122"/>
                <a:cs typeface="Courier New" pitchFamily="34" charset="-120"/>
              </a:rPr>
              <a:t>'"q" must be a string'</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endParaRPr lang="en-US" sz="1200" dirty="0"/>
          </a:p>
        </p:txBody>
      </p:sp>
      <p:sp>
        <p:nvSpPr>
          <p:cNvPr id="37" name="Text 34"/>
          <p:cNvSpPr txBox="1"/>
          <p:nvPr/>
        </p:nvSpPr>
        <p:spPr>
          <a:xfrm>
            <a:off x="688181" y="5383212"/>
            <a:ext cx="6006307" cy="177800"/>
          </a:xfrm>
          <a:prstGeom prst="rect">
            <a:avLst/>
          </a:prstGeom>
          <a:noFill/>
          <a:ln/>
        </p:spPr>
        <p:txBody>
          <a:bodyPr wrap="none" lIns="0" tIns="0" rIns="0" bIns="0" rtlCol="0" anchor="t"/>
          <a:lstStyle/>
          <a:p>
            <a:pPr algn="l" indent="0" marL="0">
              <a:buNone/>
            </a:pPr>
            <a:pPr algn="l" indent="0" marL="0">
              <a:buNone/>
            </a:pPr>
            <a:r>
              <a:rPr lang="en-US" sz="1200" b="1" dirty="0">
                <a:solidFill>
                  <a:srgbClr val="333399"/>
                </a:solidFill>
                <a:latin typeface="Courier New" pitchFamily="34" charset="0"/>
                <a:ea typeface="Courier New" pitchFamily="34" charset="-122"/>
                <a:cs typeface="Courier New" pitchFamily="34" charset="-120"/>
              </a:rPr>
              <a:t>const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location</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993300"/>
                </a:solidFill>
                <a:latin typeface="Courier New" pitchFamily="34" charset="0"/>
                <a:ea typeface="Courier New" pitchFamily="34" charset="-122"/>
                <a:cs typeface="Courier New" pitchFamily="34" charset="-120"/>
              </a:rPr>
              <a:t>`/contacts/stored-queries/</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CC6600"/>
                </a:solidFill>
                <a:latin typeface="Courier New" pitchFamily="34" charset="0"/>
                <a:ea typeface="Courier New" pitchFamily="34" charset="-122"/>
                <a:cs typeface="Courier New" pitchFamily="34" charset="-120"/>
              </a:rPr>
              <a:t>stored</a:t>
            </a:r>
            <a:pPr algn="l" indent="0" marL="0">
              <a:buNone/>
            </a:pPr>
            <a:r>
              <a:rPr lang="en-US" sz="1200" b="1" dirty="0">
                <a:solidFill>
                  <a:srgbClr val="000000"/>
                </a:solidFill>
                <a:latin typeface="Courier New" pitchFamily="34" charset="0"/>
                <a:ea typeface="Courier New" pitchFamily="34" charset="-122"/>
                <a:cs typeface="Courier New" pitchFamily="34" charset="-120"/>
              </a:rPr>
              <a:t>.size </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1</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993300"/>
                </a:solidFill>
                <a:latin typeface="Courier New" pitchFamily="34" charset="0"/>
                <a:ea typeface="Courier New" pitchFamily="34" charset="-122"/>
                <a:cs typeface="Courier New" pitchFamily="34" charset="-120"/>
              </a:rPr>
              <a:t>`</a:t>
            </a:r>
            <a:endParaRPr lang="en-US" sz="1200" dirty="0"/>
          </a:p>
        </p:txBody>
      </p:sp>
      <p:sp>
        <p:nvSpPr>
          <p:cNvPr id="38" name="Text 35"/>
          <p:cNvSpPr txBox="1"/>
          <p:nvPr/>
        </p:nvSpPr>
        <p:spPr>
          <a:xfrm>
            <a:off x="688181" y="5592763"/>
            <a:ext cx="2805112" cy="177800"/>
          </a:xfrm>
          <a:prstGeom prst="rect">
            <a:avLst/>
          </a:prstGeom>
          <a:noFill/>
          <a:ln/>
        </p:spPr>
        <p:txBody>
          <a:bodyPr wrap="none" lIns="0" tIns="0" rIns="0" bIns="0" rtlCol="0" anchor="t"/>
          <a:lstStyle/>
          <a:p>
            <a:pPr algn="l" indent="0" marL="0">
              <a:buNone/>
            </a:pPr>
            <a:pPr algn="l" indent="0" marL="0">
              <a:buNone/>
            </a:pPr>
            <a:r>
              <a:rPr lang="en-US" sz="1200" b="1" dirty="0">
                <a:solidFill>
                  <a:srgbClr val="CC6600"/>
                </a:solidFill>
                <a:latin typeface="Courier New" pitchFamily="34" charset="0"/>
                <a:ea typeface="Courier New" pitchFamily="34" charset="-122"/>
                <a:cs typeface="Courier New" pitchFamily="34" charset="-120"/>
              </a:rPr>
              <a:t>stored</a:t>
            </a:r>
            <a:pPr algn="l" indent="0" marL="0">
              <a:buNone/>
            </a:pPr>
            <a:r>
              <a:rPr lang="en-US" sz="1200" b="1" dirty="0">
                <a:solidFill>
                  <a:srgbClr val="000000"/>
                </a:solidFill>
                <a:latin typeface="Courier New" pitchFamily="34" charset="0"/>
                <a:ea typeface="Courier New" pitchFamily="34" charset="-122"/>
                <a:cs typeface="Courier New" pitchFamily="34" charset="-120"/>
              </a:rPr>
              <a:t>.set</a:t>
            </a:r>
            <a:pPr algn="l" indent="0" marL="0">
              <a:buNone/>
            </a:pPr>
            <a:r>
              <a:rPr lang="en-US" sz="1200" b="1" dirty="0">
                <a:solidFill>
                  <a:srgbClr val="000000"/>
                </a:solidFill>
                <a:latin typeface="Courier New" pitchFamily="34" charset="0"/>
                <a:ea typeface="Courier New" pitchFamily="34" charset="-122"/>
                <a:cs typeface="Courier New" pitchFamily="34" charset="-120"/>
              </a:rPr>
              <a:t>(location</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query)</a:t>
            </a:r>
            <a:endParaRPr lang="en-US" sz="1200" dirty="0"/>
          </a:p>
        </p:txBody>
      </p:sp>
      <p:sp>
        <p:nvSpPr>
          <p:cNvPr id="39" name="Text 36"/>
          <p:cNvSpPr txBox="1"/>
          <p:nvPr/>
        </p:nvSpPr>
        <p:spPr>
          <a:xfrm>
            <a:off x="688181" y="5802312"/>
            <a:ext cx="5183385" cy="177800"/>
          </a:xfrm>
          <a:prstGeom prst="rect">
            <a:avLst/>
          </a:prstGeom>
          <a:noFill/>
          <a:ln/>
        </p:spPr>
        <p:txBody>
          <a:bodyPr wrap="none" lIns="0" tIns="0" rIns="0" bIns="0" rtlCol="0" anchor="t"/>
          <a:lstStyle/>
          <a:p>
            <a:pPr algn="l" indent="0" marL="0">
              <a:buNone/>
            </a:pPr>
            <a:pPr algn="l" indent="0" marL="0">
              <a:buNone/>
            </a:pPr>
            <a:r>
              <a:rPr lang="en-US" sz="1200" b="1" dirty="0">
                <a:solidFill>
                  <a:srgbClr val="000000"/>
                </a:solidFill>
                <a:latin typeface="Courier New" pitchFamily="34" charset="0"/>
                <a:ea typeface="Courier New" pitchFamily="34" charset="-122"/>
                <a:cs typeface="Courier New" pitchFamily="34" charset="-120"/>
              </a:rPr>
              <a:t>send</a:t>
            </a:r>
            <a:pPr algn="l" indent="0" marL="0">
              <a:buNone/>
            </a:pPr>
            <a:r>
              <a:rPr lang="en-US" sz="1200" b="1" dirty="0">
                <a:solidFill>
                  <a:srgbClr val="000000"/>
                </a:solidFill>
                <a:latin typeface="Courier New" pitchFamily="34" charset="0"/>
                <a:ea typeface="Courier New" pitchFamily="34" charset="-122"/>
                <a:cs typeface="Courier New" pitchFamily="34" charset="-120"/>
              </a:rPr>
              <a:t>(res</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200</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000000"/>
                </a:solidFill>
                <a:latin typeface="Courier New" pitchFamily="34" charset="0"/>
                <a:ea typeface="Courier New" pitchFamily="34" charset="-122"/>
                <a:cs typeface="Courier New" pitchFamily="34" charset="-120"/>
              </a:rPr>
              <a:t>search</a:t>
            </a:r>
            <a:pPr algn="l" indent="0" marL="0">
              <a:buNone/>
            </a:pPr>
            <a:r>
              <a:rPr lang="en-US" sz="1200" b="1" dirty="0">
                <a:solidFill>
                  <a:srgbClr val="000000"/>
                </a:solidFill>
                <a:latin typeface="Courier New" pitchFamily="34" charset="0"/>
                <a:ea typeface="Courier New" pitchFamily="34" charset="-122"/>
                <a:cs typeface="Courier New" pitchFamily="34" charset="-120"/>
              </a:rPr>
              <a:t>(query)</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 Location</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location })</a:t>
            </a:r>
            <a:endParaRPr lang="en-US" sz="1200" dirty="0"/>
          </a:p>
        </p:txBody>
      </p:sp>
      <p:sp>
        <p:nvSpPr>
          <p:cNvPr id="40" name="Text 37"/>
          <p:cNvSpPr txBox="1"/>
          <p:nvPr/>
        </p:nvSpPr>
        <p:spPr>
          <a:xfrm>
            <a:off x="688181" y="6011863"/>
            <a:ext cx="5274865"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.listen</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CC6600"/>
                </a:solidFill>
                <a:latin typeface="Courier New" pitchFamily="34" charset="0"/>
                <a:ea typeface="Courier New" pitchFamily="34" charset="-122"/>
                <a:cs typeface="Courier New" pitchFamily="34" charset="-120"/>
              </a:rPr>
              <a:t>8787</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 </a:t>
            </a:r>
            <a:pPr algn="l" indent="0" marL="0">
              <a:buNone/>
            </a:pPr>
            <a:r>
              <a:rPr lang="en-US" sz="1200" b="1" dirty="0">
                <a:solidFill>
                  <a:srgbClr val="333399"/>
                </a:solidFill>
                <a:latin typeface="Courier New" pitchFamily="34" charset="0"/>
                <a:ea typeface="Courier New" pitchFamily="34" charset="-122"/>
                <a:cs typeface="Courier New" pitchFamily="34" charset="-120"/>
              </a:rPr>
              <a:t>=&gt;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console</a:t>
            </a:r>
            <a:pPr algn="l" indent="0" marL="0">
              <a:buNone/>
            </a:pPr>
            <a:r>
              <a:rPr lang="en-US" sz="1200" b="1" dirty="0">
                <a:solidFill>
                  <a:srgbClr val="000000"/>
                </a:solidFill>
                <a:latin typeface="Courier New" pitchFamily="34" charset="0"/>
                <a:ea typeface="Courier New" pitchFamily="34" charset="-122"/>
                <a:cs typeface="Courier New" pitchFamily="34" charset="-120"/>
              </a:rPr>
              <a:t>.log</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993300"/>
                </a:solidFill>
                <a:latin typeface="Courier New" pitchFamily="34" charset="0"/>
                <a:ea typeface="Courier New" pitchFamily="34" charset="-122"/>
                <a:cs typeface="Courier New" pitchFamily="34" charset="-120"/>
              </a:rPr>
              <a:t>'listening on :8787'</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endParaRPr lang="en-US" sz="1200" dirty="0"/>
          </a:p>
        </p:txBody>
      </p:sp>
      <p:sp>
        <p:nvSpPr>
          <p:cNvPr id="41" name="Text 38"/>
          <p:cNvSpPr txBox="1"/>
          <p:nvPr/>
        </p:nvSpPr>
        <p:spPr>
          <a:xfrm>
            <a:off x="8341519" y="1361281"/>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42" name="Text 39"/>
          <p:cNvSpPr txBox="1"/>
          <p:nvPr/>
        </p:nvSpPr>
        <p:spPr>
          <a:xfrm>
            <a:off x="8684419" y="1348581"/>
            <a:ext cx="3295880" cy="969963"/>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Lines 15–20</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OPTIONS, a GET to a stored query, and 405 for other methods</a:t>
            </a:r>
            <a:endParaRPr lang="en-US" sz="2100" dirty="0"/>
          </a:p>
        </p:txBody>
      </p:sp>
      <p:sp>
        <p:nvSpPr>
          <p:cNvPr id="43" name="Text 40"/>
          <p:cNvSpPr txBox="1"/>
          <p:nvPr/>
        </p:nvSpPr>
        <p:spPr>
          <a:xfrm>
            <a:off x="8341519" y="2498725"/>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44" name="Text 41"/>
          <p:cNvSpPr txBox="1"/>
          <p:nvPr/>
        </p:nvSpPr>
        <p:spPr>
          <a:xfrm>
            <a:off x="8684419" y="2486025"/>
            <a:ext cx="3238500"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Lines 22–30</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the checks of </a:t>
            </a:r>
            <a:pPr algn="l" indent="0" marL="0">
              <a:lnSpc>
                <a:spcPts val="2519"/>
              </a:lnSpc>
              <a:buNone/>
            </a:pPr>
            <a:r>
              <a:rPr lang="en-US" sz="1303" u="sng" dirty="0">
                <a:solidFill>
                  <a:srgbClr val="59595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10008 §2.1]</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(highlighted)</a:t>
            </a:r>
            <a:endParaRPr lang="en-US" sz="2100" dirty="0"/>
          </a:p>
        </p:txBody>
      </p:sp>
      <p:sp>
        <p:nvSpPr>
          <p:cNvPr id="45" name="Text 42"/>
          <p:cNvSpPr txBox="1"/>
          <p:nvPr/>
        </p:nvSpPr>
        <p:spPr>
          <a:xfrm>
            <a:off x="8341519" y="3316288"/>
            <a:ext cx="285353" cy="319881"/>
          </a:xfrm>
          <a:prstGeom prst="rect">
            <a:avLst/>
          </a:prstGeom>
          <a:noFill/>
          <a:ln/>
        </p:spPr>
        <p:txBody>
          <a:bodyPr wrap="none" lIns="0" tIns="0" rIns="0" bIns="0" rtlCol="0" anchor="ctr"/>
          <a:lstStyle/>
          <a:p>
            <a:pPr algn="l" indent="0" marL="0">
              <a:buNone/>
            </a:pPr>
            <a:r>
              <a:rPr lang="en-US" sz="2100" dirty="0">
                <a:solidFill>
                  <a:srgbClr val="000000"/>
                </a:solidFill>
                <a:latin typeface="Calibri" pitchFamily="34" charset="0"/>
                <a:ea typeface="Calibri" pitchFamily="34" charset="-122"/>
                <a:cs typeface="Calibri" pitchFamily="34" charset="-120"/>
              </a:rPr>
              <a:t>•</a:t>
            </a:r>
            <a:endParaRPr lang="en-US" sz="2100" dirty="0"/>
          </a:p>
        </p:txBody>
      </p:sp>
      <p:sp>
        <p:nvSpPr>
          <p:cNvPr id="46" name="Text 43"/>
          <p:cNvSpPr txBox="1"/>
          <p:nvPr/>
        </p:nvSpPr>
        <p:spPr>
          <a:xfrm>
            <a:off x="8684419" y="3303588"/>
            <a:ext cx="3238500" cy="650081"/>
          </a:xfrm>
          <a:prstGeom prst="rect">
            <a:avLst/>
          </a:prstGeom>
          <a:noFill/>
          <a:ln/>
        </p:spPr>
        <p:txBody>
          <a:bodyPr wrap="square" lIns="0" tIns="0" rIns="0" bIns="0" rtlCol="0" anchor="t"/>
          <a:lstStyle/>
          <a:p>
            <a:pPr algn="l" indent="0" marL="0">
              <a:lnSpc>
                <a:spcPts val="2519"/>
              </a:lnSpc>
              <a:buNone/>
            </a:pPr>
            <a:r>
              <a:rPr lang="en-US" sz="2100" b="1" dirty="0">
                <a:solidFill>
                  <a:srgbClr val="000000"/>
                </a:solidFill>
                <a:latin typeface="Calibri" pitchFamily="34" charset="0"/>
                <a:ea typeface="Calibri" pitchFamily="34" charset="-122"/>
                <a:cs typeface="Calibri" pitchFamily="34" charset="-120"/>
              </a:rPr>
              <a:t>Lines 31–33</a:t>
            </a:r>
            <a:pPr algn="l" indent="0" marL="0">
              <a:lnSpc>
                <a:spcPts val="2519"/>
              </a:lnSpc>
              <a:buNone/>
            </a:pPr>
            <a:r>
              <a:rPr lang="en-US" sz="2100" dirty="0">
                <a:solidFill>
                  <a:srgbClr val="000000"/>
                </a:solidFill>
                <a:latin typeface="Calibri" pitchFamily="34" charset="0"/>
                <a:ea typeface="Calibri" pitchFamily="34" charset="-122"/>
                <a:cs typeface="Calibri" pitchFamily="34" charset="-120"/>
              </a:rPr>
              <a:t>: keep the query, and send its URI in Location</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18</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4368999"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Status codes for a QUERY request</a:t>
            </a:r>
            <a:endParaRPr lang="en-US" sz="2400" dirty="0"/>
          </a:p>
        </p:txBody>
      </p:sp>
      <p:sp>
        <p:nvSpPr>
          <p:cNvPr id="10" name="Shape 7"/>
          <p:cNvSpPr/>
          <p:nvPr/>
        </p:nvSpPr>
        <p:spPr>
          <a:xfrm>
            <a:off x="91281" y="1856581"/>
            <a:ext cx="11806237" cy="12700"/>
          </a:xfrm>
          <a:prstGeom prst="rect">
            <a:avLst/>
          </a:prstGeom>
          <a:solidFill>
            <a:srgbClr val="333399"/>
          </a:solidFill>
          <a:ln/>
        </p:spPr>
      </p:sp>
      <p:sp>
        <p:nvSpPr>
          <p:cNvPr id="11" name="Text 8"/>
          <p:cNvSpPr txBox="1"/>
          <p:nvPr/>
        </p:nvSpPr>
        <p:spPr>
          <a:xfrm>
            <a:off x="192881" y="1472407"/>
            <a:ext cx="1055688"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Condition</a:t>
            </a:r>
            <a:endParaRPr lang="en-US" sz="1800" dirty="0"/>
          </a:p>
        </p:txBody>
      </p:sp>
      <p:sp>
        <p:nvSpPr>
          <p:cNvPr id="12" name="Text 9"/>
          <p:cNvSpPr txBox="1"/>
          <p:nvPr/>
        </p:nvSpPr>
        <p:spPr>
          <a:xfrm>
            <a:off x="5141119" y="1472407"/>
            <a:ext cx="724693"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Status</a:t>
            </a:r>
            <a:endParaRPr lang="en-US" sz="1800" dirty="0"/>
          </a:p>
        </p:txBody>
      </p:sp>
      <p:sp>
        <p:nvSpPr>
          <p:cNvPr id="13" name="Text 10"/>
          <p:cNvSpPr txBox="1"/>
          <p:nvPr/>
        </p:nvSpPr>
        <p:spPr>
          <a:xfrm>
            <a:off x="9332119" y="1472407"/>
            <a:ext cx="785019"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Source</a:t>
            </a:r>
            <a:endParaRPr lang="en-US" sz="1800" dirty="0"/>
          </a:p>
        </p:txBody>
      </p:sp>
      <p:sp>
        <p:nvSpPr>
          <p:cNvPr id="14" name="Shape 11"/>
          <p:cNvSpPr/>
          <p:nvPr/>
        </p:nvSpPr>
        <p:spPr>
          <a:xfrm>
            <a:off x="91281" y="2402681"/>
            <a:ext cx="11806237" cy="12700"/>
          </a:xfrm>
          <a:prstGeom prst="rect">
            <a:avLst/>
          </a:prstGeom>
          <a:solidFill>
            <a:srgbClr val="333399"/>
          </a:solidFill>
          <a:ln/>
        </p:spPr>
      </p:sp>
      <p:sp>
        <p:nvSpPr>
          <p:cNvPr id="15" name="Text 12"/>
          <p:cNvSpPr txBox="1"/>
          <p:nvPr/>
        </p:nvSpPr>
        <p:spPr>
          <a:xfrm>
            <a:off x="192881" y="2002631"/>
            <a:ext cx="2819003"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OPTIONS request (discovery)</a:t>
            </a:r>
            <a:endParaRPr lang="en-US" sz="1800" dirty="0"/>
          </a:p>
        </p:txBody>
      </p:sp>
      <p:sp>
        <p:nvSpPr>
          <p:cNvPr id="16" name="Text 13"/>
          <p:cNvSpPr txBox="1"/>
          <p:nvPr/>
        </p:nvSpPr>
        <p:spPr>
          <a:xfrm>
            <a:off x="5141119" y="2002631"/>
            <a:ext cx="2895401"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204</a:t>
            </a:r>
            <a:pPr algn="l" indent="0" marL="0">
              <a:buNone/>
            </a:pPr>
            <a:r>
              <a:rPr lang="en-US" sz="1800" dirty="0">
                <a:solidFill>
                  <a:srgbClr val="000000"/>
                </a:solidFill>
                <a:latin typeface="Calibri" pitchFamily="34" charset="0"/>
                <a:ea typeface="Calibri" pitchFamily="34" charset="-122"/>
                <a:cs typeface="Calibri" pitchFamily="34" charset="-120"/>
              </a:rPr>
              <a:t> with Allow, Accept-Query</a:t>
            </a:r>
            <a:endParaRPr lang="en-US" sz="1800" dirty="0"/>
          </a:p>
        </p:txBody>
      </p:sp>
      <p:sp>
        <p:nvSpPr>
          <p:cNvPr id="17" name="Text 14"/>
          <p:cNvSpPr txBox="1"/>
          <p:nvPr/>
        </p:nvSpPr>
        <p:spPr>
          <a:xfrm>
            <a:off x="9332119" y="2066131"/>
            <a:ext cx="1368227" cy="177800"/>
          </a:xfrm>
          <a:prstGeom prst="rect">
            <a:avLst/>
          </a:prstGeom>
          <a:noFill/>
          <a:ln/>
        </p:spPr>
        <p:txBody>
          <a:bodyPr wrap="none" lIns="0" tIns="0" rIns="0" bIns="0" rtlCol="0" anchor="t"/>
          <a:lstStyle/>
          <a:p>
            <a:pPr algn="l" indent="0" marL="0">
              <a:buNone/>
            </a:pPr>
            <a:r>
              <a:rPr lang="en-US" sz="1116" u="sng" dirty="0">
                <a:solidFill>
                  <a:srgbClr val="59595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10008 App. A.2]</a:t>
            </a:r>
            <a:endParaRPr lang="en-US" sz="1116" dirty="0"/>
          </a:p>
        </p:txBody>
      </p:sp>
      <p:sp>
        <p:nvSpPr>
          <p:cNvPr id="18" name="Shape 15"/>
          <p:cNvSpPr/>
          <p:nvPr/>
        </p:nvSpPr>
        <p:spPr>
          <a:xfrm>
            <a:off x="91281" y="2948781"/>
            <a:ext cx="11806237" cy="12700"/>
          </a:xfrm>
          <a:prstGeom prst="rect">
            <a:avLst/>
          </a:prstGeom>
          <a:solidFill>
            <a:srgbClr val="333399"/>
          </a:solidFill>
          <a:ln/>
        </p:spPr>
      </p:sp>
      <p:sp>
        <p:nvSpPr>
          <p:cNvPr id="19" name="Text 16"/>
          <p:cNvSpPr txBox="1"/>
          <p:nvPr/>
        </p:nvSpPr>
        <p:spPr>
          <a:xfrm>
            <a:off x="192881" y="2548731"/>
            <a:ext cx="2336007"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Content-Type is missing</a:t>
            </a:r>
            <a:endParaRPr lang="en-US" sz="1800" dirty="0"/>
          </a:p>
        </p:txBody>
      </p:sp>
      <p:sp>
        <p:nvSpPr>
          <p:cNvPr id="20" name="Text 17"/>
          <p:cNvSpPr txBox="1"/>
          <p:nvPr/>
        </p:nvSpPr>
        <p:spPr>
          <a:xfrm>
            <a:off x="5141119" y="2548731"/>
            <a:ext cx="500063"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400</a:t>
            </a:r>
            <a:endParaRPr lang="en-US" sz="1800" dirty="0"/>
          </a:p>
        </p:txBody>
      </p:sp>
      <p:sp>
        <p:nvSpPr>
          <p:cNvPr id="21" name="Text 18"/>
          <p:cNvSpPr txBox="1"/>
          <p:nvPr/>
        </p:nvSpPr>
        <p:spPr>
          <a:xfrm>
            <a:off x="9332119" y="2612231"/>
            <a:ext cx="1129109" cy="177800"/>
          </a:xfrm>
          <a:prstGeom prst="rect">
            <a:avLst/>
          </a:prstGeom>
          <a:noFill/>
          <a:ln/>
        </p:spPr>
        <p:txBody>
          <a:bodyPr wrap="none" lIns="0" tIns="0" rIns="0" bIns="0" rtlCol="0" anchor="t"/>
          <a:lstStyle/>
          <a:p>
            <a:pPr algn="l" indent="0" marL="0">
              <a:buNone/>
            </a:pPr>
            <a:r>
              <a:rPr lang="en-US" sz="1116" u="sng" dirty="0">
                <a:solidFill>
                  <a:srgbClr val="59595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10008 §2.1]</a:t>
            </a:r>
            <a:endParaRPr lang="en-US" sz="1116" dirty="0"/>
          </a:p>
        </p:txBody>
      </p:sp>
      <p:sp>
        <p:nvSpPr>
          <p:cNvPr id="22" name="Shape 19"/>
          <p:cNvSpPr/>
          <p:nvPr/>
        </p:nvSpPr>
        <p:spPr>
          <a:xfrm>
            <a:off x="91281" y="3494881"/>
            <a:ext cx="11806237" cy="12700"/>
          </a:xfrm>
          <a:prstGeom prst="rect">
            <a:avLst/>
          </a:prstGeom>
          <a:solidFill>
            <a:srgbClr val="333399"/>
          </a:solidFill>
          <a:ln/>
        </p:spPr>
      </p:sp>
      <p:sp>
        <p:nvSpPr>
          <p:cNvPr id="23" name="Text 20"/>
          <p:cNvSpPr txBox="1"/>
          <p:nvPr/>
        </p:nvSpPr>
        <p:spPr>
          <a:xfrm>
            <a:off x="192881" y="3094831"/>
            <a:ext cx="2781300"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Media type is not supported</a:t>
            </a:r>
            <a:endParaRPr lang="en-US" sz="1800" dirty="0"/>
          </a:p>
        </p:txBody>
      </p:sp>
      <p:sp>
        <p:nvSpPr>
          <p:cNvPr id="24" name="Text 21"/>
          <p:cNvSpPr txBox="1"/>
          <p:nvPr/>
        </p:nvSpPr>
        <p:spPr>
          <a:xfrm>
            <a:off x="5141119" y="3094831"/>
            <a:ext cx="2286000"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415</a:t>
            </a:r>
            <a:pPr algn="l" indent="0" marL="0">
              <a:buNone/>
            </a:pPr>
            <a:r>
              <a:rPr lang="en-US" sz="1800" dirty="0">
                <a:solidFill>
                  <a:srgbClr val="000000"/>
                </a:solidFill>
                <a:latin typeface="Calibri" pitchFamily="34" charset="0"/>
                <a:ea typeface="Calibri" pitchFamily="34" charset="-122"/>
                <a:cs typeface="Calibri" pitchFamily="34" charset="-120"/>
              </a:rPr>
              <a:t> with Accept-Query</a:t>
            </a:r>
            <a:endParaRPr lang="en-US" sz="1800" dirty="0"/>
          </a:p>
        </p:txBody>
      </p:sp>
      <p:sp>
        <p:nvSpPr>
          <p:cNvPr id="25" name="Text 22"/>
          <p:cNvSpPr txBox="1"/>
          <p:nvPr/>
        </p:nvSpPr>
        <p:spPr>
          <a:xfrm>
            <a:off x="9332119" y="3158331"/>
            <a:ext cx="1129109" cy="177800"/>
          </a:xfrm>
          <a:prstGeom prst="rect">
            <a:avLst/>
          </a:prstGeom>
          <a:noFill/>
          <a:ln/>
        </p:spPr>
        <p:txBody>
          <a:bodyPr wrap="none" lIns="0" tIns="0" rIns="0" bIns="0" rtlCol="0" anchor="t"/>
          <a:lstStyle/>
          <a:p>
            <a:pPr algn="l" indent="0" marL="0">
              <a:buNone/>
            </a:pPr>
            <a:r>
              <a:rPr lang="en-US" sz="1116" u="sng" dirty="0">
                <a:solidFill>
                  <a:srgbClr val="59595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10008 §2.1]</a:t>
            </a:r>
            <a:endParaRPr lang="en-US" sz="1116" dirty="0"/>
          </a:p>
        </p:txBody>
      </p:sp>
      <p:sp>
        <p:nvSpPr>
          <p:cNvPr id="26" name="Shape 23"/>
          <p:cNvSpPr/>
          <p:nvPr/>
        </p:nvSpPr>
        <p:spPr>
          <a:xfrm>
            <a:off x="91281" y="4040981"/>
            <a:ext cx="11806237" cy="12700"/>
          </a:xfrm>
          <a:prstGeom prst="rect">
            <a:avLst/>
          </a:prstGeom>
          <a:solidFill>
            <a:srgbClr val="333399"/>
          </a:solidFill>
          <a:ln/>
        </p:spPr>
      </p:sp>
      <p:sp>
        <p:nvSpPr>
          <p:cNvPr id="27" name="Text 24"/>
          <p:cNvSpPr txBox="1"/>
          <p:nvPr/>
        </p:nvSpPr>
        <p:spPr>
          <a:xfrm>
            <a:off x="192881" y="3640931"/>
            <a:ext cx="3624660"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Content does not agree with the type</a:t>
            </a:r>
            <a:endParaRPr lang="en-US" sz="1800" dirty="0"/>
          </a:p>
        </p:txBody>
      </p:sp>
      <p:sp>
        <p:nvSpPr>
          <p:cNvPr id="28" name="Text 25"/>
          <p:cNvSpPr txBox="1"/>
          <p:nvPr/>
        </p:nvSpPr>
        <p:spPr>
          <a:xfrm>
            <a:off x="5141119" y="3640931"/>
            <a:ext cx="2622153"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400</a:t>
            </a:r>
            <a:pPr algn="l" indent="0" marL="0">
              <a:buNone/>
            </a:pPr>
            <a:r>
              <a:rPr lang="en-US" sz="1800" dirty="0">
                <a:solidFill>
                  <a:srgbClr val="000000"/>
                </a:solidFill>
                <a:latin typeface="Calibri" pitchFamily="34" charset="0"/>
                <a:ea typeface="Calibri" pitchFamily="34" charset="-122"/>
                <a:cs typeface="Calibri" pitchFamily="34" charset="-120"/>
              </a:rPr>
              <a:t>; do not guess the type</a:t>
            </a:r>
            <a:endParaRPr lang="en-US" sz="1800" dirty="0"/>
          </a:p>
        </p:txBody>
      </p:sp>
      <p:sp>
        <p:nvSpPr>
          <p:cNvPr id="29" name="Text 26"/>
          <p:cNvSpPr txBox="1"/>
          <p:nvPr/>
        </p:nvSpPr>
        <p:spPr>
          <a:xfrm>
            <a:off x="9332119" y="3704431"/>
            <a:ext cx="1129109" cy="177800"/>
          </a:xfrm>
          <a:prstGeom prst="rect">
            <a:avLst/>
          </a:prstGeom>
          <a:noFill/>
          <a:ln/>
        </p:spPr>
        <p:txBody>
          <a:bodyPr wrap="none" lIns="0" tIns="0" rIns="0" bIns="0" rtlCol="0" anchor="t"/>
          <a:lstStyle/>
          <a:p>
            <a:pPr algn="l" indent="0" marL="0">
              <a:buNone/>
            </a:pPr>
            <a:r>
              <a:rPr lang="en-US" sz="1116" u="sng" dirty="0">
                <a:solidFill>
                  <a:srgbClr val="59595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[RFC 10008 §2.1]</a:t>
            </a:r>
            <a:endParaRPr lang="en-US" sz="1116" dirty="0"/>
          </a:p>
        </p:txBody>
      </p:sp>
      <p:sp>
        <p:nvSpPr>
          <p:cNvPr id="30" name="Shape 27"/>
          <p:cNvSpPr/>
          <p:nvPr/>
        </p:nvSpPr>
        <p:spPr>
          <a:xfrm>
            <a:off x="91281" y="4587081"/>
            <a:ext cx="11806237" cy="12700"/>
          </a:xfrm>
          <a:prstGeom prst="rect">
            <a:avLst/>
          </a:prstGeom>
          <a:solidFill>
            <a:srgbClr val="333399"/>
          </a:solidFill>
          <a:ln/>
        </p:spPr>
      </p:sp>
      <p:sp>
        <p:nvSpPr>
          <p:cNvPr id="31" name="Text 28"/>
          <p:cNvSpPr txBox="1"/>
          <p:nvPr/>
        </p:nvSpPr>
        <p:spPr>
          <a:xfrm>
            <a:off x="192881" y="4187031"/>
            <a:ext cx="3684389"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Valid query that the server cannot run</a:t>
            </a:r>
            <a:endParaRPr lang="en-US" sz="1800" dirty="0"/>
          </a:p>
        </p:txBody>
      </p:sp>
      <p:sp>
        <p:nvSpPr>
          <p:cNvPr id="32" name="Text 29"/>
          <p:cNvSpPr txBox="1"/>
          <p:nvPr/>
        </p:nvSpPr>
        <p:spPr>
          <a:xfrm>
            <a:off x="5141119" y="4187031"/>
            <a:ext cx="500063"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422</a:t>
            </a:r>
            <a:endParaRPr lang="en-US" sz="1800" dirty="0"/>
          </a:p>
        </p:txBody>
      </p:sp>
      <p:sp>
        <p:nvSpPr>
          <p:cNvPr id="33" name="Text 30"/>
          <p:cNvSpPr txBox="1"/>
          <p:nvPr/>
        </p:nvSpPr>
        <p:spPr>
          <a:xfrm>
            <a:off x="9332119" y="4250531"/>
            <a:ext cx="1129109" cy="177800"/>
          </a:xfrm>
          <a:prstGeom prst="rect">
            <a:avLst/>
          </a:prstGeom>
          <a:noFill/>
          <a:ln/>
        </p:spPr>
        <p:txBody>
          <a:bodyPr wrap="none" lIns="0" tIns="0" rIns="0" bIns="0" rtlCol="0" anchor="t"/>
          <a:lstStyle/>
          <a:p>
            <a:pPr algn="l" indent="0" marL="0">
              <a:buNone/>
            </a:pPr>
            <a:r>
              <a:rPr lang="en-US" sz="1116" u="sng" dirty="0">
                <a:solidFill>
                  <a:srgbClr val="595959"/>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[RFC 10008 §2.1]</a:t>
            </a:r>
            <a:endParaRPr lang="en-US" sz="1116" dirty="0"/>
          </a:p>
        </p:txBody>
      </p:sp>
      <p:sp>
        <p:nvSpPr>
          <p:cNvPr id="34" name="Shape 31"/>
          <p:cNvSpPr/>
          <p:nvPr/>
        </p:nvSpPr>
        <p:spPr>
          <a:xfrm>
            <a:off x="91281" y="5133181"/>
            <a:ext cx="11806237" cy="12700"/>
          </a:xfrm>
          <a:prstGeom prst="rect">
            <a:avLst/>
          </a:prstGeom>
          <a:solidFill>
            <a:srgbClr val="333399"/>
          </a:solidFill>
          <a:ln/>
        </p:spPr>
      </p:sp>
      <p:sp>
        <p:nvSpPr>
          <p:cNvPr id="35" name="Text 32"/>
          <p:cNvSpPr txBox="1"/>
          <p:nvPr/>
        </p:nvSpPr>
        <p:spPr>
          <a:xfrm>
            <a:off x="192881" y="4733131"/>
            <a:ext cx="3589139" cy="279400"/>
          </a:xfrm>
          <a:prstGeom prst="rect">
            <a:avLst/>
          </a:prstGeom>
          <a:noFill/>
          <a:ln/>
        </p:spPr>
        <p:txBody>
          <a:bodyPr wrap="none" lIns="0" tIns="0" rIns="0" bIns="0" rtlCol="0" anchor="t"/>
          <a:lstStyle/>
          <a:p>
            <a:pPr algn="l" indent="0" marL="0">
              <a:buNone/>
            </a:pPr>
            <a:r>
              <a:rPr lang="en-US" sz="1800" dirty="0">
                <a:solidFill>
                  <a:srgbClr val="000000"/>
                </a:solidFill>
                <a:latin typeface="Calibri" pitchFamily="34" charset="0"/>
                <a:ea typeface="Calibri" pitchFamily="34" charset="-122"/>
                <a:cs typeface="Calibri" pitchFamily="34" charset="-120"/>
              </a:rPr>
              <a:t>Method not allowed on this resource</a:t>
            </a:r>
            <a:endParaRPr lang="en-US" sz="1800" dirty="0"/>
          </a:p>
        </p:txBody>
      </p:sp>
      <p:sp>
        <p:nvSpPr>
          <p:cNvPr id="36" name="Text 33"/>
          <p:cNvSpPr txBox="1"/>
          <p:nvPr/>
        </p:nvSpPr>
        <p:spPr>
          <a:xfrm>
            <a:off x="5141119" y="4733131"/>
            <a:ext cx="1536303" cy="279400"/>
          </a:xfrm>
          <a:prstGeom prst="rect">
            <a:avLst/>
          </a:prstGeom>
          <a:noFill/>
          <a:ln/>
        </p:spPr>
        <p:txBody>
          <a:bodyPr wrap="none" lIns="0" tIns="0" rIns="0" bIns="0" rtlCol="0" anchor="t"/>
          <a:lstStyle/>
          <a:p>
            <a:pPr algn="l" indent="0" marL="0">
              <a:buNone/>
            </a:pPr>
            <a:r>
              <a:rPr lang="en-US" sz="1800" b="1" dirty="0">
                <a:solidFill>
                  <a:srgbClr val="000000"/>
                </a:solidFill>
                <a:latin typeface="Calibri" pitchFamily="34" charset="0"/>
                <a:ea typeface="Calibri" pitchFamily="34" charset="-122"/>
                <a:cs typeface="Calibri" pitchFamily="34" charset="-120"/>
              </a:rPr>
              <a:t>405</a:t>
            </a:r>
            <a:pPr algn="l" indent="0" marL="0">
              <a:buNone/>
            </a:pPr>
            <a:r>
              <a:rPr lang="en-US" sz="1800" dirty="0">
                <a:solidFill>
                  <a:srgbClr val="000000"/>
                </a:solidFill>
                <a:latin typeface="Calibri" pitchFamily="34" charset="0"/>
                <a:ea typeface="Calibri" pitchFamily="34" charset="-122"/>
                <a:cs typeface="Calibri" pitchFamily="34" charset="-120"/>
              </a:rPr>
              <a:t> with Allow</a:t>
            </a:r>
            <a:endParaRPr lang="en-US" sz="1800" dirty="0"/>
          </a:p>
        </p:txBody>
      </p:sp>
      <p:sp>
        <p:nvSpPr>
          <p:cNvPr id="37" name="Text 34"/>
          <p:cNvSpPr txBox="1"/>
          <p:nvPr/>
        </p:nvSpPr>
        <p:spPr>
          <a:xfrm>
            <a:off x="9332119" y="4796631"/>
            <a:ext cx="1236663" cy="177800"/>
          </a:xfrm>
          <a:prstGeom prst="rect">
            <a:avLst/>
          </a:prstGeom>
          <a:noFill/>
          <a:ln/>
        </p:spPr>
        <p:txBody>
          <a:bodyPr wrap="none" lIns="0" tIns="0" rIns="0" bIns="0" rtlCol="0" anchor="t"/>
          <a:lstStyle/>
          <a:p>
            <a:pPr algn="l" indent="0" marL="0">
              <a:buNone/>
            </a:pPr>
            <a:r>
              <a:rPr lang="en-US" sz="1116" u="sng" dirty="0">
                <a:solidFill>
                  <a:srgbClr val="595959"/>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[RFC 9110 §15.5.6]</a:t>
            </a:r>
            <a:endParaRPr lang="en-US" sz="1116" dirty="0"/>
          </a:p>
        </p:txBody>
      </p:sp>
      <p:sp>
        <p:nvSpPr>
          <p:cNvPr id="38" name="Shape 35"/>
          <p:cNvSpPr/>
          <p:nvPr/>
        </p:nvSpPr>
        <p:spPr>
          <a:xfrm>
            <a:off x="91281" y="5679281"/>
            <a:ext cx="11806237" cy="12700"/>
          </a:xfrm>
          <a:prstGeom prst="rect">
            <a:avLst/>
          </a:prstGeom>
          <a:solidFill>
            <a:srgbClr val="333399"/>
          </a:solidFill>
          <a:ln/>
        </p:spPr>
      </p:sp>
      <p:sp>
        <p:nvSpPr>
          <p:cNvPr id="39" name="Text 36"/>
          <p:cNvSpPr txBox="1"/>
          <p:nvPr/>
        </p:nvSpPr>
        <p:spPr>
          <a:xfrm>
            <a:off x="192881" y="5279231"/>
            <a:ext cx="2906911" cy="279400"/>
          </a:xfrm>
          <a:prstGeom prst="rect">
            <a:avLst/>
          </a:prstGeom>
          <a:noFill/>
          <a:ln/>
        </p:spPr>
        <p:txBody>
          <a:bodyPr wrap="none" lIns="0" tIns="0" rIns="0" bIns="0" rtlCol="0" anchor="t"/>
          <a:lstStyle/>
          <a:p>
            <a:pPr algn="l" indent="0" marL="0">
              <a:buNone/>
            </a:pPr>
            <a:r>
              <a:rPr lang="en-US" sz="1800" dirty="0">
                <a:solidFill>
                  <a:srgbClr val="595959"/>
                </a:solidFill>
                <a:latin typeface="Calibri" pitchFamily="34" charset="0"/>
                <a:ea typeface="Calibri" pitchFamily="34" charset="-122"/>
                <a:cs typeface="Calibri" pitchFamily="34" charset="-120"/>
              </a:rPr>
              <a:t>Accept value is not supported</a:t>
            </a:r>
            <a:endParaRPr lang="en-US" sz="1800" dirty="0"/>
          </a:p>
        </p:txBody>
      </p:sp>
      <p:sp>
        <p:nvSpPr>
          <p:cNvPr id="40" name="Text 37"/>
          <p:cNvSpPr txBox="1"/>
          <p:nvPr/>
        </p:nvSpPr>
        <p:spPr>
          <a:xfrm>
            <a:off x="5141119" y="5279231"/>
            <a:ext cx="500063" cy="279400"/>
          </a:xfrm>
          <a:prstGeom prst="rect">
            <a:avLst/>
          </a:prstGeom>
          <a:noFill/>
          <a:ln/>
        </p:spPr>
        <p:txBody>
          <a:bodyPr wrap="none" lIns="0" tIns="0" rIns="0" bIns="0" rtlCol="0" anchor="t"/>
          <a:lstStyle/>
          <a:p>
            <a:pPr algn="l" indent="0" marL="0">
              <a:buNone/>
            </a:pPr>
            <a:r>
              <a:rPr lang="en-US" sz="1800" b="1" dirty="0">
                <a:solidFill>
                  <a:srgbClr val="595959"/>
                </a:solidFill>
                <a:latin typeface="Calibri" pitchFamily="34" charset="0"/>
                <a:ea typeface="Calibri" pitchFamily="34" charset="-122"/>
                <a:cs typeface="Calibri" pitchFamily="34" charset="-120"/>
              </a:rPr>
              <a:t>406</a:t>
            </a:r>
            <a:endParaRPr lang="en-US" sz="1800" dirty="0"/>
          </a:p>
        </p:txBody>
      </p:sp>
      <p:sp>
        <p:nvSpPr>
          <p:cNvPr id="41" name="Text 38"/>
          <p:cNvSpPr txBox="1"/>
          <p:nvPr/>
        </p:nvSpPr>
        <p:spPr>
          <a:xfrm>
            <a:off x="9332119" y="5342731"/>
            <a:ext cx="1129109" cy="177800"/>
          </a:xfrm>
          <a:prstGeom prst="rect">
            <a:avLst/>
          </a:prstGeom>
          <a:noFill/>
          <a:ln/>
        </p:spPr>
        <p:txBody>
          <a:bodyPr wrap="none" lIns="0" tIns="0" rIns="0" bIns="0" rtlCol="0" anchor="t"/>
          <a:lstStyle/>
          <a:p>
            <a:pPr algn="l" indent="0" marL="0">
              <a:buNone/>
            </a:pPr>
            <a:r>
              <a:rPr lang="en-US" sz="1116" u="sng" dirty="0">
                <a:solidFill>
                  <a:srgbClr val="595959"/>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[RFC 10008 §2.1]</a:t>
            </a:r>
            <a:endParaRPr lang="en-US" sz="1116" dirty="0"/>
          </a:p>
        </p:txBody>
      </p:sp>
      <p:sp>
        <p:nvSpPr>
          <p:cNvPr id="42" name="Text 39"/>
          <p:cNvSpPr txBox="1"/>
          <p:nvPr/>
        </p:nvSpPr>
        <p:spPr>
          <a:xfrm>
            <a:off x="192881" y="5825331"/>
            <a:ext cx="3378993" cy="279400"/>
          </a:xfrm>
          <a:prstGeom prst="rect">
            <a:avLst/>
          </a:prstGeom>
          <a:noFill/>
          <a:ln/>
        </p:spPr>
        <p:txBody>
          <a:bodyPr wrap="none" lIns="0" tIns="0" rIns="0" bIns="0" rtlCol="0" anchor="t"/>
          <a:lstStyle/>
          <a:p>
            <a:pPr algn="l" indent="0" marL="0">
              <a:buNone/>
            </a:pPr>
            <a:r>
              <a:rPr lang="en-US" sz="1800" dirty="0">
                <a:solidFill>
                  <a:srgbClr val="595959"/>
                </a:solidFill>
                <a:latin typeface="Calibri" pitchFamily="34" charset="0"/>
                <a:ea typeface="Calibri" pitchFamily="34" charset="-122"/>
                <a:cs typeface="Calibri" pitchFamily="34" charset="-120"/>
              </a:rPr>
              <a:t>Method is not known to the server</a:t>
            </a:r>
            <a:endParaRPr lang="en-US" sz="1800" dirty="0"/>
          </a:p>
        </p:txBody>
      </p:sp>
      <p:sp>
        <p:nvSpPr>
          <p:cNvPr id="43" name="Text 40"/>
          <p:cNvSpPr txBox="1"/>
          <p:nvPr/>
        </p:nvSpPr>
        <p:spPr>
          <a:xfrm>
            <a:off x="5141119" y="5825331"/>
            <a:ext cx="500063" cy="279400"/>
          </a:xfrm>
          <a:prstGeom prst="rect">
            <a:avLst/>
          </a:prstGeom>
          <a:noFill/>
          <a:ln/>
        </p:spPr>
        <p:txBody>
          <a:bodyPr wrap="none" lIns="0" tIns="0" rIns="0" bIns="0" rtlCol="0" anchor="t"/>
          <a:lstStyle/>
          <a:p>
            <a:pPr algn="l" indent="0" marL="0">
              <a:buNone/>
            </a:pPr>
            <a:r>
              <a:rPr lang="en-US" sz="1800" b="1" dirty="0">
                <a:solidFill>
                  <a:srgbClr val="595959"/>
                </a:solidFill>
                <a:latin typeface="Calibri" pitchFamily="34" charset="0"/>
                <a:ea typeface="Calibri" pitchFamily="34" charset="-122"/>
                <a:cs typeface="Calibri" pitchFamily="34" charset="-120"/>
              </a:rPr>
              <a:t>501</a:t>
            </a:r>
            <a:endParaRPr lang="en-US" sz="1800" dirty="0"/>
          </a:p>
        </p:txBody>
      </p:sp>
      <p:sp>
        <p:nvSpPr>
          <p:cNvPr id="44" name="Text 41"/>
          <p:cNvSpPr txBox="1"/>
          <p:nvPr/>
        </p:nvSpPr>
        <p:spPr>
          <a:xfrm>
            <a:off x="9332119" y="5888831"/>
            <a:ext cx="1057275" cy="177800"/>
          </a:xfrm>
          <a:prstGeom prst="rect">
            <a:avLst/>
          </a:prstGeom>
          <a:noFill/>
          <a:ln/>
        </p:spPr>
        <p:txBody>
          <a:bodyPr wrap="none" lIns="0" tIns="0" rIns="0" bIns="0" rtlCol="0" anchor="t"/>
          <a:lstStyle/>
          <a:p>
            <a:pPr algn="l" indent="0" marL="0">
              <a:buNone/>
            </a:pPr>
            <a:r>
              <a:rPr lang="en-US" sz="1116" u="sng" dirty="0">
                <a:solidFill>
                  <a:srgbClr val="595959"/>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[RFC 9110 §9.1]</a:t>
            </a:r>
            <a:endParaRPr lang="en-US" sz="1116" dirty="0"/>
          </a:p>
        </p:txBody>
      </p:sp>
      <p:sp>
        <p:nvSpPr>
          <p:cNvPr id="45" name="Shape 42"/>
          <p:cNvSpPr/>
          <p:nvPr/>
        </p:nvSpPr>
        <p:spPr>
          <a:xfrm>
            <a:off x="3455988" y="6295231"/>
            <a:ext cx="1108671" cy="215900"/>
          </a:xfrm>
          <a:prstGeom prst="rect">
            <a:avLst/>
          </a:prstGeom>
          <a:solidFill>
            <a:srgbClr val="FFFFFF"/>
          </a:solidFill>
          <a:ln w="12700">
            <a:solidFill>
              <a:srgbClr val="333399"/>
            </a:solidFill>
            <a:prstDash val="solid"/>
          </a:ln>
        </p:spPr>
      </p:sp>
      <p:sp>
        <p:nvSpPr>
          <p:cNvPr id="46" name="Text 43"/>
          <p:cNvSpPr txBox="1"/>
          <p:nvPr/>
        </p:nvSpPr>
        <p:spPr>
          <a:xfrm>
            <a:off x="91281" y="6282531"/>
            <a:ext cx="7686675" cy="215900"/>
          </a:xfrm>
          <a:prstGeom prst="rect">
            <a:avLst/>
          </a:prstGeom>
          <a:noFill/>
          <a:ln/>
        </p:spPr>
        <p:txBody>
          <a:bodyPr wrap="none" lIns="0" tIns="0" rIns="0" bIns="0" rtlCol="0" anchor="t"/>
          <a:lstStyle/>
          <a:p>
            <a:pPr algn="l" indent="0" marL="0">
              <a:buNone/>
            </a:pPr>
            <a:r>
              <a:rPr lang="en-US" sz="1400" dirty="0">
                <a:solidFill>
                  <a:srgbClr val="595959"/>
                </a:solidFill>
                <a:latin typeface="Calibri" pitchFamily="34" charset="0"/>
                <a:ea typeface="Calibri" pitchFamily="34" charset="-122"/>
                <a:cs typeface="Calibri" pitchFamily="34" charset="-120"/>
              </a:rPr>
              <a:t>The first six rows were tested with curl against </a:t>
            </a:r>
            <a:pPr algn="l" indent="0" marL="0">
              <a:buNone/>
            </a:pPr>
            <a:r>
              <a:rPr lang="en-US" sz="1288" b="1" dirty="0">
                <a:solidFill>
                  <a:srgbClr val="000000"/>
                </a:solidFill>
                <a:latin typeface="Courier New" pitchFamily="34" charset="0"/>
                <a:ea typeface="Courier New" pitchFamily="34" charset="-122"/>
                <a:cs typeface="Courier New" pitchFamily="34" charset="-120"/>
              </a:rPr>
              <a:t>server.mjs</a:t>
            </a:r>
            <a:pPr algn="l" indent="0" marL="0">
              <a:buNone/>
            </a:pPr>
            <a:r>
              <a:rPr lang="en-US" sz="1400" dirty="0">
                <a:solidFill>
                  <a:srgbClr val="595959"/>
                </a:solidFill>
                <a:latin typeface="Calibri" pitchFamily="34" charset="0"/>
                <a:ea typeface="Calibri" pitchFamily="34" charset="-122"/>
                <a:cs typeface="Calibri" pitchFamily="34" charset="-120"/>
              </a:rPr>
              <a:t>. The last two rows are from the RFCs only.</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19</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3925491"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Safe is not the same as secure</a:t>
            </a:r>
            <a:endParaRPr lang="en-US" sz="2400" dirty="0"/>
          </a:p>
        </p:txBody>
      </p:sp>
      <p:sp>
        <p:nvSpPr>
          <p:cNvPr id="10" name="Shape 7"/>
          <p:cNvSpPr/>
          <p:nvPr/>
        </p:nvSpPr>
        <p:spPr>
          <a:xfrm>
            <a:off x="91281" y="1361281"/>
            <a:ext cx="11806237" cy="965200"/>
          </a:xfrm>
          <a:prstGeom prst="rect">
            <a:avLst/>
          </a:prstGeom>
          <a:solidFill>
            <a:srgbClr val="FFFFFF"/>
          </a:solidFill>
          <a:ln w="12700">
            <a:solidFill>
              <a:srgbClr val="333399"/>
            </a:solidFill>
            <a:prstDash val="solid"/>
          </a:ln>
        </p:spPr>
      </p:sp>
      <p:sp>
        <p:nvSpPr>
          <p:cNvPr id="11" name="Text 8"/>
          <p:cNvSpPr txBox="1"/>
          <p:nvPr/>
        </p:nvSpPr>
        <p:spPr>
          <a:xfrm>
            <a:off x="307181" y="1513681"/>
            <a:ext cx="11399837" cy="635000"/>
          </a:xfrm>
          <a:prstGeom prst="rect">
            <a:avLst/>
          </a:prstGeom>
          <a:noFill/>
          <a:ln/>
        </p:spPr>
        <p:txBody>
          <a:bodyPr wrap="square" lIns="0" tIns="0" rIns="0" bIns="0" rtlCol="0" anchor="t"/>
          <a:lstStyle/>
          <a:p>
            <a:pPr algn="l" indent="0" marL="0">
              <a:lnSpc>
                <a:spcPts val="2800"/>
              </a:lnSpc>
              <a:buNone/>
            </a:pPr>
            <a:r>
              <a:rPr lang="en-US" sz="1800" b="1" dirty="0">
                <a:solidFill>
                  <a:srgbClr val="000000"/>
                </a:solidFill>
                <a:latin typeface="Calibri" pitchFamily="34" charset="0"/>
                <a:ea typeface="Calibri" pitchFamily="34" charset="-122"/>
                <a:cs typeface="Calibri" pitchFamily="34" charset="-120"/>
              </a:rPr>
              <a:t>Safe</a:t>
            </a:r>
            <a:pPr algn="l" indent="0" marL="0">
              <a:lnSpc>
                <a:spcPts val="2800"/>
              </a:lnSpc>
              <a:buNone/>
            </a:pPr>
            <a:r>
              <a:rPr lang="en-US" sz="1800" dirty="0">
                <a:solidFill>
                  <a:srgbClr val="000000"/>
                </a:solidFill>
                <a:latin typeface="Calibri" pitchFamily="34" charset="0"/>
                <a:ea typeface="Calibri" pitchFamily="34" charset="-122"/>
                <a:cs typeface="Calibri" pitchFamily="34" charset="-120"/>
              </a:rPr>
              <a:t> and </a:t>
            </a:r>
            <a:pPr algn="l" indent="0" marL="0">
              <a:lnSpc>
                <a:spcPts val="2800"/>
              </a:lnSpc>
              <a:buNone/>
            </a:pPr>
            <a:r>
              <a:rPr lang="en-US" sz="1800" b="1" dirty="0">
                <a:solidFill>
                  <a:srgbClr val="000000"/>
                </a:solidFill>
                <a:latin typeface="Calibri" pitchFamily="34" charset="0"/>
                <a:ea typeface="Calibri" pitchFamily="34" charset="-122"/>
                <a:cs typeface="Calibri" pitchFamily="34" charset="-120"/>
              </a:rPr>
              <a:t>idempotent</a:t>
            </a:r>
            <a:pPr algn="l" indent="0" marL="0">
              <a:lnSpc>
                <a:spcPts val="2800"/>
              </a:lnSpc>
              <a:buNone/>
            </a:pPr>
            <a:r>
              <a:rPr lang="en-US" sz="1800" dirty="0">
                <a:solidFill>
                  <a:srgbClr val="000000"/>
                </a:solidFill>
                <a:latin typeface="Calibri" pitchFamily="34" charset="0"/>
                <a:ea typeface="Calibri" pitchFamily="34" charset="-122"/>
                <a:cs typeface="Calibri" pitchFamily="34" charset="-120"/>
              </a:rPr>
              <a:t> describe what the client intends. Safety “does not prevent an implementation from including behavior that is potentially harmful” </a:t>
            </a:r>
            <a:pPr algn="l" indent="0" marL="0">
              <a:lnSpc>
                <a:spcPts val="2800"/>
              </a:lnSpc>
              <a:buNone/>
            </a:pPr>
            <a:r>
              <a:rPr lang="en-US" sz="1116" u="sng" dirty="0">
                <a:solidFill>
                  <a:srgbClr val="59595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9110 §9.2.1]</a:t>
            </a:r>
            <a:pPr algn="l" indent="0" marL="0">
              <a:lnSpc>
                <a:spcPts val="2800"/>
              </a:lnSpc>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2" name="Shape 9"/>
          <p:cNvSpPr/>
          <p:nvPr/>
        </p:nvSpPr>
        <p:spPr>
          <a:xfrm>
            <a:off x="91281" y="2478881"/>
            <a:ext cx="7793037" cy="2551112"/>
          </a:xfrm>
          <a:prstGeom prst="rect">
            <a:avLst/>
          </a:prstGeom>
          <a:noFill/>
          <a:ln w="12700">
            <a:solidFill>
              <a:srgbClr val="333399"/>
            </a:solidFill>
            <a:prstDash val="solid"/>
          </a:ln>
        </p:spPr>
      </p:sp>
      <p:sp>
        <p:nvSpPr>
          <p:cNvPr id="13" name="Text 10"/>
          <p:cNvSpPr txBox="1"/>
          <p:nvPr/>
        </p:nvSpPr>
        <p:spPr>
          <a:xfrm>
            <a:off x="230981" y="2631281"/>
            <a:ext cx="3033316" cy="203200"/>
          </a:xfrm>
          <a:prstGeom prst="rect">
            <a:avLst/>
          </a:prstGeom>
          <a:noFill/>
          <a:ln/>
        </p:spPr>
        <p:txBody>
          <a:bodyPr wrap="none" lIns="0" tIns="0" rIns="0" bIns="0" rtlCol="0" anchor="t"/>
          <a:lstStyle/>
          <a:p>
            <a:pPr algn="l" indent="0" marL="0">
              <a:buNone/>
            </a:pPr>
            <a:r>
              <a:rPr lang="en-US" sz="1400" dirty="0">
                <a:solidFill>
                  <a:srgbClr val="000000"/>
                </a:solidFill>
                <a:latin typeface="Courier New" pitchFamily="34" charset="0"/>
                <a:ea typeface="Courier New" pitchFamily="34" charset="-122"/>
                <a:cs typeface="Courier New" pitchFamily="34" charset="-120"/>
              </a:rPr>
              <a:t>search-handler.js (excerpt)</a:t>
            </a:r>
            <a:endParaRPr lang="en-US" sz="1400" dirty="0"/>
          </a:p>
        </p:txBody>
      </p:sp>
      <p:sp>
        <p:nvSpPr>
          <p:cNvPr id="14" name="Text 11"/>
          <p:cNvSpPr txBox="1"/>
          <p:nvPr/>
        </p:nvSpPr>
        <p:spPr>
          <a:xfrm>
            <a:off x="230981" y="2938463"/>
            <a:ext cx="5868392" cy="177800"/>
          </a:xfrm>
          <a:prstGeom prst="rect">
            <a:avLst/>
          </a:prstGeom>
          <a:noFill/>
          <a:ln/>
        </p:spPr>
        <p:txBody>
          <a:bodyPr wrap="none" lIns="0" tIns="0" rIns="0" bIns="0" rtlCol="0" anchor="t"/>
          <a:lstStyle/>
          <a:p>
            <a:pPr algn="l" indent="0" marL="0">
              <a:buNone/>
            </a:pPr>
            <a:r>
              <a:rPr lang="en-US" sz="1251" b="1" dirty="0">
                <a:solidFill>
                  <a:srgbClr val="595959"/>
                </a:solidFill>
                <a:latin typeface="Courier New" pitchFamily="34" charset="0"/>
                <a:ea typeface="Courier New" pitchFamily="34" charset="-122"/>
                <a:cs typeface="Courier New" pitchFamily="34" charset="-120"/>
              </a:rPr>
              <a:t>// excerpt: QUERY content is untrusted input, like any other</a:t>
            </a:r>
            <a:endParaRPr lang="en-US" sz="1251" dirty="0"/>
          </a:p>
        </p:txBody>
      </p:sp>
      <p:sp>
        <p:nvSpPr>
          <p:cNvPr id="15" name="Text 12"/>
          <p:cNvSpPr txBox="1"/>
          <p:nvPr/>
        </p:nvSpPr>
        <p:spPr>
          <a:xfrm>
            <a:off x="230981" y="3156744"/>
            <a:ext cx="4059237" cy="177800"/>
          </a:xfrm>
          <a:prstGeom prst="rect">
            <a:avLst/>
          </a:prstGeom>
          <a:noFill/>
          <a:ln/>
        </p:spPr>
        <p:txBody>
          <a:bodyPr wrap="none" lIns="0" tIns="0" rIns="0" bIns="0" rtlCol="0" anchor="t"/>
          <a:lstStyle/>
          <a:p>
            <a:pPr algn="l" indent="0" marL="0">
              <a:buNone/>
            </a:pPr>
            <a:r>
              <a:rPr lang="en-US" sz="1251" b="1" dirty="0">
                <a:solidFill>
                  <a:srgbClr val="333399"/>
                </a:solidFill>
                <a:latin typeface="Courier New" pitchFamily="34" charset="0"/>
                <a:ea typeface="Courier New" pitchFamily="34" charset="-122"/>
                <a:cs typeface="Courier New" pitchFamily="34" charset="-120"/>
              </a:rPr>
              <a:t>async</a:t>
            </a:r>
            <a:pPr algn="l" indent="0" marL="0">
              <a:buNone/>
            </a:pPr>
            <a:r>
              <a:rPr lang="en-US" sz="1251" b="1" dirty="0">
                <a:solidFill>
                  <a:srgbClr val="000000"/>
                </a:solidFill>
                <a:latin typeface="Courier New" pitchFamily="34" charset="0"/>
                <a:ea typeface="Courier New" pitchFamily="34" charset="-122"/>
                <a:cs typeface="Courier New" pitchFamily="34" charset="-120"/>
              </a:rPr>
              <a:t> </a:t>
            </a:r>
            <a:pPr algn="l" indent="0" marL="0">
              <a:buNone/>
            </a:pPr>
            <a:r>
              <a:rPr lang="en-US" sz="1251" b="1" dirty="0">
                <a:solidFill>
                  <a:srgbClr val="333399"/>
                </a:solidFill>
                <a:latin typeface="Courier New" pitchFamily="34" charset="0"/>
                <a:ea typeface="Courier New" pitchFamily="34" charset="-122"/>
                <a:cs typeface="Courier New" pitchFamily="34" charset="-120"/>
              </a:rPr>
              <a:t>function</a:t>
            </a:r>
            <a:pPr algn="l" indent="0" marL="0">
              <a:buNone/>
            </a:pPr>
            <a:r>
              <a:rPr lang="en-US" sz="1251" b="1" dirty="0">
                <a:solidFill>
                  <a:srgbClr val="000000"/>
                </a:solidFill>
                <a:latin typeface="Courier New" pitchFamily="34" charset="0"/>
                <a:ea typeface="Courier New" pitchFamily="34" charset="-122"/>
                <a:cs typeface="Courier New" pitchFamily="34" charset="-120"/>
              </a:rPr>
              <a:t> </a:t>
            </a:r>
            <a:pPr algn="l" indent="0" marL="0">
              <a:buNone/>
            </a:pPr>
            <a:r>
              <a:rPr lang="en-US" sz="1251" b="1" dirty="0">
                <a:solidFill>
                  <a:srgbClr val="000000"/>
                </a:solidFill>
                <a:latin typeface="Courier New" pitchFamily="34" charset="0"/>
                <a:ea typeface="Courier New" pitchFamily="34" charset="-122"/>
                <a:cs typeface="Courier New" pitchFamily="34" charset="-120"/>
              </a:rPr>
              <a:t>searchUsers</a:t>
            </a:r>
            <a:pPr algn="l" indent="0" marL="0">
              <a:buNone/>
            </a:pPr>
            <a:r>
              <a:rPr lang="en-US" sz="1251" b="1" dirty="0">
                <a:solidFill>
                  <a:srgbClr val="000000"/>
                </a:solidFill>
                <a:latin typeface="Courier New" pitchFamily="34" charset="0"/>
                <a:ea typeface="Courier New" pitchFamily="34" charset="-122"/>
                <a:cs typeface="Courier New" pitchFamily="34" charset="-120"/>
              </a:rPr>
              <a:t>(user</a:t>
            </a:r>
            <a:pPr algn="l" indent="0" marL="0">
              <a:buNone/>
            </a:pPr>
            <a:r>
              <a:rPr lang="en-US" sz="1251" b="1" dirty="0">
                <a:solidFill>
                  <a:srgbClr val="000000"/>
                </a:solidFill>
                <a:latin typeface="Courier New" pitchFamily="34" charset="0"/>
                <a:ea typeface="Courier New" pitchFamily="34" charset="-122"/>
                <a:cs typeface="Courier New" pitchFamily="34" charset="-120"/>
              </a:rPr>
              <a:t>,</a:t>
            </a:r>
            <a:pPr algn="l" indent="0" marL="0">
              <a:buNone/>
            </a:pPr>
            <a:r>
              <a:rPr lang="en-US" sz="1251" b="1" dirty="0">
                <a:solidFill>
                  <a:srgbClr val="000000"/>
                </a:solidFill>
                <a:latin typeface="Courier New" pitchFamily="34" charset="0"/>
                <a:ea typeface="Courier New" pitchFamily="34" charset="-122"/>
                <a:cs typeface="Courier New" pitchFamily="34" charset="-120"/>
              </a:rPr>
              <a:t> query) {</a:t>
            </a:r>
            <a:endParaRPr lang="en-US" sz="1251" dirty="0"/>
          </a:p>
        </p:txBody>
      </p:sp>
      <p:sp>
        <p:nvSpPr>
          <p:cNvPr id="16" name="Shape 13"/>
          <p:cNvSpPr/>
          <p:nvPr/>
        </p:nvSpPr>
        <p:spPr>
          <a:xfrm>
            <a:off x="103981" y="3362325"/>
            <a:ext cx="7767637" cy="218281"/>
          </a:xfrm>
          <a:prstGeom prst="rect">
            <a:avLst/>
          </a:prstGeom>
          <a:solidFill>
            <a:srgbClr val="DAEDEF"/>
          </a:solidFill>
          <a:ln/>
        </p:spPr>
      </p:sp>
      <p:sp>
        <p:nvSpPr>
          <p:cNvPr id="17" name="Text 14"/>
          <p:cNvSpPr txBox="1"/>
          <p:nvPr/>
        </p:nvSpPr>
        <p:spPr>
          <a:xfrm>
            <a:off x="230981" y="3375025"/>
            <a:ext cx="6441679" cy="177800"/>
          </a:xfrm>
          <a:prstGeom prst="rect">
            <a:avLst/>
          </a:prstGeom>
          <a:noFill/>
          <a:ln/>
        </p:spPr>
        <p:txBody>
          <a:bodyPr wrap="none" lIns="0" tIns="0" rIns="0" bIns="0" rtlCol="0" anchor="t"/>
          <a:lstStyle/>
          <a:p>
            <a:pPr algn="l" indent="0" marL="0">
              <a:buNone/>
            </a:pPr>
            <a:pPr algn="l" indent="0" marL="0">
              <a:buNone/>
            </a:pPr>
            <a:r>
              <a:rPr lang="en-US" sz="1251" b="1" dirty="0">
                <a:solidFill>
                  <a:srgbClr val="333399"/>
                </a:solidFill>
                <a:latin typeface="Courier New" pitchFamily="34" charset="0"/>
                <a:ea typeface="Courier New" pitchFamily="34" charset="-122"/>
                <a:cs typeface="Courier New" pitchFamily="34" charset="-120"/>
              </a:rPr>
              <a:t>if</a:t>
            </a:r>
            <a:pPr algn="l" indent="0" marL="0">
              <a:buNone/>
            </a:pPr>
            <a:r>
              <a:rPr lang="en-US" sz="1251" b="1" dirty="0">
                <a:solidFill>
                  <a:srgbClr val="000000"/>
                </a:solidFill>
                <a:latin typeface="Courier New" pitchFamily="34" charset="0"/>
                <a:ea typeface="Courier New" pitchFamily="34" charset="-122"/>
                <a:cs typeface="Courier New" pitchFamily="34" charset="-120"/>
              </a:rPr>
              <a:t> (</a:t>
            </a:r>
            <a:pPr algn="l" indent="0" marL="0">
              <a:buNone/>
            </a:pPr>
            <a:r>
              <a:rPr lang="en-US" sz="1251" b="1" dirty="0">
                <a:solidFill>
                  <a:srgbClr val="333399"/>
                </a:solidFill>
                <a:latin typeface="Courier New" pitchFamily="34" charset="0"/>
                <a:ea typeface="Courier New" pitchFamily="34" charset="-122"/>
                <a:cs typeface="Courier New" pitchFamily="34" charset="-120"/>
              </a:rPr>
              <a:t>!</a:t>
            </a:r>
            <a:pPr algn="l" indent="0" marL="0">
              <a:buNone/>
            </a:pPr>
            <a:r>
              <a:rPr lang="en-US" sz="1251" b="1" dirty="0">
                <a:solidFill>
                  <a:srgbClr val="CC6600"/>
                </a:solidFill>
                <a:latin typeface="Courier New" pitchFamily="34" charset="0"/>
                <a:ea typeface="Courier New" pitchFamily="34" charset="-122"/>
                <a:cs typeface="Courier New" pitchFamily="34" charset="-120"/>
              </a:rPr>
              <a:t>user</a:t>
            </a:r>
            <a:pPr algn="l" indent="0" marL="0">
              <a:buNone/>
            </a:pPr>
            <a:r>
              <a:rPr lang="en-US" sz="1251" b="1" dirty="0">
                <a:solidFill>
                  <a:srgbClr val="000000"/>
                </a:solidFill>
                <a:latin typeface="Courier New" pitchFamily="34" charset="0"/>
                <a:ea typeface="Courier New" pitchFamily="34" charset="-122"/>
                <a:cs typeface="Courier New" pitchFamily="34" charset="-120"/>
              </a:rPr>
              <a:t>.</a:t>
            </a:r>
            <a:pPr algn="l" indent="0" marL="0">
              <a:buNone/>
            </a:pPr>
            <a:r>
              <a:rPr lang="en-US" sz="1251" b="1" dirty="0">
                <a:solidFill>
                  <a:srgbClr val="CC6600"/>
                </a:solidFill>
                <a:latin typeface="Courier New" pitchFamily="34" charset="0"/>
                <a:ea typeface="Courier New" pitchFamily="34" charset="-122"/>
                <a:cs typeface="Courier New" pitchFamily="34" charset="-120"/>
              </a:rPr>
              <a:t>roles</a:t>
            </a:r>
            <a:pPr algn="l" indent="0" marL="0">
              <a:buNone/>
            </a:pPr>
            <a:r>
              <a:rPr lang="en-US" sz="1251" b="1" dirty="0">
                <a:solidFill>
                  <a:srgbClr val="000000"/>
                </a:solidFill>
                <a:latin typeface="Courier New" pitchFamily="34" charset="0"/>
                <a:ea typeface="Courier New" pitchFamily="34" charset="-122"/>
                <a:cs typeface="Courier New" pitchFamily="34" charset="-120"/>
              </a:rPr>
              <a:t>.includes</a:t>
            </a:r>
            <a:pPr algn="l" indent="0" marL="0">
              <a:buNone/>
            </a:pPr>
            <a:r>
              <a:rPr lang="en-US" sz="1251" b="1" dirty="0">
                <a:solidFill>
                  <a:srgbClr val="000000"/>
                </a:solidFill>
                <a:latin typeface="Courier New" pitchFamily="34" charset="0"/>
                <a:ea typeface="Courier New" pitchFamily="34" charset="-122"/>
                <a:cs typeface="Courier New" pitchFamily="34" charset="-120"/>
              </a:rPr>
              <a:t>(</a:t>
            </a:r>
            <a:pPr algn="l" indent="0" marL="0">
              <a:buNone/>
            </a:pPr>
            <a:r>
              <a:rPr lang="en-US" sz="1251" b="1" dirty="0">
                <a:solidFill>
                  <a:srgbClr val="993300"/>
                </a:solidFill>
                <a:latin typeface="Courier New" pitchFamily="34" charset="0"/>
                <a:ea typeface="Courier New" pitchFamily="34" charset="-122"/>
                <a:cs typeface="Courier New" pitchFamily="34" charset="-120"/>
              </a:rPr>
              <a:t>'admin'</a:t>
            </a:r>
            <a:pPr algn="l" indent="0" marL="0">
              <a:buNone/>
            </a:pPr>
            <a:r>
              <a:rPr lang="en-US" sz="1251" b="1" dirty="0">
                <a:solidFill>
                  <a:srgbClr val="000000"/>
                </a:solidFill>
                <a:latin typeface="Courier New" pitchFamily="34" charset="0"/>
                <a:ea typeface="Courier New" pitchFamily="34" charset="-122"/>
                <a:cs typeface="Courier New" pitchFamily="34" charset="-120"/>
              </a:rPr>
              <a:t>)) </a:t>
            </a:r>
            <a:pPr algn="l" indent="0" marL="0">
              <a:buNone/>
            </a:pPr>
            <a:r>
              <a:rPr lang="en-US" sz="1251" b="1" dirty="0">
                <a:solidFill>
                  <a:srgbClr val="595959"/>
                </a:solidFill>
                <a:latin typeface="Courier New" pitchFamily="34" charset="0"/>
                <a:ea typeface="Courier New" pitchFamily="34" charset="-122"/>
                <a:cs typeface="Courier New" pitchFamily="34" charset="-120"/>
              </a:rPr>
              <a:t>// read-only is not "allowed"</a:t>
            </a:r>
            <a:endParaRPr lang="en-US" sz="1251" dirty="0"/>
          </a:p>
        </p:txBody>
      </p:sp>
      <p:sp>
        <p:nvSpPr>
          <p:cNvPr id="18" name="Text 15"/>
          <p:cNvSpPr txBox="1"/>
          <p:nvPr/>
        </p:nvSpPr>
        <p:spPr>
          <a:xfrm>
            <a:off x="230981" y="3593307"/>
            <a:ext cx="2821185" cy="177800"/>
          </a:xfrm>
          <a:prstGeom prst="rect">
            <a:avLst/>
          </a:prstGeom>
          <a:noFill/>
          <a:ln/>
        </p:spPr>
        <p:txBody>
          <a:bodyPr wrap="none" lIns="0" tIns="0" rIns="0" bIns="0" rtlCol="0" anchor="t"/>
          <a:lstStyle/>
          <a:p>
            <a:pPr algn="l" indent="0" marL="0">
              <a:buNone/>
            </a:pPr>
            <a:pPr algn="l" indent="0" marL="0">
              <a:buNone/>
            </a:pPr>
            <a:r>
              <a:rPr lang="en-US" sz="1251" b="1" dirty="0">
                <a:solidFill>
                  <a:srgbClr val="333399"/>
                </a:solidFill>
                <a:latin typeface="Courier New" pitchFamily="34" charset="0"/>
                <a:ea typeface="Courier New" pitchFamily="34" charset="-122"/>
                <a:cs typeface="Courier New" pitchFamily="34" charset="-120"/>
              </a:rPr>
              <a:t>throw</a:t>
            </a:r>
            <a:pPr algn="l" indent="0" marL="0">
              <a:buNone/>
            </a:pPr>
            <a:r>
              <a:rPr lang="en-US" sz="1251" b="1" dirty="0">
                <a:solidFill>
                  <a:srgbClr val="000000"/>
                </a:solidFill>
                <a:latin typeface="Courier New" pitchFamily="34" charset="0"/>
                <a:ea typeface="Courier New" pitchFamily="34" charset="-122"/>
                <a:cs typeface="Courier New" pitchFamily="34" charset="-120"/>
              </a:rPr>
              <a:t> </a:t>
            </a:r>
            <a:pPr algn="l" indent="0" marL="0">
              <a:buNone/>
            </a:pPr>
            <a:r>
              <a:rPr lang="en-US" sz="1251" b="1" dirty="0">
                <a:solidFill>
                  <a:srgbClr val="333399"/>
                </a:solidFill>
                <a:latin typeface="Courier New" pitchFamily="34" charset="0"/>
                <a:ea typeface="Courier New" pitchFamily="34" charset="-122"/>
                <a:cs typeface="Courier New" pitchFamily="34" charset="-120"/>
              </a:rPr>
              <a:t>new</a:t>
            </a:r>
            <a:pPr algn="l" indent="0" marL="0">
              <a:buNone/>
            </a:pPr>
            <a:r>
              <a:rPr lang="en-US" sz="1251" b="1" dirty="0">
                <a:solidFill>
                  <a:srgbClr val="000000"/>
                </a:solidFill>
                <a:latin typeface="Courier New" pitchFamily="34" charset="0"/>
                <a:ea typeface="Courier New" pitchFamily="34" charset="-122"/>
                <a:cs typeface="Courier New" pitchFamily="34" charset="-120"/>
              </a:rPr>
              <a:t> </a:t>
            </a:r>
            <a:pPr algn="l" indent="0" marL="0">
              <a:buNone/>
            </a:pPr>
            <a:r>
              <a:rPr lang="en-US" sz="1251" b="1" dirty="0">
                <a:solidFill>
                  <a:srgbClr val="000000"/>
                </a:solidFill>
                <a:latin typeface="Courier New" pitchFamily="34" charset="0"/>
                <a:ea typeface="Courier New" pitchFamily="34" charset="-122"/>
                <a:cs typeface="Courier New" pitchFamily="34" charset="-120"/>
              </a:rPr>
              <a:t>HttpError</a:t>
            </a:r>
            <a:pPr algn="l" indent="0" marL="0">
              <a:buNone/>
            </a:pPr>
            <a:r>
              <a:rPr lang="en-US" sz="1251" b="1" dirty="0">
                <a:solidFill>
                  <a:srgbClr val="000000"/>
                </a:solidFill>
                <a:latin typeface="Courier New" pitchFamily="34" charset="0"/>
                <a:ea typeface="Courier New" pitchFamily="34" charset="-122"/>
                <a:cs typeface="Courier New" pitchFamily="34" charset="-120"/>
              </a:rPr>
              <a:t>(</a:t>
            </a:r>
            <a:pPr algn="l" indent="0" marL="0">
              <a:buNone/>
            </a:pPr>
            <a:r>
              <a:rPr lang="en-US" sz="1251" b="1" dirty="0">
                <a:solidFill>
                  <a:srgbClr val="CC6600"/>
                </a:solidFill>
                <a:latin typeface="Courier New" pitchFamily="34" charset="0"/>
                <a:ea typeface="Courier New" pitchFamily="34" charset="-122"/>
                <a:cs typeface="Courier New" pitchFamily="34" charset="-120"/>
              </a:rPr>
              <a:t>403</a:t>
            </a:r>
            <a:pPr algn="l" indent="0" marL="0">
              <a:buNone/>
            </a:pPr>
            <a:r>
              <a:rPr lang="en-US" sz="1251" b="1" dirty="0">
                <a:solidFill>
                  <a:srgbClr val="000000"/>
                </a:solidFill>
                <a:latin typeface="Courier New" pitchFamily="34" charset="0"/>
                <a:ea typeface="Courier New" pitchFamily="34" charset="-122"/>
                <a:cs typeface="Courier New" pitchFamily="34" charset="-120"/>
              </a:rPr>
              <a:t>)</a:t>
            </a:r>
            <a:endParaRPr lang="en-US" sz="1251" dirty="0"/>
          </a:p>
        </p:txBody>
      </p:sp>
      <p:sp>
        <p:nvSpPr>
          <p:cNvPr id="19" name="Shape 16"/>
          <p:cNvSpPr/>
          <p:nvPr/>
        </p:nvSpPr>
        <p:spPr>
          <a:xfrm>
            <a:off x="103981" y="3798888"/>
            <a:ext cx="7767637" cy="218281"/>
          </a:xfrm>
          <a:prstGeom prst="rect">
            <a:avLst/>
          </a:prstGeom>
          <a:solidFill>
            <a:srgbClr val="DAEDEF"/>
          </a:solidFill>
          <a:ln/>
        </p:spPr>
      </p:sp>
      <p:sp>
        <p:nvSpPr>
          <p:cNvPr id="20" name="Text 17"/>
          <p:cNvSpPr txBox="1"/>
          <p:nvPr/>
        </p:nvSpPr>
        <p:spPr>
          <a:xfrm>
            <a:off x="230981" y="3811588"/>
            <a:ext cx="6633765" cy="177800"/>
          </a:xfrm>
          <a:prstGeom prst="rect">
            <a:avLst/>
          </a:prstGeom>
          <a:noFill/>
          <a:ln/>
        </p:spPr>
        <p:txBody>
          <a:bodyPr wrap="none" lIns="0" tIns="0" rIns="0" bIns="0" rtlCol="0" anchor="t"/>
          <a:lstStyle/>
          <a:p>
            <a:pPr algn="l" indent="0" marL="0">
              <a:buNone/>
            </a:pPr>
            <a:pPr algn="l" indent="0" marL="0">
              <a:buNone/>
            </a:pPr>
            <a:r>
              <a:rPr lang="en-US" sz="1251" b="1" dirty="0">
                <a:solidFill>
                  <a:srgbClr val="333399"/>
                </a:solidFill>
                <a:latin typeface="Courier New" pitchFamily="34" charset="0"/>
                <a:ea typeface="Courier New" pitchFamily="34" charset="-122"/>
                <a:cs typeface="Courier New" pitchFamily="34" charset="-120"/>
              </a:rPr>
              <a:t>const</a:t>
            </a:r>
            <a:pPr algn="l" indent="0" marL="0">
              <a:buNone/>
            </a:pPr>
            <a:r>
              <a:rPr lang="en-US" sz="1251" b="1" dirty="0">
                <a:solidFill>
                  <a:srgbClr val="000000"/>
                </a:solidFill>
                <a:latin typeface="Courier New" pitchFamily="34" charset="0"/>
                <a:ea typeface="Courier New" pitchFamily="34" charset="-122"/>
                <a:cs typeface="Courier New" pitchFamily="34" charset="-120"/>
              </a:rPr>
              <a:t> </a:t>
            </a:r>
            <a:pPr algn="l" indent="0" marL="0">
              <a:buNone/>
            </a:pPr>
            <a:r>
              <a:rPr lang="en-US" sz="1251" b="1" dirty="0">
                <a:solidFill>
                  <a:srgbClr val="CC6600"/>
                </a:solidFill>
                <a:latin typeface="Courier New" pitchFamily="34" charset="0"/>
                <a:ea typeface="Courier New" pitchFamily="34" charset="-122"/>
                <a:cs typeface="Courier New" pitchFamily="34" charset="-120"/>
              </a:rPr>
              <a:t>limit</a:t>
            </a:r>
            <a:pPr algn="l" indent="0" marL="0">
              <a:buNone/>
            </a:pPr>
            <a:r>
              <a:rPr lang="en-US" sz="1251" b="1" dirty="0">
                <a:solidFill>
                  <a:srgbClr val="000000"/>
                </a:solidFill>
                <a:latin typeface="Courier New" pitchFamily="34" charset="0"/>
                <a:ea typeface="Courier New" pitchFamily="34" charset="-122"/>
                <a:cs typeface="Courier New" pitchFamily="34" charset="-120"/>
              </a:rPr>
              <a:t> </a:t>
            </a:r>
            <a:pPr algn="l" indent="0" marL="0">
              <a:buNone/>
            </a:pPr>
            <a:r>
              <a:rPr lang="en-US" sz="1251" b="1" dirty="0">
                <a:solidFill>
                  <a:srgbClr val="333399"/>
                </a:solidFill>
                <a:latin typeface="Courier New" pitchFamily="34" charset="0"/>
                <a:ea typeface="Courier New" pitchFamily="34" charset="-122"/>
                <a:cs typeface="Courier New" pitchFamily="34" charset="-120"/>
              </a:rPr>
              <a:t>=</a:t>
            </a:r>
            <a:pPr algn="l" indent="0" marL="0">
              <a:buNone/>
            </a:pPr>
            <a:r>
              <a:rPr lang="en-US" sz="1251" b="1" dirty="0">
                <a:solidFill>
                  <a:srgbClr val="000000"/>
                </a:solidFill>
                <a:latin typeface="Courier New" pitchFamily="34" charset="0"/>
                <a:ea typeface="Courier New" pitchFamily="34" charset="-122"/>
                <a:cs typeface="Courier New" pitchFamily="34" charset="-120"/>
              </a:rPr>
              <a:t> </a:t>
            </a:r>
            <a:pPr algn="l" indent="0" marL="0">
              <a:buNone/>
            </a:pPr>
            <a:r>
              <a:rPr lang="en-US" sz="1251" b="1" dirty="0">
                <a:solidFill>
                  <a:srgbClr val="CC6600"/>
                </a:solidFill>
                <a:latin typeface="Courier New" pitchFamily="34" charset="0"/>
                <a:ea typeface="Courier New" pitchFamily="34" charset="-122"/>
                <a:cs typeface="Courier New" pitchFamily="34" charset="-120"/>
              </a:rPr>
              <a:t>Math</a:t>
            </a:r>
            <a:pPr algn="l" indent="0" marL="0">
              <a:buNone/>
            </a:pPr>
            <a:r>
              <a:rPr lang="en-US" sz="1251" b="1" dirty="0">
                <a:solidFill>
                  <a:srgbClr val="000000"/>
                </a:solidFill>
                <a:latin typeface="Courier New" pitchFamily="34" charset="0"/>
                <a:ea typeface="Courier New" pitchFamily="34" charset="-122"/>
                <a:cs typeface="Courier New" pitchFamily="34" charset="-120"/>
              </a:rPr>
              <a:t>.min</a:t>
            </a:r>
            <a:pPr algn="l" indent="0" marL="0">
              <a:buNone/>
            </a:pPr>
            <a:r>
              <a:rPr lang="en-US" sz="1251" b="1" dirty="0">
                <a:solidFill>
                  <a:srgbClr val="000000"/>
                </a:solidFill>
                <a:latin typeface="Courier New" pitchFamily="34" charset="0"/>
                <a:ea typeface="Courier New" pitchFamily="34" charset="-122"/>
                <a:cs typeface="Courier New" pitchFamily="34" charset="-120"/>
              </a:rPr>
              <a:t>(</a:t>
            </a:r>
            <a:pPr algn="l" indent="0" marL="0">
              <a:buNone/>
            </a:pPr>
            <a:r>
              <a:rPr lang="en-US" sz="1251" b="1" dirty="0">
                <a:solidFill>
                  <a:srgbClr val="000000"/>
                </a:solidFill>
                <a:latin typeface="Courier New" pitchFamily="34" charset="0"/>
                <a:ea typeface="Courier New" pitchFamily="34" charset="-122"/>
                <a:cs typeface="Courier New" pitchFamily="34" charset="-120"/>
              </a:rPr>
              <a:t>Number</a:t>
            </a:r>
            <a:pPr algn="l" indent="0" marL="0">
              <a:buNone/>
            </a:pPr>
            <a:r>
              <a:rPr lang="en-US" sz="1251" b="1" dirty="0">
                <a:solidFill>
                  <a:srgbClr val="000000"/>
                </a:solidFill>
                <a:latin typeface="Courier New" pitchFamily="34" charset="0"/>
                <a:ea typeface="Courier New" pitchFamily="34" charset="-122"/>
                <a:cs typeface="Courier New" pitchFamily="34" charset="-120"/>
              </a:rPr>
              <a:t>(</a:t>
            </a:r>
            <a:pPr algn="l" indent="0" marL="0">
              <a:buNone/>
            </a:pPr>
            <a:r>
              <a:rPr lang="en-US" sz="1251" b="1" dirty="0">
                <a:solidFill>
                  <a:srgbClr val="CC6600"/>
                </a:solidFill>
                <a:latin typeface="Courier New" pitchFamily="34" charset="0"/>
                <a:ea typeface="Courier New" pitchFamily="34" charset="-122"/>
                <a:cs typeface="Courier New" pitchFamily="34" charset="-120"/>
              </a:rPr>
              <a:t>query</a:t>
            </a:r>
            <a:pPr algn="l" indent="0" marL="0">
              <a:buNone/>
            </a:pPr>
            <a:r>
              <a:rPr lang="en-US" sz="1251" b="1" dirty="0">
                <a:solidFill>
                  <a:srgbClr val="000000"/>
                </a:solidFill>
                <a:latin typeface="Courier New" pitchFamily="34" charset="0"/>
                <a:ea typeface="Courier New" pitchFamily="34" charset="-122"/>
                <a:cs typeface="Courier New" pitchFamily="34" charset="-120"/>
              </a:rPr>
              <a:t>.limit) </a:t>
            </a:r>
            <a:pPr algn="l" indent="0" marL="0">
              <a:buNone/>
            </a:pPr>
            <a:r>
              <a:rPr lang="en-US" sz="1251" b="1" dirty="0">
                <a:solidFill>
                  <a:srgbClr val="333399"/>
                </a:solidFill>
                <a:latin typeface="Courier New" pitchFamily="34" charset="0"/>
                <a:ea typeface="Courier New" pitchFamily="34" charset="-122"/>
                <a:cs typeface="Courier New" pitchFamily="34" charset="-120"/>
              </a:rPr>
              <a:t>||</a:t>
            </a:r>
            <a:pPr algn="l" indent="0" marL="0">
              <a:buNone/>
            </a:pPr>
            <a:r>
              <a:rPr lang="en-US" sz="1251" b="1" dirty="0">
                <a:solidFill>
                  <a:srgbClr val="000000"/>
                </a:solidFill>
                <a:latin typeface="Courier New" pitchFamily="34" charset="0"/>
                <a:ea typeface="Courier New" pitchFamily="34" charset="-122"/>
                <a:cs typeface="Courier New" pitchFamily="34" charset="-120"/>
              </a:rPr>
              <a:t> </a:t>
            </a:r>
            <a:pPr algn="l" indent="0" marL="0">
              <a:buNone/>
            </a:pPr>
            <a:r>
              <a:rPr lang="en-US" sz="1251" b="1" dirty="0">
                <a:solidFill>
                  <a:srgbClr val="CC6600"/>
                </a:solidFill>
                <a:latin typeface="Courier New" pitchFamily="34" charset="0"/>
                <a:ea typeface="Courier New" pitchFamily="34" charset="-122"/>
                <a:cs typeface="Courier New" pitchFamily="34" charset="-120"/>
              </a:rPr>
              <a:t>20</a:t>
            </a:r>
            <a:pPr algn="l" indent="0" marL="0">
              <a:buNone/>
            </a:pPr>
            <a:r>
              <a:rPr lang="en-US" sz="1251" b="1" dirty="0">
                <a:solidFill>
                  <a:srgbClr val="000000"/>
                </a:solidFill>
                <a:latin typeface="Courier New" pitchFamily="34" charset="0"/>
                <a:ea typeface="Courier New" pitchFamily="34" charset="-122"/>
                <a:cs typeface="Courier New" pitchFamily="34" charset="-120"/>
              </a:rPr>
              <a:t>,</a:t>
            </a:r>
            <a:pPr algn="l" indent="0" marL="0">
              <a:buNone/>
            </a:pPr>
            <a:r>
              <a:rPr lang="en-US" sz="1251" b="1" dirty="0">
                <a:solidFill>
                  <a:srgbClr val="000000"/>
                </a:solidFill>
                <a:latin typeface="Courier New" pitchFamily="34" charset="0"/>
                <a:ea typeface="Courier New" pitchFamily="34" charset="-122"/>
                <a:cs typeface="Courier New" pitchFamily="34" charset="-120"/>
              </a:rPr>
              <a:t> </a:t>
            </a:r>
            <a:pPr algn="l" indent="0" marL="0">
              <a:buNone/>
            </a:pPr>
            <a:r>
              <a:rPr lang="en-US" sz="1251" b="1" dirty="0">
                <a:solidFill>
                  <a:srgbClr val="CC6600"/>
                </a:solidFill>
                <a:latin typeface="Courier New" pitchFamily="34" charset="0"/>
                <a:ea typeface="Courier New" pitchFamily="34" charset="-122"/>
                <a:cs typeface="Courier New" pitchFamily="34" charset="-120"/>
              </a:rPr>
              <a:t>100</a:t>
            </a:r>
            <a:pPr algn="l" indent="0" marL="0">
              <a:buNone/>
            </a:pPr>
            <a:r>
              <a:rPr lang="en-US" sz="1251" b="1" dirty="0">
                <a:solidFill>
                  <a:srgbClr val="000000"/>
                </a:solidFill>
                <a:latin typeface="Courier New" pitchFamily="34" charset="0"/>
                <a:ea typeface="Courier New" pitchFamily="34" charset="-122"/>
                <a:cs typeface="Courier New" pitchFamily="34" charset="-120"/>
              </a:rPr>
              <a:t>) </a:t>
            </a:r>
            <a:pPr algn="l" indent="0" marL="0">
              <a:buNone/>
            </a:pPr>
            <a:r>
              <a:rPr lang="en-US" sz="1251" b="1" dirty="0">
                <a:solidFill>
                  <a:srgbClr val="595959"/>
                </a:solidFill>
                <a:latin typeface="Courier New" pitchFamily="34" charset="0"/>
                <a:ea typeface="Courier New" pitchFamily="34" charset="-122"/>
                <a:cs typeface="Courier New" pitchFamily="34" charset="-120"/>
              </a:rPr>
              <a:t>// cost cap</a:t>
            </a:r>
            <a:endParaRPr lang="en-US" sz="1251" dirty="0"/>
          </a:p>
        </p:txBody>
      </p:sp>
      <p:sp>
        <p:nvSpPr>
          <p:cNvPr id="21" name="Shape 18"/>
          <p:cNvSpPr/>
          <p:nvPr/>
        </p:nvSpPr>
        <p:spPr>
          <a:xfrm>
            <a:off x="103981" y="4017169"/>
            <a:ext cx="7767637" cy="218281"/>
          </a:xfrm>
          <a:prstGeom prst="rect">
            <a:avLst/>
          </a:prstGeom>
          <a:solidFill>
            <a:srgbClr val="993300">
              <a:alpha val="10000"/>
            </a:srgbClr>
          </a:solidFill>
          <a:ln/>
        </p:spPr>
      </p:sp>
      <p:sp>
        <p:nvSpPr>
          <p:cNvPr id="22" name="Text 19"/>
          <p:cNvSpPr txBox="1"/>
          <p:nvPr/>
        </p:nvSpPr>
        <p:spPr>
          <a:xfrm>
            <a:off x="154781" y="4017169"/>
            <a:ext cx="247848" cy="218281"/>
          </a:xfrm>
          <a:prstGeom prst="rect">
            <a:avLst/>
          </a:prstGeom>
          <a:noFill/>
          <a:ln/>
        </p:spPr>
        <p:txBody>
          <a:bodyPr wrap="none" lIns="0" tIns="0" rIns="0" bIns="0" rtlCol="0" anchor="ctr"/>
          <a:lstStyle/>
          <a:p>
            <a:pPr algn="l" indent="0" marL="0">
              <a:buNone/>
            </a:pPr>
            <a:r>
              <a:rPr lang="en-US" sz="1251" b="1" dirty="0">
                <a:solidFill>
                  <a:srgbClr val="993300"/>
                </a:solidFill>
                <a:latin typeface="Courier New" pitchFamily="34" charset="0"/>
                <a:ea typeface="Courier New" pitchFamily="34" charset="-122"/>
                <a:cs typeface="Courier New" pitchFamily="34" charset="-120"/>
              </a:rPr>
              <a:t>−</a:t>
            </a:r>
            <a:endParaRPr lang="en-US" sz="1251" dirty="0"/>
          </a:p>
        </p:txBody>
      </p:sp>
      <p:sp>
        <p:nvSpPr>
          <p:cNvPr id="23" name="Text 20"/>
          <p:cNvSpPr txBox="1"/>
          <p:nvPr/>
        </p:nvSpPr>
        <p:spPr>
          <a:xfrm>
            <a:off x="230981" y="4029869"/>
            <a:ext cx="7394575" cy="177800"/>
          </a:xfrm>
          <a:prstGeom prst="rect">
            <a:avLst/>
          </a:prstGeom>
          <a:noFill/>
          <a:ln/>
        </p:spPr>
        <p:txBody>
          <a:bodyPr wrap="none" lIns="0" tIns="0" rIns="0" bIns="0" rtlCol="0" anchor="t"/>
          <a:lstStyle/>
          <a:p>
            <a:pPr algn="l" indent="0" marL="0">
              <a:buNone/>
            </a:pPr>
            <a:pPr algn="l" indent="0" marL="0">
              <a:buNone/>
            </a:pPr>
            <a:r>
              <a:rPr lang="en-US" sz="1251" b="1" dirty="0">
                <a:solidFill>
                  <a:srgbClr val="333399"/>
                </a:solidFill>
                <a:latin typeface="Courier New" pitchFamily="34" charset="0"/>
                <a:ea typeface="Courier New" pitchFamily="34" charset="-122"/>
                <a:cs typeface="Courier New" pitchFamily="34" charset="-120"/>
              </a:rPr>
              <a:t>return</a:t>
            </a:r>
            <a:pPr algn="l" indent="0" marL="0">
              <a:buNone/>
            </a:pPr>
            <a:r>
              <a:rPr lang="en-US" sz="1251" b="1" dirty="0">
                <a:solidFill>
                  <a:srgbClr val="000000"/>
                </a:solidFill>
                <a:latin typeface="Courier New" pitchFamily="34" charset="0"/>
                <a:ea typeface="Courier New" pitchFamily="34" charset="-122"/>
                <a:cs typeface="Courier New" pitchFamily="34" charset="-120"/>
              </a:rPr>
              <a:t> </a:t>
            </a:r>
            <a:pPr algn="l" indent="0" marL="0">
              <a:buNone/>
            </a:pPr>
            <a:r>
              <a:rPr lang="en-US" sz="1251" b="1" dirty="0">
                <a:solidFill>
                  <a:srgbClr val="CC6600"/>
                </a:solidFill>
                <a:latin typeface="Courier New" pitchFamily="34" charset="0"/>
                <a:ea typeface="Courier New" pitchFamily="34" charset="-122"/>
                <a:cs typeface="Courier New" pitchFamily="34" charset="-120"/>
              </a:rPr>
              <a:t>db</a:t>
            </a:r>
            <a:pPr algn="l" indent="0" marL="0">
              <a:buNone/>
            </a:pPr>
            <a:r>
              <a:rPr lang="en-US" sz="1251" b="1" dirty="0">
                <a:solidFill>
                  <a:srgbClr val="000000"/>
                </a:solidFill>
                <a:latin typeface="Courier New" pitchFamily="34" charset="0"/>
                <a:ea typeface="Courier New" pitchFamily="34" charset="-122"/>
                <a:cs typeface="Courier New" pitchFamily="34" charset="-120"/>
              </a:rPr>
              <a:t>.query</a:t>
            </a:r>
            <a:pPr algn="l" indent="0" marL="0">
              <a:buNone/>
            </a:pPr>
            <a:r>
              <a:rPr lang="en-US" sz="1251" b="1" dirty="0">
                <a:solidFill>
                  <a:srgbClr val="000000"/>
                </a:solidFill>
                <a:latin typeface="Courier New" pitchFamily="34" charset="0"/>
                <a:ea typeface="Courier New" pitchFamily="34" charset="-122"/>
                <a:cs typeface="Courier New" pitchFamily="34" charset="-120"/>
              </a:rPr>
              <a:t>(</a:t>
            </a:r>
            <a:pPr algn="l" indent="0" marL="0">
              <a:buNone/>
            </a:pPr>
            <a:r>
              <a:rPr lang="en-US" sz="1251" b="1" dirty="0">
                <a:solidFill>
                  <a:srgbClr val="993300"/>
                </a:solidFill>
                <a:latin typeface="Courier New" pitchFamily="34" charset="0"/>
                <a:ea typeface="Courier New" pitchFamily="34" charset="-122"/>
                <a:cs typeface="Courier New" pitchFamily="34" charset="-120"/>
              </a:rPr>
              <a:t>`SELECT email FROM users WHERE email LIKE '%</a:t>
            </a:r>
            <a:pPr algn="l" indent="0" marL="0">
              <a:buNone/>
            </a:pPr>
            <a:r>
              <a:rPr lang="en-US" sz="1251" b="1" dirty="0">
                <a:solidFill>
                  <a:srgbClr val="333399"/>
                </a:solidFill>
                <a:latin typeface="Courier New" pitchFamily="34" charset="0"/>
                <a:ea typeface="Courier New" pitchFamily="34" charset="-122"/>
                <a:cs typeface="Courier New" pitchFamily="34" charset="-120"/>
              </a:rPr>
              <a:t>${</a:t>
            </a:r>
            <a:pPr algn="l" indent="0" marL="0">
              <a:buNone/>
            </a:pPr>
            <a:r>
              <a:rPr lang="en-US" sz="1251" b="1" dirty="0">
                <a:solidFill>
                  <a:srgbClr val="CC6600"/>
                </a:solidFill>
                <a:latin typeface="Courier New" pitchFamily="34" charset="0"/>
                <a:ea typeface="Courier New" pitchFamily="34" charset="-122"/>
                <a:cs typeface="Courier New" pitchFamily="34" charset="-120"/>
              </a:rPr>
              <a:t>query</a:t>
            </a:r>
            <a:pPr algn="l" indent="0" marL="0">
              <a:buNone/>
            </a:pPr>
            <a:r>
              <a:rPr lang="en-US" sz="1251" b="1" dirty="0">
                <a:solidFill>
                  <a:srgbClr val="000000"/>
                </a:solidFill>
                <a:latin typeface="Courier New" pitchFamily="34" charset="0"/>
                <a:ea typeface="Courier New" pitchFamily="34" charset="-122"/>
                <a:cs typeface="Courier New" pitchFamily="34" charset="-120"/>
              </a:rPr>
              <a:t>.q</a:t>
            </a:r>
            <a:pPr algn="l" indent="0" marL="0">
              <a:buNone/>
            </a:pPr>
            <a:r>
              <a:rPr lang="en-US" sz="1251" b="1" dirty="0">
                <a:solidFill>
                  <a:srgbClr val="333399"/>
                </a:solidFill>
                <a:latin typeface="Courier New" pitchFamily="34" charset="0"/>
                <a:ea typeface="Courier New" pitchFamily="34" charset="-122"/>
                <a:cs typeface="Courier New" pitchFamily="34" charset="-120"/>
              </a:rPr>
              <a:t>}</a:t>
            </a:r>
            <a:pPr algn="l" indent="0" marL="0">
              <a:buNone/>
            </a:pPr>
            <a:r>
              <a:rPr lang="en-US" sz="1251" b="1" dirty="0">
                <a:solidFill>
                  <a:srgbClr val="993300"/>
                </a:solidFill>
                <a:latin typeface="Courier New" pitchFamily="34" charset="0"/>
                <a:ea typeface="Courier New" pitchFamily="34" charset="-122"/>
                <a:cs typeface="Courier New" pitchFamily="34" charset="-120"/>
              </a:rPr>
              <a:t>%'`</a:t>
            </a:r>
            <a:pPr algn="l" indent="0" marL="0">
              <a:buNone/>
            </a:pPr>
            <a:r>
              <a:rPr lang="en-US" sz="1251" b="1" dirty="0">
                <a:solidFill>
                  <a:srgbClr val="000000"/>
                </a:solidFill>
                <a:latin typeface="Courier New" pitchFamily="34" charset="0"/>
                <a:ea typeface="Courier New" pitchFamily="34" charset="-122"/>
                <a:cs typeface="Courier New" pitchFamily="34" charset="-120"/>
              </a:rPr>
              <a:t>)</a:t>
            </a:r>
            <a:endParaRPr lang="en-US" sz="1251" dirty="0"/>
          </a:p>
        </p:txBody>
      </p:sp>
      <p:sp>
        <p:nvSpPr>
          <p:cNvPr id="24" name="Shape 21"/>
          <p:cNvSpPr/>
          <p:nvPr/>
        </p:nvSpPr>
        <p:spPr>
          <a:xfrm>
            <a:off x="103981" y="4235449"/>
            <a:ext cx="7767637" cy="218281"/>
          </a:xfrm>
          <a:prstGeom prst="rect">
            <a:avLst/>
          </a:prstGeom>
          <a:solidFill>
            <a:srgbClr val="DAEDEF"/>
          </a:solidFill>
          <a:ln/>
        </p:spPr>
      </p:sp>
      <p:sp>
        <p:nvSpPr>
          <p:cNvPr id="25" name="Text 22"/>
          <p:cNvSpPr txBox="1"/>
          <p:nvPr/>
        </p:nvSpPr>
        <p:spPr>
          <a:xfrm>
            <a:off x="154781" y="4235449"/>
            <a:ext cx="247848" cy="218281"/>
          </a:xfrm>
          <a:prstGeom prst="rect">
            <a:avLst/>
          </a:prstGeom>
          <a:noFill/>
          <a:ln/>
        </p:spPr>
        <p:txBody>
          <a:bodyPr wrap="none" lIns="0" tIns="0" rIns="0" bIns="0" rtlCol="0" anchor="ctr"/>
          <a:lstStyle/>
          <a:p>
            <a:pPr algn="l" indent="0" marL="0">
              <a:buNone/>
            </a:pPr>
            <a:r>
              <a:rPr lang="en-US" sz="1251" b="1" dirty="0">
                <a:solidFill>
                  <a:srgbClr val="595959"/>
                </a:solidFill>
                <a:latin typeface="Courier New" pitchFamily="34" charset="0"/>
                <a:ea typeface="Courier New" pitchFamily="34" charset="-122"/>
                <a:cs typeface="Courier New" pitchFamily="34" charset="-120"/>
              </a:rPr>
              <a:t>+</a:t>
            </a:r>
            <a:endParaRPr lang="en-US" sz="1251" dirty="0"/>
          </a:p>
        </p:txBody>
      </p:sp>
      <p:sp>
        <p:nvSpPr>
          <p:cNvPr id="26" name="Text 23"/>
          <p:cNvSpPr txBox="1"/>
          <p:nvPr/>
        </p:nvSpPr>
        <p:spPr>
          <a:xfrm>
            <a:off x="230981" y="4248151"/>
            <a:ext cx="7108031" cy="177800"/>
          </a:xfrm>
          <a:prstGeom prst="rect">
            <a:avLst/>
          </a:prstGeom>
          <a:noFill/>
          <a:ln/>
        </p:spPr>
        <p:txBody>
          <a:bodyPr wrap="none" lIns="0" tIns="0" rIns="0" bIns="0" rtlCol="0" anchor="t"/>
          <a:lstStyle/>
          <a:p>
            <a:pPr algn="l" indent="0" marL="0">
              <a:buNone/>
            </a:pPr>
            <a:pPr algn="l" indent="0" marL="0">
              <a:buNone/>
            </a:pPr>
            <a:r>
              <a:rPr lang="en-US" sz="1251" b="1" dirty="0">
                <a:solidFill>
                  <a:srgbClr val="333399"/>
                </a:solidFill>
                <a:latin typeface="Courier New" pitchFamily="34" charset="0"/>
                <a:ea typeface="Courier New" pitchFamily="34" charset="-122"/>
                <a:cs typeface="Courier New" pitchFamily="34" charset="-120"/>
              </a:rPr>
              <a:t>return</a:t>
            </a:r>
            <a:pPr algn="l" indent="0" marL="0">
              <a:buNone/>
            </a:pPr>
            <a:r>
              <a:rPr lang="en-US" sz="1251" b="1" dirty="0">
                <a:solidFill>
                  <a:srgbClr val="000000"/>
                </a:solidFill>
                <a:latin typeface="Courier New" pitchFamily="34" charset="0"/>
                <a:ea typeface="Courier New" pitchFamily="34" charset="-122"/>
                <a:cs typeface="Courier New" pitchFamily="34" charset="-120"/>
              </a:rPr>
              <a:t> </a:t>
            </a:r>
            <a:pPr algn="l" indent="0" marL="0">
              <a:buNone/>
            </a:pPr>
            <a:r>
              <a:rPr lang="en-US" sz="1251" b="1" dirty="0">
                <a:solidFill>
                  <a:srgbClr val="CC6600"/>
                </a:solidFill>
                <a:latin typeface="Courier New" pitchFamily="34" charset="0"/>
                <a:ea typeface="Courier New" pitchFamily="34" charset="-122"/>
                <a:cs typeface="Courier New" pitchFamily="34" charset="-120"/>
              </a:rPr>
              <a:t>db</a:t>
            </a:r>
            <a:pPr algn="l" indent="0" marL="0">
              <a:buNone/>
            </a:pPr>
            <a:r>
              <a:rPr lang="en-US" sz="1251" b="1" dirty="0">
                <a:solidFill>
                  <a:srgbClr val="000000"/>
                </a:solidFill>
                <a:latin typeface="Courier New" pitchFamily="34" charset="0"/>
                <a:ea typeface="Courier New" pitchFamily="34" charset="-122"/>
                <a:cs typeface="Courier New" pitchFamily="34" charset="-120"/>
              </a:rPr>
              <a:t>.query</a:t>
            </a:r>
            <a:pPr algn="l" indent="0" marL="0">
              <a:buNone/>
            </a:pPr>
            <a:r>
              <a:rPr lang="en-US" sz="1251" b="1" dirty="0">
                <a:solidFill>
                  <a:srgbClr val="000000"/>
                </a:solidFill>
                <a:latin typeface="Courier New" pitchFamily="34" charset="0"/>
                <a:ea typeface="Courier New" pitchFamily="34" charset="-122"/>
                <a:cs typeface="Courier New" pitchFamily="34" charset="-120"/>
              </a:rPr>
              <a:t>(</a:t>
            </a:r>
            <a:pPr algn="l" indent="0" marL="0">
              <a:buNone/>
            </a:pPr>
            <a:r>
              <a:rPr lang="en-US" sz="1251" b="1" dirty="0">
                <a:solidFill>
                  <a:srgbClr val="993300"/>
                </a:solidFill>
                <a:latin typeface="Courier New" pitchFamily="34" charset="0"/>
                <a:ea typeface="Courier New" pitchFamily="34" charset="-122"/>
                <a:cs typeface="Courier New" pitchFamily="34" charset="-120"/>
              </a:rPr>
              <a:t>'SELECT email FROM users WHERE email LIKE $1 LIMIT $2'</a:t>
            </a:r>
            <a:pPr algn="l" indent="0" marL="0">
              <a:buNone/>
            </a:pPr>
            <a:r>
              <a:rPr lang="en-US" sz="1251" b="1" dirty="0">
                <a:solidFill>
                  <a:srgbClr val="000000"/>
                </a:solidFill>
                <a:latin typeface="Courier New" pitchFamily="34" charset="0"/>
                <a:ea typeface="Courier New" pitchFamily="34" charset="-122"/>
                <a:cs typeface="Courier New" pitchFamily="34" charset="-120"/>
              </a:rPr>
              <a:t>,</a:t>
            </a:r>
            <a:endParaRPr lang="en-US" sz="1251" dirty="0"/>
          </a:p>
        </p:txBody>
      </p:sp>
      <p:sp>
        <p:nvSpPr>
          <p:cNvPr id="27" name="Shape 24"/>
          <p:cNvSpPr/>
          <p:nvPr/>
        </p:nvSpPr>
        <p:spPr>
          <a:xfrm>
            <a:off x="103981" y="4453731"/>
            <a:ext cx="7767637" cy="218281"/>
          </a:xfrm>
          <a:prstGeom prst="rect">
            <a:avLst/>
          </a:prstGeom>
          <a:solidFill>
            <a:srgbClr val="DAEDEF"/>
          </a:solidFill>
          <a:ln/>
        </p:spPr>
      </p:sp>
      <p:sp>
        <p:nvSpPr>
          <p:cNvPr id="28" name="Text 25"/>
          <p:cNvSpPr txBox="1"/>
          <p:nvPr/>
        </p:nvSpPr>
        <p:spPr>
          <a:xfrm>
            <a:off x="154781" y="4453731"/>
            <a:ext cx="247848" cy="218281"/>
          </a:xfrm>
          <a:prstGeom prst="rect">
            <a:avLst/>
          </a:prstGeom>
          <a:noFill/>
          <a:ln/>
        </p:spPr>
        <p:txBody>
          <a:bodyPr wrap="none" lIns="0" tIns="0" rIns="0" bIns="0" rtlCol="0" anchor="ctr"/>
          <a:lstStyle/>
          <a:p>
            <a:pPr algn="l" indent="0" marL="0">
              <a:buNone/>
            </a:pPr>
            <a:r>
              <a:rPr lang="en-US" sz="1251" b="1" dirty="0">
                <a:solidFill>
                  <a:srgbClr val="595959"/>
                </a:solidFill>
                <a:latin typeface="Courier New" pitchFamily="34" charset="0"/>
                <a:ea typeface="Courier New" pitchFamily="34" charset="-122"/>
                <a:cs typeface="Courier New" pitchFamily="34" charset="-120"/>
              </a:rPr>
              <a:t>+</a:t>
            </a:r>
            <a:endParaRPr lang="en-US" sz="1251" dirty="0"/>
          </a:p>
        </p:txBody>
      </p:sp>
      <p:sp>
        <p:nvSpPr>
          <p:cNvPr id="29" name="Text 26"/>
          <p:cNvSpPr txBox="1"/>
          <p:nvPr/>
        </p:nvSpPr>
        <p:spPr>
          <a:xfrm>
            <a:off x="230981" y="4466431"/>
            <a:ext cx="4632127" cy="177800"/>
          </a:xfrm>
          <a:prstGeom prst="rect">
            <a:avLst/>
          </a:prstGeom>
          <a:noFill/>
          <a:ln/>
        </p:spPr>
        <p:txBody>
          <a:bodyPr wrap="none" lIns="0" tIns="0" rIns="0" bIns="0" rtlCol="0" anchor="t"/>
          <a:lstStyle/>
          <a:p>
            <a:pPr algn="l" indent="0" marL="0">
              <a:buNone/>
            </a:pPr>
            <a:r>
              <a:rPr lang="en-US" sz="1251" b="1" dirty="0">
                <a:solidFill>
                  <a:srgbClr val="000000"/>
                </a:solidFill>
                <a:latin typeface="Courier New" pitchFamily="34" charset="0"/>
                <a:ea typeface="Courier New" pitchFamily="34" charset="-122"/>
                <a:cs typeface="Courier New" pitchFamily="34" charset="-120"/>
              </a:rPr>
              <a:t>[</a:t>
            </a:r>
            <a:pPr algn="l" indent="0" marL="0">
              <a:buNone/>
            </a:pPr>
            <a:r>
              <a:rPr lang="en-US" sz="1251" b="1" dirty="0">
                <a:solidFill>
                  <a:srgbClr val="993300"/>
                </a:solidFill>
                <a:latin typeface="Courier New" pitchFamily="34" charset="0"/>
                <a:ea typeface="Courier New" pitchFamily="34" charset="-122"/>
                <a:cs typeface="Courier New" pitchFamily="34" charset="-120"/>
              </a:rPr>
              <a:t>`%</a:t>
            </a:r>
            <a:pPr algn="l" indent="0" marL="0">
              <a:buNone/>
            </a:pPr>
            <a:r>
              <a:rPr lang="en-US" sz="1251" b="1" dirty="0">
                <a:solidFill>
                  <a:srgbClr val="333399"/>
                </a:solidFill>
                <a:latin typeface="Courier New" pitchFamily="34" charset="0"/>
                <a:ea typeface="Courier New" pitchFamily="34" charset="-122"/>
                <a:cs typeface="Courier New" pitchFamily="34" charset="-120"/>
              </a:rPr>
              <a:t>${</a:t>
            </a:r>
            <a:pPr algn="l" indent="0" marL="0">
              <a:buNone/>
            </a:pPr>
            <a:r>
              <a:rPr lang="en-US" sz="1251" b="1" dirty="0">
                <a:solidFill>
                  <a:srgbClr val="CC6600"/>
                </a:solidFill>
                <a:latin typeface="Courier New" pitchFamily="34" charset="0"/>
                <a:ea typeface="Courier New" pitchFamily="34" charset="-122"/>
                <a:cs typeface="Courier New" pitchFamily="34" charset="-120"/>
              </a:rPr>
              <a:t>query</a:t>
            </a:r>
            <a:pPr algn="l" indent="0" marL="0">
              <a:buNone/>
            </a:pPr>
            <a:r>
              <a:rPr lang="en-US" sz="1251" b="1" dirty="0">
                <a:solidFill>
                  <a:srgbClr val="000000"/>
                </a:solidFill>
                <a:latin typeface="Courier New" pitchFamily="34" charset="0"/>
                <a:ea typeface="Courier New" pitchFamily="34" charset="-122"/>
                <a:cs typeface="Courier New" pitchFamily="34" charset="-120"/>
              </a:rPr>
              <a:t>.q</a:t>
            </a:r>
            <a:pPr algn="l" indent="0" marL="0">
              <a:buNone/>
            </a:pPr>
            <a:r>
              <a:rPr lang="en-US" sz="1251" b="1" dirty="0">
                <a:solidFill>
                  <a:srgbClr val="333399"/>
                </a:solidFill>
                <a:latin typeface="Courier New" pitchFamily="34" charset="0"/>
                <a:ea typeface="Courier New" pitchFamily="34" charset="-122"/>
                <a:cs typeface="Courier New" pitchFamily="34" charset="-120"/>
              </a:rPr>
              <a:t>}</a:t>
            </a:r>
            <a:pPr algn="l" indent="0" marL="0">
              <a:buNone/>
            </a:pPr>
            <a:r>
              <a:rPr lang="en-US" sz="1251" b="1" dirty="0">
                <a:solidFill>
                  <a:srgbClr val="993300"/>
                </a:solidFill>
                <a:latin typeface="Courier New" pitchFamily="34" charset="0"/>
                <a:ea typeface="Courier New" pitchFamily="34" charset="-122"/>
                <a:cs typeface="Courier New" pitchFamily="34" charset="-120"/>
              </a:rPr>
              <a:t>%`</a:t>
            </a:r>
            <a:pPr algn="l" indent="0" marL="0">
              <a:buNone/>
            </a:pPr>
            <a:r>
              <a:rPr lang="en-US" sz="1251" b="1" dirty="0">
                <a:solidFill>
                  <a:srgbClr val="000000"/>
                </a:solidFill>
                <a:latin typeface="Courier New" pitchFamily="34" charset="0"/>
                <a:ea typeface="Courier New" pitchFamily="34" charset="-122"/>
                <a:cs typeface="Courier New" pitchFamily="34" charset="-120"/>
              </a:rPr>
              <a:t>,</a:t>
            </a:r>
            <a:pPr algn="l" indent="0" marL="0">
              <a:buNone/>
            </a:pPr>
            <a:r>
              <a:rPr lang="en-US" sz="1251" b="1" dirty="0">
                <a:solidFill>
                  <a:srgbClr val="000000"/>
                </a:solidFill>
                <a:latin typeface="Courier New" pitchFamily="34" charset="0"/>
                <a:ea typeface="Courier New" pitchFamily="34" charset="-122"/>
                <a:cs typeface="Courier New" pitchFamily="34" charset="-120"/>
              </a:rPr>
              <a:t> limit]</a:t>
            </a:r>
            <a:pPr algn="l" indent="0" marL="0">
              <a:buNone/>
            </a:pPr>
            <a:r>
              <a:rPr lang="en-US" sz="1251" b="1" dirty="0">
                <a:solidFill>
                  <a:srgbClr val="000000"/>
                </a:solidFill>
                <a:latin typeface="Courier New" pitchFamily="34" charset="0"/>
                <a:ea typeface="Courier New" pitchFamily="34" charset="-122"/>
                <a:cs typeface="Courier New" pitchFamily="34" charset="-120"/>
              </a:rPr>
              <a:t>,</a:t>
            </a:r>
            <a:pPr algn="l" indent="0" marL="0">
              <a:buNone/>
            </a:pPr>
            <a:r>
              <a:rPr lang="en-US" sz="1251" b="1" dirty="0">
                <a:solidFill>
                  <a:srgbClr val="000000"/>
                </a:solidFill>
                <a:latin typeface="Courier New" pitchFamily="34" charset="0"/>
                <a:ea typeface="Courier New" pitchFamily="34" charset="-122"/>
                <a:cs typeface="Courier New" pitchFamily="34" charset="-120"/>
              </a:rPr>
              <a:t> { timeout</a:t>
            </a:r>
            <a:pPr algn="l" indent="0" marL="0">
              <a:buNone/>
            </a:pPr>
            <a:r>
              <a:rPr lang="en-US" sz="1251" b="1" dirty="0">
                <a:solidFill>
                  <a:srgbClr val="333399"/>
                </a:solidFill>
                <a:latin typeface="Courier New" pitchFamily="34" charset="0"/>
                <a:ea typeface="Courier New" pitchFamily="34" charset="-122"/>
                <a:cs typeface="Courier New" pitchFamily="34" charset="-120"/>
              </a:rPr>
              <a:t>:</a:t>
            </a:r>
            <a:pPr algn="l" indent="0" marL="0">
              <a:buNone/>
            </a:pPr>
            <a:r>
              <a:rPr lang="en-US" sz="1251" b="1" dirty="0">
                <a:solidFill>
                  <a:srgbClr val="000000"/>
                </a:solidFill>
                <a:latin typeface="Courier New" pitchFamily="34" charset="0"/>
                <a:ea typeface="Courier New" pitchFamily="34" charset="-122"/>
                <a:cs typeface="Courier New" pitchFamily="34" charset="-120"/>
              </a:rPr>
              <a:t> </a:t>
            </a:r>
            <a:pPr algn="l" indent="0" marL="0">
              <a:buNone/>
            </a:pPr>
            <a:r>
              <a:rPr lang="en-US" sz="1251" b="1" dirty="0">
                <a:solidFill>
                  <a:srgbClr val="CC6600"/>
                </a:solidFill>
                <a:latin typeface="Courier New" pitchFamily="34" charset="0"/>
                <a:ea typeface="Courier New" pitchFamily="34" charset="-122"/>
                <a:cs typeface="Courier New" pitchFamily="34" charset="-120"/>
              </a:rPr>
              <a:t>2000</a:t>
            </a:r>
            <a:pPr algn="l" indent="0" marL="0">
              <a:buNone/>
            </a:pPr>
            <a:r>
              <a:rPr lang="en-US" sz="1251" b="1" dirty="0">
                <a:solidFill>
                  <a:srgbClr val="000000"/>
                </a:solidFill>
                <a:latin typeface="Courier New" pitchFamily="34" charset="0"/>
                <a:ea typeface="Courier New" pitchFamily="34" charset="-122"/>
                <a:cs typeface="Courier New" pitchFamily="34" charset="-120"/>
              </a:rPr>
              <a:t> })</a:t>
            </a:r>
            <a:endParaRPr lang="en-US" sz="1251" dirty="0"/>
          </a:p>
        </p:txBody>
      </p:sp>
      <p:sp>
        <p:nvSpPr>
          <p:cNvPr id="30" name="Text 27"/>
          <p:cNvSpPr txBox="1"/>
          <p:nvPr/>
        </p:nvSpPr>
        <p:spPr>
          <a:xfrm>
            <a:off x="230981" y="4684712"/>
            <a:ext cx="247848" cy="177800"/>
          </a:xfrm>
          <a:prstGeom prst="rect">
            <a:avLst/>
          </a:prstGeom>
          <a:noFill/>
          <a:ln/>
        </p:spPr>
        <p:txBody>
          <a:bodyPr wrap="none" lIns="0" tIns="0" rIns="0" bIns="0" rtlCol="0" anchor="t"/>
          <a:lstStyle/>
          <a:p>
            <a:pPr algn="l" indent="0" marL="0">
              <a:buNone/>
            </a:pPr>
            <a:r>
              <a:rPr lang="en-US" sz="1251" b="1" dirty="0">
                <a:solidFill>
                  <a:srgbClr val="000000"/>
                </a:solidFill>
                <a:latin typeface="Courier New" pitchFamily="34" charset="0"/>
                <a:ea typeface="Courier New" pitchFamily="34" charset="-122"/>
                <a:cs typeface="Courier New" pitchFamily="34" charset="-120"/>
              </a:rPr>
              <a:t>}</a:t>
            </a:r>
            <a:endParaRPr lang="en-US" sz="1251" dirty="0"/>
          </a:p>
        </p:txBody>
      </p:sp>
      <p:sp>
        <p:nvSpPr>
          <p:cNvPr id="31" name="Text 28"/>
          <p:cNvSpPr txBox="1"/>
          <p:nvPr/>
        </p:nvSpPr>
        <p:spPr>
          <a:xfrm>
            <a:off x="8087519" y="2478881"/>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2" name="Text 29"/>
          <p:cNvSpPr txBox="1"/>
          <p:nvPr/>
        </p:nvSpPr>
        <p:spPr>
          <a:xfrm>
            <a:off x="8430419" y="2466181"/>
            <a:ext cx="3492500" cy="827881"/>
          </a:xfrm>
          <a:prstGeom prst="rect">
            <a:avLst/>
          </a:prstGeom>
          <a:noFill/>
          <a:ln/>
        </p:spPr>
        <p:txBody>
          <a:bodyPr wrap="square" lIns="0" tIns="0" rIns="0" bIns="0" rtlCol="0" anchor="t"/>
          <a:lstStyle/>
          <a:p>
            <a:pPr algn="l" indent="0" marL="0">
              <a:lnSpc>
                <a:spcPts val="2160"/>
              </a:lnSpc>
              <a:buNone/>
            </a:pPr>
            <a:r>
              <a:rPr lang="en-US" sz="1800" b="1" dirty="0">
                <a:solidFill>
                  <a:srgbClr val="000000"/>
                </a:solidFill>
                <a:latin typeface="Calibri" pitchFamily="34" charset="0"/>
                <a:ea typeface="Calibri" pitchFamily="34" charset="-122"/>
                <a:cs typeface="Calibri" pitchFamily="34" charset="-120"/>
              </a:rPr>
              <a:t>Injection</a:t>
            </a:r>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 the query content is untrusted input (SQL, NoSQL, LDAP, search languages)</a:t>
            </a:r>
            <a:endParaRPr lang="en-US" sz="1800" dirty="0"/>
          </a:p>
        </p:txBody>
      </p:sp>
      <p:sp>
        <p:nvSpPr>
          <p:cNvPr id="33" name="Text 30"/>
          <p:cNvSpPr txBox="1"/>
          <p:nvPr/>
        </p:nvSpPr>
        <p:spPr>
          <a:xfrm>
            <a:off x="8087519" y="3390503"/>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4" name="Text 31"/>
          <p:cNvSpPr txBox="1"/>
          <p:nvPr/>
        </p:nvSpPr>
        <p:spPr>
          <a:xfrm>
            <a:off x="8430419" y="3377803"/>
            <a:ext cx="3492500" cy="553640"/>
          </a:xfrm>
          <a:prstGeom prst="rect">
            <a:avLst/>
          </a:prstGeom>
          <a:noFill/>
          <a:ln/>
        </p:spPr>
        <p:txBody>
          <a:bodyPr wrap="square" lIns="0" tIns="0" rIns="0" bIns="0" rtlCol="0" anchor="t"/>
          <a:lstStyle/>
          <a:p>
            <a:pPr algn="l" indent="0" marL="0">
              <a:lnSpc>
                <a:spcPts val="2160"/>
              </a:lnSpc>
              <a:buNone/>
            </a:pPr>
            <a:r>
              <a:rPr lang="en-US" sz="1800" b="1" dirty="0">
                <a:solidFill>
                  <a:srgbClr val="000000"/>
                </a:solidFill>
                <a:latin typeface="Calibri" pitchFamily="34" charset="0"/>
                <a:ea typeface="Calibri" pitchFamily="34" charset="-122"/>
                <a:cs typeface="Calibri" pitchFamily="34" charset="-120"/>
              </a:rPr>
              <a:t>Broken authorization</a:t>
            </a:r>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 read-only does not mean allowed</a:t>
            </a:r>
            <a:endParaRPr lang="en-US" sz="1800" dirty="0"/>
          </a:p>
        </p:txBody>
      </p:sp>
      <p:sp>
        <p:nvSpPr>
          <p:cNvPr id="35" name="Text 32"/>
          <p:cNvSpPr txBox="1"/>
          <p:nvPr/>
        </p:nvSpPr>
        <p:spPr>
          <a:xfrm>
            <a:off x="8087519" y="4027884"/>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6" name="Text 33"/>
          <p:cNvSpPr txBox="1"/>
          <p:nvPr/>
        </p:nvSpPr>
        <p:spPr>
          <a:xfrm>
            <a:off x="8430419" y="4015184"/>
            <a:ext cx="3492500" cy="553640"/>
          </a:xfrm>
          <a:prstGeom prst="rect">
            <a:avLst/>
          </a:prstGeom>
          <a:noFill/>
          <a:ln/>
        </p:spPr>
        <p:txBody>
          <a:bodyPr wrap="square" lIns="0" tIns="0" rIns="0" bIns="0" rtlCol="0" anchor="t"/>
          <a:lstStyle/>
          <a:p>
            <a:pPr algn="l" indent="0" marL="0">
              <a:lnSpc>
                <a:spcPts val="2160"/>
              </a:lnSpc>
              <a:buNone/>
            </a:pPr>
            <a:r>
              <a:rPr lang="en-US" sz="1800" b="1" dirty="0">
                <a:solidFill>
                  <a:srgbClr val="000000"/>
                </a:solidFill>
                <a:latin typeface="Calibri" pitchFamily="34" charset="0"/>
                <a:ea typeface="Calibri" pitchFamily="34" charset="-122"/>
                <a:cs typeface="Calibri" pitchFamily="34" charset="-120"/>
              </a:rPr>
              <a:t>Resource exhaustion</a:t>
            </a:r>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 deep or large queries </a:t>
            </a:r>
            <a:pPr algn="l" indent="0" marL="0">
              <a:lnSpc>
                <a:spcPts val="2160"/>
              </a:lnSpc>
              <a:buNone/>
            </a:pPr>
            <a:r>
              <a:rPr lang="en-US" sz="1116" u="sng" dirty="0">
                <a:solidFill>
                  <a:srgbClr val="59595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[Cha et al., 2020]</a:t>
            </a:r>
            <a:endParaRPr lang="en-US" sz="1800" dirty="0"/>
          </a:p>
        </p:txBody>
      </p:sp>
      <p:sp>
        <p:nvSpPr>
          <p:cNvPr id="37" name="Text 34"/>
          <p:cNvSpPr txBox="1"/>
          <p:nvPr/>
        </p:nvSpPr>
        <p:spPr>
          <a:xfrm>
            <a:off x="8087519" y="4665265"/>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8" name="Text 35"/>
          <p:cNvSpPr txBox="1"/>
          <p:nvPr/>
        </p:nvSpPr>
        <p:spPr>
          <a:xfrm>
            <a:off x="8430419" y="4652565"/>
            <a:ext cx="3492500" cy="553640"/>
          </a:xfrm>
          <a:prstGeom prst="rect">
            <a:avLst/>
          </a:prstGeom>
          <a:noFill/>
          <a:ln/>
        </p:spPr>
        <p:txBody>
          <a:bodyPr wrap="square" lIns="0" tIns="0" rIns="0" bIns="0" rtlCol="0" anchor="t"/>
          <a:lstStyle/>
          <a:p>
            <a:pPr algn="l" indent="0" marL="0">
              <a:lnSpc>
                <a:spcPts val="2160"/>
              </a:lnSpc>
              <a:buNone/>
            </a:pPr>
            <a:r>
              <a:rPr lang="en-US" sz="1800" b="1" dirty="0">
                <a:solidFill>
                  <a:srgbClr val="000000"/>
                </a:solidFill>
                <a:latin typeface="Calibri" pitchFamily="34" charset="0"/>
                <a:ea typeface="Calibri" pitchFamily="34" charset="-122"/>
                <a:cs typeface="Calibri" pitchFamily="34" charset="-120"/>
              </a:rPr>
              <a:t>Information disclosure</a:t>
            </a:r>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 results that the caller must not see</a:t>
            </a:r>
            <a:endParaRPr lang="en-US" sz="1800" dirty="0"/>
          </a:p>
        </p:txBody>
      </p:sp>
      <p:sp>
        <p:nvSpPr>
          <p:cNvPr id="39" name="Text 36"/>
          <p:cNvSpPr txBox="1"/>
          <p:nvPr/>
        </p:nvSpPr>
        <p:spPr>
          <a:xfrm>
            <a:off x="8087519" y="5302647"/>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40" name="Text 37"/>
          <p:cNvSpPr txBox="1"/>
          <p:nvPr/>
        </p:nvSpPr>
        <p:spPr>
          <a:xfrm>
            <a:off x="8430419" y="5289947"/>
            <a:ext cx="3533303" cy="553640"/>
          </a:xfrm>
          <a:prstGeom prst="rect">
            <a:avLst/>
          </a:prstGeom>
          <a:noFill/>
          <a:ln/>
        </p:spPr>
        <p:txBody>
          <a:bodyPr wrap="square" lIns="0" tIns="0" rIns="0" bIns="0" rtlCol="0" anchor="t"/>
          <a:lstStyle/>
          <a:p>
            <a:pPr algn="l" indent="0" marL="0">
              <a:lnSpc>
                <a:spcPts val="2160"/>
              </a:lnSpc>
              <a:buNone/>
            </a:pPr>
            <a:r>
              <a:rPr lang="en-US" sz="1800" b="1" dirty="0">
                <a:solidFill>
                  <a:srgbClr val="000000"/>
                </a:solidFill>
                <a:latin typeface="Calibri" pitchFamily="34" charset="0"/>
                <a:ea typeface="Calibri" pitchFamily="34" charset="-122"/>
                <a:cs typeface="Calibri" pitchFamily="34" charset="-120"/>
              </a:rPr>
              <a:t>Automated repetition</a:t>
            </a:r>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 clients repeat safe requests, and so do scrapers</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20</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6654999"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QUERY in a cache: the key must include the content</a:t>
            </a:r>
            <a:endParaRPr lang="en-US" sz="2400" dirty="0"/>
          </a:p>
        </p:txBody>
      </p:sp>
      <p:sp>
        <p:nvSpPr>
          <p:cNvPr id="10" name="Shape 7"/>
          <p:cNvSpPr/>
          <p:nvPr/>
        </p:nvSpPr>
        <p:spPr>
          <a:xfrm>
            <a:off x="91281" y="1361281"/>
            <a:ext cx="7589837" cy="4777581"/>
          </a:xfrm>
          <a:prstGeom prst="rect">
            <a:avLst/>
          </a:prstGeom>
          <a:noFill/>
          <a:ln w="12700">
            <a:solidFill>
              <a:srgbClr val="333399"/>
            </a:solidFill>
            <a:prstDash val="solid"/>
          </a:ln>
        </p:spPr>
      </p:sp>
      <p:sp>
        <p:nvSpPr>
          <p:cNvPr id="11" name="Text 8"/>
          <p:cNvSpPr txBox="1"/>
          <p:nvPr/>
        </p:nvSpPr>
        <p:spPr>
          <a:xfrm>
            <a:off x="230981" y="1513681"/>
            <a:ext cx="1539479" cy="203200"/>
          </a:xfrm>
          <a:prstGeom prst="rect">
            <a:avLst/>
          </a:prstGeom>
          <a:noFill/>
          <a:ln/>
        </p:spPr>
        <p:txBody>
          <a:bodyPr wrap="none" lIns="0" tIns="0" rIns="0" bIns="0" rtlCol="0" anchor="t"/>
          <a:lstStyle/>
          <a:p>
            <a:pPr algn="l" indent="0" marL="0">
              <a:buNone/>
            </a:pPr>
            <a:r>
              <a:rPr lang="en-US" sz="1400" dirty="0">
                <a:solidFill>
                  <a:srgbClr val="000000"/>
                </a:solidFill>
                <a:latin typeface="Courier New" pitchFamily="34" charset="0"/>
                <a:ea typeface="Courier New" pitchFamily="34" charset="-122"/>
                <a:cs typeface="Courier New" pitchFamily="34" charset="-120"/>
              </a:rPr>
              <a:t>cache-key.mjs</a:t>
            </a:r>
            <a:endParaRPr lang="en-US" sz="1400" dirty="0"/>
          </a:p>
        </p:txBody>
      </p:sp>
      <p:sp>
        <p:nvSpPr>
          <p:cNvPr id="12" name="Text 9"/>
          <p:cNvSpPr txBox="1"/>
          <p:nvPr/>
        </p:nvSpPr>
        <p:spPr>
          <a:xfrm>
            <a:off x="230981" y="1820863"/>
            <a:ext cx="7103071" cy="177800"/>
          </a:xfrm>
          <a:prstGeom prst="rect">
            <a:avLst/>
          </a:prstGeom>
          <a:noFill/>
          <a:ln/>
        </p:spPr>
        <p:txBody>
          <a:bodyPr wrap="none" lIns="0" tIns="0" rIns="0" bIns="0" rtlCol="0" anchor="t"/>
          <a:lstStyle/>
          <a:p>
            <a:pPr algn="l" indent="0" marL="0">
              <a:buNone/>
            </a:pPr>
            <a:r>
              <a:rPr lang="en-US" sz="1200" b="1" dirty="0">
                <a:solidFill>
                  <a:srgbClr val="595959"/>
                </a:solidFill>
                <a:latin typeface="Courier New" pitchFamily="34" charset="0"/>
                <a:ea typeface="Courier New" pitchFamily="34" charset="-122"/>
                <a:cs typeface="Courier New" pitchFamily="34" charset="-120"/>
              </a:rPr>
              <a:t>// RFC 10008 §2.7: the key MUST include the content. Run: node cache-key.mjs</a:t>
            </a:r>
            <a:endParaRPr lang="en-US" sz="1200" dirty="0"/>
          </a:p>
        </p:txBody>
      </p:sp>
      <p:sp>
        <p:nvSpPr>
          <p:cNvPr id="13" name="Text 10"/>
          <p:cNvSpPr txBox="1"/>
          <p:nvPr/>
        </p:nvSpPr>
        <p:spPr>
          <a:xfrm>
            <a:off x="230981" y="2030412"/>
            <a:ext cx="3810992" cy="177800"/>
          </a:xfrm>
          <a:prstGeom prst="rect">
            <a:avLst/>
          </a:prstGeom>
          <a:noFill/>
          <a:ln/>
        </p:spPr>
        <p:txBody>
          <a:bodyPr wrap="none" lIns="0" tIns="0" rIns="0" bIns="0" rtlCol="0" anchor="t"/>
          <a:lstStyle/>
          <a:p>
            <a:pPr algn="l" indent="0" marL="0">
              <a:buNone/>
            </a:pPr>
            <a:r>
              <a:rPr lang="en-US" sz="1200" b="1" dirty="0">
                <a:solidFill>
                  <a:srgbClr val="333399"/>
                </a:solidFill>
                <a:latin typeface="Courier New" pitchFamily="34" charset="0"/>
                <a:ea typeface="Courier New" pitchFamily="34" charset="-122"/>
                <a:cs typeface="Courier New" pitchFamily="34" charset="-120"/>
              </a:rPr>
              <a:t>import</a:t>
            </a:r>
            <a:pPr algn="l" indent="0" marL="0">
              <a:buNone/>
            </a:pPr>
            <a:r>
              <a:rPr lang="en-US" sz="1200" b="1" dirty="0">
                <a:solidFill>
                  <a:srgbClr val="000000"/>
                </a:solidFill>
                <a:latin typeface="Courier New" pitchFamily="34" charset="0"/>
                <a:ea typeface="Courier New" pitchFamily="34" charset="-122"/>
                <a:cs typeface="Courier New" pitchFamily="34" charset="-120"/>
              </a:rPr>
              <a:t> { createHash } </a:t>
            </a:r>
            <a:pPr algn="l" indent="0" marL="0">
              <a:buNone/>
            </a:pPr>
            <a:r>
              <a:rPr lang="en-US" sz="1200" b="1" dirty="0">
                <a:solidFill>
                  <a:srgbClr val="333399"/>
                </a:solidFill>
                <a:latin typeface="Courier New" pitchFamily="34" charset="0"/>
                <a:ea typeface="Courier New" pitchFamily="34" charset="-122"/>
                <a:cs typeface="Courier New" pitchFamily="34" charset="-120"/>
              </a:rPr>
              <a:t>from</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993300"/>
                </a:solidFill>
                <a:latin typeface="Courier New" pitchFamily="34" charset="0"/>
                <a:ea typeface="Courier New" pitchFamily="34" charset="-122"/>
                <a:cs typeface="Courier New" pitchFamily="34" charset="-120"/>
              </a:rPr>
              <a:t>'node:crypto'</a:t>
            </a:r>
            <a:endParaRPr lang="en-US" sz="1200" dirty="0"/>
          </a:p>
        </p:txBody>
      </p:sp>
      <p:sp>
        <p:nvSpPr>
          <p:cNvPr id="14" name="Text 11"/>
          <p:cNvSpPr txBox="1"/>
          <p:nvPr/>
        </p:nvSpPr>
        <p:spPr>
          <a:xfrm>
            <a:off x="230981" y="2449512"/>
            <a:ext cx="2439392" cy="177800"/>
          </a:xfrm>
          <a:prstGeom prst="rect">
            <a:avLst/>
          </a:prstGeom>
          <a:noFill/>
          <a:ln/>
        </p:spPr>
        <p:txBody>
          <a:bodyPr wrap="none" lIns="0" tIns="0" rIns="0" bIns="0" rtlCol="0" anchor="t"/>
          <a:lstStyle/>
          <a:p>
            <a:pPr algn="l" indent="0" marL="0">
              <a:buNone/>
            </a:pPr>
            <a:r>
              <a:rPr lang="en-US" sz="1200" b="1" dirty="0">
                <a:solidFill>
                  <a:srgbClr val="333399"/>
                </a:solidFill>
                <a:latin typeface="Courier New" pitchFamily="34" charset="0"/>
                <a:ea typeface="Courier New" pitchFamily="34" charset="-122"/>
                <a:cs typeface="Courier New" pitchFamily="34" charset="-120"/>
              </a:rPr>
              <a:t>const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000000"/>
                </a:solidFill>
                <a:latin typeface="Courier New" pitchFamily="34" charset="0"/>
                <a:ea typeface="Courier New" pitchFamily="34" charset="-122"/>
                <a:cs typeface="Courier New" pitchFamily="34" charset="-120"/>
              </a:rPr>
              <a:t>key</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parts) </a:t>
            </a:r>
            <a:pPr algn="l" indent="0" marL="0">
              <a:buNone/>
            </a:pPr>
            <a:r>
              <a:rPr lang="en-US" sz="1200" b="1" dirty="0">
                <a:solidFill>
                  <a:srgbClr val="333399"/>
                </a:solidFill>
                <a:latin typeface="Courier New" pitchFamily="34" charset="0"/>
                <a:ea typeface="Courier New" pitchFamily="34" charset="-122"/>
                <a:cs typeface="Courier New" pitchFamily="34" charset="-120"/>
              </a:rPr>
              <a:t>=&gt;</a:t>
            </a:r>
            <a:endParaRPr lang="en-US" sz="1200" dirty="0"/>
          </a:p>
        </p:txBody>
      </p:sp>
      <p:sp>
        <p:nvSpPr>
          <p:cNvPr id="15" name="Text 12"/>
          <p:cNvSpPr txBox="1"/>
          <p:nvPr/>
        </p:nvSpPr>
        <p:spPr>
          <a:xfrm>
            <a:off x="230981" y="2659063"/>
            <a:ext cx="6830020" cy="177800"/>
          </a:xfrm>
          <a:prstGeom prst="rect">
            <a:avLst/>
          </a:prstGeom>
          <a:noFill/>
          <a:ln/>
        </p:spPr>
        <p:txBody>
          <a:bodyPr wrap="none" lIns="0" tIns="0" rIns="0" bIns="0" rtlCol="0" anchor="t"/>
          <a:lstStyle/>
          <a:p>
            <a:pPr algn="l" indent="0" marL="0">
              <a:buNone/>
            </a:pPr>
            <a:pPr algn="l" indent="0" marL="0">
              <a:buNone/>
            </a:pPr>
            <a:r>
              <a:rPr lang="en-US" sz="1200" b="1" dirty="0">
                <a:solidFill>
                  <a:srgbClr val="000000"/>
                </a:solidFill>
                <a:latin typeface="Courier New" pitchFamily="34" charset="0"/>
                <a:ea typeface="Courier New" pitchFamily="34" charset="-122"/>
                <a:cs typeface="Courier New" pitchFamily="34" charset="-120"/>
              </a:rPr>
              <a:t>createHash</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993300"/>
                </a:solidFill>
                <a:latin typeface="Courier New" pitchFamily="34" charset="0"/>
                <a:ea typeface="Courier New" pitchFamily="34" charset="-122"/>
                <a:cs typeface="Courier New" pitchFamily="34" charset="-120"/>
              </a:rPr>
              <a:t>'sha256'</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.update</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CC6600"/>
                </a:solidFill>
                <a:latin typeface="Courier New" pitchFamily="34" charset="0"/>
                <a:ea typeface="Courier New" pitchFamily="34" charset="-122"/>
                <a:cs typeface="Courier New" pitchFamily="34" charset="-120"/>
              </a:rPr>
              <a:t>parts</a:t>
            </a:r>
            <a:pPr algn="l" indent="0" marL="0">
              <a:buNone/>
            </a:pPr>
            <a:r>
              <a:rPr lang="en-US" sz="1200" b="1" dirty="0">
                <a:solidFill>
                  <a:srgbClr val="000000"/>
                </a:solidFill>
                <a:latin typeface="Courier New" pitchFamily="34" charset="0"/>
                <a:ea typeface="Courier New" pitchFamily="34" charset="-122"/>
                <a:cs typeface="Courier New" pitchFamily="34" charset="-120"/>
              </a:rPr>
              <a:t>.join</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993300"/>
                </a:solidFill>
                <a:latin typeface="Courier New" pitchFamily="34" charset="0"/>
                <a:ea typeface="Courier New" pitchFamily="34" charset="-122"/>
                <a:cs typeface="Courier New" pitchFamily="34" charset="-120"/>
              </a:rPr>
              <a:t>'\n'</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.digest</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993300"/>
                </a:solidFill>
                <a:latin typeface="Courier New" pitchFamily="34" charset="0"/>
                <a:ea typeface="Courier New" pitchFamily="34" charset="-122"/>
                <a:cs typeface="Courier New" pitchFamily="34" charset="-120"/>
              </a:rPr>
              <a:t>'hex'</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.slice</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CC6600"/>
                </a:solidFill>
                <a:latin typeface="Courier New" pitchFamily="34" charset="0"/>
                <a:ea typeface="Courier New" pitchFamily="34" charset="-122"/>
                <a:cs typeface="Courier New" pitchFamily="34" charset="-120"/>
              </a:rPr>
              <a:t>0</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8</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endParaRPr lang="en-US" sz="1200" dirty="0"/>
          </a:p>
        </p:txBody>
      </p:sp>
      <p:sp>
        <p:nvSpPr>
          <p:cNvPr id="16" name="Shape 13"/>
          <p:cNvSpPr/>
          <p:nvPr/>
        </p:nvSpPr>
        <p:spPr>
          <a:xfrm>
            <a:off x="103981" y="3065463"/>
            <a:ext cx="7564437" cy="209551"/>
          </a:xfrm>
          <a:prstGeom prst="rect">
            <a:avLst/>
          </a:prstGeom>
          <a:solidFill>
            <a:srgbClr val="DAEDEF"/>
          </a:solidFill>
          <a:ln/>
        </p:spPr>
      </p:sp>
      <p:sp>
        <p:nvSpPr>
          <p:cNvPr id="17" name="Text 14"/>
          <p:cNvSpPr txBox="1"/>
          <p:nvPr/>
        </p:nvSpPr>
        <p:spPr>
          <a:xfrm>
            <a:off x="230981" y="3078163"/>
            <a:ext cx="5914231" cy="177800"/>
          </a:xfrm>
          <a:prstGeom prst="rect">
            <a:avLst/>
          </a:prstGeom>
          <a:noFill/>
          <a:ln/>
        </p:spPr>
        <p:txBody>
          <a:bodyPr wrap="none" lIns="0" tIns="0" rIns="0" bIns="0" rtlCol="0" anchor="t"/>
          <a:lstStyle/>
          <a:p>
            <a:pPr algn="l" indent="0" marL="0">
              <a:buNone/>
            </a:pPr>
            <a:r>
              <a:rPr lang="en-US" sz="1200" b="1" dirty="0">
                <a:solidFill>
                  <a:srgbClr val="595959"/>
                </a:solidFill>
                <a:latin typeface="Courier New" pitchFamily="34" charset="0"/>
                <a:ea typeface="Courier New" pitchFamily="34" charset="-122"/>
                <a:cs typeface="Courier New" pitchFamily="34" charset="-120"/>
              </a:rPr>
              <a:t>// allowed: ignore what does not change the meaning (key order)</a:t>
            </a:r>
            <a:endParaRPr lang="en-US" sz="1200" dirty="0"/>
          </a:p>
        </p:txBody>
      </p:sp>
      <p:sp>
        <p:nvSpPr>
          <p:cNvPr id="18" name="Shape 15"/>
          <p:cNvSpPr/>
          <p:nvPr/>
        </p:nvSpPr>
        <p:spPr>
          <a:xfrm>
            <a:off x="103981" y="3275012"/>
            <a:ext cx="7564437" cy="209551"/>
          </a:xfrm>
          <a:prstGeom prst="rect">
            <a:avLst/>
          </a:prstGeom>
          <a:solidFill>
            <a:srgbClr val="DAEDEF"/>
          </a:solidFill>
          <a:ln/>
        </p:spPr>
      </p:sp>
      <p:sp>
        <p:nvSpPr>
          <p:cNvPr id="19" name="Text 16"/>
          <p:cNvSpPr txBox="1"/>
          <p:nvPr/>
        </p:nvSpPr>
        <p:spPr>
          <a:xfrm>
            <a:off x="230981" y="3287712"/>
            <a:ext cx="5915224" cy="177800"/>
          </a:xfrm>
          <a:prstGeom prst="rect">
            <a:avLst/>
          </a:prstGeom>
          <a:noFill/>
          <a:ln/>
        </p:spPr>
        <p:txBody>
          <a:bodyPr wrap="none" lIns="0" tIns="0" rIns="0" bIns="0" rtlCol="0" anchor="t"/>
          <a:lstStyle/>
          <a:p>
            <a:pPr algn="l" indent="0" marL="0">
              <a:buNone/>
            </a:pPr>
            <a:r>
              <a:rPr lang="en-US" sz="1200" b="1" dirty="0">
                <a:solidFill>
                  <a:srgbClr val="333399"/>
                </a:solidFill>
                <a:latin typeface="Courier New" pitchFamily="34" charset="0"/>
                <a:ea typeface="Courier New" pitchFamily="34" charset="-122"/>
                <a:cs typeface="Courier New" pitchFamily="34" charset="-120"/>
              </a:rPr>
              <a:t>const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000000"/>
                </a:solidFill>
                <a:latin typeface="Courier New" pitchFamily="34" charset="0"/>
                <a:ea typeface="Courier New" pitchFamily="34" charset="-122"/>
                <a:cs typeface="Courier New" pitchFamily="34" charset="-120"/>
              </a:rPr>
              <a:t>canonical</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q </a:t>
            </a:r>
            <a:pPr algn="l" indent="0" marL="0">
              <a:buNone/>
            </a:pPr>
            <a:r>
              <a:rPr lang="en-US" sz="1200" b="1" dirty="0">
                <a:solidFill>
                  <a:srgbClr val="333399"/>
                </a:solidFill>
                <a:latin typeface="Courier New" pitchFamily="34" charset="0"/>
                <a:ea typeface="Courier New" pitchFamily="34" charset="-122"/>
                <a:cs typeface="Courier New" pitchFamily="34" charset="-120"/>
              </a:rPr>
              <a:t>=&gt;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JSON</a:t>
            </a:r>
            <a:pPr algn="l" indent="0" marL="0">
              <a:buNone/>
            </a:pPr>
            <a:r>
              <a:rPr lang="en-US" sz="1200" b="1" dirty="0">
                <a:solidFill>
                  <a:srgbClr val="000000"/>
                </a:solidFill>
                <a:latin typeface="Courier New" pitchFamily="34" charset="0"/>
                <a:ea typeface="Courier New" pitchFamily="34" charset="-122"/>
                <a:cs typeface="Courier New" pitchFamily="34" charset="-120"/>
              </a:rPr>
              <a:t>.stringify</a:t>
            </a:r>
            <a:pPr algn="l" indent="0" marL="0">
              <a:buNone/>
            </a:pPr>
            <a:r>
              <a:rPr lang="en-US" sz="1200" b="1" dirty="0">
                <a:solidFill>
                  <a:srgbClr val="000000"/>
                </a:solidFill>
                <a:latin typeface="Courier New" pitchFamily="34" charset="0"/>
                <a:ea typeface="Courier New" pitchFamily="34" charset="-122"/>
                <a:cs typeface="Courier New" pitchFamily="34" charset="-120"/>
              </a:rPr>
              <a:t>(q</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Object</a:t>
            </a:r>
            <a:pPr algn="l" indent="0" marL="0">
              <a:buNone/>
            </a:pPr>
            <a:r>
              <a:rPr lang="en-US" sz="1200" b="1" dirty="0">
                <a:solidFill>
                  <a:srgbClr val="000000"/>
                </a:solidFill>
                <a:latin typeface="Courier New" pitchFamily="34" charset="0"/>
                <a:ea typeface="Courier New" pitchFamily="34" charset="-122"/>
                <a:cs typeface="Courier New" pitchFamily="34" charset="-120"/>
              </a:rPr>
              <a:t>.keys</a:t>
            </a:r>
            <a:pPr algn="l" indent="0" marL="0">
              <a:buNone/>
            </a:pPr>
            <a:r>
              <a:rPr lang="en-US" sz="1200" b="1" dirty="0">
                <a:solidFill>
                  <a:srgbClr val="000000"/>
                </a:solidFill>
                <a:latin typeface="Courier New" pitchFamily="34" charset="0"/>
                <a:ea typeface="Courier New" pitchFamily="34" charset="-122"/>
                <a:cs typeface="Courier New" pitchFamily="34" charset="-120"/>
              </a:rPr>
              <a:t>(q)</a:t>
            </a:r>
            <a:pPr algn="l" indent="0" marL="0">
              <a:buNone/>
            </a:pPr>
            <a:r>
              <a:rPr lang="en-US" sz="1200" b="1" dirty="0">
                <a:solidFill>
                  <a:srgbClr val="000000"/>
                </a:solidFill>
                <a:latin typeface="Courier New" pitchFamily="34" charset="0"/>
                <a:ea typeface="Courier New" pitchFamily="34" charset="-122"/>
                <a:cs typeface="Courier New" pitchFamily="34" charset="-120"/>
              </a:rPr>
              <a:t>.sort</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endParaRPr lang="en-US" sz="1200" dirty="0"/>
          </a:p>
        </p:txBody>
      </p:sp>
      <p:sp>
        <p:nvSpPr>
          <p:cNvPr id="20" name="Shape 17"/>
          <p:cNvSpPr/>
          <p:nvPr/>
        </p:nvSpPr>
        <p:spPr>
          <a:xfrm>
            <a:off x="103981" y="3484563"/>
            <a:ext cx="7564437" cy="209551"/>
          </a:xfrm>
          <a:prstGeom prst="rect">
            <a:avLst/>
          </a:prstGeom>
          <a:solidFill>
            <a:srgbClr val="DAEDEF"/>
          </a:solidFill>
          <a:ln/>
        </p:spPr>
      </p:sp>
      <p:sp>
        <p:nvSpPr>
          <p:cNvPr id="21" name="Text 18"/>
          <p:cNvSpPr txBox="1"/>
          <p:nvPr/>
        </p:nvSpPr>
        <p:spPr>
          <a:xfrm>
            <a:off x="230981" y="3497263"/>
            <a:ext cx="6188472" cy="177800"/>
          </a:xfrm>
          <a:prstGeom prst="rect">
            <a:avLst/>
          </a:prstGeom>
          <a:noFill/>
          <a:ln/>
        </p:spPr>
        <p:txBody>
          <a:bodyPr wrap="none" lIns="0" tIns="0" rIns="0" bIns="0" rtlCol="0" anchor="t"/>
          <a:lstStyle/>
          <a:p>
            <a:pPr algn="l" indent="0" marL="0">
              <a:buNone/>
            </a:pPr>
            <a:r>
              <a:rPr lang="en-US" sz="1200" b="1" dirty="0">
                <a:solidFill>
                  <a:srgbClr val="595959"/>
                </a:solidFill>
                <a:latin typeface="Courier New" pitchFamily="34" charset="0"/>
                <a:ea typeface="Courier New" pitchFamily="34" charset="-122"/>
                <a:cs typeface="Courier New" pitchFamily="34" charset="-120"/>
              </a:rPr>
              <a:t>// wrong: keep only the fields this cache knows, so `role` is lost</a:t>
            </a:r>
            <a:endParaRPr lang="en-US" sz="1200" dirty="0"/>
          </a:p>
        </p:txBody>
      </p:sp>
      <p:sp>
        <p:nvSpPr>
          <p:cNvPr id="22" name="Shape 19"/>
          <p:cNvSpPr/>
          <p:nvPr/>
        </p:nvSpPr>
        <p:spPr>
          <a:xfrm>
            <a:off x="103981" y="3694112"/>
            <a:ext cx="7564437" cy="209551"/>
          </a:xfrm>
          <a:prstGeom prst="rect">
            <a:avLst/>
          </a:prstGeom>
          <a:solidFill>
            <a:srgbClr val="DAEDEF"/>
          </a:solidFill>
          <a:ln/>
        </p:spPr>
      </p:sp>
      <p:sp>
        <p:nvSpPr>
          <p:cNvPr id="23" name="Text 20"/>
          <p:cNvSpPr txBox="1"/>
          <p:nvPr/>
        </p:nvSpPr>
        <p:spPr>
          <a:xfrm>
            <a:off x="230981" y="3706812"/>
            <a:ext cx="5640585" cy="177800"/>
          </a:xfrm>
          <a:prstGeom prst="rect">
            <a:avLst/>
          </a:prstGeom>
          <a:noFill/>
          <a:ln/>
        </p:spPr>
        <p:txBody>
          <a:bodyPr wrap="none" lIns="0" tIns="0" rIns="0" bIns="0" rtlCol="0" anchor="t"/>
          <a:lstStyle/>
          <a:p>
            <a:pPr algn="l" indent="0" marL="0">
              <a:buNone/>
            </a:pPr>
            <a:r>
              <a:rPr lang="en-US" sz="1200" b="1" dirty="0">
                <a:solidFill>
                  <a:srgbClr val="333399"/>
                </a:solidFill>
                <a:latin typeface="Courier New" pitchFamily="34" charset="0"/>
                <a:ea typeface="Courier New" pitchFamily="34" charset="-122"/>
                <a:cs typeface="Courier New" pitchFamily="34" charset="-120"/>
              </a:rPr>
              <a:t>const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000000"/>
                </a:solidFill>
                <a:latin typeface="Courier New" pitchFamily="34" charset="0"/>
                <a:ea typeface="Courier New" pitchFamily="34" charset="-122"/>
                <a:cs typeface="Courier New" pitchFamily="34" charset="-120"/>
              </a:rPr>
              <a:t>lossy</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 q</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limit }) </a:t>
            </a:r>
            <a:pPr algn="l" indent="0" marL="0">
              <a:buNone/>
            </a:pPr>
            <a:r>
              <a:rPr lang="en-US" sz="1200" b="1" dirty="0">
                <a:solidFill>
                  <a:srgbClr val="333399"/>
                </a:solidFill>
                <a:latin typeface="Courier New" pitchFamily="34" charset="0"/>
                <a:ea typeface="Courier New" pitchFamily="34" charset="-122"/>
                <a:cs typeface="Courier New" pitchFamily="34" charset="-120"/>
              </a:rPr>
              <a:t>=&gt;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JSON</a:t>
            </a:r>
            <a:pPr algn="l" indent="0" marL="0">
              <a:buNone/>
            </a:pPr>
            <a:r>
              <a:rPr lang="en-US" sz="1200" b="1" dirty="0">
                <a:solidFill>
                  <a:srgbClr val="000000"/>
                </a:solidFill>
                <a:latin typeface="Courier New" pitchFamily="34" charset="0"/>
                <a:ea typeface="Courier New" pitchFamily="34" charset="-122"/>
                <a:cs typeface="Courier New" pitchFamily="34" charset="-120"/>
              </a:rPr>
              <a:t>.stringify</a:t>
            </a:r>
            <a:pPr algn="l" indent="0" marL="0">
              <a:buNone/>
            </a:pPr>
            <a:r>
              <a:rPr lang="en-US" sz="1200" b="1" dirty="0">
                <a:solidFill>
                  <a:srgbClr val="000000"/>
                </a:solidFill>
                <a:latin typeface="Courier New" pitchFamily="34" charset="0"/>
                <a:ea typeface="Courier New" pitchFamily="34" charset="-122"/>
                <a:cs typeface="Courier New" pitchFamily="34" charset="-120"/>
              </a:rPr>
              <a:t>({ q</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limit })</a:t>
            </a:r>
            <a:endParaRPr lang="en-US" sz="1200" dirty="0"/>
          </a:p>
        </p:txBody>
      </p:sp>
      <p:sp>
        <p:nvSpPr>
          <p:cNvPr id="24" name="Text 21"/>
          <p:cNvSpPr txBox="1"/>
          <p:nvPr/>
        </p:nvSpPr>
        <p:spPr>
          <a:xfrm>
            <a:off x="230981" y="4125912"/>
            <a:ext cx="4817864" cy="177800"/>
          </a:xfrm>
          <a:prstGeom prst="rect">
            <a:avLst/>
          </a:prstGeom>
          <a:noFill/>
          <a:ln/>
        </p:spPr>
        <p:txBody>
          <a:bodyPr wrap="none" lIns="0" tIns="0" rIns="0" bIns="0" rtlCol="0" anchor="t"/>
          <a:lstStyle/>
          <a:p>
            <a:pPr algn="l" indent="0" marL="0">
              <a:buNone/>
            </a:pPr>
            <a:r>
              <a:rPr lang="en-US" sz="1200" b="1" dirty="0">
                <a:solidFill>
                  <a:srgbClr val="333399"/>
                </a:solidFill>
                <a:latin typeface="Courier New" pitchFamily="34" charset="0"/>
                <a:ea typeface="Courier New" pitchFamily="34" charset="-122"/>
                <a:cs typeface="Courier New" pitchFamily="34" charset="-120"/>
              </a:rPr>
              <a:t>const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admins</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 q</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993300"/>
                </a:solidFill>
                <a:latin typeface="Courier New" pitchFamily="34" charset="0"/>
                <a:ea typeface="Courier New" pitchFamily="34" charset="-122"/>
                <a:cs typeface="Courier New" pitchFamily="34" charset="-120"/>
              </a:rPr>
              <a:t>'a'</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limit</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10</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role</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993300"/>
                </a:solidFill>
                <a:latin typeface="Courier New" pitchFamily="34" charset="0"/>
                <a:ea typeface="Courier New" pitchFamily="34" charset="-122"/>
                <a:cs typeface="Courier New" pitchFamily="34" charset="-120"/>
              </a:rPr>
              <a:t>'admin'</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endParaRPr lang="en-US" sz="1200" dirty="0"/>
          </a:p>
        </p:txBody>
      </p:sp>
      <p:sp>
        <p:nvSpPr>
          <p:cNvPr id="25" name="Text 22"/>
          <p:cNvSpPr txBox="1"/>
          <p:nvPr/>
        </p:nvSpPr>
        <p:spPr>
          <a:xfrm>
            <a:off x="230981" y="4335463"/>
            <a:ext cx="4634905" cy="177800"/>
          </a:xfrm>
          <a:prstGeom prst="rect">
            <a:avLst/>
          </a:prstGeom>
          <a:noFill/>
          <a:ln/>
        </p:spPr>
        <p:txBody>
          <a:bodyPr wrap="none" lIns="0" tIns="0" rIns="0" bIns="0" rtlCol="0" anchor="t"/>
          <a:lstStyle/>
          <a:p>
            <a:pPr algn="l" indent="0" marL="0">
              <a:buNone/>
            </a:pPr>
            <a:r>
              <a:rPr lang="en-US" sz="1200" b="1" dirty="0">
                <a:solidFill>
                  <a:srgbClr val="333399"/>
                </a:solidFill>
                <a:latin typeface="Courier New" pitchFamily="34" charset="0"/>
                <a:ea typeface="Courier New" pitchFamily="34" charset="-122"/>
                <a:cs typeface="Courier New" pitchFamily="34" charset="-120"/>
              </a:rPr>
              <a:t>const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users</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 role</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993300"/>
                </a:solidFill>
                <a:latin typeface="Courier New" pitchFamily="34" charset="0"/>
                <a:ea typeface="Courier New" pitchFamily="34" charset="-122"/>
                <a:cs typeface="Courier New" pitchFamily="34" charset="-120"/>
              </a:rPr>
              <a:t>'user'</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limit</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10</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q</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993300"/>
                </a:solidFill>
                <a:latin typeface="Courier New" pitchFamily="34" charset="0"/>
                <a:ea typeface="Courier New" pitchFamily="34" charset="-122"/>
                <a:cs typeface="Courier New" pitchFamily="34" charset="-120"/>
              </a:rPr>
              <a:t>'a'</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endParaRPr lang="en-US" sz="1200" dirty="0"/>
          </a:p>
        </p:txBody>
      </p:sp>
      <p:sp>
        <p:nvSpPr>
          <p:cNvPr id="26" name="Text 23"/>
          <p:cNvSpPr txBox="1"/>
          <p:nvPr/>
        </p:nvSpPr>
        <p:spPr>
          <a:xfrm>
            <a:off x="230981" y="4754563"/>
            <a:ext cx="3811191" cy="177800"/>
          </a:xfrm>
          <a:prstGeom prst="rect">
            <a:avLst/>
          </a:prstGeom>
          <a:noFill/>
          <a:ln/>
        </p:spPr>
        <p:txBody>
          <a:bodyPr wrap="none" lIns="0" tIns="0" rIns="0" bIns="0" rtlCol="0" anchor="t"/>
          <a:lstStyle/>
          <a:p>
            <a:pPr algn="l" indent="0" marL="0">
              <a:buNone/>
            </a:pPr>
            <a:r>
              <a:rPr lang="en-US" sz="1200" b="1" dirty="0">
                <a:solidFill>
                  <a:srgbClr val="333399"/>
                </a:solidFill>
                <a:latin typeface="Courier New" pitchFamily="34" charset="0"/>
                <a:ea typeface="Courier New" pitchFamily="34" charset="-122"/>
                <a:cs typeface="Courier New" pitchFamily="34" charset="-120"/>
              </a:rPr>
              <a:t>for</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333399"/>
                </a:solidFill>
                <a:latin typeface="Courier New" pitchFamily="34" charset="0"/>
                <a:ea typeface="Courier New" pitchFamily="34" charset="-122"/>
                <a:cs typeface="Courier New" pitchFamily="34" charset="-120"/>
              </a:rPr>
              <a:t>const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norm</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333399"/>
                </a:solidFill>
                <a:latin typeface="Courier New" pitchFamily="34" charset="0"/>
                <a:ea typeface="Courier New" pitchFamily="34" charset="-122"/>
                <a:cs typeface="Courier New" pitchFamily="34" charset="-120"/>
              </a:rPr>
              <a:t>of</a:t>
            </a:r>
            <a:pPr algn="l" indent="0" marL="0">
              <a:buNone/>
            </a:pPr>
            <a:r>
              <a:rPr lang="en-US" sz="1200" b="1" dirty="0">
                <a:solidFill>
                  <a:srgbClr val="000000"/>
                </a:solidFill>
                <a:latin typeface="Courier New" pitchFamily="34" charset="0"/>
                <a:ea typeface="Courier New" pitchFamily="34" charset="-122"/>
                <a:cs typeface="Courier New" pitchFamily="34" charset="-120"/>
              </a:rPr>
              <a:t> [canonical</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lossy]) {</a:t>
            </a:r>
            <a:endParaRPr lang="en-US" sz="1200" dirty="0"/>
          </a:p>
        </p:txBody>
      </p:sp>
      <p:sp>
        <p:nvSpPr>
          <p:cNvPr id="27" name="Text 24"/>
          <p:cNvSpPr txBox="1"/>
          <p:nvPr/>
        </p:nvSpPr>
        <p:spPr>
          <a:xfrm>
            <a:off x="230981" y="4964112"/>
            <a:ext cx="7104063" cy="177800"/>
          </a:xfrm>
          <a:prstGeom prst="rect">
            <a:avLst/>
          </a:prstGeom>
          <a:noFill/>
          <a:ln/>
        </p:spPr>
        <p:txBody>
          <a:bodyPr wrap="none" lIns="0" tIns="0" rIns="0" bIns="0" rtlCol="0" anchor="t"/>
          <a:lstStyle/>
          <a:p>
            <a:pPr algn="l" indent="0" marL="0">
              <a:buNone/>
            </a:pPr>
            <a:pPr algn="l" indent="0" marL="0">
              <a:buNone/>
            </a:pPr>
            <a:r>
              <a:rPr lang="en-US" sz="1200" b="1" dirty="0">
                <a:solidFill>
                  <a:srgbClr val="333399"/>
                </a:solidFill>
                <a:latin typeface="Courier New" pitchFamily="34" charset="0"/>
                <a:ea typeface="Courier New" pitchFamily="34" charset="-122"/>
                <a:cs typeface="Courier New" pitchFamily="34" charset="-120"/>
              </a:rPr>
              <a:t>const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k1</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000000"/>
                </a:solidFill>
                <a:latin typeface="Courier New" pitchFamily="34" charset="0"/>
                <a:ea typeface="Courier New" pitchFamily="34" charset="-122"/>
                <a:cs typeface="Courier New" pitchFamily="34" charset="-120"/>
              </a:rPr>
              <a:t>key</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993300"/>
                </a:solidFill>
                <a:latin typeface="Courier New" pitchFamily="34" charset="0"/>
                <a:ea typeface="Courier New" pitchFamily="34" charset="-122"/>
                <a:cs typeface="Courier New" pitchFamily="34" charset="-120"/>
              </a:rPr>
              <a:t>'QUERY'</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993300"/>
                </a:solidFill>
                <a:latin typeface="Courier New" pitchFamily="34" charset="0"/>
                <a:ea typeface="Courier New" pitchFamily="34" charset="-122"/>
                <a:cs typeface="Courier New" pitchFamily="34" charset="-120"/>
              </a:rPr>
              <a:t>'/users/search'</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993300"/>
                </a:solidFill>
                <a:latin typeface="Courier New" pitchFamily="34" charset="0"/>
                <a:ea typeface="Courier New" pitchFamily="34" charset="-122"/>
                <a:cs typeface="Courier New" pitchFamily="34" charset="-120"/>
              </a:rPr>
              <a:t>'application/json'</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000000"/>
                </a:solidFill>
                <a:latin typeface="Courier New" pitchFamily="34" charset="0"/>
                <a:ea typeface="Courier New" pitchFamily="34" charset="-122"/>
                <a:cs typeface="Courier New" pitchFamily="34" charset="-120"/>
              </a:rPr>
              <a:t>norm</a:t>
            </a:r>
            <a:pPr algn="l" indent="0" marL="0">
              <a:buNone/>
            </a:pPr>
            <a:r>
              <a:rPr lang="en-US" sz="1200" b="1" dirty="0">
                <a:solidFill>
                  <a:srgbClr val="000000"/>
                </a:solidFill>
                <a:latin typeface="Courier New" pitchFamily="34" charset="0"/>
                <a:ea typeface="Courier New" pitchFamily="34" charset="-122"/>
                <a:cs typeface="Courier New" pitchFamily="34" charset="-120"/>
              </a:rPr>
              <a:t>(admins))</a:t>
            </a:r>
            <a:endParaRPr lang="en-US" sz="1200" dirty="0"/>
          </a:p>
        </p:txBody>
      </p:sp>
      <p:sp>
        <p:nvSpPr>
          <p:cNvPr id="28" name="Text 25"/>
          <p:cNvSpPr txBox="1"/>
          <p:nvPr/>
        </p:nvSpPr>
        <p:spPr>
          <a:xfrm>
            <a:off x="230981" y="5173663"/>
            <a:ext cx="7012583" cy="177800"/>
          </a:xfrm>
          <a:prstGeom prst="rect">
            <a:avLst/>
          </a:prstGeom>
          <a:noFill/>
          <a:ln/>
        </p:spPr>
        <p:txBody>
          <a:bodyPr wrap="none" lIns="0" tIns="0" rIns="0" bIns="0" rtlCol="0" anchor="t"/>
          <a:lstStyle/>
          <a:p>
            <a:pPr algn="l" indent="0" marL="0">
              <a:buNone/>
            </a:pPr>
            <a:pPr algn="l" indent="0" marL="0">
              <a:buNone/>
            </a:pPr>
            <a:r>
              <a:rPr lang="en-US" sz="1200" b="1" dirty="0">
                <a:solidFill>
                  <a:srgbClr val="333399"/>
                </a:solidFill>
                <a:latin typeface="Courier New" pitchFamily="34" charset="0"/>
                <a:ea typeface="Courier New" pitchFamily="34" charset="-122"/>
                <a:cs typeface="Courier New" pitchFamily="34" charset="-120"/>
              </a:rPr>
              <a:t>const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k2</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000000"/>
                </a:solidFill>
                <a:latin typeface="Courier New" pitchFamily="34" charset="0"/>
                <a:ea typeface="Courier New" pitchFamily="34" charset="-122"/>
                <a:cs typeface="Courier New" pitchFamily="34" charset="-120"/>
              </a:rPr>
              <a:t>key</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993300"/>
                </a:solidFill>
                <a:latin typeface="Courier New" pitchFamily="34" charset="0"/>
                <a:ea typeface="Courier New" pitchFamily="34" charset="-122"/>
                <a:cs typeface="Courier New" pitchFamily="34" charset="-120"/>
              </a:rPr>
              <a:t>'QUERY'</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993300"/>
                </a:solidFill>
                <a:latin typeface="Courier New" pitchFamily="34" charset="0"/>
                <a:ea typeface="Courier New" pitchFamily="34" charset="-122"/>
                <a:cs typeface="Courier New" pitchFamily="34" charset="-120"/>
              </a:rPr>
              <a:t>'/users/search'</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993300"/>
                </a:solidFill>
                <a:latin typeface="Courier New" pitchFamily="34" charset="0"/>
                <a:ea typeface="Courier New" pitchFamily="34" charset="-122"/>
                <a:cs typeface="Courier New" pitchFamily="34" charset="-120"/>
              </a:rPr>
              <a:t>'application/json'</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000000"/>
                </a:solidFill>
                <a:latin typeface="Courier New" pitchFamily="34" charset="0"/>
                <a:ea typeface="Courier New" pitchFamily="34" charset="-122"/>
                <a:cs typeface="Courier New" pitchFamily="34" charset="-120"/>
              </a:rPr>
              <a:t>norm</a:t>
            </a:r>
            <a:pPr algn="l" indent="0" marL="0">
              <a:buNone/>
            </a:pPr>
            <a:r>
              <a:rPr lang="en-US" sz="1200" b="1" dirty="0">
                <a:solidFill>
                  <a:srgbClr val="000000"/>
                </a:solidFill>
                <a:latin typeface="Courier New" pitchFamily="34" charset="0"/>
                <a:ea typeface="Courier New" pitchFamily="34" charset="-122"/>
                <a:cs typeface="Courier New" pitchFamily="34" charset="-120"/>
              </a:rPr>
              <a:t>(users))</a:t>
            </a:r>
            <a:endParaRPr lang="en-US" sz="1200" dirty="0"/>
          </a:p>
        </p:txBody>
      </p:sp>
      <p:sp>
        <p:nvSpPr>
          <p:cNvPr id="29" name="Text 26"/>
          <p:cNvSpPr txBox="1"/>
          <p:nvPr/>
        </p:nvSpPr>
        <p:spPr>
          <a:xfrm>
            <a:off x="230981" y="5383212"/>
            <a:ext cx="5000427" cy="177800"/>
          </a:xfrm>
          <a:prstGeom prst="rect">
            <a:avLst/>
          </a:prstGeom>
          <a:noFill/>
          <a:ln/>
        </p:spPr>
        <p:txBody>
          <a:bodyPr wrap="none" lIns="0" tIns="0" rIns="0" bIns="0" rtlCol="0" anchor="t"/>
          <a:lstStyle/>
          <a:p>
            <a:pPr algn="l" indent="0" marL="0">
              <a:buNone/>
            </a:pPr>
            <a:pPr algn="l" indent="0" marL="0">
              <a:buNone/>
            </a:pPr>
            <a:r>
              <a:rPr lang="en-US" sz="1200" b="1" dirty="0">
                <a:solidFill>
                  <a:srgbClr val="333399"/>
                </a:solidFill>
                <a:latin typeface="Courier New" pitchFamily="34" charset="0"/>
                <a:ea typeface="Courier New" pitchFamily="34" charset="-122"/>
                <a:cs typeface="Courier New" pitchFamily="34" charset="-120"/>
              </a:rPr>
              <a:t>const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CC6600"/>
                </a:solidFill>
                <a:latin typeface="Courier New" pitchFamily="34" charset="0"/>
                <a:ea typeface="Courier New" pitchFamily="34" charset="-122"/>
                <a:cs typeface="Courier New" pitchFamily="34" charset="-120"/>
              </a:rPr>
              <a:t>verdict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k1 </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k2 </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993300"/>
                </a:solidFill>
                <a:latin typeface="Courier New" pitchFamily="34" charset="0"/>
                <a:ea typeface="Courier New" pitchFamily="34" charset="-122"/>
                <a:cs typeface="Courier New" pitchFamily="34" charset="-120"/>
              </a:rPr>
              <a:t>'SAME KEY'</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333399"/>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a:t>
            </a:r>
            <a:pPr algn="l" indent="0" marL="0">
              <a:buNone/>
            </a:pPr>
            <a:r>
              <a:rPr lang="en-US" sz="1200" b="1" dirty="0">
                <a:solidFill>
                  <a:srgbClr val="993300"/>
                </a:solidFill>
                <a:latin typeface="Courier New" pitchFamily="34" charset="0"/>
                <a:ea typeface="Courier New" pitchFamily="34" charset="-122"/>
                <a:cs typeface="Courier New" pitchFamily="34" charset="-120"/>
              </a:rPr>
              <a:t>'distinct'</a:t>
            </a:r>
            <a:endParaRPr lang="en-US" sz="1200" dirty="0"/>
          </a:p>
        </p:txBody>
      </p:sp>
      <p:sp>
        <p:nvSpPr>
          <p:cNvPr id="30" name="Text 27"/>
          <p:cNvSpPr txBox="1"/>
          <p:nvPr/>
        </p:nvSpPr>
        <p:spPr>
          <a:xfrm>
            <a:off x="230981" y="5592763"/>
            <a:ext cx="4909145" cy="177800"/>
          </a:xfrm>
          <a:prstGeom prst="rect">
            <a:avLst/>
          </a:prstGeom>
          <a:noFill/>
          <a:ln/>
        </p:spPr>
        <p:txBody>
          <a:bodyPr wrap="none" lIns="0" tIns="0" rIns="0" bIns="0" rtlCol="0" anchor="t"/>
          <a:lstStyle/>
          <a:p>
            <a:pPr algn="l" indent="0" marL="0">
              <a:buNone/>
            </a:pPr>
            <a:pPr algn="l" indent="0" marL="0">
              <a:buNone/>
            </a:pPr>
            <a:r>
              <a:rPr lang="en-US" sz="1200" b="1" dirty="0">
                <a:solidFill>
                  <a:srgbClr val="CC6600"/>
                </a:solidFill>
                <a:latin typeface="Courier New" pitchFamily="34" charset="0"/>
                <a:ea typeface="Courier New" pitchFamily="34" charset="-122"/>
                <a:cs typeface="Courier New" pitchFamily="34" charset="-120"/>
              </a:rPr>
              <a:t>console</a:t>
            </a:r>
            <a:pPr algn="l" indent="0" marL="0">
              <a:buNone/>
            </a:pPr>
            <a:r>
              <a:rPr lang="en-US" sz="1200" b="1" dirty="0">
                <a:solidFill>
                  <a:srgbClr val="000000"/>
                </a:solidFill>
                <a:latin typeface="Courier New" pitchFamily="34" charset="0"/>
                <a:ea typeface="Courier New" pitchFamily="34" charset="-122"/>
                <a:cs typeface="Courier New" pitchFamily="34" charset="-120"/>
              </a:rPr>
              <a:t>.log</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CC6600"/>
                </a:solidFill>
                <a:latin typeface="Courier New" pitchFamily="34" charset="0"/>
                <a:ea typeface="Courier New" pitchFamily="34" charset="-122"/>
                <a:cs typeface="Courier New" pitchFamily="34" charset="-120"/>
              </a:rPr>
              <a:t>norm</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CC6600"/>
                </a:solidFill>
                <a:latin typeface="Courier New" pitchFamily="34" charset="0"/>
                <a:ea typeface="Courier New" pitchFamily="34" charset="-122"/>
                <a:cs typeface="Courier New" pitchFamily="34" charset="-120"/>
              </a:rPr>
              <a:t>name</a:t>
            </a:r>
            <a:pPr algn="l" indent="0" marL="0">
              <a:buNone/>
            </a:pPr>
            <a:r>
              <a:rPr lang="en-US" sz="1200" b="1" dirty="0">
                <a:solidFill>
                  <a:srgbClr val="000000"/>
                </a:solidFill>
                <a:latin typeface="Courier New" pitchFamily="34" charset="0"/>
                <a:ea typeface="Courier New" pitchFamily="34" charset="-122"/>
                <a:cs typeface="Courier New" pitchFamily="34" charset="-120"/>
              </a:rPr>
              <a:t>.padEnd</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CC6600"/>
                </a:solidFill>
                <a:latin typeface="Courier New" pitchFamily="34" charset="0"/>
                <a:ea typeface="Courier New" pitchFamily="34" charset="-122"/>
                <a:cs typeface="Courier New" pitchFamily="34" charset="-120"/>
              </a:rPr>
              <a:t>10</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k1</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k2</a:t>
            </a:r>
            <a:pPr algn="l" indent="0" marL="0">
              <a:buNone/>
            </a:pPr>
            <a:r>
              <a:rPr lang="en-US" sz="1200" b="1" dirty="0">
                <a:solidFill>
                  <a:srgbClr val="000000"/>
                </a:solidFill>
                <a:latin typeface="Courier New" pitchFamily="34" charset="0"/>
                <a:ea typeface="Courier New" pitchFamily="34" charset="-122"/>
                <a:cs typeface="Courier New" pitchFamily="34" charset="-120"/>
              </a:rPr>
              <a:t>,</a:t>
            </a:r>
            <a:pPr algn="l" indent="0" marL="0">
              <a:buNone/>
            </a:pPr>
            <a:r>
              <a:rPr lang="en-US" sz="1200" b="1" dirty="0">
                <a:solidFill>
                  <a:srgbClr val="000000"/>
                </a:solidFill>
                <a:latin typeface="Courier New" pitchFamily="34" charset="0"/>
                <a:ea typeface="Courier New" pitchFamily="34" charset="-122"/>
                <a:cs typeface="Courier New" pitchFamily="34" charset="-120"/>
              </a:rPr>
              <a:t> verdict)</a:t>
            </a:r>
            <a:endParaRPr lang="en-US" sz="1200" dirty="0"/>
          </a:p>
        </p:txBody>
      </p:sp>
      <p:sp>
        <p:nvSpPr>
          <p:cNvPr id="31" name="Text 28"/>
          <p:cNvSpPr txBox="1"/>
          <p:nvPr/>
        </p:nvSpPr>
        <p:spPr>
          <a:xfrm>
            <a:off x="230981" y="5802312"/>
            <a:ext cx="243880" cy="177800"/>
          </a:xfrm>
          <a:prstGeom prst="rect">
            <a:avLst/>
          </a:prstGeom>
          <a:noFill/>
          <a:ln/>
        </p:spPr>
        <p:txBody>
          <a:bodyPr wrap="none" lIns="0" tIns="0" rIns="0" bIns="0" rtlCol="0" anchor="t"/>
          <a:lstStyle/>
          <a:p>
            <a:pPr algn="l" indent="0" marL="0">
              <a:buNone/>
            </a:pPr>
            <a:r>
              <a:rPr lang="en-US" sz="1200" b="1" dirty="0">
                <a:solidFill>
                  <a:srgbClr val="000000"/>
                </a:solidFill>
                <a:latin typeface="Courier New" pitchFamily="34" charset="0"/>
                <a:ea typeface="Courier New" pitchFamily="34" charset="-122"/>
                <a:cs typeface="Courier New" pitchFamily="34" charset="-120"/>
              </a:rPr>
              <a:t>}</a:t>
            </a:r>
            <a:endParaRPr lang="en-US" sz="1200" dirty="0"/>
          </a:p>
        </p:txBody>
      </p:sp>
      <p:sp>
        <p:nvSpPr>
          <p:cNvPr id="32" name="Shape 29"/>
          <p:cNvSpPr/>
          <p:nvPr/>
        </p:nvSpPr>
        <p:spPr>
          <a:xfrm>
            <a:off x="7833519" y="1361281"/>
            <a:ext cx="4064000" cy="1216819"/>
          </a:xfrm>
          <a:prstGeom prst="rect">
            <a:avLst/>
          </a:prstGeom>
          <a:solidFill>
            <a:srgbClr val="FFFFFF"/>
          </a:solidFill>
          <a:ln w="12700">
            <a:solidFill>
              <a:srgbClr val="333399"/>
            </a:solidFill>
            <a:prstDash val="solid"/>
          </a:ln>
        </p:spPr>
      </p:sp>
      <p:sp>
        <p:nvSpPr>
          <p:cNvPr id="33" name="Shape 30"/>
          <p:cNvSpPr/>
          <p:nvPr/>
        </p:nvSpPr>
        <p:spPr>
          <a:xfrm>
            <a:off x="7846219" y="1373981"/>
            <a:ext cx="4038600" cy="472281"/>
          </a:xfrm>
          <a:prstGeom prst="rect">
            <a:avLst/>
          </a:prstGeom>
          <a:solidFill>
            <a:srgbClr val="DAEDEF"/>
          </a:solidFill>
          <a:ln/>
        </p:spPr>
      </p:sp>
      <p:sp>
        <p:nvSpPr>
          <p:cNvPr id="34" name="Shape 31"/>
          <p:cNvSpPr/>
          <p:nvPr/>
        </p:nvSpPr>
        <p:spPr>
          <a:xfrm>
            <a:off x="7846219" y="1833563"/>
            <a:ext cx="4038600" cy="12700"/>
          </a:xfrm>
          <a:prstGeom prst="rect">
            <a:avLst/>
          </a:prstGeom>
          <a:solidFill>
            <a:srgbClr val="333399"/>
          </a:solidFill>
          <a:ln/>
        </p:spPr>
      </p:sp>
      <p:sp>
        <p:nvSpPr>
          <p:cNvPr id="35" name="Shape 32"/>
          <p:cNvSpPr/>
          <p:nvPr/>
        </p:nvSpPr>
        <p:spPr>
          <a:xfrm>
            <a:off x="7973219" y="1552972"/>
            <a:ext cx="127000" cy="127000"/>
          </a:xfrm>
          <a:prstGeom prst="roundRect">
            <a:avLst>
              <a:gd name="adj" fmla="val 50000"/>
            </a:avLst>
          </a:prstGeom>
          <a:solidFill>
            <a:srgbClr val="333399"/>
          </a:solidFill>
          <a:ln/>
        </p:spPr>
      </p:sp>
      <p:sp>
        <p:nvSpPr>
          <p:cNvPr id="36" name="Shape 33"/>
          <p:cNvSpPr/>
          <p:nvPr/>
        </p:nvSpPr>
        <p:spPr>
          <a:xfrm>
            <a:off x="8176419" y="1552972"/>
            <a:ext cx="127000" cy="127000"/>
          </a:xfrm>
          <a:prstGeom prst="roundRect">
            <a:avLst>
              <a:gd name="adj" fmla="val 50000"/>
            </a:avLst>
          </a:prstGeom>
          <a:solidFill>
            <a:srgbClr val="333399"/>
          </a:solidFill>
          <a:ln/>
        </p:spPr>
      </p:sp>
      <p:sp>
        <p:nvSpPr>
          <p:cNvPr id="37" name="Shape 34"/>
          <p:cNvSpPr/>
          <p:nvPr/>
        </p:nvSpPr>
        <p:spPr>
          <a:xfrm>
            <a:off x="8379619" y="1552972"/>
            <a:ext cx="127000" cy="127000"/>
          </a:xfrm>
          <a:prstGeom prst="roundRect">
            <a:avLst>
              <a:gd name="adj" fmla="val 50000"/>
            </a:avLst>
          </a:prstGeom>
          <a:solidFill>
            <a:srgbClr val="333399"/>
          </a:solidFill>
          <a:ln/>
        </p:spPr>
      </p:sp>
      <p:sp>
        <p:nvSpPr>
          <p:cNvPr id="38" name="Text 35"/>
          <p:cNvSpPr txBox="1"/>
          <p:nvPr/>
        </p:nvSpPr>
        <p:spPr>
          <a:xfrm>
            <a:off x="8709819" y="1513681"/>
            <a:ext cx="2073076" cy="203200"/>
          </a:xfrm>
          <a:prstGeom prst="rect">
            <a:avLst/>
          </a:prstGeom>
          <a:noFill/>
          <a:ln/>
        </p:spPr>
        <p:txBody>
          <a:bodyPr wrap="none" lIns="0" tIns="0" rIns="0" bIns="0" rtlCol="0" anchor="t"/>
          <a:lstStyle/>
          <a:p>
            <a:pPr algn="l" indent="0" marL="0">
              <a:buNone/>
            </a:pPr>
            <a:r>
              <a:rPr lang="en-US" sz="1400" dirty="0">
                <a:solidFill>
                  <a:srgbClr val="595959"/>
                </a:solidFill>
                <a:latin typeface="Courier New" pitchFamily="34" charset="0"/>
                <a:ea typeface="Courier New" pitchFamily="34" charset="-122"/>
                <a:cs typeface="Courier New" pitchFamily="34" charset="-120"/>
              </a:rPr>
              <a:t>node cache-key.mjs</a:t>
            </a:r>
            <a:endParaRPr lang="en-US" sz="1400" dirty="0"/>
          </a:p>
        </p:txBody>
      </p:sp>
      <p:sp>
        <p:nvSpPr>
          <p:cNvPr id="39" name="Text 36"/>
          <p:cNvSpPr txBox="1"/>
          <p:nvPr/>
        </p:nvSpPr>
        <p:spPr>
          <a:xfrm>
            <a:off x="7973219" y="1960563"/>
            <a:ext cx="3810000" cy="435769"/>
          </a:xfrm>
          <a:prstGeom prst="rect">
            <a:avLst/>
          </a:prstGeom>
          <a:noFill/>
          <a:ln/>
        </p:spPr>
        <p:txBody>
          <a:bodyPr wrap="square" lIns="0" tIns="0" rIns="0" bIns="0" rtlCol="0" anchor="t"/>
          <a:lstStyle/>
          <a:p>
            <a:pPr algn="l" indent="0" marL="0">
              <a:lnSpc>
                <a:spcPts val="2031"/>
              </a:lnSpc>
              <a:buNone/>
            </a:pPr>
            <a:r>
              <a:rPr lang="en-US" sz="1251" b="1" dirty="0">
                <a:solidFill>
                  <a:srgbClr val="000000"/>
                </a:solidFill>
                <a:latin typeface="Courier New" pitchFamily="34" charset="0"/>
                <a:ea typeface="Courier New" pitchFamily="34" charset="-122"/>
                <a:cs typeface="Courier New" pitchFamily="34" charset="-120"/>
              </a:rPr>
              <a:t>canonical  40c775a1 e37c99e9 distinct</a:t>
            </a:r>
            <a:br/>
            <a:pPr algn="l" indent="0" marL="0">
              <a:lnSpc>
                <a:spcPts val="2031"/>
              </a:lnSpc>
              <a:buNone/>
            </a:pPr>
            <a:r>
              <a:rPr lang="en-US" sz="1251" b="1" dirty="0">
                <a:solidFill>
                  <a:srgbClr val="000000"/>
                </a:solidFill>
                <a:latin typeface="Courier New" pitchFamily="34" charset="0"/>
                <a:ea typeface="Courier New" pitchFamily="34" charset="-122"/>
                <a:cs typeface="Courier New" pitchFamily="34" charset="-120"/>
              </a:rPr>
              <a:t>lossy      85f28a1f 85f28a1f SAME KEY</a:t>
            </a:r>
            <a:endParaRPr lang="en-US" sz="1251" dirty="0"/>
          </a:p>
        </p:txBody>
      </p:sp>
      <p:sp>
        <p:nvSpPr>
          <p:cNvPr id="40" name="Text 37"/>
          <p:cNvSpPr txBox="1"/>
          <p:nvPr/>
        </p:nvSpPr>
        <p:spPr>
          <a:xfrm>
            <a:off x="7833519" y="2730500"/>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41" name="Text 38"/>
          <p:cNvSpPr txBox="1"/>
          <p:nvPr/>
        </p:nvSpPr>
        <p:spPr>
          <a:xfrm>
            <a:off x="8176419" y="2717800"/>
            <a:ext cx="3746500" cy="553640"/>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The key </a:t>
            </a:r>
            <a:pPr algn="l" indent="0" marL="0">
              <a:lnSpc>
                <a:spcPts val="2160"/>
              </a:lnSpc>
              <a:buNone/>
            </a:pPr>
            <a:r>
              <a:rPr lang="en-US" sz="1800" b="1" dirty="0">
                <a:solidFill>
                  <a:srgbClr val="000000"/>
                </a:solidFill>
                <a:latin typeface="Calibri" pitchFamily="34" charset="0"/>
                <a:ea typeface="Calibri" pitchFamily="34" charset="-122"/>
                <a:cs typeface="Calibri" pitchFamily="34" charset="-120"/>
              </a:rPr>
              <a:t>must</a:t>
            </a:r>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 include the content and its metadata </a:t>
            </a:r>
            <a:pPr algn="l" indent="0" marL="0">
              <a:lnSpc>
                <a:spcPts val="2160"/>
              </a:lnSpc>
              <a:buNone/>
            </a:pPr>
            <a:r>
              <a:rPr lang="en-US" sz="1116" u="sng" dirty="0">
                <a:solidFill>
                  <a:srgbClr val="59595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10008 §2.7]</a:t>
            </a:r>
            <a:endParaRPr lang="en-US" sz="1800" dirty="0"/>
          </a:p>
        </p:txBody>
      </p:sp>
      <p:sp>
        <p:nvSpPr>
          <p:cNvPr id="42" name="Text 39"/>
          <p:cNvSpPr txBox="1"/>
          <p:nvPr/>
        </p:nvSpPr>
        <p:spPr>
          <a:xfrm>
            <a:off x="7833519" y="3367881"/>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43" name="Text 40"/>
          <p:cNvSpPr txBox="1"/>
          <p:nvPr/>
        </p:nvSpPr>
        <p:spPr>
          <a:xfrm>
            <a:off x="8176419" y="3355181"/>
            <a:ext cx="3746500" cy="827881"/>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Caches </a:t>
            </a:r>
            <a:pPr algn="l" indent="0" marL="0">
              <a:lnSpc>
                <a:spcPts val="2160"/>
              </a:lnSpc>
              <a:buNone/>
            </a:pPr>
            <a:r>
              <a:rPr lang="en-US" sz="1800" b="1" dirty="0">
                <a:solidFill>
                  <a:srgbClr val="000000"/>
                </a:solidFill>
                <a:latin typeface="Calibri" pitchFamily="34" charset="0"/>
                <a:ea typeface="Calibri" pitchFamily="34" charset="-122"/>
                <a:cs typeface="Calibri" pitchFamily="34" charset="-120"/>
              </a:rPr>
              <a:t>can</a:t>
            </a:r>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 normalise the content. A wrong normalisation gives the wrong response </a:t>
            </a:r>
            <a:pPr algn="l" indent="0" marL="0">
              <a:lnSpc>
                <a:spcPts val="2160"/>
              </a:lnSpc>
              <a:buNone/>
            </a:pPr>
            <a:r>
              <a:rPr lang="en-US" sz="1116" u="sng" dirty="0">
                <a:solidFill>
                  <a:srgbClr val="59595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10008 §4]</a:t>
            </a:r>
            <a:endParaRPr lang="en-US" sz="1800" dirty="0"/>
          </a:p>
        </p:txBody>
      </p:sp>
      <p:sp>
        <p:nvSpPr>
          <p:cNvPr id="44" name="Text 41"/>
          <p:cNvSpPr txBox="1"/>
          <p:nvPr/>
        </p:nvSpPr>
        <p:spPr>
          <a:xfrm>
            <a:off x="7833519" y="4279503"/>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45" name="Text 42"/>
          <p:cNvSpPr txBox="1"/>
          <p:nvPr/>
        </p:nvSpPr>
        <p:spPr>
          <a:xfrm>
            <a:off x="8176419" y="4266803"/>
            <a:ext cx="3746500" cy="553640"/>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Many caches use only the method and the URI as the key </a:t>
            </a:r>
            <a:pPr algn="l" indent="0" marL="0">
              <a:lnSpc>
                <a:spcPts val="2160"/>
              </a:lnSpc>
              <a:buNone/>
            </a:pPr>
            <a:r>
              <a:rPr lang="en-US" sz="1116" u="sng" dirty="0">
                <a:solidFill>
                  <a:srgbClr val="59595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9111 §2]</a:t>
            </a:r>
            <a:endParaRPr lang="en-US" sz="1800" dirty="0"/>
          </a:p>
        </p:txBody>
      </p:sp>
      <p:sp>
        <p:nvSpPr>
          <p:cNvPr id="46" name="Text 43"/>
          <p:cNvSpPr txBox="1"/>
          <p:nvPr/>
        </p:nvSpPr>
        <p:spPr>
          <a:xfrm>
            <a:off x="7833519" y="4916884"/>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47" name="Text 44"/>
          <p:cNvSpPr txBox="1"/>
          <p:nvPr/>
        </p:nvSpPr>
        <p:spPr>
          <a:xfrm>
            <a:off x="8176419" y="4904184"/>
            <a:ext cx="3746500" cy="802481"/>
          </a:xfrm>
          <a:prstGeom prst="rect">
            <a:avLst/>
          </a:prstGeom>
          <a:noFill/>
          <a:ln/>
        </p:spPr>
        <p:txBody>
          <a:bodyPr wrap="square" lIns="0" tIns="0" rIns="0" bIns="0" rtlCol="0" anchor="t"/>
          <a:lstStyle/>
          <a:p>
            <a:pPr algn="l" indent="0" marL="0">
              <a:lnSpc>
                <a:spcPts val="2760"/>
              </a:lnSpc>
              <a:buNone/>
            </a:pPr>
            <a:r>
              <a:rPr lang="en-US" sz="1800" dirty="0">
                <a:solidFill>
                  <a:srgbClr val="000000"/>
                </a:solidFill>
                <a:latin typeface="Calibri" pitchFamily="34" charset="0"/>
                <a:ea typeface="Calibri" pitchFamily="34" charset="-122"/>
                <a:cs typeface="Calibri" pitchFamily="34" charset="-120"/>
              </a:rPr>
              <a:t>When the cache and the origin disagree, attackers win </a:t>
            </a:r>
            <a:pPr algn="l" indent="0" marL="0">
              <a:lnSpc>
                <a:spcPts val="2760"/>
              </a:lnSpc>
              <a:buNone/>
            </a:pPr>
            <a:r>
              <a:rPr lang="en-US" sz="1116" u="sng" dirty="0">
                <a:solidFill>
                  <a:srgbClr val="59595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[Nguyen 2019] </a:t>
            </a:r>
            <a:pPr algn="l" indent="0" marL="0">
              <a:lnSpc>
                <a:spcPts val="2760"/>
              </a:lnSpc>
              <a:buNone/>
            </a:pPr>
            <a:r>
              <a:rPr lang="en-US" sz="1116" u="sng" dirty="0">
                <a:solidFill>
                  <a:srgbClr val="595959"/>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[Mirheidari 2020]</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21</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5509419"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QUERY from a browser: the CORS preflight</a:t>
            </a:r>
            <a:endParaRPr lang="en-US" sz="2400" dirty="0"/>
          </a:p>
        </p:txBody>
      </p:sp>
      <p:sp>
        <p:nvSpPr>
          <p:cNvPr id="10" name="Shape 7"/>
          <p:cNvSpPr/>
          <p:nvPr/>
        </p:nvSpPr>
        <p:spPr>
          <a:xfrm>
            <a:off x="91281" y="1361281"/>
            <a:ext cx="6726237" cy="3764756"/>
          </a:xfrm>
          <a:prstGeom prst="rect">
            <a:avLst/>
          </a:prstGeom>
          <a:noFill/>
          <a:ln w="12700">
            <a:solidFill>
              <a:srgbClr val="333399"/>
            </a:solidFill>
            <a:prstDash val="solid"/>
          </a:ln>
        </p:spPr>
      </p:sp>
      <p:sp>
        <p:nvSpPr>
          <p:cNvPr id="11" name="Text 8"/>
          <p:cNvSpPr txBox="1"/>
          <p:nvPr/>
        </p:nvSpPr>
        <p:spPr>
          <a:xfrm>
            <a:off x="230981" y="1513681"/>
            <a:ext cx="5060553" cy="203200"/>
          </a:xfrm>
          <a:prstGeom prst="rect">
            <a:avLst/>
          </a:prstGeom>
          <a:noFill/>
          <a:ln/>
        </p:spPr>
        <p:txBody>
          <a:bodyPr wrap="none" lIns="0" tIns="0" rIns="0" bIns="0" rtlCol="0" anchor="t"/>
          <a:lstStyle/>
          <a:p>
            <a:pPr algn="l" indent="0" marL="0">
              <a:buNone/>
            </a:pPr>
            <a:r>
              <a:rPr lang="en-US" sz="1400" dirty="0">
                <a:solidFill>
                  <a:srgbClr val="000000"/>
                </a:solidFill>
                <a:latin typeface="Courier New" pitchFamily="34" charset="0"/>
                <a:ea typeface="Courier New" pitchFamily="34" charset="-122"/>
                <a:cs typeface="Courier New" pitchFamily="34" charset="-120"/>
              </a:rPr>
              <a:t>preflight (browser → server, server → browser)</a:t>
            </a:r>
            <a:endParaRPr lang="en-US" sz="1400" dirty="0"/>
          </a:p>
        </p:txBody>
      </p:sp>
      <p:sp>
        <p:nvSpPr>
          <p:cNvPr id="12" name="Text 9"/>
          <p:cNvSpPr txBox="1"/>
          <p:nvPr/>
        </p:nvSpPr>
        <p:spPr>
          <a:xfrm>
            <a:off x="230981" y="1820863"/>
            <a:ext cx="2926953" cy="203200"/>
          </a:xfrm>
          <a:prstGeom prst="rect">
            <a:avLst/>
          </a:prstGeom>
          <a:noFill/>
          <a:ln/>
        </p:spPr>
        <p:txBody>
          <a:bodyPr wrap="none" lIns="0" tIns="0" rIns="0" bIns="0" rtlCol="0" anchor="t"/>
          <a:lstStyle/>
          <a:p>
            <a:pPr algn="l" indent="0" marL="0">
              <a:buNone/>
            </a:pPr>
            <a:r>
              <a:rPr lang="en-US" sz="1400" b="1" dirty="0">
                <a:solidFill>
                  <a:srgbClr val="333399"/>
                </a:solidFill>
                <a:latin typeface="Courier New" pitchFamily="34" charset="0"/>
                <a:ea typeface="Courier New" pitchFamily="34" charset="-122"/>
                <a:cs typeface="Courier New" pitchFamily="34" charset="-120"/>
              </a:rPr>
              <a:t>OPTIONS</a:t>
            </a:r>
            <a:pPr algn="l" indent="0" marL="0">
              <a:buNone/>
            </a:pPr>
            <a:r>
              <a:rPr lang="en-US" sz="1400" b="1" dirty="0">
                <a:solidFill>
                  <a:srgbClr val="000000"/>
                </a:solidFill>
                <a:latin typeface="Courier New" pitchFamily="34" charset="0"/>
                <a:ea typeface="Courier New" pitchFamily="34" charset="-122"/>
                <a:cs typeface="Courier New" pitchFamily="34" charset="-120"/>
              </a:rPr>
              <a:t> /contacts </a:t>
            </a:r>
            <a:pPr algn="l" indent="0" marL="0">
              <a:buNone/>
            </a:pPr>
            <a:r>
              <a:rPr lang="en-US" sz="1400" b="1" dirty="0">
                <a:solidFill>
                  <a:srgbClr val="333399"/>
                </a:solidFill>
                <a:latin typeface="Courier New" pitchFamily="34" charset="0"/>
                <a:ea typeface="Courier New" pitchFamily="34" charset="-122"/>
                <a:cs typeface="Courier New" pitchFamily="34" charset="-120"/>
              </a:rPr>
              <a:t>HTTP</a:t>
            </a:r>
            <a:pPr algn="l" indent="0" marL="0">
              <a:buNone/>
            </a:pPr>
            <a:r>
              <a:rPr lang="en-US" sz="1400" b="1" dirty="0">
                <a:solidFill>
                  <a:srgbClr val="000000"/>
                </a:solidFill>
                <a:latin typeface="Courier New" pitchFamily="34" charset="0"/>
                <a:ea typeface="Courier New" pitchFamily="34" charset="-122"/>
                <a:cs typeface="Courier New" pitchFamily="34" charset="-120"/>
              </a:rPr>
              <a:t>/</a:t>
            </a:r>
            <a:pPr algn="l" indent="0" marL="0">
              <a:buNone/>
            </a:pPr>
            <a:r>
              <a:rPr lang="en-US" sz="1400" b="1" dirty="0">
                <a:solidFill>
                  <a:srgbClr val="CC6600"/>
                </a:solidFill>
                <a:latin typeface="Courier New" pitchFamily="34" charset="0"/>
                <a:ea typeface="Courier New" pitchFamily="34" charset="-122"/>
                <a:cs typeface="Courier New" pitchFamily="34" charset="-120"/>
              </a:rPr>
              <a:t>1.1</a:t>
            </a:r>
            <a:endParaRPr lang="en-US" sz="1400" dirty="0"/>
          </a:p>
        </p:txBody>
      </p:sp>
      <p:sp>
        <p:nvSpPr>
          <p:cNvPr id="13" name="Text 10"/>
          <p:cNvSpPr txBox="1"/>
          <p:nvPr/>
        </p:nvSpPr>
        <p:spPr>
          <a:xfrm>
            <a:off x="230981" y="2065337"/>
            <a:ext cx="1966516" cy="203200"/>
          </a:xfrm>
          <a:prstGeom prst="rect">
            <a:avLst/>
          </a:prstGeom>
          <a:noFill/>
          <a:ln/>
        </p:spPr>
        <p:txBody>
          <a:bodyPr wrap="none" lIns="0" tIns="0" rIns="0" bIns="0" rtlCol="0" anchor="t"/>
          <a:lstStyle/>
          <a:p>
            <a:pPr algn="l" indent="0" marL="0">
              <a:buNone/>
            </a:pPr>
            <a:r>
              <a:rPr lang="en-US" sz="1400" b="1" dirty="0">
                <a:solidFill>
                  <a:srgbClr val="993300"/>
                </a:solidFill>
                <a:latin typeface="Courier New" pitchFamily="34" charset="0"/>
                <a:ea typeface="Courier New" pitchFamily="34" charset="-122"/>
                <a:cs typeface="Courier New" pitchFamily="34" charset="-120"/>
              </a:rPr>
              <a:t>Host</a:t>
            </a:r>
            <a:pPr algn="l" indent="0" marL="0">
              <a:buNone/>
            </a:pPr>
            <a:r>
              <a:rPr lang="en-US" sz="1400" b="1" dirty="0">
                <a:solidFill>
                  <a:srgbClr val="333399"/>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api.example</a:t>
            </a:r>
            <a:endParaRPr lang="en-US" sz="1400" dirty="0"/>
          </a:p>
        </p:txBody>
      </p:sp>
      <p:sp>
        <p:nvSpPr>
          <p:cNvPr id="14" name="Text 11"/>
          <p:cNvSpPr txBox="1"/>
          <p:nvPr/>
        </p:nvSpPr>
        <p:spPr>
          <a:xfrm>
            <a:off x="230981" y="2309812"/>
            <a:ext cx="3033712" cy="203200"/>
          </a:xfrm>
          <a:prstGeom prst="rect">
            <a:avLst/>
          </a:prstGeom>
          <a:noFill/>
          <a:ln/>
        </p:spPr>
        <p:txBody>
          <a:bodyPr wrap="none" lIns="0" tIns="0" rIns="0" bIns="0" rtlCol="0" anchor="t"/>
          <a:lstStyle/>
          <a:p>
            <a:pPr algn="l" indent="0" marL="0">
              <a:buNone/>
            </a:pPr>
            <a:r>
              <a:rPr lang="en-US" sz="1400" b="1" dirty="0">
                <a:solidFill>
                  <a:srgbClr val="993300"/>
                </a:solidFill>
                <a:latin typeface="Courier New" pitchFamily="34" charset="0"/>
                <a:ea typeface="Courier New" pitchFamily="34" charset="-122"/>
                <a:cs typeface="Courier New" pitchFamily="34" charset="-120"/>
              </a:rPr>
              <a:t>Origin</a:t>
            </a:r>
            <a:pPr algn="l" indent="0" marL="0">
              <a:buNone/>
            </a:pPr>
            <a:r>
              <a:rPr lang="en-US" sz="1400" b="1" dirty="0">
                <a:solidFill>
                  <a:srgbClr val="333399"/>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https://app.example</a:t>
            </a:r>
            <a:endParaRPr lang="en-US" sz="1400" dirty="0"/>
          </a:p>
        </p:txBody>
      </p:sp>
      <p:sp>
        <p:nvSpPr>
          <p:cNvPr id="15" name="Shape 12"/>
          <p:cNvSpPr/>
          <p:nvPr/>
        </p:nvSpPr>
        <p:spPr>
          <a:xfrm>
            <a:off x="103981" y="2541588"/>
            <a:ext cx="6700837" cy="244475"/>
          </a:xfrm>
          <a:prstGeom prst="rect">
            <a:avLst/>
          </a:prstGeom>
          <a:solidFill>
            <a:srgbClr val="DAEDEF"/>
          </a:solidFill>
          <a:ln/>
        </p:spPr>
      </p:sp>
      <p:sp>
        <p:nvSpPr>
          <p:cNvPr id="16" name="Text 13"/>
          <p:cNvSpPr txBox="1"/>
          <p:nvPr/>
        </p:nvSpPr>
        <p:spPr>
          <a:xfrm>
            <a:off x="230981" y="2554288"/>
            <a:ext cx="3993753" cy="203200"/>
          </a:xfrm>
          <a:prstGeom prst="rect">
            <a:avLst/>
          </a:prstGeom>
          <a:noFill/>
          <a:ln/>
        </p:spPr>
        <p:txBody>
          <a:bodyPr wrap="none" lIns="0" tIns="0" rIns="0" bIns="0" rtlCol="0" anchor="t"/>
          <a:lstStyle/>
          <a:p>
            <a:pPr algn="l" indent="0" marL="0">
              <a:buNone/>
            </a:pPr>
            <a:r>
              <a:rPr lang="en-US" sz="1400" b="1" dirty="0">
                <a:solidFill>
                  <a:srgbClr val="993300"/>
                </a:solidFill>
                <a:latin typeface="Courier New" pitchFamily="34" charset="0"/>
                <a:ea typeface="Courier New" pitchFamily="34" charset="-122"/>
                <a:cs typeface="Courier New" pitchFamily="34" charset="-120"/>
              </a:rPr>
              <a:t>Access-Control-Request-Method</a:t>
            </a:r>
            <a:pPr algn="l" indent="0" marL="0">
              <a:buNone/>
            </a:pPr>
            <a:r>
              <a:rPr lang="en-US" sz="1400" b="1" dirty="0">
                <a:solidFill>
                  <a:srgbClr val="333399"/>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QUERY</a:t>
            </a:r>
            <a:endParaRPr lang="en-US" sz="1400" dirty="0"/>
          </a:p>
        </p:txBody>
      </p:sp>
      <p:sp>
        <p:nvSpPr>
          <p:cNvPr id="17" name="Text 14"/>
          <p:cNvSpPr txBox="1"/>
          <p:nvPr/>
        </p:nvSpPr>
        <p:spPr>
          <a:xfrm>
            <a:off x="230981" y="2798763"/>
            <a:ext cx="4847431" cy="203200"/>
          </a:xfrm>
          <a:prstGeom prst="rect">
            <a:avLst/>
          </a:prstGeom>
          <a:noFill/>
          <a:ln/>
        </p:spPr>
        <p:txBody>
          <a:bodyPr wrap="none" lIns="0" tIns="0" rIns="0" bIns="0" rtlCol="0" anchor="t"/>
          <a:lstStyle/>
          <a:p>
            <a:pPr algn="l" indent="0" marL="0">
              <a:buNone/>
            </a:pPr>
            <a:r>
              <a:rPr lang="en-US" sz="1400" b="1" dirty="0">
                <a:solidFill>
                  <a:srgbClr val="993300"/>
                </a:solidFill>
                <a:latin typeface="Courier New" pitchFamily="34" charset="0"/>
                <a:ea typeface="Courier New" pitchFamily="34" charset="-122"/>
                <a:cs typeface="Courier New" pitchFamily="34" charset="-120"/>
              </a:rPr>
              <a:t>Access-Control-Request-Headers</a:t>
            </a:r>
            <a:pPr algn="l" indent="0" marL="0">
              <a:buNone/>
            </a:pPr>
            <a:r>
              <a:rPr lang="en-US" sz="1400" b="1" dirty="0">
                <a:solidFill>
                  <a:srgbClr val="333399"/>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content-type</a:t>
            </a:r>
            <a:endParaRPr lang="en-US" sz="1400" dirty="0"/>
          </a:p>
        </p:txBody>
      </p:sp>
      <p:sp>
        <p:nvSpPr>
          <p:cNvPr id="18" name="Text 15"/>
          <p:cNvSpPr txBox="1"/>
          <p:nvPr/>
        </p:nvSpPr>
        <p:spPr>
          <a:xfrm>
            <a:off x="230981" y="3287712"/>
            <a:ext cx="2607072" cy="203200"/>
          </a:xfrm>
          <a:prstGeom prst="rect">
            <a:avLst/>
          </a:prstGeom>
          <a:noFill/>
          <a:ln/>
        </p:spPr>
        <p:txBody>
          <a:bodyPr wrap="none" lIns="0" tIns="0" rIns="0" bIns="0" rtlCol="0" anchor="t"/>
          <a:lstStyle/>
          <a:p>
            <a:pPr algn="l" indent="0" marL="0">
              <a:buNone/>
            </a:pPr>
            <a:r>
              <a:rPr lang="en-US" sz="1400" b="1" dirty="0">
                <a:solidFill>
                  <a:srgbClr val="333399"/>
                </a:solidFill>
                <a:latin typeface="Courier New" pitchFamily="34" charset="0"/>
                <a:ea typeface="Courier New" pitchFamily="34" charset="-122"/>
                <a:cs typeface="Courier New" pitchFamily="34" charset="-120"/>
              </a:rPr>
              <a:t>HTTP</a:t>
            </a:r>
            <a:pPr algn="l" indent="0" marL="0">
              <a:buNone/>
            </a:pPr>
            <a:r>
              <a:rPr lang="en-US" sz="1400" b="1" dirty="0">
                <a:solidFill>
                  <a:srgbClr val="000000"/>
                </a:solidFill>
                <a:latin typeface="Courier New" pitchFamily="34" charset="0"/>
                <a:ea typeface="Courier New" pitchFamily="34" charset="-122"/>
                <a:cs typeface="Courier New" pitchFamily="34" charset="-120"/>
              </a:rPr>
              <a:t>/</a:t>
            </a:r>
            <a:pPr algn="l" indent="0" marL="0">
              <a:buNone/>
            </a:pPr>
            <a:r>
              <a:rPr lang="en-US" sz="1400" b="1" dirty="0">
                <a:solidFill>
                  <a:srgbClr val="CC6600"/>
                </a:solidFill>
                <a:latin typeface="Courier New" pitchFamily="34" charset="0"/>
                <a:ea typeface="Courier New" pitchFamily="34" charset="-122"/>
                <a:cs typeface="Courier New" pitchFamily="34" charset="-120"/>
              </a:rPr>
              <a:t>1.1</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CC6600"/>
                </a:solidFill>
                <a:latin typeface="Courier New" pitchFamily="34" charset="0"/>
                <a:ea typeface="Courier New" pitchFamily="34" charset="-122"/>
                <a:cs typeface="Courier New" pitchFamily="34" charset="-120"/>
              </a:rPr>
              <a:t>204</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No Content</a:t>
            </a:r>
            <a:endParaRPr lang="en-US" sz="1400" dirty="0"/>
          </a:p>
        </p:txBody>
      </p:sp>
      <p:sp>
        <p:nvSpPr>
          <p:cNvPr id="19" name="Text 16"/>
          <p:cNvSpPr txBox="1"/>
          <p:nvPr/>
        </p:nvSpPr>
        <p:spPr>
          <a:xfrm>
            <a:off x="230981" y="3532188"/>
            <a:ext cx="5274271" cy="203200"/>
          </a:xfrm>
          <a:prstGeom prst="rect">
            <a:avLst/>
          </a:prstGeom>
          <a:noFill/>
          <a:ln/>
        </p:spPr>
        <p:txBody>
          <a:bodyPr wrap="none" lIns="0" tIns="0" rIns="0" bIns="0" rtlCol="0" anchor="t"/>
          <a:lstStyle/>
          <a:p>
            <a:pPr algn="l" indent="0" marL="0">
              <a:buNone/>
            </a:pPr>
            <a:r>
              <a:rPr lang="en-US" sz="1400" b="1" dirty="0">
                <a:solidFill>
                  <a:srgbClr val="993300"/>
                </a:solidFill>
                <a:latin typeface="Courier New" pitchFamily="34" charset="0"/>
                <a:ea typeface="Courier New" pitchFamily="34" charset="-122"/>
                <a:cs typeface="Courier New" pitchFamily="34" charset="-120"/>
              </a:rPr>
              <a:t>Access-Control-Allow-Origin</a:t>
            </a:r>
            <a:pPr algn="l" indent="0" marL="0">
              <a:buNone/>
            </a:pPr>
            <a:r>
              <a:rPr lang="en-US" sz="1400" b="1" dirty="0">
                <a:solidFill>
                  <a:srgbClr val="333399"/>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https://app.example</a:t>
            </a:r>
            <a:endParaRPr lang="en-US" sz="1400" dirty="0"/>
          </a:p>
        </p:txBody>
      </p:sp>
      <p:sp>
        <p:nvSpPr>
          <p:cNvPr id="20" name="Shape 17"/>
          <p:cNvSpPr/>
          <p:nvPr/>
        </p:nvSpPr>
        <p:spPr>
          <a:xfrm>
            <a:off x="103981" y="3763963"/>
            <a:ext cx="6700837" cy="244475"/>
          </a:xfrm>
          <a:prstGeom prst="rect">
            <a:avLst/>
          </a:prstGeom>
          <a:solidFill>
            <a:srgbClr val="DAEDEF"/>
          </a:solidFill>
          <a:ln/>
        </p:spPr>
      </p:sp>
      <p:sp>
        <p:nvSpPr>
          <p:cNvPr id="21" name="Text 18"/>
          <p:cNvSpPr txBox="1"/>
          <p:nvPr/>
        </p:nvSpPr>
        <p:spPr>
          <a:xfrm>
            <a:off x="230981" y="3776663"/>
            <a:ext cx="3887192" cy="203200"/>
          </a:xfrm>
          <a:prstGeom prst="rect">
            <a:avLst/>
          </a:prstGeom>
          <a:noFill/>
          <a:ln/>
        </p:spPr>
        <p:txBody>
          <a:bodyPr wrap="none" lIns="0" tIns="0" rIns="0" bIns="0" rtlCol="0" anchor="t"/>
          <a:lstStyle/>
          <a:p>
            <a:pPr algn="l" indent="0" marL="0">
              <a:buNone/>
            </a:pPr>
            <a:r>
              <a:rPr lang="en-US" sz="1400" b="1" dirty="0">
                <a:solidFill>
                  <a:srgbClr val="993300"/>
                </a:solidFill>
                <a:latin typeface="Courier New" pitchFamily="34" charset="0"/>
                <a:ea typeface="Courier New" pitchFamily="34" charset="-122"/>
                <a:cs typeface="Courier New" pitchFamily="34" charset="-120"/>
              </a:rPr>
              <a:t>Access-Control-Allow-Methods</a:t>
            </a:r>
            <a:pPr algn="l" indent="0" marL="0">
              <a:buNone/>
            </a:pPr>
            <a:r>
              <a:rPr lang="en-US" sz="1400" b="1" dirty="0">
                <a:solidFill>
                  <a:srgbClr val="333399"/>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QUERY</a:t>
            </a:r>
            <a:endParaRPr lang="en-US" sz="1400" dirty="0"/>
          </a:p>
        </p:txBody>
      </p:sp>
      <p:sp>
        <p:nvSpPr>
          <p:cNvPr id="22" name="Text 19"/>
          <p:cNvSpPr txBox="1"/>
          <p:nvPr/>
        </p:nvSpPr>
        <p:spPr>
          <a:xfrm>
            <a:off x="230981" y="4021137"/>
            <a:ext cx="4634111" cy="203200"/>
          </a:xfrm>
          <a:prstGeom prst="rect">
            <a:avLst/>
          </a:prstGeom>
          <a:noFill/>
          <a:ln/>
        </p:spPr>
        <p:txBody>
          <a:bodyPr wrap="none" lIns="0" tIns="0" rIns="0" bIns="0" rtlCol="0" anchor="t"/>
          <a:lstStyle/>
          <a:p>
            <a:pPr algn="l" indent="0" marL="0">
              <a:buNone/>
            </a:pPr>
            <a:r>
              <a:rPr lang="en-US" sz="1400" b="1" dirty="0">
                <a:solidFill>
                  <a:srgbClr val="993300"/>
                </a:solidFill>
                <a:latin typeface="Courier New" pitchFamily="34" charset="0"/>
                <a:ea typeface="Courier New" pitchFamily="34" charset="-122"/>
                <a:cs typeface="Courier New" pitchFamily="34" charset="-120"/>
              </a:rPr>
              <a:t>Access-Control-Allow-Headers</a:t>
            </a:r>
            <a:pPr algn="l" indent="0" marL="0">
              <a:buNone/>
            </a:pPr>
            <a:r>
              <a:rPr lang="en-US" sz="1400" b="1" dirty="0">
                <a:solidFill>
                  <a:srgbClr val="333399"/>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content-type</a:t>
            </a:r>
            <a:endParaRPr lang="en-US" sz="1400" dirty="0"/>
          </a:p>
        </p:txBody>
      </p:sp>
      <p:sp>
        <p:nvSpPr>
          <p:cNvPr id="23" name="Shape 20"/>
          <p:cNvSpPr/>
          <p:nvPr/>
        </p:nvSpPr>
        <p:spPr>
          <a:xfrm>
            <a:off x="103981" y="4252912"/>
            <a:ext cx="6700837" cy="244475"/>
          </a:xfrm>
          <a:prstGeom prst="rect">
            <a:avLst/>
          </a:prstGeom>
          <a:solidFill>
            <a:srgbClr val="DAEDEF"/>
          </a:solidFill>
          <a:ln/>
        </p:spPr>
      </p:sp>
      <p:sp>
        <p:nvSpPr>
          <p:cNvPr id="24" name="Text 21"/>
          <p:cNvSpPr txBox="1"/>
          <p:nvPr/>
        </p:nvSpPr>
        <p:spPr>
          <a:xfrm>
            <a:off x="230981" y="4265612"/>
            <a:ext cx="6234311" cy="203200"/>
          </a:xfrm>
          <a:prstGeom prst="rect">
            <a:avLst/>
          </a:prstGeom>
          <a:noFill/>
          <a:ln/>
        </p:spPr>
        <p:txBody>
          <a:bodyPr wrap="none" lIns="0" tIns="0" rIns="0" bIns="0" rtlCol="0" anchor="t"/>
          <a:lstStyle/>
          <a:p>
            <a:pPr algn="l" indent="0" marL="0">
              <a:buNone/>
            </a:pPr>
            <a:r>
              <a:rPr lang="en-US" sz="1400" b="1" dirty="0">
                <a:solidFill>
                  <a:srgbClr val="993300"/>
                </a:solidFill>
                <a:latin typeface="Courier New" pitchFamily="34" charset="0"/>
                <a:ea typeface="Courier New" pitchFamily="34" charset="-122"/>
                <a:cs typeface="Courier New" pitchFamily="34" charset="-120"/>
              </a:rPr>
              <a:t>Access-Control-Expose-Headers</a:t>
            </a:r>
            <a:pPr algn="l" indent="0" marL="0">
              <a:buNone/>
            </a:pPr>
            <a:r>
              <a:rPr lang="en-US" sz="1400" b="1" dirty="0">
                <a:solidFill>
                  <a:srgbClr val="333399"/>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Location, Content-Location</a:t>
            </a:r>
            <a:endParaRPr lang="en-US" sz="1400" dirty="0"/>
          </a:p>
        </p:txBody>
      </p:sp>
      <p:sp>
        <p:nvSpPr>
          <p:cNvPr id="25" name="Text 22"/>
          <p:cNvSpPr txBox="1"/>
          <p:nvPr/>
        </p:nvSpPr>
        <p:spPr>
          <a:xfrm>
            <a:off x="230981" y="4510088"/>
            <a:ext cx="3033712" cy="203200"/>
          </a:xfrm>
          <a:prstGeom prst="rect">
            <a:avLst/>
          </a:prstGeom>
          <a:noFill/>
          <a:ln/>
        </p:spPr>
        <p:txBody>
          <a:bodyPr wrap="none" lIns="0" tIns="0" rIns="0" bIns="0" rtlCol="0" anchor="t"/>
          <a:lstStyle/>
          <a:p>
            <a:pPr algn="l" indent="0" marL="0">
              <a:buNone/>
            </a:pPr>
            <a:r>
              <a:rPr lang="en-US" sz="1400" b="1" dirty="0">
                <a:solidFill>
                  <a:srgbClr val="993300"/>
                </a:solidFill>
                <a:latin typeface="Courier New" pitchFamily="34" charset="0"/>
                <a:ea typeface="Courier New" pitchFamily="34" charset="-122"/>
                <a:cs typeface="Courier New" pitchFamily="34" charset="-120"/>
              </a:rPr>
              <a:t>Access-Control-Max-Age</a:t>
            </a:r>
            <a:pPr algn="l" indent="0" marL="0">
              <a:buNone/>
            </a:pPr>
            <a:r>
              <a:rPr lang="en-US" sz="1400" b="1" dirty="0">
                <a:solidFill>
                  <a:srgbClr val="333399"/>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600</a:t>
            </a:r>
            <a:endParaRPr lang="en-US" sz="1400" dirty="0"/>
          </a:p>
        </p:txBody>
      </p:sp>
      <p:sp>
        <p:nvSpPr>
          <p:cNvPr id="26" name="Text 23"/>
          <p:cNvSpPr txBox="1"/>
          <p:nvPr/>
        </p:nvSpPr>
        <p:spPr>
          <a:xfrm>
            <a:off x="230981" y="4754563"/>
            <a:ext cx="1433116" cy="203200"/>
          </a:xfrm>
          <a:prstGeom prst="rect">
            <a:avLst/>
          </a:prstGeom>
          <a:noFill/>
          <a:ln/>
        </p:spPr>
        <p:txBody>
          <a:bodyPr wrap="none" lIns="0" tIns="0" rIns="0" bIns="0" rtlCol="0" anchor="t"/>
          <a:lstStyle/>
          <a:p>
            <a:pPr algn="l" indent="0" marL="0">
              <a:buNone/>
            </a:pPr>
            <a:r>
              <a:rPr lang="en-US" sz="1400" b="1" dirty="0">
                <a:solidFill>
                  <a:srgbClr val="993300"/>
                </a:solidFill>
                <a:latin typeface="Courier New" pitchFamily="34" charset="0"/>
                <a:ea typeface="Courier New" pitchFamily="34" charset="-122"/>
                <a:cs typeface="Courier New" pitchFamily="34" charset="-120"/>
              </a:rPr>
              <a:t>Vary</a:t>
            </a:r>
            <a:pPr algn="l" indent="0" marL="0">
              <a:buNone/>
            </a:pPr>
            <a:r>
              <a:rPr lang="en-US" sz="1400" b="1" dirty="0">
                <a:solidFill>
                  <a:srgbClr val="333399"/>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Origin</a:t>
            </a:r>
            <a:endParaRPr lang="en-US" sz="1400" dirty="0"/>
          </a:p>
        </p:txBody>
      </p:sp>
      <p:sp>
        <p:nvSpPr>
          <p:cNvPr id="27" name="Text 24"/>
          <p:cNvSpPr txBox="1"/>
          <p:nvPr/>
        </p:nvSpPr>
        <p:spPr>
          <a:xfrm>
            <a:off x="7071519" y="1361281"/>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8" name="Text 25"/>
          <p:cNvSpPr txBox="1"/>
          <p:nvPr/>
        </p:nvSpPr>
        <p:spPr>
          <a:xfrm>
            <a:off x="7414419" y="1348581"/>
            <a:ext cx="4508500" cy="802481"/>
          </a:xfrm>
          <a:prstGeom prst="rect">
            <a:avLst/>
          </a:prstGeom>
          <a:noFill/>
          <a:ln/>
        </p:spPr>
        <p:txBody>
          <a:bodyPr wrap="square" lIns="0" tIns="0" rIns="0" bIns="0" rtlCol="0" anchor="t"/>
          <a:lstStyle/>
          <a:p>
            <a:pPr algn="l" indent="0" marL="0">
              <a:lnSpc>
                <a:spcPts val="2760"/>
              </a:lnSpc>
              <a:buNone/>
            </a:pPr>
            <a:r>
              <a:rPr lang="en-US" sz="1800" dirty="0">
                <a:solidFill>
                  <a:srgbClr val="000000"/>
                </a:solidFill>
                <a:latin typeface="Calibri" pitchFamily="34" charset="0"/>
                <a:ea typeface="Calibri" pitchFamily="34" charset="-122"/>
                <a:cs typeface="Calibri" pitchFamily="34" charset="-120"/>
              </a:rPr>
              <a:t>A cross-origin QUERY </a:t>
            </a:r>
            <a:pPr algn="l" indent="0" marL="0">
              <a:lnSpc>
                <a:spcPts val="2760"/>
              </a:lnSpc>
              <a:buNone/>
            </a:pPr>
            <a:r>
              <a:rPr lang="en-US" sz="1800" b="1" dirty="0">
                <a:solidFill>
                  <a:srgbClr val="000000"/>
                </a:solidFill>
                <a:latin typeface="Calibri" pitchFamily="34" charset="0"/>
                <a:ea typeface="Calibri" pitchFamily="34" charset="-122"/>
                <a:cs typeface="Calibri" pitchFamily="34" charset="-120"/>
              </a:rPr>
              <a:t>always</a:t>
            </a:r>
            <a:pPr algn="l" indent="0" marL="0">
              <a:lnSpc>
                <a:spcPts val="2760"/>
              </a:lnSpc>
              <a:buNone/>
            </a:pPr>
            <a:r>
              <a:rPr lang="en-US" sz="1800" dirty="0">
                <a:solidFill>
                  <a:srgbClr val="000000"/>
                </a:solidFill>
                <a:latin typeface="Calibri" pitchFamily="34" charset="0"/>
                <a:ea typeface="Calibri" pitchFamily="34" charset="-122"/>
                <a:cs typeface="Calibri" pitchFamily="34" charset="-120"/>
              </a:rPr>
              <a:t> has a preflight. Only GET, HEAD and POST are CORS-safelisted </a:t>
            </a:r>
            <a:pPr algn="l" indent="0" marL="0">
              <a:lnSpc>
                <a:spcPts val="2760"/>
              </a:lnSpc>
              <a:buNone/>
            </a:pPr>
            <a:r>
              <a:rPr lang="en-US" sz="1116" u="sng" dirty="0">
                <a:solidFill>
                  <a:srgbClr val="59595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[Fetch] </a:t>
            </a:r>
            <a:pPr algn="l" indent="0" marL="0">
              <a:lnSpc>
                <a:spcPts val="2760"/>
              </a:lnSpc>
              <a:buNone/>
            </a:pPr>
            <a:r>
              <a:rPr lang="en-US" sz="1116" u="sng" dirty="0">
                <a:solidFill>
                  <a:srgbClr val="59595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10008 §4]</a:t>
            </a:r>
            <a:endParaRPr lang="en-US" sz="1800" dirty="0"/>
          </a:p>
        </p:txBody>
      </p:sp>
      <p:sp>
        <p:nvSpPr>
          <p:cNvPr id="29" name="Text 26"/>
          <p:cNvSpPr txBox="1"/>
          <p:nvPr/>
        </p:nvSpPr>
        <p:spPr>
          <a:xfrm>
            <a:off x="7071519" y="2272903"/>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0" name="Text 27"/>
          <p:cNvSpPr txBox="1"/>
          <p:nvPr/>
        </p:nvSpPr>
        <p:spPr>
          <a:xfrm>
            <a:off x="7414419" y="2260203"/>
            <a:ext cx="4581767" cy="553640"/>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Same-origin requests, curl and service calls have no preflight</a:t>
            </a:r>
            <a:endParaRPr lang="en-US" sz="1800" dirty="0"/>
          </a:p>
        </p:txBody>
      </p:sp>
      <p:sp>
        <p:nvSpPr>
          <p:cNvPr id="31" name="Text 28"/>
          <p:cNvSpPr txBox="1"/>
          <p:nvPr/>
        </p:nvSpPr>
        <p:spPr>
          <a:xfrm>
            <a:off x="7071519" y="2910284"/>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2" name="Shape 29"/>
          <p:cNvSpPr/>
          <p:nvPr/>
        </p:nvSpPr>
        <p:spPr>
          <a:xfrm>
            <a:off x="7414419" y="3197225"/>
            <a:ext cx="1010643" cy="266700"/>
          </a:xfrm>
          <a:prstGeom prst="rect">
            <a:avLst/>
          </a:prstGeom>
          <a:solidFill>
            <a:srgbClr val="FFFFFF"/>
          </a:solidFill>
          <a:ln w="12700">
            <a:solidFill>
              <a:srgbClr val="333399"/>
            </a:solidFill>
            <a:prstDash val="solid"/>
          </a:ln>
        </p:spPr>
      </p:sp>
      <p:sp>
        <p:nvSpPr>
          <p:cNvPr id="33" name="Text 30"/>
          <p:cNvSpPr txBox="1"/>
          <p:nvPr/>
        </p:nvSpPr>
        <p:spPr>
          <a:xfrm>
            <a:off x="7414419" y="2897584"/>
            <a:ext cx="4508500" cy="831453"/>
          </a:xfrm>
          <a:prstGeom prst="rect">
            <a:avLst/>
          </a:prstGeom>
          <a:noFill/>
          <a:ln/>
        </p:spPr>
        <p:txBody>
          <a:bodyPr wrap="square" lIns="0" tIns="0" rIns="0" bIns="0" rtlCol="0" anchor="t"/>
          <a:lstStyle/>
          <a:p>
            <a:pPr algn="l" indent="0" marL="0">
              <a:lnSpc>
                <a:spcPts val="2188"/>
              </a:lnSpc>
              <a:buNone/>
            </a:pPr>
            <a:r>
              <a:rPr lang="en-US" sz="1800" dirty="0">
                <a:solidFill>
                  <a:srgbClr val="000000"/>
                </a:solidFill>
                <a:latin typeface="Calibri" pitchFamily="34" charset="0"/>
                <a:ea typeface="Calibri" pitchFamily="34" charset="-122"/>
                <a:cs typeface="Calibri" pitchFamily="34" charset="-120"/>
              </a:rPr>
              <a:t>HTML forms send only GET or POST, and </a:t>
            </a:r>
            <a:pPr algn="l" indent="0" marL="0">
              <a:lnSpc>
                <a:spcPts val="2188"/>
              </a:lnSpc>
              <a:buNone/>
            </a:pPr>
            <a:r>
              <a:rPr lang="en-US" sz="1656" b="1" dirty="0">
                <a:solidFill>
                  <a:srgbClr val="000000"/>
                </a:solidFill>
                <a:latin typeface="Courier New" pitchFamily="34" charset="0"/>
                <a:ea typeface="Courier New" pitchFamily="34" charset="-122"/>
                <a:cs typeface="Courier New" pitchFamily="34" charset="-120"/>
              </a:rPr>
              <a:t>no-cors</a:t>
            </a:r>
            <a:pPr algn="l" indent="0" marL="0">
              <a:lnSpc>
                <a:spcPts val="2188"/>
              </a:lnSpc>
              <a:buNone/>
            </a:pPr>
            <a:r>
              <a:rPr lang="en-US" sz="1800" dirty="0">
                <a:solidFill>
                  <a:srgbClr val="000000"/>
                </a:solidFill>
                <a:latin typeface="Calibri" pitchFamily="34" charset="0"/>
                <a:ea typeface="Calibri" pitchFamily="34" charset="-122"/>
                <a:cs typeface="Calibri" pitchFamily="34" charset="-120"/>
              </a:rPr>
              <a:t> rejects QUERY. Another site cannot send it </a:t>
            </a:r>
            <a:pPr algn="l" indent="0" marL="0">
              <a:lnSpc>
                <a:spcPts val="2188"/>
              </a:lnSpc>
              <a:buNone/>
            </a:pPr>
            <a:r>
              <a:rPr lang="en-US" sz="1800" b="1" dirty="0">
                <a:solidFill>
                  <a:srgbClr val="000000"/>
                </a:solidFill>
                <a:latin typeface="Calibri" pitchFamily="34" charset="0"/>
                <a:ea typeface="Calibri" pitchFamily="34" charset="-122"/>
                <a:cs typeface="Calibri" pitchFamily="34" charset="-120"/>
              </a:rPr>
              <a:t>without server permission</a:t>
            </a:r>
            <a:endParaRPr lang="en-US" sz="1800" dirty="0"/>
          </a:p>
        </p:txBody>
      </p:sp>
      <p:sp>
        <p:nvSpPr>
          <p:cNvPr id="34" name="Text 31"/>
          <p:cNvSpPr txBox="1"/>
          <p:nvPr/>
        </p:nvSpPr>
        <p:spPr>
          <a:xfrm>
            <a:off x="7071519" y="3825479"/>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5" name="Shape 32"/>
          <p:cNvSpPr/>
          <p:nvPr/>
        </p:nvSpPr>
        <p:spPr>
          <a:xfrm>
            <a:off x="9231511" y="3838179"/>
            <a:ext cx="1136848" cy="266700"/>
          </a:xfrm>
          <a:prstGeom prst="rect">
            <a:avLst/>
          </a:prstGeom>
          <a:solidFill>
            <a:srgbClr val="FFFFFF"/>
          </a:solidFill>
          <a:ln w="12700">
            <a:solidFill>
              <a:srgbClr val="333399"/>
            </a:solidFill>
            <a:prstDash val="solid"/>
          </a:ln>
        </p:spPr>
      </p:sp>
      <p:sp>
        <p:nvSpPr>
          <p:cNvPr id="36" name="Text 33"/>
          <p:cNvSpPr txBox="1"/>
          <p:nvPr/>
        </p:nvSpPr>
        <p:spPr>
          <a:xfrm>
            <a:off x="7414419" y="3812779"/>
            <a:ext cx="4508500" cy="557212"/>
          </a:xfrm>
          <a:prstGeom prst="rect">
            <a:avLst/>
          </a:prstGeom>
          <a:noFill/>
          <a:ln/>
        </p:spPr>
        <p:txBody>
          <a:bodyPr wrap="square" lIns="0" tIns="0" rIns="0" bIns="0" rtlCol="0" anchor="t"/>
          <a:lstStyle/>
          <a:p>
            <a:pPr algn="l" indent="0" marL="0">
              <a:lnSpc>
                <a:spcPts val="2188"/>
              </a:lnSpc>
              <a:buNone/>
            </a:pPr>
            <a:r>
              <a:rPr lang="en-US" sz="1800" dirty="0">
                <a:solidFill>
                  <a:srgbClr val="000000"/>
                </a:solidFill>
                <a:latin typeface="Calibri" pitchFamily="34" charset="0"/>
                <a:ea typeface="Calibri" pitchFamily="34" charset="-122"/>
                <a:cs typeface="Calibri" pitchFamily="34" charset="-120"/>
              </a:rPr>
              <a:t>JavaScript can read </a:t>
            </a:r>
            <a:pPr algn="l" indent="0" marL="0">
              <a:lnSpc>
                <a:spcPts val="2188"/>
              </a:lnSpc>
              <a:buNone/>
            </a:pPr>
            <a:r>
              <a:rPr lang="en-US" sz="1656" b="1" dirty="0">
                <a:solidFill>
                  <a:srgbClr val="000000"/>
                </a:solidFill>
                <a:latin typeface="Courier New" pitchFamily="34" charset="0"/>
                <a:ea typeface="Courier New" pitchFamily="34" charset="-122"/>
                <a:cs typeface="Courier New" pitchFamily="34" charset="-120"/>
              </a:rPr>
              <a:t>Location</a:t>
            </a:r>
            <a:pPr algn="l" indent="0" marL="0">
              <a:lnSpc>
                <a:spcPts val="2188"/>
              </a:lnSpc>
              <a:buNone/>
            </a:pPr>
            <a:r>
              <a:rPr lang="en-US" sz="1800" dirty="0">
                <a:solidFill>
                  <a:srgbClr val="000000"/>
                </a:solidFill>
                <a:latin typeface="Calibri" pitchFamily="34" charset="0"/>
                <a:ea typeface="Calibri" pitchFamily="34" charset="-122"/>
                <a:cs typeface="Calibri" pitchFamily="34" charset="-120"/>
              </a:rPr>
              <a:t> only if the server exposes it (line 11)</a:t>
            </a:r>
            <a:endParaRPr lang="en-US" sz="1800" dirty="0"/>
          </a:p>
        </p:txBody>
      </p:sp>
      <p:sp>
        <p:nvSpPr>
          <p:cNvPr id="37" name="Text 34"/>
          <p:cNvSpPr txBox="1"/>
          <p:nvPr/>
        </p:nvSpPr>
        <p:spPr>
          <a:xfrm>
            <a:off x="7071519" y="4466431"/>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8" name="Text 35"/>
          <p:cNvSpPr txBox="1"/>
          <p:nvPr/>
        </p:nvSpPr>
        <p:spPr>
          <a:xfrm>
            <a:off x="7414419" y="4453731"/>
            <a:ext cx="4508500" cy="553640"/>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A permissive policy with credentials can still leak results </a:t>
            </a:r>
            <a:pPr algn="l" indent="0" marL="0">
              <a:lnSpc>
                <a:spcPts val="2160"/>
              </a:lnSpc>
              <a:buNone/>
            </a:pPr>
            <a:r>
              <a:rPr lang="en-US" sz="1116" u="sng" dirty="0">
                <a:solidFill>
                  <a:srgbClr val="59595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[Chen et al., 2018]</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22</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4296767"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Sign a QUERY request (RFC 9421)</a:t>
            </a:r>
            <a:endParaRPr lang="en-US" sz="2400" dirty="0"/>
          </a:p>
        </p:txBody>
      </p:sp>
      <p:sp>
        <p:nvSpPr>
          <p:cNvPr id="10" name="Shape 7"/>
          <p:cNvSpPr/>
          <p:nvPr/>
        </p:nvSpPr>
        <p:spPr>
          <a:xfrm>
            <a:off x="91281" y="1361281"/>
            <a:ext cx="11806237" cy="2785269"/>
          </a:xfrm>
          <a:prstGeom prst="rect">
            <a:avLst/>
          </a:prstGeom>
          <a:noFill/>
          <a:ln w="12700">
            <a:solidFill>
              <a:srgbClr val="333399"/>
            </a:solidFill>
            <a:prstDash val="solid"/>
          </a:ln>
        </p:spPr>
      </p:sp>
      <p:sp>
        <p:nvSpPr>
          <p:cNvPr id="11" name="Text 8"/>
          <p:cNvSpPr txBox="1"/>
          <p:nvPr/>
        </p:nvSpPr>
        <p:spPr>
          <a:xfrm>
            <a:off x="230981" y="1513681"/>
            <a:ext cx="5700712" cy="203200"/>
          </a:xfrm>
          <a:prstGeom prst="rect">
            <a:avLst/>
          </a:prstGeom>
          <a:noFill/>
          <a:ln/>
        </p:spPr>
        <p:txBody>
          <a:bodyPr wrap="none" lIns="0" tIns="0" rIns="0" bIns="0" rtlCol="0" anchor="t"/>
          <a:lstStyle/>
          <a:p>
            <a:pPr algn="l" indent="0" marL="0">
              <a:buNone/>
            </a:pPr>
            <a:r>
              <a:rPr lang="en-US" sz="1400" dirty="0">
                <a:solidFill>
                  <a:srgbClr val="000000"/>
                </a:solidFill>
                <a:latin typeface="Courier New" pitchFamily="34" charset="0"/>
                <a:ea typeface="Courier New" pitchFamily="34" charset="-122"/>
                <a:cs typeface="Courier New" pitchFamily="34" charset="-120"/>
              </a:rPr>
              <a:t>signed request (Content-Digest of the content shown)</a:t>
            </a:r>
            <a:endParaRPr lang="en-US" sz="1400" dirty="0"/>
          </a:p>
        </p:txBody>
      </p:sp>
      <p:sp>
        <p:nvSpPr>
          <p:cNvPr id="12" name="Text 9"/>
          <p:cNvSpPr txBox="1"/>
          <p:nvPr/>
        </p:nvSpPr>
        <p:spPr>
          <a:xfrm>
            <a:off x="230981" y="1820863"/>
            <a:ext cx="2713633" cy="203200"/>
          </a:xfrm>
          <a:prstGeom prst="rect">
            <a:avLst/>
          </a:prstGeom>
          <a:noFill/>
          <a:ln/>
        </p:spPr>
        <p:txBody>
          <a:bodyPr wrap="none" lIns="0" tIns="0" rIns="0" bIns="0" rtlCol="0" anchor="t"/>
          <a:lstStyle/>
          <a:p>
            <a:pPr algn="l" indent="0" marL="0">
              <a:buNone/>
            </a:pPr>
            <a:r>
              <a:rPr lang="en-US" sz="1400" b="1" dirty="0">
                <a:solidFill>
                  <a:srgbClr val="333399"/>
                </a:solidFill>
                <a:latin typeface="Courier New" pitchFamily="34" charset="0"/>
                <a:ea typeface="Courier New" pitchFamily="34" charset="-122"/>
                <a:cs typeface="Courier New" pitchFamily="34" charset="-120"/>
              </a:rPr>
              <a:t>QUERY</a:t>
            </a:r>
            <a:pPr algn="l" indent="0" marL="0">
              <a:buNone/>
            </a:pPr>
            <a:r>
              <a:rPr lang="en-US" sz="1400" b="1" dirty="0">
                <a:solidFill>
                  <a:srgbClr val="000000"/>
                </a:solidFill>
                <a:latin typeface="Courier New" pitchFamily="34" charset="0"/>
                <a:ea typeface="Courier New" pitchFamily="34" charset="-122"/>
                <a:cs typeface="Courier New" pitchFamily="34" charset="-120"/>
              </a:rPr>
              <a:t> /contacts </a:t>
            </a:r>
            <a:pPr algn="l" indent="0" marL="0">
              <a:buNone/>
            </a:pPr>
            <a:r>
              <a:rPr lang="en-US" sz="1400" b="1" dirty="0">
                <a:solidFill>
                  <a:srgbClr val="333399"/>
                </a:solidFill>
                <a:latin typeface="Courier New" pitchFamily="34" charset="0"/>
                <a:ea typeface="Courier New" pitchFamily="34" charset="-122"/>
                <a:cs typeface="Courier New" pitchFamily="34" charset="-120"/>
              </a:rPr>
              <a:t>HTTP</a:t>
            </a:r>
            <a:pPr algn="l" indent="0" marL="0">
              <a:buNone/>
            </a:pPr>
            <a:r>
              <a:rPr lang="en-US" sz="1400" b="1" dirty="0">
                <a:solidFill>
                  <a:srgbClr val="000000"/>
                </a:solidFill>
                <a:latin typeface="Courier New" pitchFamily="34" charset="0"/>
                <a:ea typeface="Courier New" pitchFamily="34" charset="-122"/>
                <a:cs typeface="Courier New" pitchFamily="34" charset="-120"/>
              </a:rPr>
              <a:t>/</a:t>
            </a:r>
            <a:pPr algn="l" indent="0" marL="0">
              <a:buNone/>
            </a:pPr>
            <a:r>
              <a:rPr lang="en-US" sz="1400" b="1" dirty="0">
                <a:solidFill>
                  <a:srgbClr val="CC6600"/>
                </a:solidFill>
                <a:latin typeface="Courier New" pitchFamily="34" charset="0"/>
                <a:ea typeface="Courier New" pitchFamily="34" charset="-122"/>
                <a:cs typeface="Courier New" pitchFamily="34" charset="-120"/>
              </a:rPr>
              <a:t>1.1</a:t>
            </a:r>
            <a:endParaRPr lang="en-US" sz="1400" dirty="0"/>
          </a:p>
        </p:txBody>
      </p:sp>
      <p:sp>
        <p:nvSpPr>
          <p:cNvPr id="13" name="Text 10"/>
          <p:cNvSpPr txBox="1"/>
          <p:nvPr/>
        </p:nvSpPr>
        <p:spPr>
          <a:xfrm>
            <a:off x="230981" y="2065337"/>
            <a:ext cx="1966516" cy="203200"/>
          </a:xfrm>
          <a:prstGeom prst="rect">
            <a:avLst/>
          </a:prstGeom>
          <a:noFill/>
          <a:ln/>
        </p:spPr>
        <p:txBody>
          <a:bodyPr wrap="none" lIns="0" tIns="0" rIns="0" bIns="0" rtlCol="0" anchor="t"/>
          <a:lstStyle/>
          <a:p>
            <a:pPr algn="l" indent="0" marL="0">
              <a:buNone/>
            </a:pPr>
            <a:r>
              <a:rPr lang="en-US" sz="1400" b="1" dirty="0">
                <a:solidFill>
                  <a:srgbClr val="993300"/>
                </a:solidFill>
                <a:latin typeface="Courier New" pitchFamily="34" charset="0"/>
                <a:ea typeface="Courier New" pitchFamily="34" charset="-122"/>
                <a:cs typeface="Courier New" pitchFamily="34" charset="-120"/>
              </a:rPr>
              <a:t>Host</a:t>
            </a:r>
            <a:pPr algn="l" indent="0" marL="0">
              <a:buNone/>
            </a:pPr>
            <a:r>
              <a:rPr lang="en-US" sz="1400" b="1" dirty="0">
                <a:solidFill>
                  <a:srgbClr val="333399"/>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api.example</a:t>
            </a:r>
            <a:endParaRPr lang="en-US" sz="1400" dirty="0"/>
          </a:p>
        </p:txBody>
      </p:sp>
      <p:sp>
        <p:nvSpPr>
          <p:cNvPr id="14" name="Text 11"/>
          <p:cNvSpPr txBox="1"/>
          <p:nvPr/>
        </p:nvSpPr>
        <p:spPr>
          <a:xfrm>
            <a:off x="230981" y="2309812"/>
            <a:ext cx="3353593" cy="203200"/>
          </a:xfrm>
          <a:prstGeom prst="rect">
            <a:avLst/>
          </a:prstGeom>
          <a:noFill/>
          <a:ln/>
        </p:spPr>
        <p:txBody>
          <a:bodyPr wrap="none" lIns="0" tIns="0" rIns="0" bIns="0" rtlCol="0" anchor="t"/>
          <a:lstStyle/>
          <a:p>
            <a:pPr algn="l" indent="0" marL="0">
              <a:buNone/>
            </a:pPr>
            <a:r>
              <a:rPr lang="en-US" sz="1400" b="1" dirty="0">
                <a:solidFill>
                  <a:srgbClr val="993300"/>
                </a:solidFill>
                <a:latin typeface="Courier New" pitchFamily="34" charset="0"/>
                <a:ea typeface="Courier New" pitchFamily="34" charset="-122"/>
                <a:cs typeface="Courier New" pitchFamily="34" charset="-120"/>
              </a:rPr>
              <a:t>Content-Type</a:t>
            </a:r>
            <a:pPr algn="l" indent="0" marL="0">
              <a:buNone/>
            </a:pPr>
            <a:r>
              <a:rPr lang="en-US" sz="1400" b="1" dirty="0">
                <a:solidFill>
                  <a:srgbClr val="333399"/>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application/json</a:t>
            </a:r>
            <a:endParaRPr lang="en-US" sz="1400" dirty="0"/>
          </a:p>
        </p:txBody>
      </p:sp>
      <p:sp>
        <p:nvSpPr>
          <p:cNvPr id="15" name="Shape 12"/>
          <p:cNvSpPr/>
          <p:nvPr/>
        </p:nvSpPr>
        <p:spPr>
          <a:xfrm>
            <a:off x="103981" y="2541588"/>
            <a:ext cx="11780837" cy="244475"/>
          </a:xfrm>
          <a:prstGeom prst="rect">
            <a:avLst/>
          </a:prstGeom>
          <a:solidFill>
            <a:srgbClr val="DAEDEF"/>
          </a:solidFill>
          <a:ln/>
        </p:spPr>
      </p:sp>
      <p:sp>
        <p:nvSpPr>
          <p:cNvPr id="16" name="Text 13"/>
          <p:cNvSpPr txBox="1"/>
          <p:nvPr/>
        </p:nvSpPr>
        <p:spPr>
          <a:xfrm>
            <a:off x="230981" y="2554288"/>
            <a:ext cx="7621588" cy="203200"/>
          </a:xfrm>
          <a:prstGeom prst="rect">
            <a:avLst/>
          </a:prstGeom>
          <a:noFill/>
          <a:ln/>
        </p:spPr>
        <p:txBody>
          <a:bodyPr wrap="none" lIns="0" tIns="0" rIns="0" bIns="0" rtlCol="0" anchor="t"/>
          <a:lstStyle/>
          <a:p>
            <a:pPr algn="l" indent="0" marL="0">
              <a:buNone/>
            </a:pPr>
            <a:r>
              <a:rPr lang="en-US" sz="1400" b="1" dirty="0">
                <a:solidFill>
                  <a:srgbClr val="993300"/>
                </a:solidFill>
                <a:latin typeface="Courier New" pitchFamily="34" charset="0"/>
                <a:ea typeface="Courier New" pitchFamily="34" charset="-122"/>
                <a:cs typeface="Courier New" pitchFamily="34" charset="-120"/>
              </a:rPr>
              <a:t>Content-Digest</a:t>
            </a:r>
            <a:pPr algn="l" indent="0" marL="0">
              <a:buNone/>
            </a:pPr>
            <a:r>
              <a:rPr lang="en-US" sz="1400" b="1" dirty="0">
                <a:solidFill>
                  <a:srgbClr val="333399"/>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sha-256=:GjhZOZY3l3wb+QJHAv9VxkZ0ELmAZyVIh7P1ySNLh/U=:</a:t>
            </a:r>
            <a:endParaRPr lang="en-US" sz="1400" dirty="0"/>
          </a:p>
        </p:txBody>
      </p:sp>
      <p:sp>
        <p:nvSpPr>
          <p:cNvPr id="17" name="Shape 14"/>
          <p:cNvSpPr/>
          <p:nvPr/>
        </p:nvSpPr>
        <p:spPr>
          <a:xfrm>
            <a:off x="103981" y="2786063"/>
            <a:ext cx="11780837" cy="488949"/>
          </a:xfrm>
          <a:prstGeom prst="rect">
            <a:avLst/>
          </a:prstGeom>
          <a:solidFill>
            <a:srgbClr val="DAEDEF"/>
          </a:solidFill>
          <a:ln/>
        </p:spPr>
      </p:sp>
      <p:sp>
        <p:nvSpPr>
          <p:cNvPr id="18" name="Text 15"/>
          <p:cNvSpPr txBox="1"/>
          <p:nvPr/>
        </p:nvSpPr>
        <p:spPr>
          <a:xfrm>
            <a:off x="230981" y="2798763"/>
            <a:ext cx="11552237" cy="447675"/>
          </a:xfrm>
          <a:prstGeom prst="rect">
            <a:avLst/>
          </a:prstGeom>
          <a:noFill/>
          <a:ln/>
        </p:spPr>
        <p:txBody>
          <a:bodyPr wrap="square" lIns="0" tIns="0" rIns="0" bIns="0" rtlCol="0" anchor="t"/>
          <a:lstStyle/>
          <a:p>
            <a:pPr algn="l" indent="0" marL="0">
              <a:lnSpc>
                <a:spcPts val="1925"/>
              </a:lnSpc>
              <a:buNone/>
            </a:pPr>
            <a:r>
              <a:rPr lang="en-US" sz="1400" b="1" dirty="0">
                <a:solidFill>
                  <a:srgbClr val="993300"/>
                </a:solidFill>
                <a:latin typeface="Courier New" pitchFamily="34" charset="0"/>
                <a:ea typeface="Courier New" pitchFamily="34" charset="-122"/>
                <a:cs typeface="Courier New" pitchFamily="34" charset="-120"/>
              </a:rPr>
              <a:t>Signature-Input</a:t>
            </a:r>
            <a:pPr algn="l" indent="0" marL="0">
              <a:lnSpc>
                <a:spcPts val="1925"/>
              </a:lnSpc>
              <a:buNone/>
            </a:pPr>
            <a:r>
              <a:rPr lang="en-US" sz="1400" b="1" dirty="0">
                <a:solidFill>
                  <a:srgbClr val="333399"/>
                </a:solidFill>
                <a:latin typeface="Courier New" pitchFamily="34" charset="0"/>
                <a:ea typeface="Courier New" pitchFamily="34" charset="-122"/>
                <a:cs typeface="Courier New" pitchFamily="34" charset="-120"/>
              </a:rPr>
              <a:t>:</a:t>
            </a:r>
            <a:pPr algn="l" indent="0" marL="0">
              <a:lnSpc>
                <a:spcPts val="1925"/>
              </a:lnSpc>
              <a:buNone/>
            </a:pPr>
            <a:r>
              <a:rPr lang="en-US" sz="1400" b="1" dirty="0">
                <a:solidFill>
                  <a:srgbClr val="000000"/>
                </a:solidFill>
                <a:latin typeface="Courier New" pitchFamily="34" charset="0"/>
                <a:ea typeface="Courier New" pitchFamily="34" charset="-122"/>
                <a:cs typeface="Courier New" pitchFamily="34" charset="-120"/>
              </a:rPr>
              <a:t> </a:t>
            </a:r>
            <a:pPr algn="l" indent="0" marL="0">
              <a:lnSpc>
                <a:spcPts val="1925"/>
              </a:lnSpc>
              <a:buNone/>
            </a:pPr>
            <a:r>
              <a:rPr lang="en-US" sz="1400" b="1" dirty="0">
                <a:solidFill>
                  <a:srgbClr val="993300"/>
                </a:solidFill>
                <a:latin typeface="Courier New" pitchFamily="34" charset="0"/>
                <a:ea typeface="Courier New" pitchFamily="34" charset="-122"/>
                <a:cs typeface="Courier New" pitchFamily="34" charset="-120"/>
              </a:rPr>
              <a:t>sig1=("@method" "@target-uri" "content-type" "content-digest");created=1792226000;keyid="svc-a"</a:t>
            </a:r>
            <a:endParaRPr lang="en-US" sz="1400" dirty="0"/>
          </a:p>
        </p:txBody>
      </p:sp>
      <p:sp>
        <p:nvSpPr>
          <p:cNvPr id="19" name="Text 16"/>
          <p:cNvSpPr txBox="1"/>
          <p:nvPr/>
        </p:nvSpPr>
        <p:spPr>
          <a:xfrm>
            <a:off x="230981" y="3287712"/>
            <a:ext cx="2820193" cy="203200"/>
          </a:xfrm>
          <a:prstGeom prst="rect">
            <a:avLst/>
          </a:prstGeom>
          <a:noFill/>
          <a:ln/>
        </p:spPr>
        <p:txBody>
          <a:bodyPr wrap="none" lIns="0" tIns="0" rIns="0" bIns="0" rtlCol="0" anchor="t"/>
          <a:lstStyle/>
          <a:p>
            <a:pPr algn="l" indent="0" marL="0">
              <a:buNone/>
            </a:pPr>
            <a:r>
              <a:rPr lang="en-US" sz="1400" b="1" dirty="0">
                <a:solidFill>
                  <a:srgbClr val="993300"/>
                </a:solidFill>
                <a:latin typeface="Courier New" pitchFamily="34" charset="0"/>
                <a:ea typeface="Courier New" pitchFamily="34" charset="-122"/>
                <a:cs typeface="Courier New" pitchFamily="34" charset="-120"/>
              </a:rPr>
              <a:t>Signature</a:t>
            </a:r>
            <a:pPr algn="l" indent="0" marL="0">
              <a:buNone/>
            </a:pPr>
            <a:r>
              <a:rPr lang="en-US" sz="1400" b="1" dirty="0">
                <a:solidFill>
                  <a:srgbClr val="333399"/>
                </a:solidFill>
                <a:latin typeface="Courier New" pitchFamily="34" charset="0"/>
                <a:ea typeface="Courier New" pitchFamily="34" charset="-122"/>
                <a:cs typeface="Courier New" pitchFamily="34" charset="-120"/>
              </a:rPr>
              <a:t>:</a:t>
            </a:r>
            <a:pPr algn="l" indent="0" marL="0">
              <a:buNone/>
            </a:pPr>
            <a:r>
              <a:rPr lang="en-US" sz="1400" b="1" dirty="0">
                <a:solidFill>
                  <a:srgbClr val="000000"/>
                </a:solidFill>
                <a:latin typeface="Courier New" pitchFamily="34" charset="0"/>
                <a:ea typeface="Courier New" pitchFamily="34" charset="-122"/>
                <a:cs typeface="Courier New" pitchFamily="34" charset="-120"/>
              </a:rPr>
              <a:t> </a:t>
            </a:r>
            <a:pPr algn="l" indent="0" marL="0">
              <a:buNone/>
            </a:pPr>
            <a:r>
              <a:rPr lang="en-US" sz="1400" b="1" dirty="0">
                <a:solidFill>
                  <a:srgbClr val="993300"/>
                </a:solidFill>
                <a:latin typeface="Courier New" pitchFamily="34" charset="0"/>
                <a:ea typeface="Courier New" pitchFamily="34" charset="-122"/>
                <a:cs typeface="Courier New" pitchFamily="34" charset="-120"/>
              </a:rPr>
              <a:t>sig1=:MEUCIQ…:</a:t>
            </a:r>
            <a:endParaRPr lang="en-US" sz="1400" dirty="0"/>
          </a:p>
        </p:txBody>
      </p:sp>
      <p:sp>
        <p:nvSpPr>
          <p:cNvPr id="20" name="Text 17"/>
          <p:cNvSpPr txBox="1"/>
          <p:nvPr/>
        </p:nvSpPr>
        <p:spPr>
          <a:xfrm>
            <a:off x="230981" y="3776663"/>
            <a:ext cx="3033911" cy="203200"/>
          </a:xfrm>
          <a:prstGeom prst="rect">
            <a:avLst/>
          </a:prstGeom>
          <a:noFill/>
          <a:ln/>
        </p:spPr>
        <p:txBody>
          <a:bodyPr wrap="none" lIns="0" tIns="0" rIns="0" bIns="0" rtlCol="0" anchor="t"/>
          <a:lstStyle/>
          <a:p>
            <a:pPr algn="l" indent="0" marL="0">
              <a:buNone/>
            </a:pPr>
            <a:r>
              <a:rPr lang="en-US" sz="1400" b="1" dirty="0">
                <a:solidFill>
                  <a:srgbClr val="000000"/>
                </a:solidFill>
                <a:latin typeface="Courier New" pitchFamily="34" charset="0"/>
                <a:ea typeface="Courier New" pitchFamily="34" charset="-122"/>
                <a:cs typeface="Courier New" pitchFamily="34" charset="-120"/>
              </a:rPr>
              <a:t>{</a:t>
            </a:r>
            <a:pPr algn="l" indent="0" marL="0">
              <a:buNone/>
            </a:pPr>
            <a:r>
              <a:rPr lang="en-US" sz="1400" b="1" dirty="0">
                <a:solidFill>
                  <a:srgbClr val="333399"/>
                </a:solidFill>
                <a:latin typeface="Courier New" pitchFamily="34" charset="0"/>
                <a:ea typeface="Courier New" pitchFamily="34" charset="-122"/>
                <a:cs typeface="Courier New" pitchFamily="34" charset="-120"/>
              </a:rPr>
              <a:t>"q"</a:t>
            </a:r>
            <a:pPr algn="l" indent="0" marL="0">
              <a:buNone/>
            </a:pPr>
            <a:r>
              <a:rPr lang="en-US" sz="1400" b="1" dirty="0">
                <a:solidFill>
                  <a:srgbClr val="000000"/>
                </a:solidFill>
                <a:latin typeface="Courier New" pitchFamily="34" charset="0"/>
                <a:ea typeface="Courier New" pitchFamily="34" charset="-122"/>
                <a:cs typeface="Courier New" pitchFamily="34" charset="-120"/>
              </a:rPr>
              <a:t>:</a:t>
            </a:r>
            <a:pPr algn="l" indent="0" marL="0">
              <a:buNone/>
            </a:pPr>
            <a:r>
              <a:rPr lang="en-US" sz="1400" b="1" dirty="0">
                <a:solidFill>
                  <a:srgbClr val="993300"/>
                </a:solidFill>
                <a:latin typeface="Courier New" pitchFamily="34" charset="0"/>
                <a:ea typeface="Courier New" pitchFamily="34" charset="-122"/>
                <a:cs typeface="Courier New" pitchFamily="34" charset="-120"/>
              </a:rPr>
              <a:t>"security"</a:t>
            </a:r>
            <a:pPr algn="l" indent="0" marL="0">
              <a:buNone/>
            </a:pPr>
            <a:r>
              <a:rPr lang="en-US" sz="1400" b="1" dirty="0">
                <a:solidFill>
                  <a:srgbClr val="000000"/>
                </a:solidFill>
                <a:latin typeface="Courier New" pitchFamily="34" charset="0"/>
                <a:ea typeface="Courier New" pitchFamily="34" charset="-122"/>
                <a:cs typeface="Courier New" pitchFamily="34" charset="-120"/>
              </a:rPr>
              <a:t>,</a:t>
            </a:r>
            <a:pPr algn="l" indent="0" marL="0">
              <a:buNone/>
            </a:pPr>
            <a:r>
              <a:rPr lang="en-US" sz="1400" b="1" dirty="0">
                <a:solidFill>
                  <a:srgbClr val="333399"/>
                </a:solidFill>
                <a:latin typeface="Courier New" pitchFamily="34" charset="0"/>
                <a:ea typeface="Courier New" pitchFamily="34" charset="-122"/>
                <a:cs typeface="Courier New" pitchFamily="34" charset="-120"/>
              </a:rPr>
              <a:t>"limit"</a:t>
            </a:r>
            <a:pPr algn="l" indent="0" marL="0">
              <a:buNone/>
            </a:pPr>
            <a:r>
              <a:rPr lang="en-US" sz="1400" b="1" dirty="0">
                <a:solidFill>
                  <a:srgbClr val="000000"/>
                </a:solidFill>
                <a:latin typeface="Courier New" pitchFamily="34" charset="0"/>
                <a:ea typeface="Courier New" pitchFamily="34" charset="-122"/>
                <a:cs typeface="Courier New" pitchFamily="34" charset="-120"/>
              </a:rPr>
              <a:t>:</a:t>
            </a:r>
            <a:pPr algn="l" indent="0" marL="0">
              <a:buNone/>
            </a:pPr>
            <a:r>
              <a:rPr lang="en-US" sz="1400" b="1" dirty="0">
                <a:solidFill>
                  <a:srgbClr val="CC6600"/>
                </a:solidFill>
                <a:latin typeface="Courier New" pitchFamily="34" charset="0"/>
                <a:ea typeface="Courier New" pitchFamily="34" charset="-122"/>
                <a:cs typeface="Courier New" pitchFamily="34" charset="-120"/>
              </a:rPr>
              <a:t>10</a:t>
            </a:r>
            <a:pPr algn="l" indent="0" marL="0">
              <a:buNone/>
            </a:pPr>
            <a:r>
              <a:rPr lang="en-US" sz="1400" b="1" dirty="0">
                <a:solidFill>
                  <a:srgbClr val="000000"/>
                </a:solidFill>
                <a:latin typeface="Courier New" pitchFamily="34" charset="0"/>
                <a:ea typeface="Courier New" pitchFamily="34" charset="-122"/>
                <a:cs typeface="Courier New" pitchFamily="34" charset="-120"/>
              </a:rPr>
              <a:t>}</a:t>
            </a:r>
            <a:endParaRPr lang="en-US" sz="1400" dirty="0"/>
          </a:p>
        </p:txBody>
      </p:sp>
      <p:sp>
        <p:nvSpPr>
          <p:cNvPr id="21" name="Shape 18"/>
          <p:cNvSpPr/>
          <p:nvPr/>
        </p:nvSpPr>
        <p:spPr>
          <a:xfrm>
            <a:off x="91281" y="4794251"/>
            <a:ext cx="5588000" cy="12700"/>
          </a:xfrm>
          <a:prstGeom prst="rect">
            <a:avLst/>
          </a:prstGeom>
          <a:solidFill>
            <a:srgbClr val="333399"/>
          </a:solidFill>
          <a:ln/>
        </p:spPr>
      </p:sp>
      <p:sp>
        <p:nvSpPr>
          <p:cNvPr id="22" name="Text 19"/>
          <p:cNvSpPr txBox="1"/>
          <p:nvPr/>
        </p:nvSpPr>
        <p:spPr>
          <a:xfrm>
            <a:off x="192881" y="4422775"/>
            <a:ext cx="1124943"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Component</a:t>
            </a:r>
            <a:endParaRPr lang="en-US" sz="1600" dirty="0"/>
          </a:p>
        </p:txBody>
      </p:sp>
      <p:sp>
        <p:nvSpPr>
          <p:cNvPr id="23" name="Text 20"/>
          <p:cNvSpPr txBox="1"/>
          <p:nvPr/>
        </p:nvSpPr>
        <p:spPr>
          <a:xfrm>
            <a:off x="2561629" y="4422775"/>
            <a:ext cx="1569443"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Value in a QUERY</a:t>
            </a:r>
            <a:endParaRPr lang="en-US" sz="1600" dirty="0"/>
          </a:p>
        </p:txBody>
      </p:sp>
      <p:sp>
        <p:nvSpPr>
          <p:cNvPr id="24" name="Shape 21"/>
          <p:cNvSpPr/>
          <p:nvPr/>
        </p:nvSpPr>
        <p:spPr>
          <a:xfrm>
            <a:off x="91281" y="5213349"/>
            <a:ext cx="5588000" cy="12700"/>
          </a:xfrm>
          <a:prstGeom prst="rect">
            <a:avLst/>
          </a:prstGeom>
          <a:solidFill>
            <a:srgbClr val="333399"/>
          </a:solidFill>
          <a:ln/>
        </p:spPr>
      </p:sp>
      <p:sp>
        <p:nvSpPr>
          <p:cNvPr id="25" name="Text 22"/>
          <p:cNvSpPr txBox="1"/>
          <p:nvPr/>
        </p:nvSpPr>
        <p:spPr>
          <a:xfrm>
            <a:off x="192881" y="4902200"/>
            <a:ext cx="1006079"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@method</a:t>
            </a:r>
            <a:endParaRPr lang="en-US" sz="1600" dirty="0"/>
          </a:p>
        </p:txBody>
      </p:sp>
      <p:sp>
        <p:nvSpPr>
          <p:cNvPr id="26" name="Text 23"/>
          <p:cNvSpPr txBox="1"/>
          <p:nvPr/>
        </p:nvSpPr>
        <p:spPr>
          <a:xfrm>
            <a:off x="2561629" y="4889500"/>
            <a:ext cx="725091"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QUERY</a:t>
            </a:r>
            <a:endParaRPr lang="en-US" sz="1600" dirty="0"/>
          </a:p>
        </p:txBody>
      </p:sp>
      <p:sp>
        <p:nvSpPr>
          <p:cNvPr id="27" name="Shape 24"/>
          <p:cNvSpPr/>
          <p:nvPr/>
        </p:nvSpPr>
        <p:spPr>
          <a:xfrm>
            <a:off x="91281" y="5632449"/>
            <a:ext cx="5588000" cy="12700"/>
          </a:xfrm>
          <a:prstGeom prst="rect">
            <a:avLst/>
          </a:prstGeom>
          <a:solidFill>
            <a:srgbClr val="333399"/>
          </a:solidFill>
          <a:ln/>
        </p:spPr>
      </p:sp>
      <p:sp>
        <p:nvSpPr>
          <p:cNvPr id="28" name="Text 25"/>
          <p:cNvSpPr txBox="1"/>
          <p:nvPr/>
        </p:nvSpPr>
        <p:spPr>
          <a:xfrm>
            <a:off x="192881" y="5321300"/>
            <a:ext cx="1493837"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@target-uri</a:t>
            </a:r>
            <a:endParaRPr lang="en-US" sz="1600" dirty="0"/>
          </a:p>
        </p:txBody>
      </p:sp>
      <p:sp>
        <p:nvSpPr>
          <p:cNvPr id="29" name="Text 26"/>
          <p:cNvSpPr txBox="1"/>
          <p:nvPr/>
        </p:nvSpPr>
        <p:spPr>
          <a:xfrm>
            <a:off x="2561629" y="5308600"/>
            <a:ext cx="2545160"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https://api.example/contacts</a:t>
            </a:r>
            <a:endParaRPr lang="en-US" sz="1600" dirty="0"/>
          </a:p>
        </p:txBody>
      </p:sp>
      <p:sp>
        <p:nvSpPr>
          <p:cNvPr id="30" name="Shape 27"/>
          <p:cNvSpPr/>
          <p:nvPr/>
        </p:nvSpPr>
        <p:spPr>
          <a:xfrm>
            <a:off x="91281" y="6076951"/>
            <a:ext cx="5588000" cy="12700"/>
          </a:xfrm>
          <a:prstGeom prst="rect">
            <a:avLst/>
          </a:prstGeom>
          <a:solidFill>
            <a:srgbClr val="333399"/>
          </a:solidFill>
          <a:ln/>
        </p:spPr>
      </p:sp>
      <p:sp>
        <p:nvSpPr>
          <p:cNvPr id="31" name="Text 28"/>
          <p:cNvSpPr txBox="1"/>
          <p:nvPr/>
        </p:nvSpPr>
        <p:spPr>
          <a:xfrm>
            <a:off x="192881" y="5753100"/>
            <a:ext cx="884039"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@query</a:t>
            </a:r>
            <a:endParaRPr lang="en-US" sz="1600" dirty="0"/>
          </a:p>
        </p:txBody>
      </p:sp>
      <p:sp>
        <p:nvSpPr>
          <p:cNvPr id="32" name="Shape 29"/>
          <p:cNvSpPr/>
          <p:nvPr/>
        </p:nvSpPr>
        <p:spPr>
          <a:xfrm>
            <a:off x="2960092" y="5753100"/>
            <a:ext cx="239316" cy="228600"/>
          </a:xfrm>
          <a:prstGeom prst="rect">
            <a:avLst/>
          </a:prstGeom>
          <a:solidFill>
            <a:srgbClr val="FFFFFF"/>
          </a:solidFill>
          <a:ln w="12700">
            <a:solidFill>
              <a:srgbClr val="333399"/>
            </a:solidFill>
            <a:prstDash val="solid"/>
          </a:ln>
        </p:spPr>
      </p:sp>
      <p:sp>
        <p:nvSpPr>
          <p:cNvPr id="33" name="Text 30"/>
          <p:cNvSpPr txBox="1"/>
          <p:nvPr/>
        </p:nvSpPr>
        <p:spPr>
          <a:xfrm>
            <a:off x="2561629" y="5727700"/>
            <a:ext cx="1736129" cy="241300"/>
          </a:xfrm>
          <a:prstGeom prst="rect">
            <a:avLst/>
          </a:prstGeom>
          <a:noFill/>
          <a:ln/>
        </p:spPr>
        <p:txBody>
          <a:bodyPr wrap="none" lIns="0" tIns="0" rIns="0" bIns="0" rtlCol="0" anchor="t"/>
          <a:lstStyle/>
          <a:p>
            <a:pPr algn="l" indent="0" marL="0">
              <a:buNone/>
            </a:pPr>
            <a:r>
              <a:rPr lang="en-US" sz="1600" dirty="0">
                <a:solidFill>
                  <a:srgbClr val="993300"/>
                </a:solidFill>
                <a:latin typeface="Calibri" pitchFamily="34" charset="0"/>
                <a:ea typeface="Calibri" pitchFamily="34" charset="-122"/>
                <a:cs typeface="Calibri" pitchFamily="34" charset="-120"/>
              </a:rPr>
              <a:t>only </a:t>
            </a:r>
            <a:pPr algn="l" indent="0" marL="0">
              <a:buNone/>
            </a:pPr>
            <a:r>
              <a:rPr lang="en-US" sz="1472" b="1" dirty="0">
                <a:solidFill>
                  <a:srgbClr val="000000"/>
                </a:solidFill>
                <a:latin typeface="Courier New" pitchFamily="34" charset="0"/>
                <a:ea typeface="Courier New" pitchFamily="34" charset="-122"/>
                <a:cs typeface="Courier New" pitchFamily="34" charset="-120"/>
              </a:rPr>
              <a:t>? </a:t>
            </a:r>
            <a:pPr algn="l" indent="0" marL="0">
              <a:buNone/>
            </a:pPr>
            <a:r>
              <a:rPr lang="en-US" sz="992" u="sng" dirty="0">
                <a:solidFill>
                  <a:srgbClr val="59595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[RFC 9421 §2.2.7]</a:t>
            </a:r>
            <a:endParaRPr lang="en-US" sz="1600" dirty="0"/>
          </a:p>
        </p:txBody>
      </p:sp>
      <p:sp>
        <p:nvSpPr>
          <p:cNvPr id="34" name="Text 31"/>
          <p:cNvSpPr txBox="1"/>
          <p:nvPr/>
        </p:nvSpPr>
        <p:spPr>
          <a:xfrm>
            <a:off x="192881" y="6197600"/>
            <a:ext cx="1859557" cy="228600"/>
          </a:xfrm>
          <a:prstGeom prst="rect">
            <a:avLst/>
          </a:prstGeom>
          <a:noFill/>
          <a:ln/>
        </p:spPr>
        <p:txBody>
          <a:bodyPr wrap="none" lIns="0" tIns="0" rIns="0" bIns="0" rtlCol="0" anchor="t"/>
          <a:lstStyle/>
          <a:p>
            <a:pPr algn="l" indent="0" marL="0">
              <a:buNone/>
            </a:pPr>
            <a:r>
              <a:rPr lang="en-US" sz="1600" b="1" dirty="0">
                <a:solidFill>
                  <a:srgbClr val="000000"/>
                </a:solidFill>
                <a:latin typeface="Courier New" pitchFamily="34" charset="0"/>
                <a:ea typeface="Courier New" pitchFamily="34" charset="-122"/>
                <a:cs typeface="Courier New" pitchFamily="34" charset="-120"/>
              </a:rPr>
              <a:t>content-digest</a:t>
            </a:r>
            <a:endParaRPr lang="en-US" sz="1600" dirty="0"/>
          </a:p>
        </p:txBody>
      </p:sp>
      <p:sp>
        <p:nvSpPr>
          <p:cNvPr id="35" name="Text 32"/>
          <p:cNvSpPr txBox="1"/>
          <p:nvPr/>
        </p:nvSpPr>
        <p:spPr>
          <a:xfrm>
            <a:off x="2561629" y="6172200"/>
            <a:ext cx="2002235"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the query itself </a:t>
            </a:r>
            <a:pPr algn="l" indent="0" marL="0">
              <a:buNone/>
            </a:pPr>
            <a:r>
              <a:rPr lang="en-US" sz="992" u="sng" dirty="0">
                <a:solidFill>
                  <a:srgbClr val="59595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[RFC 9530]</a:t>
            </a:r>
            <a:endParaRPr lang="en-US" sz="1600" dirty="0"/>
          </a:p>
        </p:txBody>
      </p:sp>
      <p:sp>
        <p:nvSpPr>
          <p:cNvPr id="36" name="Text 33"/>
          <p:cNvSpPr txBox="1"/>
          <p:nvPr/>
        </p:nvSpPr>
        <p:spPr>
          <a:xfrm>
            <a:off x="5933281" y="4298951"/>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7" name="Shape 34"/>
          <p:cNvSpPr/>
          <p:nvPr/>
        </p:nvSpPr>
        <p:spPr>
          <a:xfrm>
            <a:off x="6276181" y="4585891"/>
            <a:ext cx="1894085" cy="266700"/>
          </a:xfrm>
          <a:prstGeom prst="rect">
            <a:avLst/>
          </a:prstGeom>
          <a:solidFill>
            <a:srgbClr val="FFFFFF"/>
          </a:solidFill>
          <a:ln w="12700">
            <a:solidFill>
              <a:srgbClr val="333399"/>
            </a:solidFill>
            <a:prstDash val="solid"/>
          </a:ln>
        </p:spPr>
      </p:sp>
      <p:sp>
        <p:nvSpPr>
          <p:cNvPr id="38" name="Text 35"/>
          <p:cNvSpPr txBox="1"/>
          <p:nvPr/>
        </p:nvSpPr>
        <p:spPr>
          <a:xfrm>
            <a:off x="6276181" y="4286251"/>
            <a:ext cx="5646737" cy="553640"/>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The signature does </a:t>
            </a:r>
            <a:pPr algn="l" indent="0" marL="0">
              <a:lnSpc>
                <a:spcPts val="2160"/>
              </a:lnSpc>
              <a:buNone/>
            </a:pPr>
            <a:r>
              <a:rPr lang="en-US" sz="1800" b="1" dirty="0">
                <a:solidFill>
                  <a:srgbClr val="000000"/>
                </a:solidFill>
                <a:latin typeface="Calibri" pitchFamily="34" charset="0"/>
                <a:ea typeface="Calibri" pitchFamily="34" charset="-122"/>
                <a:cs typeface="Calibri" pitchFamily="34" charset="-120"/>
              </a:rPr>
              <a:t>not</a:t>
            </a:r>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 cover the content. Sign </a:t>
            </a:r>
            <a:pPr algn="l" indent="0" marL="0">
              <a:lnSpc>
                <a:spcPts val="2160"/>
              </a:lnSpc>
              <a:buNone/>
            </a:pPr>
            <a:r>
              <a:rPr lang="en-US" sz="1656" b="1" dirty="0">
                <a:solidFill>
                  <a:srgbClr val="000000"/>
                </a:solidFill>
                <a:latin typeface="Courier New" pitchFamily="34" charset="0"/>
                <a:ea typeface="Courier New" pitchFamily="34" charset="-122"/>
                <a:cs typeface="Courier New" pitchFamily="34" charset="-120"/>
              </a:rPr>
              <a:t>content-digest</a:t>
            </a:r>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 and calculate it again </a:t>
            </a:r>
            <a:pPr algn="l" indent="0" marL="0">
              <a:lnSpc>
                <a:spcPts val="2160"/>
              </a:lnSpc>
              <a:buNone/>
            </a:pPr>
            <a:r>
              <a:rPr lang="en-US" sz="1116" u="sng" dirty="0">
                <a:solidFill>
                  <a:srgbClr val="59595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[RFC 9421 §7.2.8]</a:t>
            </a:r>
            <a:endParaRPr lang="en-US" sz="1800" dirty="0"/>
          </a:p>
        </p:txBody>
      </p:sp>
      <p:sp>
        <p:nvSpPr>
          <p:cNvPr id="39" name="Text 36"/>
          <p:cNvSpPr txBox="1"/>
          <p:nvPr/>
        </p:nvSpPr>
        <p:spPr>
          <a:xfrm>
            <a:off x="5933281" y="4939903"/>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40" name="Text 37"/>
          <p:cNvSpPr txBox="1"/>
          <p:nvPr/>
        </p:nvSpPr>
        <p:spPr>
          <a:xfrm>
            <a:off x="6276181" y="4927203"/>
            <a:ext cx="5646737" cy="553640"/>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Some frameworks merge URI and form parameters. An unsigned one can replace a signed one </a:t>
            </a:r>
            <a:pPr algn="l" indent="0" marL="0">
              <a:lnSpc>
                <a:spcPts val="2160"/>
              </a:lnSpc>
              <a:buNone/>
            </a:pPr>
            <a:r>
              <a:rPr lang="en-US" sz="1116" u="sng" dirty="0">
                <a:solidFill>
                  <a:srgbClr val="595959"/>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[RFC 9421 §7.5.8]</a:t>
            </a:r>
            <a:endParaRPr lang="en-US" sz="1800" dirty="0"/>
          </a:p>
        </p:txBody>
      </p:sp>
      <p:sp>
        <p:nvSpPr>
          <p:cNvPr id="41" name="Text 38"/>
          <p:cNvSpPr txBox="1"/>
          <p:nvPr/>
        </p:nvSpPr>
        <p:spPr>
          <a:xfrm>
            <a:off x="5933281" y="5577284"/>
            <a:ext cx="266303" cy="274241"/>
          </a:xfrm>
          <a:prstGeom prst="rect">
            <a:avLst/>
          </a:prstGeom>
          <a:noFill/>
          <a:ln/>
        </p:spPr>
        <p:txBody>
          <a:bodyPr wrap="none" lIns="0" tIns="0" rIns="0" bIns="0" rtlCol="0" anchor="ctr"/>
          <a:lstStyle/>
          <a:p>
            <a:pPr algn="l"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42" name="Text 39"/>
          <p:cNvSpPr txBox="1"/>
          <p:nvPr/>
        </p:nvSpPr>
        <p:spPr>
          <a:xfrm>
            <a:off x="6276181" y="5564584"/>
            <a:ext cx="5646737" cy="553640"/>
          </a:xfrm>
          <a:prstGeom prst="rect">
            <a:avLst/>
          </a:prstGeom>
          <a:noFill/>
          <a:ln/>
        </p:spPr>
        <p:txBody>
          <a:bodyPr wrap="square" lIns="0" tIns="0" rIns="0" bIns="0" rtlCol="0" anchor="t"/>
          <a:lstStyle/>
          <a:p>
            <a:pPr algn="l" indent="0" marL="0">
              <a:lnSpc>
                <a:spcPts val="2160"/>
              </a:lnSpc>
              <a:buNone/>
            </a:pPr>
            <a:r>
              <a:rPr lang="en-US" sz="1800" dirty="0">
                <a:solidFill>
                  <a:srgbClr val="000000"/>
                </a:solidFill>
                <a:latin typeface="Calibri" pitchFamily="34" charset="0"/>
                <a:ea typeface="Calibri" pitchFamily="34" charset="-122"/>
                <a:cs typeface="Calibri" pitchFamily="34" charset="-120"/>
              </a:rPr>
              <a:t>A signature gives integrity and origin. It does not give authorization or confidentiality</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23</a:t>
            </a:r>
            <a:endParaRPr lang="en-US" sz="1400" dirty="0"/>
          </a:p>
        </p:txBody>
      </p:sp>
      <p:sp>
        <p:nvSpPr>
          <p:cNvPr id="8" name="Text 5"/>
          <p:cNvSpPr txBox="1"/>
          <p:nvPr/>
        </p:nvSpPr>
        <p:spPr>
          <a:xfrm>
            <a:off x="10057805" y="191492"/>
            <a:ext cx="219531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4. Description</a:t>
            </a:r>
            <a:endParaRPr lang="en-US" sz="2800" dirty="0"/>
          </a:p>
        </p:txBody>
      </p:sp>
      <p:sp>
        <p:nvSpPr>
          <p:cNvPr id="9" name="Text 6"/>
          <p:cNvSpPr txBox="1"/>
          <p:nvPr/>
        </p:nvSpPr>
        <p:spPr>
          <a:xfrm>
            <a:off x="91281" y="871140"/>
            <a:ext cx="5117901" cy="368300"/>
          </a:xfrm>
          <a:prstGeom prst="rect">
            <a:avLst/>
          </a:prstGeom>
          <a:noFill/>
          <a:ln/>
        </p:spPr>
        <p:txBody>
          <a:bodyPr wrap="none" lIns="0" tIns="0" rIns="0" bIns="0" rtlCol="0" anchor="t"/>
          <a:lstStyle/>
          <a:p>
            <a:pPr algn="l" indent="0" marL="0">
              <a:buNone/>
            </a:pPr>
            <a:r>
              <a:rPr lang="en-US" sz="2400" b="1" dirty="0">
                <a:solidFill>
                  <a:srgbClr val="993300"/>
                </a:solidFill>
                <a:latin typeface="Calibri" pitchFamily="34" charset="0"/>
                <a:ea typeface="Calibri" pitchFamily="34" charset="-122"/>
                <a:cs typeface="Calibri" pitchFamily="34" charset="-120"/>
              </a:rPr>
              <a:t>Deploy QUERY: all hops must support it</a:t>
            </a:r>
            <a:endParaRPr lang="en-US" sz="2400" dirty="0"/>
          </a:p>
        </p:txBody>
      </p:sp>
      <p:sp>
        <p:nvSpPr>
          <p:cNvPr id="10" name="Shape 7"/>
          <p:cNvSpPr/>
          <p:nvPr/>
        </p:nvSpPr>
        <p:spPr>
          <a:xfrm>
            <a:off x="91281" y="1856581"/>
            <a:ext cx="11806237" cy="12700"/>
          </a:xfrm>
          <a:prstGeom prst="rect">
            <a:avLst/>
          </a:prstGeom>
          <a:solidFill>
            <a:srgbClr val="333399"/>
          </a:solidFill>
          <a:ln/>
        </p:spPr>
      </p:sp>
      <p:sp>
        <p:nvSpPr>
          <p:cNvPr id="11" name="Text 8"/>
          <p:cNvSpPr txBox="1"/>
          <p:nvPr/>
        </p:nvSpPr>
        <p:spPr>
          <a:xfrm>
            <a:off x="192881" y="1485107"/>
            <a:ext cx="492919"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Hop</a:t>
            </a:r>
            <a:endParaRPr lang="en-US" sz="1600" dirty="0"/>
          </a:p>
        </p:txBody>
      </p:sp>
      <p:sp>
        <p:nvSpPr>
          <p:cNvPr id="12" name="Text 9"/>
          <p:cNvSpPr txBox="1"/>
          <p:nvPr/>
        </p:nvSpPr>
        <p:spPr>
          <a:xfrm>
            <a:off x="2351881" y="1485107"/>
            <a:ext cx="1738312"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Must do for QUERY</a:t>
            </a:r>
            <a:endParaRPr lang="en-US" sz="1600" dirty="0"/>
          </a:p>
        </p:txBody>
      </p:sp>
      <p:sp>
        <p:nvSpPr>
          <p:cNvPr id="13" name="Text 10"/>
          <p:cNvSpPr txBox="1"/>
          <p:nvPr/>
        </p:nvSpPr>
        <p:spPr>
          <a:xfrm>
            <a:off x="8189119" y="1485107"/>
            <a:ext cx="1194593"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If it does not</a:t>
            </a:r>
            <a:endParaRPr lang="en-US" sz="1600" dirty="0"/>
          </a:p>
        </p:txBody>
      </p:sp>
      <p:sp>
        <p:nvSpPr>
          <p:cNvPr id="14" name="Shape 11"/>
          <p:cNvSpPr/>
          <p:nvPr/>
        </p:nvSpPr>
        <p:spPr>
          <a:xfrm>
            <a:off x="91281" y="2389981"/>
            <a:ext cx="11806237" cy="12700"/>
          </a:xfrm>
          <a:prstGeom prst="rect">
            <a:avLst/>
          </a:prstGeom>
          <a:solidFill>
            <a:srgbClr val="333399"/>
          </a:solidFill>
          <a:ln/>
        </p:spPr>
      </p:sp>
      <p:sp>
        <p:nvSpPr>
          <p:cNvPr id="15" name="Text 12"/>
          <p:cNvSpPr txBox="1"/>
          <p:nvPr/>
        </p:nvSpPr>
        <p:spPr>
          <a:xfrm>
            <a:off x="192881" y="2008981"/>
            <a:ext cx="1398785" cy="241300"/>
          </a:xfrm>
          <a:prstGeom prst="rect">
            <a:avLst/>
          </a:prstGeom>
          <a:noFill/>
          <a:ln/>
        </p:spPr>
        <p:txBody>
          <a:bodyPr wrap="none" lIns="0" tIns="0" rIns="0" bIns="0" rtlCol="0" anchor="t"/>
          <a:lstStyle/>
          <a:p>
            <a:pPr algn="l" indent="0" marL="0">
              <a:buNone/>
            </a:pPr>
            <a:r>
              <a:rPr lang="en-US" sz="1600" b="1" dirty="0">
                <a:solidFill>
                  <a:srgbClr val="000000"/>
                </a:solidFill>
                <a:latin typeface="Calibri" pitchFamily="34" charset="0"/>
                <a:ea typeface="Calibri" pitchFamily="34" charset="-122"/>
                <a:cs typeface="Calibri" pitchFamily="34" charset="-120"/>
              </a:rPr>
              <a:t>Browser, client</a:t>
            </a:r>
            <a:endParaRPr lang="en-US" sz="1600" dirty="0"/>
          </a:p>
        </p:txBody>
      </p:sp>
      <p:sp>
        <p:nvSpPr>
          <p:cNvPr id="16" name="Shape 13"/>
          <p:cNvSpPr/>
          <p:nvPr/>
        </p:nvSpPr>
        <p:spPr>
          <a:xfrm>
            <a:off x="4105871" y="2028031"/>
            <a:ext cx="675879" cy="228600"/>
          </a:xfrm>
          <a:prstGeom prst="rect">
            <a:avLst/>
          </a:prstGeom>
          <a:solidFill>
            <a:srgbClr val="FFFFFF"/>
          </a:solidFill>
          <a:ln w="12700">
            <a:solidFill>
              <a:srgbClr val="333399"/>
            </a:solidFill>
            <a:prstDash val="solid"/>
          </a:ln>
        </p:spPr>
      </p:sp>
      <p:sp>
        <p:nvSpPr>
          <p:cNvPr id="17" name="Text 14"/>
          <p:cNvSpPr txBox="1"/>
          <p:nvPr/>
        </p:nvSpPr>
        <p:spPr>
          <a:xfrm>
            <a:off x="2351881" y="2002631"/>
            <a:ext cx="4075708"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preflight; upper-case </a:t>
            </a:r>
            <a:pPr algn="l" indent="0" marL="0">
              <a:buNone/>
            </a:pPr>
            <a:r>
              <a:rPr lang="en-US" sz="1440" b="1" dirty="0">
                <a:solidFill>
                  <a:srgbClr val="000000"/>
                </a:solidFill>
                <a:latin typeface="Courier New" pitchFamily="34" charset="0"/>
                <a:ea typeface="Courier New" pitchFamily="34" charset="-122"/>
                <a:cs typeface="Courier New" pitchFamily="34" charset="-120"/>
              </a:rPr>
              <a:t>QUERY</a:t>
            </a:r>
            <a:pPr algn="l" indent="0" marL="0">
              <a:buNone/>
            </a:pPr>
            <a:r>
              <a:rPr lang="en-US" sz="1600" dirty="0">
                <a:solidFill>
                  <a:srgbClr val="000000"/>
                </a:solidFill>
                <a:latin typeface="Calibri" pitchFamily="34" charset="0"/>
                <a:ea typeface="Calibri" pitchFamily="34" charset="-122"/>
                <a:cs typeface="Calibri" pitchFamily="34" charset="-120"/>
              </a:rPr>
              <a:t>; exposed headers</a:t>
            </a:r>
            <a:endParaRPr lang="en-US" sz="1600" dirty="0"/>
          </a:p>
        </p:txBody>
      </p:sp>
      <p:sp>
        <p:nvSpPr>
          <p:cNvPr id="18" name="Shape 15"/>
          <p:cNvSpPr/>
          <p:nvPr/>
        </p:nvSpPr>
        <p:spPr>
          <a:xfrm>
            <a:off x="10447139" y="2028031"/>
            <a:ext cx="675879" cy="228600"/>
          </a:xfrm>
          <a:prstGeom prst="rect">
            <a:avLst/>
          </a:prstGeom>
          <a:solidFill>
            <a:srgbClr val="FFFFFF"/>
          </a:solidFill>
          <a:ln w="12700">
            <a:solidFill>
              <a:srgbClr val="333399"/>
            </a:solidFill>
            <a:prstDash val="solid"/>
          </a:ln>
        </p:spPr>
      </p:sp>
      <p:sp>
        <p:nvSpPr>
          <p:cNvPr id="19" name="Text 16"/>
          <p:cNvSpPr txBox="1"/>
          <p:nvPr/>
        </p:nvSpPr>
        <p:spPr>
          <a:xfrm>
            <a:off x="8189119" y="2002631"/>
            <a:ext cx="3022799"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request blocked, or sent as </a:t>
            </a:r>
            <a:pPr algn="l" indent="0" marL="0">
              <a:buNone/>
            </a:pPr>
            <a:r>
              <a:rPr lang="en-US" sz="1440" b="1" dirty="0">
                <a:solidFill>
                  <a:srgbClr val="000000"/>
                </a:solidFill>
                <a:latin typeface="Courier New" pitchFamily="34" charset="0"/>
                <a:ea typeface="Courier New" pitchFamily="34" charset="-122"/>
                <a:cs typeface="Courier New" pitchFamily="34" charset="-120"/>
              </a:rPr>
              <a:t>query</a:t>
            </a:r>
            <a:endParaRPr lang="en-US" sz="1600" dirty="0"/>
          </a:p>
        </p:txBody>
      </p:sp>
      <p:sp>
        <p:nvSpPr>
          <p:cNvPr id="20" name="Shape 17"/>
          <p:cNvSpPr/>
          <p:nvPr/>
        </p:nvSpPr>
        <p:spPr>
          <a:xfrm>
            <a:off x="91281" y="2910681"/>
            <a:ext cx="11806237" cy="12700"/>
          </a:xfrm>
          <a:prstGeom prst="rect">
            <a:avLst/>
          </a:prstGeom>
          <a:solidFill>
            <a:srgbClr val="333399"/>
          </a:solidFill>
          <a:ln/>
        </p:spPr>
      </p:sp>
      <p:sp>
        <p:nvSpPr>
          <p:cNvPr id="21" name="Text 18"/>
          <p:cNvSpPr txBox="1"/>
          <p:nvPr/>
        </p:nvSpPr>
        <p:spPr>
          <a:xfrm>
            <a:off x="192881" y="2536031"/>
            <a:ext cx="1100733" cy="241300"/>
          </a:xfrm>
          <a:prstGeom prst="rect">
            <a:avLst/>
          </a:prstGeom>
          <a:noFill/>
          <a:ln/>
        </p:spPr>
        <p:txBody>
          <a:bodyPr wrap="none" lIns="0" tIns="0" rIns="0" bIns="0" rtlCol="0" anchor="t"/>
          <a:lstStyle/>
          <a:p>
            <a:pPr algn="l" indent="0" marL="0">
              <a:buNone/>
            </a:pPr>
            <a:r>
              <a:rPr lang="en-US" sz="1600" b="1" dirty="0">
                <a:solidFill>
                  <a:srgbClr val="000000"/>
                </a:solidFill>
                <a:latin typeface="Calibri" pitchFamily="34" charset="0"/>
                <a:ea typeface="Calibri" pitchFamily="34" charset="-122"/>
                <a:cs typeface="Calibri" pitchFamily="34" charset="-120"/>
              </a:rPr>
              <a:t>CDN, cache</a:t>
            </a:r>
            <a:endParaRPr lang="en-US" sz="1600" dirty="0"/>
          </a:p>
        </p:txBody>
      </p:sp>
      <p:sp>
        <p:nvSpPr>
          <p:cNvPr id="22" name="Text 19"/>
          <p:cNvSpPr txBox="1"/>
          <p:nvPr/>
        </p:nvSpPr>
        <p:spPr>
          <a:xfrm>
            <a:off x="2351881" y="2536031"/>
            <a:ext cx="5150445"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key on method, URI, content and type; correct normalisation</a:t>
            </a:r>
            <a:endParaRPr lang="en-US" sz="1600" dirty="0"/>
          </a:p>
        </p:txBody>
      </p:sp>
      <p:sp>
        <p:nvSpPr>
          <p:cNvPr id="23" name="Text 20"/>
          <p:cNvSpPr txBox="1"/>
          <p:nvPr/>
        </p:nvSpPr>
        <p:spPr>
          <a:xfrm>
            <a:off x="8189119" y="2536031"/>
            <a:ext cx="2581871"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wrong or poisoned responses</a:t>
            </a:r>
            <a:endParaRPr lang="en-US" sz="1600" dirty="0"/>
          </a:p>
        </p:txBody>
      </p:sp>
      <p:sp>
        <p:nvSpPr>
          <p:cNvPr id="24" name="Shape 21"/>
          <p:cNvSpPr/>
          <p:nvPr/>
        </p:nvSpPr>
        <p:spPr>
          <a:xfrm>
            <a:off x="91281" y="3761581"/>
            <a:ext cx="11806237" cy="12700"/>
          </a:xfrm>
          <a:prstGeom prst="rect">
            <a:avLst/>
          </a:prstGeom>
          <a:solidFill>
            <a:srgbClr val="333399"/>
          </a:solidFill>
          <a:ln/>
        </p:spPr>
      </p:sp>
      <p:sp>
        <p:nvSpPr>
          <p:cNvPr id="25" name="Text 22"/>
          <p:cNvSpPr txBox="1"/>
          <p:nvPr/>
        </p:nvSpPr>
        <p:spPr>
          <a:xfrm>
            <a:off x="192881" y="3221831"/>
            <a:ext cx="543520" cy="241300"/>
          </a:xfrm>
          <a:prstGeom prst="rect">
            <a:avLst/>
          </a:prstGeom>
          <a:noFill/>
          <a:ln/>
        </p:spPr>
        <p:txBody>
          <a:bodyPr wrap="none" lIns="0" tIns="0" rIns="0" bIns="0" rtlCol="0" anchor="t"/>
          <a:lstStyle/>
          <a:p>
            <a:pPr algn="l" indent="0" marL="0">
              <a:buNone/>
            </a:pPr>
            <a:r>
              <a:rPr lang="en-US" sz="1600" b="1" dirty="0">
                <a:solidFill>
                  <a:srgbClr val="000000"/>
                </a:solidFill>
                <a:latin typeface="Calibri" pitchFamily="34" charset="0"/>
                <a:ea typeface="Calibri" pitchFamily="34" charset="-122"/>
                <a:cs typeface="Calibri" pitchFamily="34" charset="-120"/>
              </a:rPr>
              <a:t>WAF</a:t>
            </a:r>
            <a:endParaRPr lang="en-US" sz="1600" dirty="0"/>
          </a:p>
        </p:txBody>
      </p:sp>
      <p:sp>
        <p:nvSpPr>
          <p:cNvPr id="26" name="Text 23"/>
          <p:cNvSpPr txBox="1"/>
          <p:nvPr/>
        </p:nvSpPr>
        <p:spPr>
          <a:xfrm>
            <a:off x="2351881" y="3221831"/>
            <a:ext cx="4450755"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allow it; examine its body as a POST body; size limits</a:t>
            </a:r>
            <a:endParaRPr lang="en-US" sz="1600" dirty="0"/>
          </a:p>
        </p:txBody>
      </p:sp>
      <p:sp>
        <p:nvSpPr>
          <p:cNvPr id="27" name="Text 24"/>
          <p:cNvSpPr txBox="1"/>
          <p:nvPr/>
        </p:nvSpPr>
        <p:spPr>
          <a:xfrm>
            <a:off x="8189119" y="3056731"/>
            <a:ext cx="3632200" cy="533400"/>
          </a:xfrm>
          <a:prstGeom prst="rect">
            <a:avLst/>
          </a:prstGeom>
          <a:noFill/>
          <a:ln/>
        </p:spPr>
        <p:txBody>
          <a:bodyPr wrap="square" lIns="0" tIns="0" rIns="0" bIns="0" rtlCol="0" anchor="t"/>
          <a:lstStyle/>
          <a:p>
            <a:pPr algn="l" indent="0" marL="0">
              <a:lnSpc>
                <a:spcPts val="3000"/>
              </a:lnSpc>
              <a:buNone/>
            </a:pPr>
            <a:r>
              <a:rPr lang="en-US" sz="1600" dirty="0">
                <a:solidFill>
                  <a:srgbClr val="000000"/>
                </a:solidFill>
                <a:latin typeface="Calibri" pitchFamily="34" charset="0"/>
                <a:ea typeface="Calibri" pitchFamily="34" charset="-122"/>
                <a:cs typeface="Calibri" pitchFamily="34" charset="-120"/>
              </a:rPr>
              <a:t>a change of method avoids the rules </a:t>
            </a:r>
            <a:pPr algn="l" indent="0" marL="0">
              <a:lnSpc>
                <a:spcPts val="3000"/>
              </a:lnSpc>
              <a:buNone/>
            </a:pPr>
            <a:r>
              <a:rPr lang="en-US" sz="992" u="sng" dirty="0">
                <a:solidFill>
                  <a:srgbClr val="59595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[OWASP WSTG-CONF-06]</a:t>
            </a:r>
            <a:endParaRPr lang="en-US" sz="1600" dirty="0"/>
          </a:p>
        </p:txBody>
      </p:sp>
      <p:sp>
        <p:nvSpPr>
          <p:cNvPr id="28" name="Shape 25"/>
          <p:cNvSpPr/>
          <p:nvPr/>
        </p:nvSpPr>
        <p:spPr>
          <a:xfrm>
            <a:off x="91281" y="4307681"/>
            <a:ext cx="11806237" cy="12700"/>
          </a:xfrm>
          <a:prstGeom prst="rect">
            <a:avLst/>
          </a:prstGeom>
          <a:solidFill>
            <a:srgbClr val="333399"/>
          </a:solidFill>
          <a:ln/>
        </p:spPr>
      </p:sp>
      <p:sp>
        <p:nvSpPr>
          <p:cNvPr id="29" name="Text 26"/>
          <p:cNvSpPr txBox="1"/>
          <p:nvPr/>
        </p:nvSpPr>
        <p:spPr>
          <a:xfrm>
            <a:off x="192881" y="3920331"/>
            <a:ext cx="1884957" cy="241300"/>
          </a:xfrm>
          <a:prstGeom prst="rect">
            <a:avLst/>
          </a:prstGeom>
          <a:noFill/>
          <a:ln/>
        </p:spPr>
        <p:txBody>
          <a:bodyPr wrap="none" lIns="0" tIns="0" rIns="0" bIns="0" rtlCol="0" anchor="t"/>
          <a:lstStyle/>
          <a:p>
            <a:pPr algn="l" indent="0" marL="0">
              <a:buNone/>
            </a:pPr>
            <a:r>
              <a:rPr lang="en-US" sz="1600" b="1" dirty="0">
                <a:solidFill>
                  <a:srgbClr val="000000"/>
                </a:solidFill>
                <a:latin typeface="Calibri" pitchFamily="34" charset="0"/>
                <a:ea typeface="Calibri" pitchFamily="34" charset="-122"/>
                <a:cs typeface="Calibri" pitchFamily="34" charset="-120"/>
              </a:rPr>
              <a:t>Load balancer, proxy</a:t>
            </a:r>
            <a:endParaRPr lang="en-US" sz="1600" dirty="0"/>
          </a:p>
        </p:txBody>
      </p:sp>
      <p:sp>
        <p:nvSpPr>
          <p:cNvPr id="30" name="Text 27"/>
          <p:cNvSpPr txBox="1"/>
          <p:nvPr/>
        </p:nvSpPr>
        <p:spPr>
          <a:xfrm>
            <a:off x="2351881" y="3920331"/>
            <a:ext cx="4836319"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forward it; frame the body the same way as the next hop</a:t>
            </a:r>
            <a:endParaRPr lang="en-US" sz="1600" dirty="0"/>
          </a:p>
        </p:txBody>
      </p:sp>
      <p:sp>
        <p:nvSpPr>
          <p:cNvPr id="31" name="Text 28"/>
          <p:cNvSpPr txBox="1"/>
          <p:nvPr/>
        </p:nvSpPr>
        <p:spPr>
          <a:xfrm>
            <a:off x="8189119" y="3907631"/>
            <a:ext cx="3650456"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405 or 501, or request smuggling </a:t>
            </a:r>
            <a:pPr algn="l" indent="0" marL="0">
              <a:buNone/>
            </a:pPr>
            <a:r>
              <a:rPr lang="en-US" sz="992" u="sng" dirty="0">
                <a:solidFill>
                  <a:srgbClr val="59595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[Jabiyev 2021]</a:t>
            </a:r>
            <a:endParaRPr lang="en-US" sz="1600" dirty="0"/>
          </a:p>
        </p:txBody>
      </p:sp>
      <p:sp>
        <p:nvSpPr>
          <p:cNvPr id="32" name="Shape 29"/>
          <p:cNvSpPr/>
          <p:nvPr/>
        </p:nvSpPr>
        <p:spPr>
          <a:xfrm>
            <a:off x="91281" y="4828381"/>
            <a:ext cx="11806237" cy="12700"/>
          </a:xfrm>
          <a:prstGeom prst="rect">
            <a:avLst/>
          </a:prstGeom>
          <a:solidFill>
            <a:srgbClr val="333399"/>
          </a:solidFill>
          <a:ln/>
        </p:spPr>
      </p:sp>
      <p:sp>
        <p:nvSpPr>
          <p:cNvPr id="33" name="Text 30"/>
          <p:cNvSpPr txBox="1"/>
          <p:nvPr/>
        </p:nvSpPr>
        <p:spPr>
          <a:xfrm>
            <a:off x="192881" y="4453731"/>
            <a:ext cx="1525785" cy="241300"/>
          </a:xfrm>
          <a:prstGeom prst="rect">
            <a:avLst/>
          </a:prstGeom>
          <a:noFill/>
          <a:ln/>
        </p:spPr>
        <p:txBody>
          <a:bodyPr wrap="none" lIns="0" tIns="0" rIns="0" bIns="0" rtlCol="0" anchor="t"/>
          <a:lstStyle/>
          <a:p>
            <a:pPr algn="l" indent="0" marL="0">
              <a:buNone/>
            </a:pPr>
            <a:r>
              <a:rPr lang="en-US" sz="1600" b="1" dirty="0">
                <a:solidFill>
                  <a:srgbClr val="000000"/>
                </a:solidFill>
                <a:latin typeface="Calibri" pitchFamily="34" charset="0"/>
                <a:ea typeface="Calibri" pitchFamily="34" charset="-122"/>
                <a:cs typeface="Calibri" pitchFamily="34" charset="-120"/>
              </a:rPr>
              <a:t>Framework, app</a:t>
            </a:r>
            <a:endParaRPr lang="en-US" sz="1600" dirty="0"/>
          </a:p>
        </p:txBody>
      </p:sp>
      <p:sp>
        <p:nvSpPr>
          <p:cNvPr id="34" name="Text 31"/>
          <p:cNvSpPr txBox="1"/>
          <p:nvPr/>
        </p:nvSpPr>
        <p:spPr>
          <a:xfrm>
            <a:off x="2351881" y="4453731"/>
            <a:ext cx="5468144"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route it; strict Content-Type; authorization, validation, cost limits</a:t>
            </a:r>
            <a:endParaRPr lang="en-US" sz="1600" dirty="0"/>
          </a:p>
        </p:txBody>
      </p:sp>
      <p:sp>
        <p:nvSpPr>
          <p:cNvPr id="35" name="Text 32"/>
          <p:cNvSpPr txBox="1"/>
          <p:nvPr/>
        </p:nvSpPr>
        <p:spPr>
          <a:xfrm>
            <a:off x="8189119" y="4453731"/>
            <a:ext cx="2596157"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415 / 422 gaps, injection, DoS</a:t>
            </a:r>
            <a:endParaRPr lang="en-US" sz="1600" dirty="0"/>
          </a:p>
        </p:txBody>
      </p:sp>
      <p:sp>
        <p:nvSpPr>
          <p:cNvPr id="36" name="Shape 33"/>
          <p:cNvSpPr/>
          <p:nvPr/>
        </p:nvSpPr>
        <p:spPr>
          <a:xfrm>
            <a:off x="91281" y="5349081"/>
            <a:ext cx="11806237" cy="12700"/>
          </a:xfrm>
          <a:prstGeom prst="rect">
            <a:avLst/>
          </a:prstGeom>
          <a:solidFill>
            <a:srgbClr val="333399"/>
          </a:solidFill>
          <a:ln/>
        </p:spPr>
      </p:sp>
      <p:sp>
        <p:nvSpPr>
          <p:cNvPr id="37" name="Text 34"/>
          <p:cNvSpPr txBox="1"/>
          <p:nvPr/>
        </p:nvSpPr>
        <p:spPr>
          <a:xfrm>
            <a:off x="192881" y="4974431"/>
            <a:ext cx="940395" cy="241300"/>
          </a:xfrm>
          <a:prstGeom prst="rect">
            <a:avLst/>
          </a:prstGeom>
          <a:noFill/>
          <a:ln/>
        </p:spPr>
        <p:txBody>
          <a:bodyPr wrap="none" lIns="0" tIns="0" rIns="0" bIns="0" rtlCol="0" anchor="t"/>
          <a:lstStyle/>
          <a:p>
            <a:pPr algn="l" indent="0" marL="0">
              <a:buNone/>
            </a:pPr>
            <a:r>
              <a:rPr lang="en-US" sz="1600" b="1" dirty="0">
                <a:solidFill>
                  <a:srgbClr val="000000"/>
                </a:solidFill>
                <a:latin typeface="Calibri" pitchFamily="34" charset="0"/>
                <a:ea typeface="Calibri" pitchFamily="34" charset="-122"/>
                <a:cs typeface="Calibri" pitchFamily="34" charset="-120"/>
              </a:rPr>
              <a:t>Database</a:t>
            </a:r>
            <a:endParaRPr lang="en-US" sz="1600" dirty="0"/>
          </a:p>
        </p:txBody>
      </p:sp>
      <p:sp>
        <p:nvSpPr>
          <p:cNvPr id="38" name="Text 35"/>
          <p:cNvSpPr txBox="1"/>
          <p:nvPr/>
        </p:nvSpPr>
        <p:spPr>
          <a:xfrm>
            <a:off x="2351881" y="4974431"/>
            <a:ext cx="3910608"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parameterised queries, timeouts, result limits</a:t>
            </a:r>
            <a:endParaRPr lang="en-US" sz="1600" dirty="0"/>
          </a:p>
        </p:txBody>
      </p:sp>
      <p:sp>
        <p:nvSpPr>
          <p:cNvPr id="39" name="Text 36"/>
          <p:cNvSpPr txBox="1"/>
          <p:nvPr/>
        </p:nvSpPr>
        <p:spPr>
          <a:xfrm>
            <a:off x="8189119" y="4974431"/>
            <a:ext cx="1866503"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injection, exhaustion</a:t>
            </a:r>
            <a:endParaRPr lang="en-US" sz="1600" dirty="0"/>
          </a:p>
        </p:txBody>
      </p:sp>
      <p:sp>
        <p:nvSpPr>
          <p:cNvPr id="40" name="Text 37"/>
          <p:cNvSpPr txBox="1"/>
          <p:nvPr/>
        </p:nvSpPr>
        <p:spPr>
          <a:xfrm>
            <a:off x="192881" y="5660231"/>
            <a:ext cx="1529755" cy="241300"/>
          </a:xfrm>
          <a:prstGeom prst="rect">
            <a:avLst/>
          </a:prstGeom>
          <a:noFill/>
          <a:ln/>
        </p:spPr>
        <p:txBody>
          <a:bodyPr wrap="none" lIns="0" tIns="0" rIns="0" bIns="0" rtlCol="0" anchor="t"/>
          <a:lstStyle/>
          <a:p>
            <a:pPr algn="l" indent="0" marL="0">
              <a:buNone/>
            </a:pPr>
            <a:r>
              <a:rPr lang="en-US" sz="1600" b="1" dirty="0">
                <a:solidFill>
                  <a:srgbClr val="000000"/>
                </a:solidFill>
                <a:latin typeface="Calibri" pitchFamily="34" charset="0"/>
                <a:ea typeface="Calibri" pitchFamily="34" charset="-122"/>
                <a:cs typeface="Calibri" pitchFamily="34" charset="-120"/>
              </a:rPr>
              <a:t>Logs, SIEM, docs</a:t>
            </a:r>
            <a:endParaRPr lang="en-US" sz="1600" dirty="0"/>
          </a:p>
        </p:txBody>
      </p:sp>
      <p:sp>
        <p:nvSpPr>
          <p:cNvPr id="41" name="Shape 38"/>
          <p:cNvSpPr/>
          <p:nvPr/>
        </p:nvSpPr>
        <p:spPr>
          <a:xfrm>
            <a:off x="2351881" y="5825331"/>
            <a:ext cx="675879" cy="228600"/>
          </a:xfrm>
          <a:prstGeom prst="rect">
            <a:avLst/>
          </a:prstGeom>
          <a:solidFill>
            <a:srgbClr val="FFFFFF"/>
          </a:solidFill>
          <a:ln w="12700">
            <a:solidFill>
              <a:srgbClr val="333399"/>
            </a:solidFill>
            <a:prstDash val="solid"/>
          </a:ln>
        </p:spPr>
      </p:sp>
      <p:sp>
        <p:nvSpPr>
          <p:cNvPr id="42" name="Text 39"/>
          <p:cNvSpPr txBox="1"/>
          <p:nvPr/>
        </p:nvSpPr>
        <p:spPr>
          <a:xfrm>
            <a:off x="2351881" y="5495131"/>
            <a:ext cx="5659437" cy="546100"/>
          </a:xfrm>
          <a:prstGeom prst="rect">
            <a:avLst/>
          </a:prstGeom>
          <a:noFill/>
          <a:ln/>
        </p:spPr>
        <p:txBody>
          <a:bodyPr wrap="square" lIns="0" tIns="0" rIns="0" bIns="0" rtlCol="0" anchor="t"/>
          <a:lstStyle/>
          <a:p>
            <a:pPr algn="l" indent="0" marL="0">
              <a:lnSpc>
                <a:spcPts val="2700"/>
              </a:lnSpc>
              <a:buNone/>
            </a:pPr>
            <a:r>
              <a:rPr lang="en-US" sz="1600" dirty="0">
                <a:solidFill>
                  <a:srgbClr val="000000"/>
                </a:solidFill>
                <a:latin typeface="Calibri" pitchFamily="34" charset="0"/>
                <a:ea typeface="Calibri" pitchFamily="34" charset="-122"/>
                <a:cs typeface="Calibri" pitchFamily="34" charset="-120"/>
              </a:rPr>
              <a:t>parse the method; no raw sensitive bodies; OpenAPI 3.2 has </a:t>
            </a:r>
            <a:pPr algn="l" indent="0" marL="0">
              <a:lnSpc>
                <a:spcPts val="2700"/>
              </a:lnSpc>
              <a:buNone/>
            </a:pPr>
            <a:r>
              <a:rPr lang="en-US" sz="1440" b="1" dirty="0">
                <a:solidFill>
                  <a:srgbClr val="000000"/>
                </a:solidFill>
                <a:latin typeface="Courier New" pitchFamily="34" charset="0"/>
                <a:ea typeface="Courier New" pitchFamily="34" charset="-122"/>
                <a:cs typeface="Courier New" pitchFamily="34" charset="-120"/>
              </a:rPr>
              <a:t>query </a:t>
            </a:r>
            <a:pPr algn="l" indent="0" marL="0">
              <a:lnSpc>
                <a:spcPts val="2700"/>
              </a:lnSpc>
              <a:buNone/>
            </a:pPr>
            <a:r>
              <a:rPr lang="en-US" sz="992" u="sng" dirty="0">
                <a:solidFill>
                  <a:srgbClr val="59595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[OAS 3.2]</a:t>
            </a:r>
            <a:endParaRPr lang="en-US" sz="1600" dirty="0"/>
          </a:p>
        </p:txBody>
      </p:sp>
      <p:sp>
        <p:nvSpPr>
          <p:cNvPr id="43" name="Text 40"/>
          <p:cNvSpPr txBox="1"/>
          <p:nvPr/>
        </p:nvSpPr>
        <p:spPr>
          <a:xfrm>
            <a:off x="8189119" y="5660231"/>
            <a:ext cx="1688108" cy="241300"/>
          </a:xfrm>
          <a:prstGeom prst="rect">
            <a:avLst/>
          </a:prstGeom>
          <a:noFill/>
          <a:ln/>
        </p:spPr>
        <p:txBody>
          <a:bodyPr wrap="none" lIns="0" tIns="0" rIns="0" bIns="0" rtlCol="0" anchor="t"/>
          <a:lstStyle/>
          <a:p>
            <a:pPr algn="l" indent="0" marL="0">
              <a:buNone/>
            </a:pPr>
            <a:r>
              <a:rPr lang="en-US" sz="1600" dirty="0">
                <a:solidFill>
                  <a:srgbClr val="000000"/>
                </a:solidFill>
                <a:latin typeface="Calibri" pitchFamily="34" charset="0"/>
                <a:ea typeface="Calibri" pitchFamily="34" charset="-122"/>
                <a:cs typeface="Calibri" pitchFamily="34" charset="-120"/>
              </a:rPr>
              <a:t>gaps in monitoring</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24</a:t>
            </a:r>
            <a:endParaRPr lang="en-US" sz="1400" dirty="0"/>
          </a:p>
        </p:txBody>
      </p:sp>
      <p:sp>
        <p:nvSpPr>
          <p:cNvPr id="8" name="Text 5"/>
          <p:cNvSpPr txBox="1"/>
          <p:nvPr/>
        </p:nvSpPr>
        <p:spPr>
          <a:xfrm>
            <a:off x="10492184" y="191492"/>
            <a:ext cx="176093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Conclusion</a:t>
            </a:r>
            <a:endParaRPr lang="en-US" sz="2800" dirty="0"/>
          </a:p>
        </p:txBody>
      </p:sp>
      <p:sp>
        <p:nvSpPr>
          <p:cNvPr id="9" name="Shape 6"/>
          <p:cNvSpPr/>
          <p:nvPr/>
        </p:nvSpPr>
        <p:spPr>
          <a:xfrm>
            <a:off x="700881" y="1036240"/>
            <a:ext cx="3596680" cy="2224881"/>
          </a:xfrm>
          <a:prstGeom prst="roundRect">
            <a:avLst>
              <a:gd name="adj" fmla="val 2283"/>
            </a:avLst>
          </a:prstGeom>
          <a:solidFill>
            <a:srgbClr val="FFFFFF"/>
          </a:solidFill>
          <a:ln w="12700">
            <a:solidFill>
              <a:srgbClr val="333399"/>
            </a:solidFill>
            <a:prstDash val="solid"/>
          </a:ln>
        </p:spPr>
      </p:sp>
      <p:sp>
        <p:nvSpPr>
          <p:cNvPr id="10" name="Shape 7"/>
          <p:cNvSpPr/>
          <p:nvPr/>
        </p:nvSpPr>
        <p:spPr>
          <a:xfrm>
            <a:off x="865981" y="1201340"/>
            <a:ext cx="649883" cy="353020"/>
          </a:xfrm>
          <a:prstGeom prst="rect">
            <a:avLst/>
          </a:prstGeom>
          <a:solidFill>
            <a:srgbClr val="333399"/>
          </a:solidFill>
          <a:ln/>
        </p:spPr>
      </p:sp>
      <p:sp>
        <p:nvSpPr>
          <p:cNvPr id="11" name="Text 8"/>
          <p:cNvSpPr txBox="1"/>
          <p:nvPr/>
        </p:nvSpPr>
        <p:spPr>
          <a:xfrm>
            <a:off x="954881" y="1226740"/>
            <a:ext cx="624483" cy="292100"/>
          </a:xfrm>
          <a:prstGeom prst="rect">
            <a:avLst/>
          </a:prstGeom>
          <a:noFill/>
          <a:ln/>
        </p:spPr>
        <p:txBody>
          <a:bodyPr wrap="none" lIns="0" tIns="0" rIns="0" bIns="0" rtlCol="0" anchor="t"/>
          <a:lstStyle/>
          <a:p>
            <a:pPr algn="l" indent="0" marL="0">
              <a:buNone/>
            </a:pPr>
            <a:r>
              <a:rPr lang="en-US" sz="2064" b="1" dirty="0">
                <a:solidFill>
                  <a:srgbClr val="FFFFFF"/>
                </a:solidFill>
                <a:latin typeface="Courier New" pitchFamily="34" charset="0"/>
                <a:ea typeface="Courier New" pitchFamily="34" charset="-122"/>
                <a:cs typeface="Courier New" pitchFamily="34" charset="-120"/>
              </a:rPr>
              <a:t>GET</a:t>
            </a:r>
            <a:endParaRPr lang="en-US" sz="2064" dirty="0"/>
          </a:p>
        </p:txBody>
      </p:sp>
      <p:sp>
        <p:nvSpPr>
          <p:cNvPr id="12" name="Text 9"/>
          <p:cNvSpPr txBox="1"/>
          <p:nvPr/>
        </p:nvSpPr>
        <p:spPr>
          <a:xfrm>
            <a:off x="865981" y="1668661"/>
            <a:ext cx="2476699" cy="279400"/>
          </a:xfrm>
          <a:prstGeom prst="rect">
            <a:avLst/>
          </a:prstGeom>
          <a:noFill/>
          <a:ln/>
        </p:spPr>
        <p:txBody>
          <a:bodyPr wrap="none" lIns="0" tIns="0" rIns="0" bIns="0" rtlCol="0" anchor="t"/>
          <a:lstStyle/>
          <a:p>
            <a:pPr algn="l" indent="0" marL="0">
              <a:buNone/>
            </a:pPr>
            <a:r>
              <a:rPr lang="en-US" sz="1800" b="1" dirty="0">
                <a:solidFill>
                  <a:srgbClr val="993300"/>
                </a:solidFill>
                <a:latin typeface="Calibri" pitchFamily="34" charset="0"/>
                <a:ea typeface="Calibri" pitchFamily="34" charset="-122"/>
                <a:cs typeface="Calibri" pitchFamily="34" charset="-120"/>
              </a:rPr>
              <a:t>Get a resource by its URI</a:t>
            </a:r>
            <a:endParaRPr lang="en-US" sz="1800" dirty="0"/>
          </a:p>
        </p:txBody>
      </p:sp>
      <p:sp>
        <p:nvSpPr>
          <p:cNvPr id="13" name="Text 10"/>
          <p:cNvSpPr txBox="1"/>
          <p:nvPr/>
        </p:nvSpPr>
        <p:spPr>
          <a:xfrm>
            <a:off x="865981" y="212586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14" name="Text 11"/>
          <p:cNvSpPr txBox="1"/>
          <p:nvPr/>
        </p:nvSpPr>
        <p:spPr>
          <a:xfrm>
            <a:off x="1119981" y="2113161"/>
            <a:ext cx="2268339"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the query fits in a URI</a:t>
            </a:r>
            <a:endParaRPr lang="en-US" sz="1900" dirty="0"/>
          </a:p>
        </p:txBody>
      </p:sp>
      <p:sp>
        <p:nvSpPr>
          <p:cNvPr id="15" name="Text 12"/>
          <p:cNvSpPr txBox="1"/>
          <p:nvPr/>
        </p:nvSpPr>
        <p:spPr>
          <a:xfrm>
            <a:off x="865981" y="245348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16" name="Text 13"/>
          <p:cNvSpPr txBox="1"/>
          <p:nvPr/>
        </p:nvSpPr>
        <p:spPr>
          <a:xfrm>
            <a:off x="1119981" y="2440781"/>
            <a:ext cx="3139679"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links and caches are important</a:t>
            </a:r>
            <a:endParaRPr lang="en-US" sz="1900" dirty="0"/>
          </a:p>
        </p:txBody>
      </p:sp>
      <p:sp>
        <p:nvSpPr>
          <p:cNvPr id="17" name="Shape 14"/>
          <p:cNvSpPr/>
          <p:nvPr/>
        </p:nvSpPr>
        <p:spPr>
          <a:xfrm>
            <a:off x="4449961" y="1036240"/>
            <a:ext cx="3596680" cy="2224881"/>
          </a:xfrm>
          <a:prstGeom prst="roundRect">
            <a:avLst>
              <a:gd name="adj" fmla="val 2283"/>
            </a:avLst>
          </a:prstGeom>
          <a:solidFill>
            <a:srgbClr val="FFFFFF"/>
          </a:solidFill>
          <a:ln w="25400">
            <a:solidFill>
              <a:srgbClr val="CC6600"/>
            </a:solidFill>
            <a:prstDash val="solid"/>
          </a:ln>
        </p:spPr>
      </p:sp>
      <p:sp>
        <p:nvSpPr>
          <p:cNvPr id="18" name="Shape 15"/>
          <p:cNvSpPr/>
          <p:nvPr/>
        </p:nvSpPr>
        <p:spPr>
          <a:xfrm>
            <a:off x="4627761" y="1214040"/>
            <a:ext cx="964407" cy="353020"/>
          </a:xfrm>
          <a:prstGeom prst="rect">
            <a:avLst/>
          </a:prstGeom>
          <a:solidFill>
            <a:srgbClr val="CC6600"/>
          </a:solidFill>
          <a:ln/>
        </p:spPr>
      </p:sp>
      <p:sp>
        <p:nvSpPr>
          <p:cNvPr id="19" name="Text 16"/>
          <p:cNvSpPr txBox="1"/>
          <p:nvPr/>
        </p:nvSpPr>
        <p:spPr>
          <a:xfrm>
            <a:off x="4716661" y="1239440"/>
            <a:ext cx="939007" cy="292100"/>
          </a:xfrm>
          <a:prstGeom prst="rect">
            <a:avLst/>
          </a:prstGeom>
          <a:noFill/>
          <a:ln/>
        </p:spPr>
        <p:txBody>
          <a:bodyPr wrap="none" lIns="0" tIns="0" rIns="0" bIns="0" rtlCol="0" anchor="t"/>
          <a:lstStyle/>
          <a:p>
            <a:pPr algn="l" indent="0" marL="0">
              <a:buNone/>
            </a:pPr>
            <a:r>
              <a:rPr lang="en-US" sz="2064" b="1" dirty="0">
                <a:solidFill>
                  <a:srgbClr val="FFFFFF"/>
                </a:solidFill>
                <a:latin typeface="Courier New" pitchFamily="34" charset="0"/>
                <a:ea typeface="Courier New" pitchFamily="34" charset="-122"/>
                <a:cs typeface="Courier New" pitchFamily="34" charset="-120"/>
              </a:rPr>
              <a:t>QUERY</a:t>
            </a:r>
            <a:endParaRPr lang="en-US" sz="2064" dirty="0"/>
          </a:p>
        </p:txBody>
      </p:sp>
      <p:sp>
        <p:nvSpPr>
          <p:cNvPr id="20" name="Text 17"/>
          <p:cNvSpPr txBox="1"/>
          <p:nvPr/>
        </p:nvSpPr>
        <p:spPr>
          <a:xfrm>
            <a:off x="4627761" y="1681361"/>
            <a:ext cx="2419351" cy="279400"/>
          </a:xfrm>
          <a:prstGeom prst="rect">
            <a:avLst/>
          </a:prstGeom>
          <a:noFill/>
          <a:ln/>
        </p:spPr>
        <p:txBody>
          <a:bodyPr wrap="none" lIns="0" tIns="0" rIns="0" bIns="0" rtlCol="0" anchor="t"/>
          <a:lstStyle/>
          <a:p>
            <a:pPr algn="l" indent="0" marL="0">
              <a:buNone/>
            </a:pPr>
            <a:r>
              <a:rPr lang="en-US" sz="1800" b="1" dirty="0">
                <a:solidFill>
                  <a:srgbClr val="993300"/>
                </a:solidFill>
                <a:latin typeface="Calibri" pitchFamily="34" charset="0"/>
                <a:ea typeface="Calibri" pitchFamily="34" charset="-122"/>
                <a:cs typeface="Calibri" pitchFamily="34" charset="-120"/>
              </a:rPr>
              <a:t>Safe query with content</a:t>
            </a:r>
            <a:endParaRPr lang="en-US" sz="1800" dirty="0"/>
          </a:p>
        </p:txBody>
      </p:sp>
      <p:sp>
        <p:nvSpPr>
          <p:cNvPr id="21" name="Text 18"/>
          <p:cNvSpPr txBox="1"/>
          <p:nvPr/>
        </p:nvSpPr>
        <p:spPr>
          <a:xfrm>
            <a:off x="4627761" y="213856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2" name="Text 19"/>
          <p:cNvSpPr txBox="1"/>
          <p:nvPr/>
        </p:nvSpPr>
        <p:spPr>
          <a:xfrm>
            <a:off x="4881761" y="2125861"/>
            <a:ext cx="2486620"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the operation </a:t>
            </a:r>
            <a:pPr algn="l" indent="0" marL="0">
              <a:buNone/>
            </a:pPr>
            <a:r>
              <a:rPr lang="en-US" sz="1900" i="1" dirty="0">
                <a:solidFill>
                  <a:srgbClr val="000000"/>
                </a:solidFill>
                <a:latin typeface="Calibri" pitchFamily="34" charset="0"/>
                <a:ea typeface="Calibri" pitchFamily="34" charset="-122"/>
                <a:cs typeface="Calibri" pitchFamily="34" charset="-120"/>
              </a:rPr>
              <a:t>is</a:t>
            </a:r>
            <a:pPr algn="l" indent="0" marL="0">
              <a:buNone/>
            </a:pPr>
            <a:r>
              <a:rPr lang="en-US" sz="1900" dirty="0">
                <a:solidFill>
                  <a:srgbClr val="000000"/>
                </a:solidFill>
                <a:latin typeface="Calibri" pitchFamily="34" charset="0"/>
                <a:ea typeface="Calibri" pitchFamily="34" charset="-122"/>
                <a:cs typeface="Calibri" pitchFamily="34" charset="-120"/>
              </a:rPr>
              <a:t> a query</a:t>
            </a:r>
            <a:endParaRPr lang="en-US" sz="1900" dirty="0"/>
          </a:p>
        </p:txBody>
      </p:sp>
      <p:sp>
        <p:nvSpPr>
          <p:cNvPr id="23" name="Text 20"/>
          <p:cNvSpPr txBox="1"/>
          <p:nvPr/>
        </p:nvSpPr>
        <p:spPr>
          <a:xfrm>
            <a:off x="4627761" y="246618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4" name="Text 21"/>
          <p:cNvSpPr txBox="1"/>
          <p:nvPr/>
        </p:nvSpPr>
        <p:spPr>
          <a:xfrm>
            <a:off x="4881761" y="2453481"/>
            <a:ext cx="3134717"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the input is large or structured</a:t>
            </a:r>
            <a:endParaRPr lang="en-US" sz="1900" dirty="0"/>
          </a:p>
        </p:txBody>
      </p:sp>
      <p:sp>
        <p:nvSpPr>
          <p:cNvPr id="25" name="Text 22"/>
          <p:cNvSpPr txBox="1"/>
          <p:nvPr/>
        </p:nvSpPr>
        <p:spPr>
          <a:xfrm>
            <a:off x="4627761" y="279380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26" name="Text 23"/>
          <p:cNvSpPr txBox="1"/>
          <p:nvPr/>
        </p:nvSpPr>
        <p:spPr>
          <a:xfrm>
            <a:off x="4881761" y="2781101"/>
            <a:ext cx="1919684"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all hops support it</a:t>
            </a:r>
            <a:endParaRPr lang="en-US" sz="1900" dirty="0"/>
          </a:p>
        </p:txBody>
      </p:sp>
      <p:sp>
        <p:nvSpPr>
          <p:cNvPr id="27" name="Shape 24"/>
          <p:cNvSpPr/>
          <p:nvPr/>
        </p:nvSpPr>
        <p:spPr>
          <a:xfrm>
            <a:off x="8199040" y="1036240"/>
            <a:ext cx="3596879" cy="2224881"/>
          </a:xfrm>
          <a:prstGeom prst="roundRect">
            <a:avLst>
              <a:gd name="adj" fmla="val 2283"/>
            </a:avLst>
          </a:prstGeom>
          <a:solidFill>
            <a:srgbClr val="FFFFFF"/>
          </a:solidFill>
          <a:ln w="12700">
            <a:solidFill>
              <a:srgbClr val="333399"/>
            </a:solidFill>
            <a:prstDash val="solid"/>
          </a:ln>
        </p:spPr>
      </p:sp>
      <p:sp>
        <p:nvSpPr>
          <p:cNvPr id="28" name="Shape 25"/>
          <p:cNvSpPr/>
          <p:nvPr/>
        </p:nvSpPr>
        <p:spPr>
          <a:xfrm>
            <a:off x="8364140" y="1201340"/>
            <a:ext cx="807045" cy="353020"/>
          </a:xfrm>
          <a:prstGeom prst="rect">
            <a:avLst/>
          </a:prstGeom>
          <a:solidFill>
            <a:srgbClr val="993300"/>
          </a:solidFill>
          <a:ln/>
        </p:spPr>
      </p:sp>
      <p:sp>
        <p:nvSpPr>
          <p:cNvPr id="29" name="Text 26"/>
          <p:cNvSpPr txBox="1"/>
          <p:nvPr/>
        </p:nvSpPr>
        <p:spPr>
          <a:xfrm>
            <a:off x="8453040" y="1226740"/>
            <a:ext cx="781645" cy="292100"/>
          </a:xfrm>
          <a:prstGeom prst="rect">
            <a:avLst/>
          </a:prstGeom>
          <a:noFill/>
          <a:ln/>
        </p:spPr>
        <p:txBody>
          <a:bodyPr wrap="none" lIns="0" tIns="0" rIns="0" bIns="0" rtlCol="0" anchor="t"/>
          <a:lstStyle/>
          <a:p>
            <a:pPr algn="l" indent="0" marL="0">
              <a:buNone/>
            </a:pPr>
            <a:r>
              <a:rPr lang="en-US" sz="2064" b="1" dirty="0">
                <a:solidFill>
                  <a:srgbClr val="FFFFFF"/>
                </a:solidFill>
                <a:latin typeface="Courier New" pitchFamily="34" charset="0"/>
                <a:ea typeface="Courier New" pitchFamily="34" charset="-122"/>
                <a:cs typeface="Courier New" pitchFamily="34" charset="-120"/>
              </a:rPr>
              <a:t>POST</a:t>
            </a:r>
            <a:endParaRPr lang="en-US" sz="2064" dirty="0"/>
          </a:p>
        </p:txBody>
      </p:sp>
      <p:sp>
        <p:nvSpPr>
          <p:cNvPr id="30" name="Text 27"/>
          <p:cNvSpPr txBox="1"/>
          <p:nvPr/>
        </p:nvSpPr>
        <p:spPr>
          <a:xfrm>
            <a:off x="8364140" y="1668661"/>
            <a:ext cx="1952228" cy="279400"/>
          </a:xfrm>
          <a:prstGeom prst="rect">
            <a:avLst/>
          </a:prstGeom>
          <a:noFill/>
          <a:ln/>
        </p:spPr>
        <p:txBody>
          <a:bodyPr wrap="none" lIns="0" tIns="0" rIns="0" bIns="0" rtlCol="0" anchor="t"/>
          <a:lstStyle/>
          <a:p>
            <a:pPr algn="l" indent="0" marL="0">
              <a:buNone/>
            </a:pPr>
            <a:r>
              <a:rPr lang="en-US" sz="1800" b="1" dirty="0">
                <a:solidFill>
                  <a:srgbClr val="993300"/>
                </a:solidFill>
                <a:latin typeface="Calibri" pitchFamily="34" charset="0"/>
                <a:ea typeface="Calibri" pitchFamily="34" charset="-122"/>
                <a:cs typeface="Calibri" pitchFamily="34" charset="-120"/>
              </a:rPr>
              <a:t>General processing</a:t>
            </a:r>
            <a:endParaRPr lang="en-US" sz="1800" dirty="0"/>
          </a:p>
        </p:txBody>
      </p:sp>
      <p:sp>
        <p:nvSpPr>
          <p:cNvPr id="31" name="Text 28"/>
          <p:cNvSpPr txBox="1"/>
          <p:nvPr/>
        </p:nvSpPr>
        <p:spPr>
          <a:xfrm>
            <a:off x="8364140" y="212586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32" name="Text 29"/>
          <p:cNvSpPr txBox="1"/>
          <p:nvPr/>
        </p:nvSpPr>
        <p:spPr>
          <a:xfrm>
            <a:off x="8618140" y="2113161"/>
            <a:ext cx="2534245" cy="292100"/>
          </a:xfrm>
          <a:prstGeom prst="rect">
            <a:avLst/>
          </a:prstGeom>
          <a:noFill/>
          <a:ln/>
        </p:spPr>
        <p:txBody>
          <a:bodyPr wrap="none" lIns="0" tIns="0" rIns="0" bIns="0" rtlCol="0" anchor="t"/>
          <a:lstStyle/>
          <a:p>
            <a:pPr algn="l" indent="0" marL="0">
              <a:buNone/>
            </a:pPr>
            <a:r>
              <a:rPr lang="en-US" sz="1900" dirty="0">
                <a:solidFill>
                  <a:srgbClr val="000000"/>
                </a:solidFill>
                <a:latin typeface="Calibri" pitchFamily="34" charset="0"/>
                <a:ea typeface="Calibri" pitchFamily="34" charset="-122"/>
                <a:cs typeface="Calibri" pitchFamily="34" charset="-120"/>
              </a:rPr>
              <a:t>the operation is not safe</a:t>
            </a:r>
            <a:endParaRPr lang="en-US" sz="1900" dirty="0"/>
          </a:p>
        </p:txBody>
      </p:sp>
      <p:sp>
        <p:nvSpPr>
          <p:cNvPr id="33" name="Text 30"/>
          <p:cNvSpPr txBox="1"/>
          <p:nvPr/>
        </p:nvSpPr>
        <p:spPr>
          <a:xfrm>
            <a:off x="8364140" y="2453481"/>
            <a:ext cx="272653" cy="289520"/>
          </a:xfrm>
          <a:prstGeom prst="rect">
            <a:avLst/>
          </a:prstGeom>
          <a:noFill/>
          <a:ln/>
        </p:spPr>
        <p:txBody>
          <a:bodyPr wrap="none" lIns="0" tIns="0" rIns="0" bIns="0" rtlCol="0" anchor="ctr"/>
          <a:lstStyle/>
          <a:p>
            <a:pPr algn="l"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34" name="Text 31"/>
          <p:cNvSpPr txBox="1"/>
          <p:nvPr/>
        </p:nvSpPr>
        <p:spPr>
          <a:xfrm>
            <a:off x="8618140" y="2440781"/>
            <a:ext cx="3038079" cy="581620"/>
          </a:xfrm>
          <a:prstGeom prst="rect">
            <a:avLst/>
          </a:prstGeom>
          <a:noFill/>
          <a:ln/>
        </p:spPr>
        <p:txBody>
          <a:bodyPr wrap="square" lIns="0" tIns="0" rIns="0" bIns="0" rtlCol="0" anchor="t"/>
          <a:lstStyle/>
          <a:p>
            <a:pPr algn="l" indent="0" marL="0">
              <a:lnSpc>
                <a:spcPts val="2280"/>
              </a:lnSpc>
              <a:buNone/>
            </a:pPr>
            <a:r>
              <a:rPr lang="en-US" sz="1900" dirty="0">
                <a:solidFill>
                  <a:srgbClr val="000000"/>
                </a:solidFill>
                <a:latin typeface="Calibri" pitchFamily="34" charset="0"/>
                <a:ea typeface="Calibri" pitchFamily="34" charset="-122"/>
                <a:cs typeface="Calibri" pitchFamily="34" charset="-120"/>
              </a:rPr>
              <a:t>it changes data or submits a form</a:t>
            </a:r>
            <a:endParaRPr lang="en-US" sz="1900" dirty="0"/>
          </a:p>
        </p:txBody>
      </p:sp>
      <p:sp>
        <p:nvSpPr>
          <p:cNvPr id="35" name="Text 32"/>
          <p:cNvSpPr txBox="1"/>
          <p:nvPr/>
        </p:nvSpPr>
        <p:spPr>
          <a:xfrm>
            <a:off x="700881" y="3616721"/>
            <a:ext cx="291704" cy="335160"/>
          </a:xfrm>
          <a:prstGeom prst="rect">
            <a:avLst/>
          </a:prstGeom>
          <a:noFill/>
          <a:ln/>
        </p:spPr>
        <p:txBody>
          <a:bodyPr wrap="none" lIns="0" tIns="0" rIns="0" bIns="0" rtlCol="0" anchor="ctr"/>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6" name="Text 33"/>
          <p:cNvSpPr txBox="1"/>
          <p:nvPr/>
        </p:nvSpPr>
        <p:spPr>
          <a:xfrm>
            <a:off x="1043781" y="3604021"/>
            <a:ext cx="10777537" cy="678061"/>
          </a:xfrm>
          <a:prstGeom prst="rect">
            <a:avLst/>
          </a:prstGeom>
          <a:noFill/>
          <a:ln/>
        </p:spPr>
        <p:txBody>
          <a:bodyPr wrap="square" lIns="0" tIns="0" rIns="0" bIns="0" rtlCol="0" anchor="t"/>
          <a:lstStyle/>
          <a:p>
            <a:pPr algn="l" indent="0" marL="0">
              <a:lnSpc>
                <a:spcPts val="2639"/>
              </a:lnSpc>
              <a:buNone/>
            </a:pPr>
            <a:r>
              <a:rPr lang="en-US" sz="2200" b="1" dirty="0">
                <a:solidFill>
                  <a:srgbClr val="000000"/>
                </a:solidFill>
                <a:latin typeface="Calibri" pitchFamily="34" charset="0"/>
                <a:ea typeface="Calibri" pitchFamily="34" charset="-122"/>
                <a:cs typeface="Calibri" pitchFamily="34" charset="-120"/>
              </a:rPr>
              <a:t>QUERY does not replace GET or POST.</a:t>
            </a:r>
            <a:pPr algn="l" indent="0" marL="0">
              <a:lnSpc>
                <a:spcPts val="2639"/>
              </a:lnSpc>
              <a:buNone/>
            </a:pPr>
            <a:r>
              <a:rPr lang="en-US" sz="2200" dirty="0">
                <a:solidFill>
                  <a:srgbClr val="000000"/>
                </a:solidFill>
                <a:latin typeface="Calibri" pitchFamily="34" charset="0"/>
                <a:ea typeface="Calibri" pitchFamily="34" charset="-122"/>
                <a:cs typeface="Calibri" pitchFamily="34" charset="-120"/>
              </a:rPr>
              <a:t> It fills one gap: safe, idempotent queries with request content.</a:t>
            </a:r>
            <a:endParaRPr lang="en-US" sz="2200" dirty="0"/>
          </a:p>
        </p:txBody>
      </p:sp>
      <p:sp>
        <p:nvSpPr>
          <p:cNvPr id="37" name="Text 34"/>
          <p:cNvSpPr txBox="1"/>
          <p:nvPr/>
        </p:nvSpPr>
        <p:spPr>
          <a:xfrm>
            <a:off x="700881" y="4414044"/>
            <a:ext cx="291704" cy="335160"/>
          </a:xfrm>
          <a:prstGeom prst="rect">
            <a:avLst/>
          </a:prstGeom>
          <a:noFill/>
          <a:ln/>
        </p:spPr>
        <p:txBody>
          <a:bodyPr wrap="none" lIns="0" tIns="0" rIns="0" bIns="0" rtlCol="0" anchor="ctr"/>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8" name="Text 35"/>
          <p:cNvSpPr txBox="1"/>
          <p:nvPr/>
        </p:nvSpPr>
        <p:spPr>
          <a:xfrm>
            <a:off x="1043781" y="4401344"/>
            <a:ext cx="10883685" cy="678061"/>
          </a:xfrm>
          <a:prstGeom prst="rect">
            <a:avLst/>
          </a:prstGeom>
          <a:noFill/>
          <a:ln/>
        </p:spPr>
        <p:txBody>
          <a:bodyPr wrap="square" lIns="0" tIns="0" rIns="0" bIns="0" rtlCol="0" anchor="t"/>
          <a:lstStyle/>
          <a:p>
            <a:pPr algn="l" indent="0" marL="0">
              <a:lnSpc>
                <a:spcPts val="2639"/>
              </a:lnSpc>
              <a:buNone/>
            </a:pPr>
            <a:r>
              <a:rPr lang="en-US" sz="2200" dirty="0">
                <a:solidFill>
                  <a:srgbClr val="000000"/>
                </a:solidFill>
                <a:latin typeface="Calibri" pitchFamily="34" charset="0"/>
                <a:ea typeface="Calibri" pitchFamily="34" charset="-122"/>
                <a:cs typeface="Calibri" pitchFamily="34" charset="-120"/>
              </a:rPr>
              <a:t>Its security depends on how clients, caches, WAFs, gateways, applications and logs </a:t>
            </a:r>
            <a:pPr algn="l" indent="0" marL="0">
              <a:lnSpc>
                <a:spcPts val="2639"/>
              </a:lnSpc>
              <a:buNone/>
            </a:pPr>
            <a:r>
              <a:rPr lang="en-US" sz="2200" b="1" dirty="0">
                <a:solidFill>
                  <a:srgbClr val="000000"/>
                </a:solidFill>
                <a:latin typeface="Calibri" pitchFamily="34" charset="0"/>
                <a:ea typeface="Calibri" pitchFamily="34" charset="-122"/>
                <a:cs typeface="Calibri" pitchFamily="34" charset="-120"/>
              </a:rPr>
              <a:t>implement</a:t>
            </a:r>
            <a:pPr algn="l" indent="0" marL="0">
              <a:lnSpc>
                <a:spcPts val="2639"/>
              </a:lnSpc>
              <a:buNone/>
            </a:pPr>
            <a:r>
              <a:rPr lang="en-US" sz="2200" dirty="0">
                <a:solidFill>
                  <a:srgbClr val="000000"/>
                </a:solidFill>
                <a:latin typeface="Calibri" pitchFamily="34" charset="0"/>
                <a:ea typeface="Calibri" pitchFamily="34" charset="-122"/>
                <a:cs typeface="Calibri" pitchFamily="34" charset="-120"/>
              </a:rPr>
              <a:t> it. The method alone gives no security.</a:t>
            </a:r>
            <a:endParaRPr lang="en-US" sz="2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25</a:t>
            </a:r>
            <a:endParaRPr lang="en-US" sz="1400" dirty="0"/>
          </a:p>
        </p:txBody>
      </p:sp>
      <p:sp>
        <p:nvSpPr>
          <p:cNvPr id="8" name="Text 5"/>
          <p:cNvSpPr txBox="1"/>
          <p:nvPr/>
        </p:nvSpPr>
        <p:spPr>
          <a:xfrm>
            <a:off x="10482064" y="191492"/>
            <a:ext cx="177105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References</a:t>
            </a:r>
            <a:endParaRPr lang="en-US" sz="2800" dirty="0"/>
          </a:p>
        </p:txBody>
      </p:sp>
      <p:sp>
        <p:nvSpPr>
          <p:cNvPr id="9" name="Text 6"/>
          <p:cNvSpPr txBox="1"/>
          <p:nvPr/>
        </p:nvSpPr>
        <p:spPr>
          <a:xfrm>
            <a:off x="91281" y="794940"/>
            <a:ext cx="35163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a:t>
            </a:r>
            <a:endParaRPr lang="en-US" sz="1400" dirty="0"/>
          </a:p>
        </p:txBody>
      </p:sp>
      <p:sp>
        <p:nvSpPr>
          <p:cNvPr id="10" name="Text 7"/>
          <p:cNvSpPr txBox="1"/>
          <p:nvPr/>
        </p:nvSpPr>
        <p:spPr>
          <a:xfrm>
            <a:off x="1005681" y="794940"/>
            <a:ext cx="8781057"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J. Reschke, J. M. Snell, and M. Bishop, “</a:t>
            </a:r>
            <a:pPr algn="l" indent="0" marL="0">
              <a:buNone/>
            </a:pPr>
            <a:r>
              <a:rPr lang="en-US" sz="1400" u="none" dirty="0">
                <a:solidFill>
                  <a:srgbClr val="000000"/>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 HTTP QUERY Method</a:t>
            </a:r>
            <a:pPr algn="l" indent="0" marL="0">
              <a:buNone/>
            </a:pPr>
            <a:r>
              <a:rPr lang="en-US" sz="1400" dirty="0">
                <a:solidFill>
                  <a:srgbClr val="000000"/>
                </a:solidFill>
                <a:latin typeface="Calibri" pitchFamily="34" charset="0"/>
                <a:ea typeface="Calibri" pitchFamily="34" charset="-122"/>
                <a:cs typeface="Calibri" pitchFamily="34" charset="-120"/>
              </a:rPr>
              <a:t>,” RFC 10008, IETF, Jun. 2026, doi: 10.17487/RFC10008.</a:t>
            </a:r>
            <a:endParaRPr lang="en-US" sz="1400" dirty="0"/>
          </a:p>
        </p:txBody>
      </p:sp>
      <p:sp>
        <p:nvSpPr>
          <p:cNvPr id="11" name="Text 8"/>
          <p:cNvSpPr txBox="1"/>
          <p:nvPr/>
        </p:nvSpPr>
        <p:spPr>
          <a:xfrm>
            <a:off x="91281" y="1097161"/>
            <a:ext cx="35163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[2]</a:t>
            </a:r>
            <a:endParaRPr lang="en-US" sz="1400" dirty="0"/>
          </a:p>
        </p:txBody>
      </p:sp>
      <p:sp>
        <p:nvSpPr>
          <p:cNvPr id="12" name="Text 9"/>
          <p:cNvSpPr txBox="1"/>
          <p:nvPr/>
        </p:nvSpPr>
        <p:spPr>
          <a:xfrm>
            <a:off x="1005681" y="1097161"/>
            <a:ext cx="7106840"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R. Fielding, M. Nottingham, and J. Reschke, Eds., “</a:t>
            </a:r>
            <a:pPr algn="l" indent="0" marL="0">
              <a:buNone/>
            </a:pPr>
            <a:r>
              <a:rPr lang="en-US" sz="1400" u="none" dirty="0">
                <a:solidFill>
                  <a:srgbClr val="000000"/>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 Semantics</a:t>
            </a:r>
            <a:pPr algn="l" indent="0" marL="0">
              <a:buNone/>
            </a:pPr>
            <a:r>
              <a:rPr lang="en-US" sz="1400" dirty="0">
                <a:solidFill>
                  <a:srgbClr val="000000"/>
                </a:solidFill>
                <a:latin typeface="Calibri" pitchFamily="34" charset="0"/>
                <a:ea typeface="Calibri" pitchFamily="34" charset="-122"/>
                <a:cs typeface="Calibri" pitchFamily="34" charset="-120"/>
              </a:rPr>
              <a:t>,” STD 97, RFC 9110, Jun. 2022.</a:t>
            </a:r>
            <a:endParaRPr lang="en-US" sz="1400" dirty="0"/>
          </a:p>
        </p:txBody>
      </p:sp>
      <p:sp>
        <p:nvSpPr>
          <p:cNvPr id="13" name="Text 10"/>
          <p:cNvSpPr txBox="1"/>
          <p:nvPr/>
        </p:nvSpPr>
        <p:spPr>
          <a:xfrm>
            <a:off x="91281" y="1399381"/>
            <a:ext cx="35163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[3]</a:t>
            </a:r>
            <a:endParaRPr lang="en-US" sz="1400" dirty="0"/>
          </a:p>
        </p:txBody>
      </p:sp>
      <p:sp>
        <p:nvSpPr>
          <p:cNvPr id="14" name="Text 11"/>
          <p:cNvSpPr txBox="1"/>
          <p:nvPr/>
        </p:nvSpPr>
        <p:spPr>
          <a:xfrm>
            <a:off x="1005681" y="1399381"/>
            <a:ext cx="6942336"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R. Fielding, M. Nottingham, and J. Reschke, Eds., “</a:t>
            </a:r>
            <a:pPr algn="l" indent="0" marL="0">
              <a:buNone/>
            </a:pPr>
            <a:r>
              <a:rPr lang="en-US" sz="1400" u="none" dirty="0">
                <a:solidFill>
                  <a:srgbClr val="000000"/>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 Caching</a:t>
            </a:r>
            <a:pPr algn="l" indent="0" marL="0">
              <a:buNone/>
            </a:pPr>
            <a:r>
              <a:rPr lang="en-US" sz="1400" dirty="0">
                <a:solidFill>
                  <a:srgbClr val="000000"/>
                </a:solidFill>
                <a:latin typeface="Calibri" pitchFamily="34" charset="0"/>
                <a:ea typeface="Calibri" pitchFamily="34" charset="-122"/>
                <a:cs typeface="Calibri" pitchFamily="34" charset="-120"/>
              </a:rPr>
              <a:t>,” STD 98, RFC 9111, Jun. 2022.</a:t>
            </a:r>
            <a:endParaRPr lang="en-US" sz="1400" dirty="0"/>
          </a:p>
        </p:txBody>
      </p:sp>
      <p:sp>
        <p:nvSpPr>
          <p:cNvPr id="15" name="Text 12"/>
          <p:cNvSpPr txBox="1"/>
          <p:nvPr/>
        </p:nvSpPr>
        <p:spPr>
          <a:xfrm>
            <a:off x="91281" y="1701601"/>
            <a:ext cx="35163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[4]</a:t>
            </a:r>
            <a:endParaRPr lang="en-US" sz="1400" dirty="0"/>
          </a:p>
        </p:txBody>
      </p:sp>
      <p:sp>
        <p:nvSpPr>
          <p:cNvPr id="16" name="Text 13"/>
          <p:cNvSpPr txBox="1"/>
          <p:nvPr/>
        </p:nvSpPr>
        <p:spPr>
          <a:xfrm>
            <a:off x="1005681" y="1701601"/>
            <a:ext cx="6618089"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R. Fielding, M. Nottingham, and J. Reschke, Eds., “</a:t>
            </a:r>
            <a:pPr algn="l" indent="0" marL="0">
              <a:buNone/>
            </a:pPr>
            <a:r>
              <a:rPr lang="en-US" sz="1400" u="none" dirty="0">
                <a:solidFill>
                  <a:srgbClr val="000000"/>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HTTP/1.1</a:t>
            </a:r>
            <a:pPr algn="l" indent="0" marL="0">
              <a:buNone/>
            </a:pPr>
            <a:r>
              <a:rPr lang="en-US" sz="1400" dirty="0">
                <a:solidFill>
                  <a:srgbClr val="000000"/>
                </a:solidFill>
                <a:latin typeface="Calibri" pitchFamily="34" charset="0"/>
                <a:ea typeface="Calibri" pitchFamily="34" charset="-122"/>
                <a:cs typeface="Calibri" pitchFamily="34" charset="-120"/>
              </a:rPr>
              <a:t>,” STD 99, RFC 9112, Jun. 2022.</a:t>
            </a:r>
            <a:endParaRPr lang="en-US" sz="1400" dirty="0"/>
          </a:p>
        </p:txBody>
      </p:sp>
      <p:sp>
        <p:nvSpPr>
          <p:cNvPr id="17" name="Text 14"/>
          <p:cNvSpPr txBox="1"/>
          <p:nvPr/>
        </p:nvSpPr>
        <p:spPr>
          <a:xfrm>
            <a:off x="91281" y="2003821"/>
            <a:ext cx="35163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[5]</a:t>
            </a:r>
            <a:endParaRPr lang="en-US" sz="1400" dirty="0"/>
          </a:p>
        </p:txBody>
      </p:sp>
      <p:sp>
        <p:nvSpPr>
          <p:cNvPr id="18" name="Text 15"/>
          <p:cNvSpPr txBox="1"/>
          <p:nvPr/>
        </p:nvSpPr>
        <p:spPr>
          <a:xfrm>
            <a:off x="1005681" y="2003821"/>
            <a:ext cx="9123164"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T. Berners-Lee, R. Fielding, and L. Masinter, “</a:t>
            </a:r>
            <a:pPr algn="l" indent="0" marL="0">
              <a:buNone/>
            </a:pPr>
            <a:r>
              <a:rPr lang="en-US" sz="1400" u="none" dirty="0">
                <a:solidFill>
                  <a:srgbClr val="000000"/>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Uniform Resource Identifier (URI): Generic Syntax</a:t>
            </a:r>
            <a:pPr algn="l" indent="0" marL="0">
              <a:buNone/>
            </a:pPr>
            <a:r>
              <a:rPr lang="en-US" sz="1400" dirty="0">
                <a:solidFill>
                  <a:srgbClr val="000000"/>
                </a:solidFill>
                <a:latin typeface="Calibri" pitchFamily="34" charset="0"/>
                <a:ea typeface="Calibri" pitchFamily="34" charset="-122"/>
                <a:cs typeface="Calibri" pitchFamily="34" charset="-120"/>
              </a:rPr>
              <a:t>,” STD 66, RFC 3986, Jan. 2005.</a:t>
            </a:r>
            <a:endParaRPr lang="en-US" sz="1400" dirty="0"/>
          </a:p>
        </p:txBody>
      </p:sp>
      <p:sp>
        <p:nvSpPr>
          <p:cNvPr id="19" name="Text 16"/>
          <p:cNvSpPr txBox="1"/>
          <p:nvPr/>
        </p:nvSpPr>
        <p:spPr>
          <a:xfrm>
            <a:off x="91281" y="2306043"/>
            <a:ext cx="35163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[6]</a:t>
            </a:r>
            <a:endParaRPr lang="en-US" sz="1400" dirty="0"/>
          </a:p>
        </p:txBody>
      </p:sp>
      <p:sp>
        <p:nvSpPr>
          <p:cNvPr id="20" name="Text 17"/>
          <p:cNvSpPr txBox="1"/>
          <p:nvPr/>
        </p:nvSpPr>
        <p:spPr>
          <a:xfrm>
            <a:off x="1005681" y="2306043"/>
            <a:ext cx="5687815"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M. Nottingham, “</a:t>
            </a:r>
            <a:pPr algn="l" indent="0" marL="0">
              <a:buNone/>
            </a:pPr>
            <a:r>
              <a:rPr lang="en-US" sz="1400" u="none" dirty="0">
                <a:solidFill>
                  <a:srgbClr val="000000"/>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Building Protocols with HTTP</a:t>
            </a:r>
            <a:pPr algn="l" indent="0" marL="0">
              <a:buNone/>
            </a:pPr>
            <a:r>
              <a:rPr lang="en-US" sz="1400" dirty="0">
                <a:solidFill>
                  <a:srgbClr val="000000"/>
                </a:solidFill>
                <a:latin typeface="Calibri" pitchFamily="34" charset="0"/>
                <a:ea typeface="Calibri" pitchFamily="34" charset="-122"/>
                <a:cs typeface="Calibri" pitchFamily="34" charset="-120"/>
              </a:rPr>
              <a:t>,” BCP 56, RFC 9205, Jun. 2022.</a:t>
            </a:r>
            <a:endParaRPr lang="en-US" sz="1400" dirty="0"/>
          </a:p>
        </p:txBody>
      </p:sp>
      <p:sp>
        <p:nvSpPr>
          <p:cNvPr id="21" name="Text 18"/>
          <p:cNvSpPr txBox="1"/>
          <p:nvPr/>
        </p:nvSpPr>
        <p:spPr>
          <a:xfrm>
            <a:off x="91281" y="2608263"/>
            <a:ext cx="35163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[7]</a:t>
            </a:r>
            <a:endParaRPr lang="en-US" sz="1400" dirty="0"/>
          </a:p>
        </p:txBody>
      </p:sp>
      <p:sp>
        <p:nvSpPr>
          <p:cNvPr id="22" name="Text 19"/>
          <p:cNvSpPr txBox="1"/>
          <p:nvPr/>
        </p:nvSpPr>
        <p:spPr>
          <a:xfrm>
            <a:off x="1005681" y="2608263"/>
            <a:ext cx="6827044"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A. Backman, J. Richer, and M. Sporny, Eds., “</a:t>
            </a:r>
            <a:pPr algn="l" indent="0" marL="0">
              <a:buNone/>
            </a:pPr>
            <a:r>
              <a:rPr lang="en-US" sz="1400" u="none" dirty="0">
                <a:solidFill>
                  <a:srgbClr val="000000"/>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 Message Signatures</a:t>
            </a:r>
            <a:pPr algn="l" indent="0" marL="0">
              <a:buNone/>
            </a:pPr>
            <a:r>
              <a:rPr lang="en-US" sz="1400" dirty="0">
                <a:solidFill>
                  <a:srgbClr val="000000"/>
                </a:solidFill>
                <a:latin typeface="Calibri" pitchFamily="34" charset="0"/>
                <a:ea typeface="Calibri" pitchFamily="34" charset="-122"/>
                <a:cs typeface="Calibri" pitchFamily="34" charset="-120"/>
              </a:rPr>
              <a:t>,” RFC 9421, Feb. 2024.</a:t>
            </a:r>
            <a:endParaRPr lang="en-US" sz="1400" dirty="0"/>
          </a:p>
        </p:txBody>
      </p:sp>
      <p:sp>
        <p:nvSpPr>
          <p:cNvPr id="23" name="Text 20"/>
          <p:cNvSpPr txBox="1"/>
          <p:nvPr/>
        </p:nvSpPr>
        <p:spPr>
          <a:xfrm>
            <a:off x="91281" y="2910483"/>
            <a:ext cx="35163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[8]</a:t>
            </a:r>
            <a:endParaRPr lang="en-US" sz="1400" dirty="0"/>
          </a:p>
        </p:txBody>
      </p:sp>
      <p:sp>
        <p:nvSpPr>
          <p:cNvPr id="24" name="Text 21"/>
          <p:cNvSpPr txBox="1"/>
          <p:nvPr/>
        </p:nvSpPr>
        <p:spPr>
          <a:xfrm>
            <a:off x="1005681" y="2910483"/>
            <a:ext cx="4376539"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R. Polli and L. Pardue, “</a:t>
            </a:r>
            <a:pPr algn="l" indent="0" marL="0">
              <a:buNone/>
            </a:pPr>
            <a:r>
              <a:rPr lang="en-US" sz="1400" u="none" dirty="0">
                <a:solidFill>
                  <a:srgbClr val="000000"/>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Digest Fields</a:t>
            </a:r>
            <a:pPr algn="l" indent="0" marL="0">
              <a:buNone/>
            </a:pPr>
            <a:r>
              <a:rPr lang="en-US" sz="1400" dirty="0">
                <a:solidFill>
                  <a:srgbClr val="000000"/>
                </a:solidFill>
                <a:latin typeface="Calibri" pitchFamily="34" charset="0"/>
                <a:ea typeface="Calibri" pitchFamily="34" charset="-122"/>
                <a:cs typeface="Calibri" pitchFamily="34" charset="-120"/>
              </a:rPr>
              <a:t>,” RFC 9530, Feb. 2024.</a:t>
            </a:r>
            <a:endParaRPr lang="en-US" sz="1400" dirty="0"/>
          </a:p>
        </p:txBody>
      </p:sp>
      <p:sp>
        <p:nvSpPr>
          <p:cNvPr id="25" name="Text 22"/>
          <p:cNvSpPr txBox="1"/>
          <p:nvPr/>
        </p:nvSpPr>
        <p:spPr>
          <a:xfrm>
            <a:off x="91281" y="3212703"/>
            <a:ext cx="35163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[9]</a:t>
            </a:r>
            <a:endParaRPr lang="en-US" sz="1400" dirty="0"/>
          </a:p>
        </p:txBody>
      </p:sp>
      <p:sp>
        <p:nvSpPr>
          <p:cNvPr id="26" name="Text 23"/>
          <p:cNvSpPr txBox="1"/>
          <p:nvPr/>
        </p:nvSpPr>
        <p:spPr>
          <a:xfrm>
            <a:off x="1005681" y="3212703"/>
            <a:ext cx="5085953"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WHATWG, “</a:t>
            </a:r>
            <a:pPr algn="l" indent="0" marL="0">
              <a:buNone/>
            </a:pPr>
            <a:r>
              <a:rPr lang="en-US" sz="1400" u="none" dirty="0">
                <a:solidFill>
                  <a:srgbClr val="000000"/>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Fetch Standard</a:t>
            </a:r>
            <a:pPr algn="l" indent="0" marL="0">
              <a:buNone/>
            </a:pPr>
            <a:r>
              <a:rPr lang="en-US" sz="1400" dirty="0">
                <a:solidFill>
                  <a:srgbClr val="000000"/>
                </a:solidFill>
                <a:latin typeface="Calibri" pitchFamily="34" charset="0"/>
                <a:ea typeface="Calibri" pitchFamily="34" charset="-122"/>
                <a:cs typeface="Calibri" pitchFamily="34" charset="-120"/>
              </a:rPr>
              <a:t>” and “</a:t>
            </a:r>
            <a:pPr algn="l" indent="0" marL="0">
              <a:buNone/>
            </a:pPr>
            <a:r>
              <a:rPr lang="en-US" sz="1400" u="none" dirty="0">
                <a:solidFill>
                  <a:srgbClr val="000000"/>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HTML Standard</a:t>
            </a:r>
            <a:pPr algn="l" indent="0" marL="0">
              <a:buNone/>
            </a:pPr>
            <a:r>
              <a:rPr lang="en-US" sz="1400" dirty="0">
                <a:solidFill>
                  <a:srgbClr val="000000"/>
                </a:solidFill>
                <a:latin typeface="Calibri" pitchFamily="34" charset="0"/>
                <a:ea typeface="Calibri" pitchFamily="34" charset="-122"/>
                <a:cs typeface="Calibri" pitchFamily="34" charset="-120"/>
              </a:rPr>
              <a:t>,” Living Standards.</a:t>
            </a:r>
            <a:endParaRPr lang="en-US" sz="1400" dirty="0"/>
          </a:p>
        </p:txBody>
      </p:sp>
      <p:sp>
        <p:nvSpPr>
          <p:cNvPr id="27" name="Text 24"/>
          <p:cNvSpPr txBox="1"/>
          <p:nvPr/>
        </p:nvSpPr>
        <p:spPr>
          <a:xfrm>
            <a:off x="91281" y="3514924"/>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[10]</a:t>
            </a:r>
            <a:endParaRPr lang="en-US" sz="1400" dirty="0"/>
          </a:p>
        </p:txBody>
      </p:sp>
      <p:sp>
        <p:nvSpPr>
          <p:cNvPr id="28" name="Text 25"/>
          <p:cNvSpPr txBox="1"/>
          <p:nvPr/>
        </p:nvSpPr>
        <p:spPr>
          <a:xfrm>
            <a:off x="1005681" y="3514924"/>
            <a:ext cx="1798836"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W3C, “</a:t>
            </a:r>
            <a:pPr algn="l" indent="0" marL="0">
              <a:buNone/>
            </a:pPr>
            <a:r>
              <a:rPr lang="en-US" sz="1400" u="none" dirty="0">
                <a:solidFill>
                  <a:srgbClr val="000000"/>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Referrer Policy</a:t>
            </a:r>
            <a:pPr algn="l"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29" name="Text 26"/>
          <p:cNvSpPr txBox="1"/>
          <p:nvPr/>
        </p:nvSpPr>
        <p:spPr>
          <a:xfrm>
            <a:off x="91281" y="3817144"/>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[11]</a:t>
            </a:r>
            <a:endParaRPr lang="en-US" sz="1400" dirty="0"/>
          </a:p>
        </p:txBody>
      </p:sp>
      <p:sp>
        <p:nvSpPr>
          <p:cNvPr id="30" name="Text 27"/>
          <p:cNvSpPr txBox="1"/>
          <p:nvPr/>
        </p:nvSpPr>
        <p:spPr>
          <a:xfrm>
            <a:off x="1005681" y="3817144"/>
            <a:ext cx="4517429"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IANA, “</a:t>
            </a:r>
            <a:pPr algn="l" indent="0" marL="0">
              <a:buNone/>
            </a:pPr>
            <a:r>
              <a:rPr lang="en-US" sz="1400" u="none" dirty="0">
                <a:solidFill>
                  <a:srgbClr val="000000"/>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Hypertext Transfer Protocol (HTTP) Method Registry</a:t>
            </a:r>
            <a:pPr algn="l"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31" name="Text 28"/>
          <p:cNvSpPr txBox="1"/>
          <p:nvPr/>
        </p:nvSpPr>
        <p:spPr>
          <a:xfrm>
            <a:off x="91281" y="4119364"/>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[12]</a:t>
            </a:r>
            <a:endParaRPr lang="en-US" sz="1400" dirty="0"/>
          </a:p>
        </p:txBody>
      </p:sp>
      <p:sp>
        <p:nvSpPr>
          <p:cNvPr id="32" name="Text 29"/>
          <p:cNvSpPr txBox="1"/>
          <p:nvPr/>
        </p:nvSpPr>
        <p:spPr>
          <a:xfrm>
            <a:off x="1005681" y="4119364"/>
            <a:ext cx="4581327"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OpenAPI Initiative, “</a:t>
            </a:r>
            <a:pPr algn="l" indent="0" marL="0">
              <a:buNone/>
            </a:pPr>
            <a:r>
              <a:rPr lang="en-US" sz="1400" u="none" dirty="0">
                <a:solidFill>
                  <a:srgbClr val="000000"/>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OpenAPI Specification v3.2.0</a:t>
            </a:r>
            <a:pPr algn="l" indent="0" marL="0">
              <a:buNone/>
            </a:pPr>
            <a:r>
              <a:rPr lang="en-US" sz="1400" dirty="0">
                <a:solidFill>
                  <a:srgbClr val="000000"/>
                </a:solidFill>
                <a:latin typeface="Calibri" pitchFamily="34" charset="0"/>
                <a:ea typeface="Calibri" pitchFamily="34" charset="-122"/>
                <a:cs typeface="Calibri" pitchFamily="34" charset="-120"/>
              </a:rPr>
              <a:t>,” Sep. 2025.</a:t>
            </a:r>
            <a:endParaRPr lang="en-US" sz="1400" dirty="0"/>
          </a:p>
        </p:txBody>
      </p:sp>
      <p:sp>
        <p:nvSpPr>
          <p:cNvPr id="33" name="Text 30"/>
          <p:cNvSpPr txBox="1"/>
          <p:nvPr/>
        </p:nvSpPr>
        <p:spPr>
          <a:xfrm>
            <a:off x="91281" y="4421584"/>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[13]</a:t>
            </a:r>
            <a:endParaRPr lang="en-US" sz="1400" dirty="0"/>
          </a:p>
        </p:txBody>
      </p:sp>
      <p:sp>
        <p:nvSpPr>
          <p:cNvPr id="34" name="Text 31"/>
          <p:cNvSpPr txBox="1"/>
          <p:nvPr/>
        </p:nvSpPr>
        <p:spPr>
          <a:xfrm>
            <a:off x="1005681" y="4421584"/>
            <a:ext cx="5601692"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OWASP, “</a:t>
            </a:r>
            <a:pPr algn="l" indent="0" marL="0">
              <a:buNone/>
            </a:pPr>
            <a:r>
              <a:rPr lang="en-US" sz="1400" u="none" dirty="0">
                <a:solidFill>
                  <a:srgbClr val="000000"/>
                </a:solidFill>
                <a:latin typeface="Calibri" pitchFamily="34" charset="0"/>
                <a:ea typeface="Calibri" pitchFamily="34" charset="-122"/>
                <a:cs typeface="Calibr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WSTG-CONF-06: Test HTTP Methods</a:t>
            </a:r>
            <a:pPr algn="l" indent="0" marL="0">
              <a:buNone/>
            </a:pPr>
            <a:r>
              <a:rPr lang="en-US" sz="1400" dirty="0">
                <a:solidFill>
                  <a:srgbClr val="000000"/>
                </a:solidFill>
                <a:latin typeface="Calibri" pitchFamily="34" charset="0"/>
                <a:ea typeface="Calibri" pitchFamily="34" charset="-122"/>
                <a:cs typeface="Calibri" pitchFamily="34" charset="-120"/>
              </a:rPr>
              <a:t>,” Web Security Testing Guide.</a:t>
            </a:r>
            <a:endParaRPr lang="en-US" sz="1400" dirty="0"/>
          </a:p>
        </p:txBody>
      </p:sp>
      <p:sp>
        <p:nvSpPr>
          <p:cNvPr id="35" name="Text 32"/>
          <p:cNvSpPr txBox="1"/>
          <p:nvPr/>
        </p:nvSpPr>
        <p:spPr>
          <a:xfrm>
            <a:off x="91281" y="4723805"/>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[14]</a:t>
            </a:r>
            <a:endParaRPr lang="en-US" sz="1400" dirty="0"/>
          </a:p>
        </p:txBody>
      </p:sp>
      <p:sp>
        <p:nvSpPr>
          <p:cNvPr id="36" name="Text 33"/>
          <p:cNvSpPr txBox="1"/>
          <p:nvPr/>
        </p:nvSpPr>
        <p:spPr>
          <a:xfrm>
            <a:off x="1005681" y="4723805"/>
            <a:ext cx="4252516"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MDN Web Docs, “</a:t>
            </a:r>
            <a:pPr algn="l" indent="0" marL="0">
              <a:buNone/>
            </a:pPr>
            <a:r>
              <a:rPr lang="en-US" sz="1400" u="none" dirty="0">
                <a:solidFill>
                  <a:srgbClr val="000000"/>
                </a:solidFill>
                <a:latin typeface="Calibri" pitchFamily="34" charset="0"/>
                <a:ea typeface="Calibri" pitchFamily="34" charset="-122"/>
                <a:cs typeface="Calibr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Cross-Origin Resource Sharing (CORS)</a:t>
            </a:r>
            <a:pPr algn="l" indent="0" marL="0">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26</a:t>
            </a:r>
            <a:endParaRPr lang="en-US" sz="1400" dirty="0"/>
          </a:p>
        </p:txBody>
      </p:sp>
      <p:sp>
        <p:nvSpPr>
          <p:cNvPr id="8" name="Text 5"/>
          <p:cNvSpPr txBox="1"/>
          <p:nvPr/>
        </p:nvSpPr>
        <p:spPr>
          <a:xfrm>
            <a:off x="10482064" y="191492"/>
            <a:ext cx="1771055" cy="444500"/>
          </a:xfrm>
          <a:prstGeom prst="rect">
            <a:avLst/>
          </a:prstGeom>
          <a:noFill/>
          <a:ln/>
        </p:spPr>
        <p:txBody>
          <a:bodyPr wrap="none" lIns="0" tIns="0" rIns="0" bIns="0" rtlCol="0" anchor="t"/>
          <a:lstStyle/>
          <a:p>
            <a:pPr algn="l" indent="0" marL="0">
              <a:buNone/>
            </a:pPr>
            <a:r>
              <a:rPr lang="en-US" sz="2800" b="1" dirty="0">
                <a:solidFill>
                  <a:srgbClr val="CC6600"/>
                </a:solidFill>
                <a:latin typeface="Calibri" pitchFamily="34" charset="0"/>
                <a:ea typeface="Calibri" pitchFamily="34" charset="-122"/>
                <a:cs typeface="Calibri" pitchFamily="34" charset="-120"/>
              </a:rPr>
              <a:t>References</a:t>
            </a:r>
            <a:endParaRPr lang="en-US" sz="2800" dirty="0"/>
          </a:p>
        </p:txBody>
      </p:sp>
      <p:sp>
        <p:nvSpPr>
          <p:cNvPr id="9" name="Text 6"/>
          <p:cNvSpPr txBox="1"/>
          <p:nvPr/>
        </p:nvSpPr>
        <p:spPr>
          <a:xfrm>
            <a:off x="91281" y="794940"/>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[15]</a:t>
            </a:r>
            <a:endParaRPr lang="en-US" sz="1400" dirty="0"/>
          </a:p>
        </p:txBody>
      </p:sp>
      <p:sp>
        <p:nvSpPr>
          <p:cNvPr id="10" name="Text 7"/>
          <p:cNvSpPr txBox="1"/>
          <p:nvPr/>
        </p:nvSpPr>
        <p:spPr>
          <a:xfrm>
            <a:off x="1005681" y="794940"/>
            <a:ext cx="11120437" cy="429220"/>
          </a:xfrm>
          <a:prstGeom prst="rect">
            <a:avLst/>
          </a:prstGeom>
          <a:noFill/>
          <a:ln/>
        </p:spPr>
        <p:txBody>
          <a:bodyPr wrap="square" lIns="0" tIns="0" rIns="0" bIns="0" rtlCol="0" anchor="t"/>
          <a:lstStyle/>
          <a:p>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O. Starov, P. Gill, and N. Nikiforakis, “</a:t>
            </a:r>
            <a:pPr algn="l" indent="0" marL="0">
              <a:lnSpc>
                <a:spcPts val="1680"/>
              </a:lnSpc>
              <a:buNone/>
            </a:pPr>
            <a:r>
              <a:rPr lang="en-US" sz="1400" u="none" dirty="0">
                <a:solidFill>
                  <a:srgbClr val="000000"/>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Are You Sure You Want to Contact Us? Quantifying the Leakage of PII via Website Contact Forms</a:t>
            </a:r>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 Proc. Privacy Enhancing Technologies, vol. 2016, no. 1, pp. 20–33, 2016, doi: 10.1515/popets-2015-0028.</a:t>
            </a:r>
            <a:endParaRPr lang="en-US" sz="1400" dirty="0"/>
          </a:p>
        </p:txBody>
      </p:sp>
      <p:sp>
        <p:nvSpPr>
          <p:cNvPr id="11" name="Text 8"/>
          <p:cNvSpPr txBox="1"/>
          <p:nvPr/>
        </p:nvSpPr>
        <p:spPr>
          <a:xfrm>
            <a:off x="91281" y="1310481"/>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[16]</a:t>
            </a:r>
            <a:endParaRPr lang="en-US" sz="1400" dirty="0"/>
          </a:p>
        </p:txBody>
      </p:sp>
      <p:sp>
        <p:nvSpPr>
          <p:cNvPr id="12" name="Text 9"/>
          <p:cNvSpPr txBox="1"/>
          <p:nvPr/>
        </p:nvSpPr>
        <p:spPr>
          <a:xfrm>
            <a:off x="1005681" y="1310481"/>
            <a:ext cx="11168876" cy="429220"/>
          </a:xfrm>
          <a:prstGeom prst="rect">
            <a:avLst/>
          </a:prstGeom>
          <a:noFill/>
          <a:ln/>
        </p:spPr>
        <p:txBody>
          <a:bodyPr wrap="square" lIns="0" tIns="0" rIns="0" bIns="0" rtlCol="0" anchor="t"/>
          <a:lstStyle/>
          <a:p>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H. V. Nguyen, L. Lo Iacono, and H. Federrath, “</a:t>
            </a:r>
            <a:pPr algn="l" indent="0" marL="0">
              <a:lnSpc>
                <a:spcPts val="1680"/>
              </a:lnSpc>
              <a:buNone/>
            </a:pPr>
            <a:r>
              <a:rPr lang="en-US" sz="1400" u="none" dirty="0">
                <a:solidFill>
                  <a:srgbClr val="000000"/>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Your Cache Has Fallen: Cache-Poisoned Denial-of-Service Attack</a:t>
            </a:r>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 in Proc. ACM CCS, 2019, pp. 1915–1936, doi: 10.1145/3319535.3354215.</a:t>
            </a:r>
            <a:endParaRPr lang="en-US" sz="1400" dirty="0"/>
          </a:p>
        </p:txBody>
      </p:sp>
      <p:sp>
        <p:nvSpPr>
          <p:cNvPr id="13" name="Text 10"/>
          <p:cNvSpPr txBox="1"/>
          <p:nvPr/>
        </p:nvSpPr>
        <p:spPr>
          <a:xfrm>
            <a:off x="91281" y="1826021"/>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[17]</a:t>
            </a:r>
            <a:endParaRPr lang="en-US" sz="1400" dirty="0"/>
          </a:p>
        </p:txBody>
      </p:sp>
      <p:sp>
        <p:nvSpPr>
          <p:cNvPr id="14" name="Text 11"/>
          <p:cNvSpPr txBox="1"/>
          <p:nvPr/>
        </p:nvSpPr>
        <p:spPr>
          <a:xfrm>
            <a:off x="1005681" y="1826021"/>
            <a:ext cx="11130216" cy="429220"/>
          </a:xfrm>
          <a:prstGeom prst="rect">
            <a:avLst/>
          </a:prstGeom>
          <a:noFill/>
          <a:ln/>
        </p:spPr>
        <p:txBody>
          <a:bodyPr wrap="square" lIns="0" tIns="0" rIns="0" bIns="0" rtlCol="0" anchor="t"/>
          <a:lstStyle/>
          <a:p>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S. A. Mirheidari, S. Arshad, K. Onarlioglu, B. Crispo, E. Kirda, and W. Robertson, “</a:t>
            </a:r>
            <a:pPr algn="l" indent="0" marL="0">
              <a:lnSpc>
                <a:spcPts val="1680"/>
              </a:lnSpc>
              <a:buNone/>
            </a:pPr>
            <a:r>
              <a:rPr lang="en-US" sz="1400" u="none" dirty="0">
                <a:solidFill>
                  <a:srgbClr val="000000"/>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Cached and Confused: Web Cache Deception in the Wild</a:t>
            </a:r>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 in Proc. 29th USENIX Security Symposium, 2020.</a:t>
            </a:r>
            <a:endParaRPr lang="en-US" sz="1400" dirty="0"/>
          </a:p>
        </p:txBody>
      </p:sp>
      <p:sp>
        <p:nvSpPr>
          <p:cNvPr id="15" name="Text 12"/>
          <p:cNvSpPr txBox="1"/>
          <p:nvPr/>
        </p:nvSpPr>
        <p:spPr>
          <a:xfrm>
            <a:off x="91281" y="2341563"/>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[18]</a:t>
            </a:r>
            <a:endParaRPr lang="en-US" sz="1400" dirty="0"/>
          </a:p>
        </p:txBody>
      </p:sp>
      <p:sp>
        <p:nvSpPr>
          <p:cNvPr id="16" name="Text 13"/>
          <p:cNvSpPr txBox="1"/>
          <p:nvPr/>
        </p:nvSpPr>
        <p:spPr>
          <a:xfrm>
            <a:off x="1005681" y="2341563"/>
            <a:ext cx="11120437" cy="429220"/>
          </a:xfrm>
          <a:prstGeom prst="rect">
            <a:avLst/>
          </a:prstGeom>
          <a:noFill/>
          <a:ln/>
        </p:spPr>
        <p:txBody>
          <a:bodyPr wrap="square" lIns="0" tIns="0" rIns="0" bIns="0" rtlCol="0" anchor="t"/>
          <a:lstStyle/>
          <a:p>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B. Jabiyev, S. Sprecher, K. Onarlioglu, and E. Kirda, “</a:t>
            </a:r>
            <a:pPr algn="l" indent="0" marL="0">
              <a:lnSpc>
                <a:spcPts val="1680"/>
              </a:lnSpc>
              <a:buNone/>
            </a:pPr>
            <a:r>
              <a:rPr lang="en-US" sz="1400" u="none" dirty="0">
                <a:solidFill>
                  <a:srgbClr val="000000"/>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T-Reqs: HTTP Request Smuggling with Differential Fuzzing</a:t>
            </a:r>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 in Proc. ACM CCS, 2021, pp. 1805–1820, doi: 10.1145/3460120.3485384.</a:t>
            </a:r>
            <a:endParaRPr lang="en-US" sz="1400" dirty="0"/>
          </a:p>
        </p:txBody>
      </p:sp>
      <p:sp>
        <p:nvSpPr>
          <p:cNvPr id="17" name="Text 14"/>
          <p:cNvSpPr txBox="1"/>
          <p:nvPr/>
        </p:nvSpPr>
        <p:spPr>
          <a:xfrm>
            <a:off x="91281" y="2857103"/>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[19]</a:t>
            </a:r>
            <a:endParaRPr lang="en-US" sz="1400" dirty="0"/>
          </a:p>
        </p:txBody>
      </p:sp>
      <p:sp>
        <p:nvSpPr>
          <p:cNvPr id="18" name="Text 15"/>
          <p:cNvSpPr txBox="1"/>
          <p:nvPr/>
        </p:nvSpPr>
        <p:spPr>
          <a:xfrm>
            <a:off x="1005681" y="2857103"/>
            <a:ext cx="11120437" cy="429220"/>
          </a:xfrm>
          <a:prstGeom prst="rect">
            <a:avLst/>
          </a:prstGeom>
          <a:noFill/>
          <a:ln/>
        </p:spPr>
        <p:txBody>
          <a:bodyPr wrap="square" lIns="0" tIns="0" rIns="0" bIns="0" rtlCol="0" anchor="t"/>
          <a:lstStyle/>
          <a:p>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J. Chen, J. Jiang, H. Duan, T. Wan, S. Chen, V. Paxson, and M. Yang, “</a:t>
            </a:r>
            <a:pPr algn="l" indent="0" marL="0">
              <a:lnSpc>
                <a:spcPts val="1680"/>
              </a:lnSpc>
              <a:buNone/>
            </a:pPr>
            <a:r>
              <a:rPr lang="en-US" sz="1400" u="none" dirty="0">
                <a:solidFill>
                  <a:srgbClr val="000000"/>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We Still Don’t Have Secure Cross-Domain Requests: an Empirical Study of CORS</a:t>
            </a:r>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 in Proc. 27th USENIX Security Symposium, 2018.</a:t>
            </a:r>
            <a:endParaRPr lang="en-US" sz="1400" dirty="0"/>
          </a:p>
        </p:txBody>
      </p:sp>
      <p:sp>
        <p:nvSpPr>
          <p:cNvPr id="19" name="Text 16"/>
          <p:cNvSpPr txBox="1"/>
          <p:nvPr/>
        </p:nvSpPr>
        <p:spPr>
          <a:xfrm>
            <a:off x="91281" y="3372644"/>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[20]</a:t>
            </a:r>
            <a:endParaRPr lang="en-US" sz="1400" dirty="0"/>
          </a:p>
        </p:txBody>
      </p:sp>
      <p:sp>
        <p:nvSpPr>
          <p:cNvPr id="20" name="Text 17"/>
          <p:cNvSpPr txBox="1"/>
          <p:nvPr/>
        </p:nvSpPr>
        <p:spPr>
          <a:xfrm>
            <a:off x="1005681" y="3372644"/>
            <a:ext cx="11128800" cy="429220"/>
          </a:xfrm>
          <a:prstGeom prst="rect">
            <a:avLst/>
          </a:prstGeom>
          <a:noFill/>
          <a:ln/>
        </p:spPr>
        <p:txBody>
          <a:bodyPr wrap="square" lIns="0" tIns="0" rIns="0" bIns="0" rtlCol="0" anchor="t"/>
          <a:lstStyle/>
          <a:p>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A. Cha, E. Wittern, G. Baudart, J. C. Davis, L. Mandel, and J. A. Laredo, “</a:t>
            </a:r>
            <a:pPr algn="l" indent="0" marL="0">
              <a:lnSpc>
                <a:spcPts val="1680"/>
              </a:lnSpc>
              <a:buNone/>
            </a:pPr>
            <a:r>
              <a:rPr lang="en-US" sz="1400" u="none" dirty="0">
                <a:solidFill>
                  <a:srgbClr val="000000"/>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A Principled Approach to GraphQL Query Cost Analysis</a:t>
            </a:r>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 in Proc. ESEC/FSE, 2020, pp. 257–268, doi: 10.1145/3368089.3409670.</a:t>
            </a:r>
            <a:endParaRPr lang="en-US" sz="1400" dirty="0"/>
          </a:p>
        </p:txBody>
      </p:sp>
      <p:sp>
        <p:nvSpPr>
          <p:cNvPr id="21" name="Text 18"/>
          <p:cNvSpPr txBox="1"/>
          <p:nvPr/>
        </p:nvSpPr>
        <p:spPr>
          <a:xfrm>
            <a:off x="91281" y="3888184"/>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[21]</a:t>
            </a:r>
            <a:endParaRPr lang="en-US" sz="1400" dirty="0"/>
          </a:p>
        </p:txBody>
      </p:sp>
      <p:sp>
        <p:nvSpPr>
          <p:cNvPr id="22" name="Text 19"/>
          <p:cNvSpPr txBox="1"/>
          <p:nvPr/>
        </p:nvSpPr>
        <p:spPr>
          <a:xfrm>
            <a:off x="1005681" y="3888184"/>
            <a:ext cx="11120437" cy="429220"/>
          </a:xfrm>
          <a:prstGeom prst="rect">
            <a:avLst/>
          </a:prstGeom>
          <a:noFill/>
          <a:ln/>
        </p:spPr>
        <p:txBody>
          <a:bodyPr wrap="square" lIns="0" tIns="0" rIns="0" bIns="0" rtlCol="0" anchor="t"/>
          <a:lstStyle/>
          <a:p>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O. Hartig and J. Pérez, “</a:t>
            </a:r>
            <a:pPr algn="l" indent="0" marL="0">
              <a:lnSpc>
                <a:spcPts val="1680"/>
              </a:lnSpc>
              <a:buNone/>
            </a:pPr>
            <a:r>
              <a:rPr lang="en-US" sz="1400" u="none" dirty="0">
                <a:solidFill>
                  <a:srgbClr val="000000"/>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Semantics and Complexity of GraphQL</a:t>
            </a:r>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 in Proc. The Web Conference (WWW), 2018, pp. 1155–1164, doi: 10.1145/3178876.3186014.</a:t>
            </a:r>
            <a:endParaRPr lang="en-US" sz="1400" dirty="0"/>
          </a:p>
        </p:txBody>
      </p:sp>
      <p:sp>
        <p:nvSpPr>
          <p:cNvPr id="23" name="Text 20"/>
          <p:cNvSpPr txBox="1"/>
          <p:nvPr/>
        </p:nvSpPr>
        <p:spPr>
          <a:xfrm>
            <a:off x="91281" y="4403725"/>
            <a:ext cx="441721" cy="215900"/>
          </a:xfrm>
          <a:prstGeom prst="rect">
            <a:avLst/>
          </a:prstGeom>
          <a:noFill/>
          <a:ln/>
        </p:spPr>
        <p:txBody>
          <a:bodyPr wrap="none" lIns="0" tIns="0" rIns="0" bIns="0" rtlCol="0" anchor="t"/>
          <a:lstStyle/>
          <a:p>
            <a:pPr algn="l" indent="0" marL="0">
              <a:buNone/>
            </a:pPr>
            <a:r>
              <a:rPr lang="en-US" sz="1400" dirty="0">
                <a:solidFill>
                  <a:srgbClr val="000000"/>
                </a:solidFill>
                <a:latin typeface="Calibri" pitchFamily="34" charset="0"/>
                <a:ea typeface="Calibri" pitchFamily="34" charset="-122"/>
                <a:cs typeface="Calibri" pitchFamily="34" charset="-120"/>
              </a:rPr>
              <a:t>[22]</a:t>
            </a:r>
            <a:endParaRPr lang="en-US" sz="1400" dirty="0"/>
          </a:p>
        </p:txBody>
      </p:sp>
      <p:sp>
        <p:nvSpPr>
          <p:cNvPr id="24" name="Text 21"/>
          <p:cNvSpPr txBox="1"/>
          <p:nvPr/>
        </p:nvSpPr>
        <p:spPr>
          <a:xfrm>
            <a:off x="1005681" y="4403725"/>
            <a:ext cx="11120437" cy="429220"/>
          </a:xfrm>
          <a:prstGeom prst="rect">
            <a:avLst/>
          </a:prstGeom>
          <a:noFill/>
          <a:ln/>
        </p:spPr>
        <p:txBody>
          <a:bodyPr wrap="square" lIns="0" tIns="0" rIns="0" bIns="0" rtlCol="0" anchor="t"/>
          <a:lstStyle/>
          <a:p>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J. Chen, J. Jiang, H. Duan, N. Weaver, T. Wan, and V. Paxson, “</a:t>
            </a:r>
            <a:pPr algn="l" indent="0" marL="0">
              <a:lnSpc>
                <a:spcPts val="1680"/>
              </a:lnSpc>
              <a:buNone/>
            </a:pPr>
            <a:r>
              <a:rPr lang="en-US" sz="1400" u="none" dirty="0">
                <a:solidFill>
                  <a:srgbClr val="000000"/>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Host of Troubles: Multiple Host Ambiguities in HTTP Implementations</a:t>
            </a:r>
            <a:pPr algn="l" indent="0" marL="0">
              <a:lnSpc>
                <a:spcPts val="1680"/>
              </a:lnSpc>
              <a:buNone/>
            </a:pPr>
            <a:r>
              <a:rPr lang="en-US" sz="1400" dirty="0">
                <a:solidFill>
                  <a:srgbClr val="000000"/>
                </a:solidFill>
                <a:latin typeface="Calibri" pitchFamily="34" charset="0"/>
                <a:ea typeface="Calibri" pitchFamily="34" charset="-122"/>
                <a:cs typeface="Calibri" pitchFamily="34" charset="-120"/>
              </a:rPr>
              <a:t>,” in Proc. ACM CCS, 2016, pp. 1516–1527, doi: 10.1145/2976749.2978394.</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27</a:t>
            </a:r>
            <a:endParaRPr lang="en-US" sz="1400" dirty="0"/>
          </a:p>
        </p:txBody>
      </p:sp>
      <p:sp>
        <p:nvSpPr>
          <p:cNvPr id="8" name="Text 5"/>
          <p:cNvSpPr txBox="1"/>
          <p:nvPr/>
        </p:nvSpPr>
        <p:spPr>
          <a:xfrm>
            <a:off x="4810720" y="2613025"/>
            <a:ext cx="1598415" cy="558800"/>
          </a:xfrm>
          <a:prstGeom prst="rect">
            <a:avLst/>
          </a:prstGeom>
          <a:noFill/>
          <a:ln/>
        </p:spPr>
        <p:txBody>
          <a:bodyPr wrap="none" lIns="0" tIns="0" rIns="0" bIns="0" rtlCol="0" anchor="t"/>
          <a:lstStyle/>
          <a:p>
            <a:pPr algn="l" indent="0" marL="0">
              <a:buNone/>
            </a:pPr>
            <a:r>
              <a:rPr lang="en-US" sz="3600" dirty="0">
                <a:solidFill>
                  <a:srgbClr val="993300"/>
                </a:solidFill>
                <a:latin typeface="Calibri" pitchFamily="34" charset="0"/>
                <a:ea typeface="Calibri" pitchFamily="34" charset="-122"/>
                <a:cs typeface="Calibri" pitchFamily="34" charset="-120"/>
              </a:rPr>
              <a:t>Queries</a:t>
            </a:r>
            <a:endParaRPr lang="en-US" sz="3600" dirty="0"/>
          </a:p>
        </p:txBody>
      </p:sp>
      <p:sp>
        <p:nvSpPr>
          <p:cNvPr id="9" name="Text 6"/>
          <p:cNvSpPr txBox="1"/>
          <p:nvPr/>
        </p:nvSpPr>
        <p:spPr>
          <a:xfrm>
            <a:off x="5452071" y="3264495"/>
            <a:ext cx="464344" cy="558800"/>
          </a:xfrm>
          <a:prstGeom prst="rect">
            <a:avLst/>
          </a:prstGeom>
          <a:noFill/>
          <a:ln/>
        </p:spPr>
        <p:txBody>
          <a:bodyPr wrap="none" lIns="0" tIns="0" rIns="0" bIns="0" rtlCol="0" anchor="t"/>
          <a:lstStyle/>
          <a:p>
            <a:pPr algn="l" indent="0" marL="0">
              <a:buNone/>
            </a:pPr>
            <a:r>
              <a:rPr lang="en-US" sz="3600" dirty="0">
                <a:solidFill>
                  <a:srgbClr val="993300"/>
                </a:solidFill>
                <a:latin typeface="Calibri" pitchFamily="34" charset="0"/>
                <a:ea typeface="Calibri" pitchFamily="34" charset="-122"/>
                <a:cs typeface="Calibri" pitchFamily="34" charset="-120"/>
              </a:rPr>
              <a:t>&amp;</a:t>
            </a:r>
            <a:endParaRPr lang="en-US" sz="3600" dirty="0"/>
          </a:p>
        </p:txBody>
      </p:sp>
      <p:sp>
        <p:nvSpPr>
          <p:cNvPr id="10" name="Text 7"/>
          <p:cNvSpPr txBox="1"/>
          <p:nvPr/>
        </p:nvSpPr>
        <p:spPr>
          <a:xfrm>
            <a:off x="4344591" y="3950295"/>
            <a:ext cx="2349699" cy="558800"/>
          </a:xfrm>
          <a:prstGeom prst="rect">
            <a:avLst/>
          </a:prstGeom>
          <a:noFill/>
          <a:ln/>
        </p:spPr>
        <p:txBody>
          <a:bodyPr wrap="none" lIns="0" tIns="0" rIns="0" bIns="0" rtlCol="0" anchor="t"/>
          <a:lstStyle/>
          <a:p>
            <a:pPr algn="l" indent="0" marL="0">
              <a:buNone/>
            </a:pPr>
            <a:r>
              <a:rPr lang="en-US" sz="3600" dirty="0">
                <a:solidFill>
                  <a:srgbClr val="993300"/>
                </a:solidFill>
                <a:latin typeface="Calibri" pitchFamily="34" charset="0"/>
                <a:ea typeface="Calibri" pitchFamily="34" charset="-122"/>
                <a:cs typeface="Calibri" pitchFamily="34" charset="-120"/>
              </a:rPr>
              <a:t>Suggestions</a:t>
            </a:r>
            <a:endParaRPr lang="en-US" sz="3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MAHE logo">    </p:cNvPr>
          <p:cNvPicPr>
            <a:picLocks noChangeAspect="1"/>
          </p:cNvPicPr>
          <p:nvPr/>
        </p:nvPicPr>
        <p:blipFill>
          <a:blip r:embed="rId1"/>
          <a:stretch>
            <a:fillRect/>
          </a:stretch>
        </p:blipFill>
        <p:spPr>
          <a:xfrm>
            <a:off x="4167" y="15676"/>
            <a:ext cx="595511" cy="661591"/>
          </a:xfrm>
          <a:prstGeom prst="rect">
            <a:avLst/>
          </a:prstGeom>
        </p:spPr>
      </p:pic>
      <p:sp>
        <p:nvSpPr>
          <p:cNvPr id="3" name="Shape 0"/>
          <p:cNvSpPr/>
          <p:nvPr/>
        </p:nvSpPr>
        <p:spPr>
          <a:xfrm>
            <a:off x="0" y="695325"/>
            <a:ext cx="12192000" cy="12700"/>
          </a:xfrm>
          <a:prstGeom prst="rect">
            <a:avLst/>
          </a:prstGeom>
          <a:solidFill>
            <a:srgbClr val="CC6600"/>
          </a:solidFill>
          <a:ln/>
        </p:spPr>
      </p:sp>
      <p:sp>
        <p:nvSpPr>
          <p:cNvPr id="4" name="Shape 1"/>
          <p:cNvSpPr/>
          <p:nvPr/>
        </p:nvSpPr>
        <p:spPr>
          <a:xfrm>
            <a:off x="0" y="727075"/>
            <a:ext cx="12192000" cy="25400"/>
          </a:xfrm>
          <a:prstGeom prst="rect">
            <a:avLst/>
          </a:prstGeom>
          <a:solidFill>
            <a:srgbClr val="CC6600"/>
          </a:solidFill>
          <a:ln/>
        </p:spPr>
      </p:sp>
      <p:sp>
        <p:nvSpPr>
          <p:cNvPr id="5" name="Shape 2"/>
          <p:cNvSpPr/>
          <p:nvPr/>
        </p:nvSpPr>
        <p:spPr>
          <a:xfrm>
            <a:off x="0" y="6583561"/>
            <a:ext cx="12192000" cy="274240"/>
          </a:xfrm>
          <a:prstGeom prst="rect">
            <a:avLst/>
          </a:prstGeom>
          <a:solidFill>
            <a:srgbClr val="D47D26"/>
          </a:solidFill>
          <a:ln/>
        </p:spPr>
      </p:sp>
      <p:sp>
        <p:nvSpPr>
          <p:cNvPr id="6" name="Text 3"/>
          <p:cNvSpPr txBox="1"/>
          <p:nvPr/>
        </p:nvSpPr>
        <p:spPr>
          <a:xfrm>
            <a:off x="4109640" y="6617891"/>
            <a:ext cx="3972719" cy="177800"/>
          </a:xfrm>
          <a:prstGeom prst="rect">
            <a:avLst/>
          </a:prstGeom>
          <a:noFill/>
          <a:ln/>
        </p:spPr>
        <p:txBody>
          <a:bodyPr wrap="none" lIns="0" tIns="0" rIns="0" bIns="0" rtlCol="0" anchor="t"/>
          <a:lstStyle/>
          <a:p>
            <a:pPr algn="ctr" indent="0" marL="0">
              <a:buNone/>
            </a:pPr>
            <a:r>
              <a:rPr lang="en-US" sz="1200" dirty="0">
                <a:solidFill>
                  <a:srgbClr val="000000"/>
                </a:solidFill>
                <a:latin typeface="Arial" pitchFamily="34" charset="0"/>
                <a:ea typeface="Arial" pitchFamily="34" charset="-122"/>
                <a:cs typeface="Arial" pitchFamily="34" charset="-120"/>
              </a:rPr>
              <a:t>Manipal School of Information Sciences, MAHE, Manipal</a:t>
            </a:r>
            <a:endParaRPr lang="en-US" sz="1200" dirty="0"/>
          </a:p>
        </p:txBody>
      </p:sp>
      <p:sp>
        <p:nvSpPr>
          <p:cNvPr id="7" name="Text 4"/>
          <p:cNvSpPr txBox="1"/>
          <p:nvPr/>
        </p:nvSpPr>
        <p:spPr>
          <a:xfrm>
            <a:off x="11521876" y="6586140"/>
            <a:ext cx="350243" cy="203200"/>
          </a:xfrm>
          <a:prstGeom prst="rect">
            <a:avLst/>
          </a:prstGeom>
          <a:noFill/>
          <a:ln/>
        </p:spPr>
        <p:txBody>
          <a:bodyPr wrap="none" lIns="0" tIns="0" rIns="0" bIns="0" rtlCol="0" anchor="t"/>
          <a:lstStyle/>
          <a:p>
            <a:pPr algn="l" indent="0" marL="0">
              <a:buNone/>
            </a:pPr>
            <a:r>
              <a:rPr lang="en-US" sz="1400" dirty="0">
                <a:solidFill>
                  <a:srgbClr val="000000"/>
                </a:solidFill>
                <a:latin typeface="Arial" pitchFamily="34" charset="0"/>
                <a:ea typeface="Arial" pitchFamily="34" charset="-122"/>
                <a:cs typeface="Arial" pitchFamily="34" charset="-120"/>
              </a:rPr>
              <a:t>28</a:t>
            </a:r>
            <a:endParaRPr lang="en-US" sz="1400" dirty="0"/>
          </a:p>
        </p:txBody>
      </p:sp>
      <p:sp>
        <p:nvSpPr>
          <p:cNvPr id="8" name="Text 5"/>
          <p:cNvSpPr txBox="1"/>
          <p:nvPr/>
        </p:nvSpPr>
        <p:spPr>
          <a:xfrm>
            <a:off x="4333081" y="2723555"/>
            <a:ext cx="2680493" cy="558800"/>
          </a:xfrm>
          <a:prstGeom prst="rect">
            <a:avLst/>
          </a:prstGeom>
          <a:noFill/>
          <a:ln/>
        </p:spPr>
        <p:txBody>
          <a:bodyPr wrap="none" lIns="0" tIns="0" rIns="0" bIns="0" rtlCol="0" anchor="t"/>
          <a:lstStyle/>
          <a:p>
            <a:pPr algn="l" indent="0" marL="0">
              <a:buNone/>
            </a:pPr>
            <a:r>
              <a:rPr lang="en-US" sz="3600" dirty="0">
                <a:solidFill>
                  <a:srgbClr val="993300"/>
                </a:solidFill>
                <a:latin typeface="Calibri" pitchFamily="34" charset="0"/>
                <a:ea typeface="Calibri" pitchFamily="34" charset="-122"/>
                <a:cs typeface="Calibri" pitchFamily="34" charset="-120"/>
              </a:rPr>
              <a:t>THANK YOU…</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8467" cap="flat" cmpd="sng" algn="ctr">
          <a:solidFill>
            <a:schemeClr val="phClr"/>
          </a:solidFill>
          <a:prstDash val="solid"/>
          <a:miter lim="800000"/>
        </a:ln>
        <a:ln w="16933"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76200" dist="2540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HTTP QUERY Method</dc:title>
  <dc:subject>HTTP QUERY Method: A Security-Focused Literature Survey and Analysis.
M.E. CyberSecurity technical seminar, Manipal School of Information Sciences, MAHE, Manipal.
Built on the MSIS Seminar Template 2026-27 with shadcn-vue primitives (addons/shadcn).
</dc:subject>
  <dc:creator>Anish Shobith</dc:creator>
  <cp:lastModifiedBy>Anish Shobith</cp:lastModifiedBy>
  <cp:revision>1</cp:revision>
  <dcterms:created xsi:type="dcterms:W3CDTF">2026-10-17T11:56:20Z</dcterms:created>
  <dcterms:modified xsi:type="dcterms:W3CDTF">2026-10-17T11:56:20Z</dcterms:modified>
</cp:coreProperties>
</file>